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79" r:id="rId5"/>
    <p:sldId id="344" r:id="rId6"/>
    <p:sldId id="369" r:id="rId7"/>
    <p:sldId id="370" r:id="rId8"/>
    <p:sldId id="365" r:id="rId9"/>
    <p:sldId id="371" r:id="rId10"/>
    <p:sldId id="372" r:id="rId11"/>
    <p:sldId id="364" r:id="rId12"/>
    <p:sldId id="366" r:id="rId13"/>
    <p:sldId id="368" r:id="rId14"/>
    <p:sldId id="367" r:id="rId15"/>
    <p:sldId id="373" r:id="rId16"/>
    <p:sldId id="374" r:id="rId17"/>
    <p:sldId id="375" r:id="rId18"/>
    <p:sldId id="377" r:id="rId19"/>
    <p:sldId id="378" r:id="rId20"/>
    <p:sldId id="379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2026/04/20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B311ECE-6512-433C-AD41-986B12067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8344" y="64561"/>
            <a:ext cx="1380959" cy="13809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9" y="3759697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PBDE401 | PBDV301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655" y="1988840"/>
            <a:ext cx="7704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Performance and Power Tradeoffs, </a:t>
            </a:r>
          </a:p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Constraints</a:t>
            </a:r>
          </a:p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&amp;</a:t>
            </a:r>
          </a:p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7584" y="1162821"/>
            <a:ext cx="741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Trade-off in Mobile Devices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179512" y="1988840"/>
            <a:ext cx="65797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Mobile devices must balance several competing factors, primarily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performance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B050"/>
                </a:solidFill>
              </a:rPr>
              <a:t>battery life</a:t>
            </a:r>
            <a:r>
              <a:rPr lang="en-US" dirty="0"/>
              <a:t>. High-performance tasks can drain the battery quickly, while conserving battery often means sacrificing speed or multitasking 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b="1" dirty="0"/>
              <a:t>Key Tradeoffs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CPU Performance vs. Battery Drain </a:t>
            </a:r>
            <a:r>
              <a:rPr lang="en-US" dirty="0"/>
              <a:t>- More powerful CPUs perform tasks faster but consume more power.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Screen Brightness and Resolution </a:t>
            </a:r>
            <a:r>
              <a:rPr lang="en-US" dirty="0"/>
              <a:t>- Brighter and higher-resolution screens provide a better user experience but use more energy.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Background Processes </a:t>
            </a:r>
            <a:r>
              <a:rPr lang="en-US" dirty="0"/>
              <a:t>- Allowing multiple apps to run in the background increases multitasking capabilities but also reduces battery life.</a:t>
            </a:r>
          </a:p>
        </p:txBody>
      </p:sp>
      <p:pic>
        <p:nvPicPr>
          <p:cNvPr id="1026" name="Picture 2" descr="trade-off | TIMnovate">
            <a:extLst>
              <a:ext uri="{FF2B5EF4-FFF2-40B4-BE49-F238E27FC236}">
                <a16:creationId xmlns:a16="http://schemas.microsoft.com/office/drawing/2014/main" id="{F9CA02C4-D266-0507-D7A1-C2D0615BB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243" y="3865283"/>
            <a:ext cx="2297335" cy="139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1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D9F5-4C24-462C-7D35-9A34A048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E1F856-DF9E-5839-99F6-46C6B87EC78C}"/>
              </a:ext>
            </a:extLst>
          </p:cNvPr>
          <p:cNvSpPr txBox="1"/>
          <p:nvPr/>
        </p:nvSpPr>
        <p:spPr>
          <a:xfrm>
            <a:off x="598074" y="875618"/>
            <a:ext cx="74168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ARM big.LITTLE architecture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Modern phones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1F8BD04-4328-1926-4ACF-2601CD71E113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2" name="Picture 2" descr="Secret sauce of ARM's big.LITTLE multi-processor architecture | Electronics  Weekly">
            <a:extLst>
              <a:ext uri="{FF2B5EF4-FFF2-40B4-BE49-F238E27FC236}">
                <a16:creationId xmlns:a16="http://schemas.microsoft.com/office/drawing/2014/main" id="{61D644F8-ADAD-F181-5104-D433BAE311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" t="13440" b="12642"/>
          <a:stretch>
            <a:fillRect/>
          </a:stretch>
        </p:blipFill>
        <p:spPr bwMode="auto">
          <a:xfrm>
            <a:off x="839956" y="2060848"/>
            <a:ext cx="6933059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21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87C2-82A9-FEAB-993D-EFA6BBD74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E2F174-C27D-8095-0FD1-5FB770A4D3C5}"/>
              </a:ext>
            </a:extLst>
          </p:cNvPr>
          <p:cNvSpPr txBox="1"/>
          <p:nvPr/>
        </p:nvSpPr>
        <p:spPr>
          <a:xfrm>
            <a:off x="827584" y="1162821"/>
            <a:ext cx="741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Network Behavior &amp; Energy Cost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153AAEB-5272-FAD9-8FD3-A73CD122AE5E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E89BE-4239-EFE1-5115-26E402B787D7}"/>
              </a:ext>
            </a:extLst>
          </p:cNvPr>
          <p:cNvSpPr txBox="1"/>
          <p:nvPr/>
        </p:nvSpPr>
        <p:spPr>
          <a:xfrm>
            <a:off x="323529" y="2083655"/>
            <a:ext cx="48245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Wireless communication is one of the </a:t>
            </a:r>
            <a:r>
              <a:rPr lang="en-ZA" b="1" dirty="0"/>
              <a:t>most power-hungry operations</a:t>
            </a:r>
            <a:r>
              <a:rPr lang="en-Z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App that refreshes data every 5 seconds:  Constant network wakeups, it battery drains quickly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Same app batching updates every 5 minutes: Fewer wakeups, has better battery life </a:t>
            </a:r>
          </a:p>
          <a:p>
            <a:r>
              <a:rPr lang="en-ZA" b="1" dirty="0"/>
              <a:t>With 5G:</a:t>
            </a:r>
          </a:p>
          <a:p>
            <a:r>
              <a:rPr lang="en-ZA" dirty="0"/>
              <a:t>Searching for signal (e.g., in elevators) </a:t>
            </a:r>
            <a:r>
              <a:rPr lang="en-ZA" b="1" dirty="0">
                <a:solidFill>
                  <a:srgbClr val="FF0000"/>
                </a:solidFill>
              </a:rPr>
              <a:t>very high battery drain</a:t>
            </a:r>
            <a:r>
              <a:rPr lang="en-ZA" dirty="0">
                <a:solidFill>
                  <a:srgbClr val="FF0000"/>
                </a:solidFill>
              </a:rPr>
              <a:t> </a:t>
            </a:r>
          </a:p>
          <a:p>
            <a:r>
              <a:rPr lang="en-ZA" b="1" dirty="0"/>
              <a:t>Developer strategy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Cache results instead of repeatedly calling APIs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Avoid unnecessary background syncing</a:t>
            </a:r>
          </a:p>
        </p:txBody>
      </p:sp>
      <p:pic>
        <p:nvPicPr>
          <p:cNvPr id="2050" name="Picture 2" descr="Different Types of Wireless Communication with Applications-Projects-FMUSER  FM/TV Broadcast One-Stop Supplier">
            <a:extLst>
              <a:ext uri="{FF2B5EF4-FFF2-40B4-BE49-F238E27FC236}">
                <a16:creationId xmlns:a16="http://schemas.microsoft.com/office/drawing/2014/main" id="{DFFDCB60-C147-1A13-C2B1-736CB492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492896"/>
            <a:ext cx="3636739" cy="283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16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3688" y="939388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Recognizing Mobile Constraints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1" y="2016606"/>
            <a:ext cx="57961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Mobile devices face unique limitations due to their portable nature.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Battery Constraints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Battery is limited and drains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devices have less space for large batteries and often feature less RAM than desktops, impacting the ability to perform multiple tasks simultaneously.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GPS, Camera, Screen Brightness, Network radio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Avoid continuous sensor usage unless necessary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Features such as Google Pixel's Adaptive Battery optimize power usage by prioritizing battery allocation to frequently used apps </a:t>
            </a:r>
            <a:r>
              <a:rPr lang="en-US" dirty="0">
                <a:solidFill>
                  <a:srgbClr val="00B050"/>
                </a:solidFill>
              </a:rPr>
              <a:t>(innovative solutions)</a:t>
            </a:r>
          </a:p>
        </p:txBody>
      </p:sp>
      <p:pic>
        <p:nvPicPr>
          <p:cNvPr id="3075" name="Picture 3" descr="Why US smartphone have smaller batteries than those in China">
            <a:extLst>
              <a:ext uri="{FF2B5EF4-FFF2-40B4-BE49-F238E27FC236}">
                <a16:creationId xmlns:a16="http://schemas.microsoft.com/office/drawing/2014/main" id="{98368DD3-0D39-2C69-30E8-76004E4C4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839" y="3429000"/>
            <a:ext cx="3315860" cy="186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85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A0AE-8025-06BF-26AE-84B39315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92BC-4A26-F7A1-40C0-89FEB607D504}"/>
              </a:ext>
            </a:extLst>
          </p:cNvPr>
          <p:cNvSpPr txBox="1"/>
          <p:nvPr/>
        </p:nvSpPr>
        <p:spPr>
          <a:xfrm>
            <a:off x="1763688" y="939388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Recognizing Mobile Constraints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EB2F4EB-287A-1B05-0EA3-8951384FC02A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CA16C-8D5D-0421-361E-03655E703913}"/>
              </a:ext>
            </a:extLst>
          </p:cNvPr>
          <p:cNvSpPr txBox="1"/>
          <p:nvPr/>
        </p:nvSpPr>
        <p:spPr>
          <a:xfrm>
            <a:off x="0" y="1945156"/>
            <a:ext cx="44279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Memory Constraints (RAM)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apps cannot assume large memory availability.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Opening too many apps </a:t>
            </a:r>
            <a:r>
              <a:rPr lang="en-US" dirty="0"/>
              <a:t>(OS kills background apps)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Heavy game (May crash on low-end devices due to memory limits 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Android Low Memory Killer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Processing Constraints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 though mobile CPUs are powerful, they’re still limited.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Video editing on phone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Real-time AI processing</a:t>
            </a:r>
          </a:p>
        </p:txBody>
      </p:sp>
      <p:pic>
        <p:nvPicPr>
          <p:cNvPr id="4100" name="Picture 4" descr="With RAM prices soaring, it's time next ...">
            <a:extLst>
              <a:ext uri="{FF2B5EF4-FFF2-40B4-BE49-F238E27FC236}">
                <a16:creationId xmlns:a16="http://schemas.microsoft.com/office/drawing/2014/main" id="{82F173D7-14CF-5AFA-BF87-057CFF7F8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665" y="2924944"/>
            <a:ext cx="4119638" cy="230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20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5A84-74A5-BEDB-5085-896A6AC2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1298FA-D4F7-B487-C690-28FCB7B1D6A3}"/>
              </a:ext>
            </a:extLst>
          </p:cNvPr>
          <p:cNvSpPr txBox="1"/>
          <p:nvPr/>
        </p:nvSpPr>
        <p:spPr>
          <a:xfrm>
            <a:off x="1763688" y="939388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Recognizing Mobile Constraints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6718DD5E-CF76-6B85-B28E-FE4B3F77E623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9A166-5D9A-14AE-11CF-4DCCCC17B7A5}"/>
              </a:ext>
            </a:extLst>
          </p:cNvPr>
          <p:cNvSpPr txBox="1"/>
          <p:nvPr/>
        </p:nvSpPr>
        <p:spPr>
          <a:xfrm>
            <a:off x="107504" y="2267744"/>
            <a:ext cx="50405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Network Constraints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Mobile networks are unreliable.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UI &amp; Interaction Constraints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 screen &amp; Touch input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Security Constraints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devices are often used on </a:t>
            </a:r>
          </a:p>
          <a:p>
            <a:pPr lvl="1"/>
            <a:r>
              <a:rPr lang="en-US" dirty="0"/>
              <a:t>public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Device Fragmentation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Thousands of device variation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screen sizes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CPU/GPU capabilities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OS versions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124" name="Picture 4" descr="What Is Android Fragmentation and How to Deal with It">
            <a:extLst>
              <a:ext uri="{FF2B5EF4-FFF2-40B4-BE49-F238E27FC236}">
                <a16:creationId xmlns:a16="http://schemas.microsoft.com/office/drawing/2014/main" id="{7B39BFCF-CF21-14E9-F6C9-D200142A5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357" y="1990440"/>
            <a:ext cx="4957746" cy="330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28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35696" y="659594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Recognizing Mobile Constraints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2D82E-4260-478A-4B13-AF3794D0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4" y="1767114"/>
            <a:ext cx="8956172" cy="432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1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3688" y="939388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Strategies for Improving Mobile App Performance 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251520" y="2204864"/>
            <a:ext cx="40195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Utilizing efficient algorithms and managing app resources wisely can reduce energy consumption (</a:t>
            </a:r>
            <a:r>
              <a:rPr lang="en-US" b="1" dirty="0">
                <a:solidFill>
                  <a:srgbClr val="00B050"/>
                </a:solidFill>
              </a:rPr>
              <a:t>Efficient Coding and Resource Management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Apps can minimize battery drain by reducing data update frequency and using low-power APIs (</a:t>
            </a:r>
            <a:r>
              <a:rPr lang="en-US" b="1" dirty="0">
                <a:solidFill>
                  <a:srgbClr val="00B050"/>
                </a:solidFill>
              </a:rPr>
              <a:t>Data Fetching Optimization</a:t>
            </a:r>
            <a:r>
              <a:rPr lang="en-US" dirty="0"/>
              <a:t>) 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Leveraging device GPUs for intensive graphics tasks and APIs designed for low power consumption can help maintain performance without excessive battery usage.</a:t>
            </a:r>
          </a:p>
        </p:txBody>
      </p:sp>
      <p:pic>
        <p:nvPicPr>
          <p:cNvPr id="3074" name="Picture 2" descr="Internet Connection Seem Slow? Check It With a Speed-Test App - WSJ">
            <a:extLst>
              <a:ext uri="{FF2B5EF4-FFF2-40B4-BE49-F238E27FC236}">
                <a16:creationId xmlns:a16="http://schemas.microsoft.com/office/drawing/2014/main" id="{830F7FA0-89C8-63E2-4D5D-738D6F0BD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356" y="2484861"/>
            <a:ext cx="4339258" cy="289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82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3688" y="404664"/>
            <a:ext cx="540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Impact of Emerging Technologies on Mobile Performance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1547664" y="2083655"/>
            <a:ext cx="58326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Artificial Intelligence (AI) </a:t>
            </a:r>
            <a:r>
              <a:rPr lang="en-US" dirty="0"/>
              <a:t>-AI optimizes device performance through adaptive learning of user habits and managing device functionalities accordingly.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5G Technology </a:t>
            </a:r>
            <a:r>
              <a:rPr lang="en-US" dirty="0"/>
              <a:t>- The introduction of 5G enhances data speeds and reliability, reducing latency and the power used in data processing.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Augmented Reality (AR) - </a:t>
            </a:r>
            <a:r>
              <a:rPr lang="en-US" dirty="0"/>
              <a:t>Despite its resource-intensive nature, advancements in mobile GPUs and optimized AR frameworks enable efficient AR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Edge Computing and Predictive Maintenance- </a:t>
            </a:r>
            <a:r>
              <a:rPr lang="en-US" dirty="0"/>
              <a:t> Processing data closer to the user and using AI for predictive maintenance can further enhance performance and extend device life.</a:t>
            </a:r>
          </a:p>
        </p:txBody>
      </p:sp>
    </p:spTree>
    <p:extLst>
      <p:ext uri="{BB962C8B-B14F-4D97-AF65-F5344CB8AC3E}">
        <p14:creationId xmlns:p14="http://schemas.microsoft.com/office/powerpoint/2010/main" val="268662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2" name="Picture 2" descr="AI, 5G Challenge IoT on CompTIA's Opportunity-Rich Emerging Tech List –  Channel Futures">
            <a:extLst>
              <a:ext uri="{FF2B5EF4-FFF2-40B4-BE49-F238E27FC236}">
                <a16:creationId xmlns:a16="http://schemas.microsoft.com/office/drawing/2014/main" id="{0694251A-14F1-9836-7690-AF9D17F51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6" b="3935"/>
          <a:stretch/>
        </p:blipFill>
        <p:spPr bwMode="auto">
          <a:xfrm>
            <a:off x="179512" y="0"/>
            <a:ext cx="67322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89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6B5F8-8090-3B42-5F0B-CFF016D9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0CA47-5534-E074-B9E8-FFC654F997F1}"/>
              </a:ext>
            </a:extLst>
          </p:cNvPr>
          <p:cNvSpPr txBox="1"/>
          <p:nvPr/>
        </p:nvSpPr>
        <p:spPr>
          <a:xfrm>
            <a:off x="1997714" y="708579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Conclusion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Final Key Insights 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98578E9-6DA6-DF4B-4743-AB824438F297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C3040-D5CE-A000-B04D-C8096D25C9DF}"/>
              </a:ext>
            </a:extLst>
          </p:cNvPr>
          <p:cNvSpPr txBox="1"/>
          <p:nvPr/>
        </p:nvSpPr>
        <p:spPr>
          <a:xfrm>
            <a:off x="611560" y="1836100"/>
            <a:ext cx="61206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systems are </a:t>
            </a:r>
            <a:r>
              <a:rPr lang="en-US" b="1" dirty="0"/>
              <a:t>constraint-driven systems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Battery is the biggest limitation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feature has a cost: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UX vs more power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efficiency vs less responsiveness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mobile apps: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Adapt to device conditions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Minimize unnecessary 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unreliable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Emerging technologies: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 capability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also increase complexity in </a:t>
            </a:r>
          </a:p>
          <a:p>
            <a:pPr lvl="1"/>
            <a:r>
              <a:rPr lang="en-US" dirty="0"/>
              <a:t>managing performance and power </a:t>
            </a:r>
          </a:p>
        </p:txBody>
      </p:sp>
      <p:pic>
        <p:nvPicPr>
          <p:cNvPr id="6146" name="Picture 2" descr="Take away">
            <a:extLst>
              <a:ext uri="{FF2B5EF4-FFF2-40B4-BE49-F238E27FC236}">
                <a16:creationId xmlns:a16="http://schemas.microsoft.com/office/drawing/2014/main" id="{72EB1EF6-3232-09F7-8F90-721BF939B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2817428"/>
            <a:ext cx="3851921" cy="228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4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C7B4-E3B2-0F69-D614-96734FAC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724E2CE5-C6FC-DB9F-24B1-C4440551F7B1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93928-2AF3-312D-87A1-CC02041F7299}"/>
              </a:ext>
            </a:extLst>
          </p:cNvPr>
          <p:cNvSpPr txBox="1"/>
          <p:nvPr/>
        </p:nvSpPr>
        <p:spPr>
          <a:xfrm>
            <a:off x="1259632" y="1124744"/>
            <a:ext cx="680475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Question </a:t>
            </a:r>
          </a:p>
          <a:p>
            <a:r>
              <a:rPr lang="en-US" dirty="0"/>
              <a:t>A fitness app continuously tracks steps while the user is casually walking and occasionally opens messages. The system aims to maximize battery life without noticeable lag.</a:t>
            </a:r>
          </a:p>
          <a:p>
            <a:endParaRPr lang="en-US" dirty="0"/>
          </a:p>
          <a:p>
            <a:r>
              <a:rPr lang="en-US" b="1" dirty="0"/>
              <a:t>Which strategy is MOST appropriate based on ARM big.LITTLE architecture?</a:t>
            </a:r>
          </a:p>
          <a:p>
            <a:endParaRPr lang="en-US" dirty="0"/>
          </a:p>
          <a:p>
            <a:pPr lvl="1"/>
            <a:r>
              <a:rPr lang="en-US" dirty="0"/>
              <a:t>A. Run all processes on big cores to ensure responsiveness</a:t>
            </a:r>
            <a:br>
              <a:rPr lang="en-US" dirty="0"/>
            </a:br>
            <a:r>
              <a:rPr lang="en-US" dirty="0"/>
              <a:t>B. Run tracking on little cores and temporarily switch to big cores when opening messages</a:t>
            </a:r>
            <a:br>
              <a:rPr lang="en-US" dirty="0"/>
            </a:br>
            <a:r>
              <a:rPr lang="en-US" dirty="0"/>
              <a:t>C. Use only little cores even when opening messages to conserve power</a:t>
            </a:r>
            <a:br>
              <a:rPr lang="en-US" dirty="0"/>
            </a:br>
            <a:r>
              <a:rPr lang="en-US" dirty="0"/>
              <a:t>D. Alternate randomly between cores to balance heat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6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8D02-E2C1-7E8A-C05E-65EF3EC6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3EFB08E-3354-6F7D-4F51-A35FFE8DBCF5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4D501-71B6-4E9B-2D71-24D082B23753}"/>
              </a:ext>
            </a:extLst>
          </p:cNvPr>
          <p:cNvSpPr txBox="1"/>
          <p:nvPr/>
        </p:nvSpPr>
        <p:spPr>
          <a:xfrm>
            <a:off x="1619672" y="1124744"/>
            <a:ext cx="61206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Question </a:t>
            </a:r>
          </a:p>
          <a:p>
            <a:r>
              <a:rPr lang="en-US" dirty="0"/>
              <a:t>A social media app refreshes the feed every 10 seconds in the background, causing significant battery drain.</a:t>
            </a:r>
          </a:p>
          <a:p>
            <a:endParaRPr lang="en-US" dirty="0"/>
          </a:p>
          <a:p>
            <a:r>
              <a:rPr lang="en-US" b="1" dirty="0"/>
              <a:t>What is the BEST improvement?</a:t>
            </a:r>
          </a:p>
          <a:p>
            <a:endParaRPr lang="en-US" dirty="0"/>
          </a:p>
          <a:p>
            <a:pPr lvl="1"/>
            <a:r>
              <a:rPr lang="en-US" dirty="0"/>
              <a:t>A. Increase refresh frequency to reduce latency</a:t>
            </a:r>
            <a:br>
              <a:rPr lang="en-US" dirty="0"/>
            </a:br>
            <a:r>
              <a:rPr lang="en-US" dirty="0"/>
              <a:t>B. Switch to 5G for faster updates</a:t>
            </a:r>
            <a:br>
              <a:rPr lang="en-US" dirty="0"/>
            </a:br>
            <a:r>
              <a:rPr lang="en-US" dirty="0"/>
              <a:t>C. Batch updates and refresh less frequently or on user interaction</a:t>
            </a:r>
            <a:br>
              <a:rPr lang="en-US" dirty="0"/>
            </a:br>
            <a:r>
              <a:rPr lang="en-US" dirty="0"/>
              <a:t>D. Keep frequent polling but reduce image quality</a:t>
            </a:r>
          </a:p>
        </p:txBody>
      </p:sp>
    </p:spTree>
    <p:extLst>
      <p:ext uri="{BB962C8B-B14F-4D97-AF65-F5344CB8AC3E}">
        <p14:creationId xmlns:p14="http://schemas.microsoft.com/office/powerpoint/2010/main" val="2152182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C2F94-541F-3C84-2BD7-9471EC39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4FF0BC90-C858-2480-B2B1-76E4A8A6B274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ADC2DB-A788-96FE-94D2-E8B7DB725F35}"/>
              </a:ext>
            </a:extLst>
          </p:cNvPr>
          <p:cNvSpPr txBox="1"/>
          <p:nvPr/>
        </p:nvSpPr>
        <p:spPr>
          <a:xfrm>
            <a:off x="1331640" y="404664"/>
            <a:ext cx="61206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Question</a:t>
            </a:r>
            <a:endParaRPr lang="en-US" sz="2800" dirty="0"/>
          </a:p>
          <a:p>
            <a:r>
              <a:rPr lang="en-US" dirty="0"/>
              <a:t>An image-heavy app crashes frequently on low-end devices but works fine on high-end phones.</a:t>
            </a:r>
          </a:p>
          <a:p>
            <a:endParaRPr lang="en-US" dirty="0"/>
          </a:p>
          <a:p>
            <a:r>
              <a:rPr lang="en-US" b="1" dirty="0"/>
              <a:t>What is the MOST effective solution?</a:t>
            </a:r>
          </a:p>
          <a:p>
            <a:endParaRPr lang="en-US" dirty="0"/>
          </a:p>
          <a:p>
            <a:pPr lvl="1"/>
            <a:r>
              <a:rPr lang="en-US" dirty="0"/>
              <a:t>A. Increase image resolution for clarity</a:t>
            </a:r>
            <a:br>
              <a:rPr lang="en-US" dirty="0"/>
            </a:br>
            <a:r>
              <a:rPr lang="en-US" dirty="0"/>
              <a:t>B. Load all images at app startup</a:t>
            </a:r>
            <a:br>
              <a:rPr lang="en-US" dirty="0"/>
            </a:br>
            <a:r>
              <a:rPr lang="en-US" dirty="0"/>
              <a:t>C. Use compressed images and lazy loading</a:t>
            </a:r>
            <a:br>
              <a:rPr lang="en-US" dirty="0"/>
            </a:br>
            <a:r>
              <a:rPr lang="en-US" dirty="0"/>
              <a:t>D. Force app to use more RAM</a:t>
            </a:r>
          </a:p>
        </p:txBody>
      </p:sp>
    </p:spTree>
    <p:extLst>
      <p:ext uri="{BB962C8B-B14F-4D97-AF65-F5344CB8AC3E}">
        <p14:creationId xmlns:p14="http://schemas.microsoft.com/office/powerpoint/2010/main" val="3183668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17858-57C4-5D91-9E02-D84EA540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5EB14B2-7D2A-B880-1D33-CC677E765C73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6D4ED-3FC7-9570-D374-0D13E61D8B19}"/>
              </a:ext>
            </a:extLst>
          </p:cNvPr>
          <p:cNvSpPr txBox="1"/>
          <p:nvPr/>
        </p:nvSpPr>
        <p:spPr>
          <a:xfrm>
            <a:off x="1547664" y="908720"/>
            <a:ext cx="61206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Question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A smart home app processes camera footage to detect motion.</a:t>
            </a:r>
          </a:p>
          <a:p>
            <a:endParaRPr lang="en-US" dirty="0"/>
          </a:p>
          <a:p>
            <a:r>
              <a:rPr lang="en-US" b="1" dirty="0"/>
              <a:t>Which approach BEST reduces latency and power usage?</a:t>
            </a:r>
          </a:p>
          <a:p>
            <a:pPr marL="800100" lvl="1" indent="-342900">
              <a:buAutoNum type="alphaUcPeriod"/>
            </a:pPr>
            <a:r>
              <a:rPr lang="en-US" dirty="0"/>
              <a:t>Send all video data to the cloud continuously</a:t>
            </a:r>
            <a:br>
              <a:rPr lang="en-US" dirty="0"/>
            </a:br>
            <a:r>
              <a:rPr lang="en-US" dirty="0"/>
              <a:t>B. Process video locally using Edge Computing</a:t>
            </a:r>
            <a:br>
              <a:rPr lang="en-US" dirty="0"/>
            </a:br>
            <a:r>
              <a:rPr lang="en-US" dirty="0"/>
              <a:t>C. Store video and process it later in batches</a:t>
            </a:r>
            <a:br>
              <a:rPr lang="en-US" dirty="0"/>
            </a:br>
            <a:r>
              <a:rPr lang="en-US" dirty="0"/>
              <a:t>D. Disable real-time processing entirely</a:t>
            </a:r>
            <a:endParaRPr lang="en-US" sz="2800" dirty="0"/>
          </a:p>
          <a:p>
            <a:pPr marL="971550" lvl="1" indent="-514350">
              <a:buAutoNum type="alphaU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6492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A237-72FA-87C6-D937-33FB059E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1A02D3A-2C22-395F-81E8-991ADADCA5B2}"/>
              </a:ext>
            </a:extLst>
          </p:cNvPr>
          <p:cNvSpPr txBox="1">
            <a:spLocks/>
          </p:cNvSpPr>
          <p:nvPr/>
        </p:nvSpPr>
        <p:spPr>
          <a:xfrm>
            <a:off x="863588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D4EF2-DC60-9CAC-5761-EB7BCFAA0EF0}"/>
              </a:ext>
            </a:extLst>
          </p:cNvPr>
          <p:cNvSpPr txBox="1"/>
          <p:nvPr/>
        </p:nvSpPr>
        <p:spPr>
          <a:xfrm>
            <a:off x="1511660" y="620688"/>
            <a:ext cx="61206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Question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An email app checks for new messages every minute, draining battery unnecessarily.</a:t>
            </a:r>
          </a:p>
          <a:p>
            <a:endParaRPr lang="en-US" dirty="0"/>
          </a:p>
          <a:p>
            <a:r>
              <a:rPr lang="en-US" b="1" dirty="0"/>
              <a:t>What is the BEST solution using Android WorkManager?</a:t>
            </a:r>
          </a:p>
          <a:p>
            <a:endParaRPr lang="en-US" dirty="0"/>
          </a:p>
          <a:p>
            <a:pPr lvl="1"/>
            <a:r>
              <a:rPr lang="en-US" dirty="0"/>
              <a:t>A. Run checks continuously in the foreground</a:t>
            </a:r>
            <a:br>
              <a:rPr lang="en-US" dirty="0"/>
            </a:br>
            <a:r>
              <a:rPr lang="en-US" dirty="0"/>
              <a:t>B. Schedule periodic checks with constraints (e.g., Wi-Fi or charging)</a:t>
            </a:r>
            <a:br>
              <a:rPr lang="en-US" dirty="0"/>
            </a:br>
            <a:r>
              <a:rPr lang="en-US" dirty="0"/>
              <a:t>C. Disable background checks entirely</a:t>
            </a:r>
            <a:br>
              <a:rPr lang="en-US" dirty="0"/>
            </a:br>
            <a:r>
              <a:rPr lang="en-US" dirty="0"/>
              <a:t>D. Increase checking frequency but reduce data size</a:t>
            </a:r>
          </a:p>
          <a:p>
            <a:pPr marL="971550" lvl="1" indent="-514350">
              <a:buAutoNum type="alphaU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9180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31188</TotalTime>
  <Words>983</Words>
  <Application>Microsoft Office PowerPoint</Application>
  <PresentationFormat>On-screen Show (4:3)</PresentationFormat>
  <Paragraphs>118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Khubisa</cp:lastModifiedBy>
  <cp:revision>155</cp:revision>
  <dcterms:created xsi:type="dcterms:W3CDTF">2022-02-22T09:59:59Z</dcterms:created>
  <dcterms:modified xsi:type="dcterms:W3CDTF">2026-04-20T11:53:33Z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