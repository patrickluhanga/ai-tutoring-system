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79" r:id="rId5"/>
    <p:sldId id="284" r:id="rId6"/>
    <p:sldId id="331" r:id="rId7"/>
    <p:sldId id="346" r:id="rId8"/>
    <p:sldId id="333" r:id="rId9"/>
    <p:sldId id="342" r:id="rId10"/>
    <p:sldId id="332" r:id="rId11"/>
    <p:sldId id="343" r:id="rId12"/>
    <p:sldId id="329" r:id="rId13"/>
    <p:sldId id="288" r:id="rId14"/>
    <p:sldId id="341" r:id="rId15"/>
    <p:sldId id="347" r:id="rId16"/>
    <p:sldId id="348" r:id="rId17"/>
    <p:sldId id="349" r:id="rId18"/>
    <p:sldId id="340" r:id="rId19"/>
    <p:sldId id="28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6CE"/>
    <a:srgbClr val="D5CEB9"/>
    <a:srgbClr val="CBB168"/>
    <a:srgbClr val="BA9B6A"/>
    <a:srgbClr val="A48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1" d="100"/>
          <a:sy n="111" d="100"/>
        </p:scale>
        <p:origin x="165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94288-37BE-42FD-A3CE-C644F7468E54}" type="datetimeFigureOut">
              <a:rPr lang="en-ZA" smtClean="0">
                <a:latin typeface="Gill Sans MT" panose="020B0502020104020203" pitchFamily="34" charset="0"/>
              </a:rPr>
              <a:t>2026/03/16</a:t>
            </a:fld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8CC4-D689-4043-A112-A0EF0661C963}" type="slidenum">
              <a:rPr lang="en-ZA" smtClean="0">
                <a:latin typeface="Gill Sans MT" panose="020B0502020104020203" pitchFamily="34" charset="0"/>
              </a:rPr>
              <a:t>‹#›</a:t>
            </a:fld>
            <a:endParaRPr lang="en-ZA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74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78CA02F-F0F2-854F-B286-9B534A264BAA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F04800F-0C89-EC4F-919F-9C2CE26B17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6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1988840"/>
            <a:ext cx="3444240" cy="20756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4293096"/>
            <a:ext cx="3444240" cy="5111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9" y="0"/>
            <a:ext cx="91369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68" y="0"/>
            <a:ext cx="9079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4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1" y="0"/>
            <a:ext cx="9096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39970" cy="15100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B311ECE-6512-433C-AD41-986B120671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68344" y="64561"/>
            <a:ext cx="1380959" cy="138095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77646-DDB7-4E3D-94A7-D1AF9A0CE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F17B5A-BE59-4F19-B2D3-8D08B707A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7" y="-18587"/>
            <a:ext cx="9144793" cy="689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0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3191272" cy="1143000"/>
          </a:xfrm>
        </p:spPr>
        <p:txBody>
          <a:bodyPr>
            <a:normAutofit/>
          </a:bodyPr>
          <a:lstStyle>
            <a:lvl1pPr>
              <a:defRPr sz="28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ctr">
              <a:defRPr sz="2000" b="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7" r:id="rId3"/>
    <p:sldLayoutId id="2147483678" r:id="rId4"/>
    <p:sldLayoutId id="2147483675" r:id="rId5"/>
    <p:sldLayoutId id="2147483674" r:id="rId6"/>
    <p:sldLayoutId id="2147483671" r:id="rId7"/>
    <p:sldLayoutId id="2147483667" r:id="rId8"/>
    <p:sldLayoutId id="2147483676" r:id="rId9"/>
    <p:sldLayoutId id="2147483679" r:id="rId10"/>
    <p:sldLayoutId id="2147483664" r:id="rId11"/>
    <p:sldLayoutId id="2147483665" r:id="rId12"/>
    <p:sldLayoutId id="2147483666" r:id="rId13"/>
    <p:sldLayoutId id="2147483668" r:id="rId14"/>
    <p:sldLayoutId id="2147483670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7518" y="5487145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Department : Information Technology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A3A6F-91D9-4129-87EA-C75A870F0E96}"/>
              </a:ext>
            </a:extLst>
          </p:cNvPr>
          <p:cNvSpPr txBox="1"/>
          <p:nvPr/>
        </p:nvSpPr>
        <p:spPr>
          <a:xfrm>
            <a:off x="355866" y="5193220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Lecturer Name : Freedom Khubisa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552" y="3717032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Name: Platform Based Development 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Code: PBDE401 | PBDV301</a:t>
            </a:r>
            <a:b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36512" y="1024557"/>
            <a:ext cx="878813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Intro: Mobile Platforms</a:t>
            </a:r>
          </a:p>
          <a:p>
            <a:pPr algn="ctr"/>
            <a:endParaRPr lang="en-US" sz="3200" b="1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0"/>
              <a:cs typeface="Gill Sans"/>
            </a:endParaRPr>
          </a:p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Programming Languages </a:t>
            </a:r>
          </a:p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&amp;</a:t>
            </a:r>
          </a:p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Location Aware Apps</a:t>
            </a:r>
          </a:p>
        </p:txBody>
      </p:sp>
    </p:spTree>
    <p:extLst>
      <p:ext uri="{BB962C8B-B14F-4D97-AF65-F5344CB8AC3E}">
        <p14:creationId xmlns:p14="http://schemas.microsoft.com/office/powerpoint/2010/main" val="201933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595972" y="1052736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itchFamily="34" charset="0"/>
                <a:cs typeface="Arial"/>
              </a:rPr>
              <a:t>Outline of the lesson </a:t>
            </a:r>
            <a:endParaRPr lang="en-US" sz="3200" dirty="0">
              <a:latin typeface="Gill Sans MT" panose="020B0502020104020203" pitchFamily="34" charset="0"/>
              <a:cs typeface="Arial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98E6E9-33AB-4D98-A95F-FF2B99D99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219256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Objectives</a:t>
            </a:r>
            <a:r>
              <a:rPr lang="en-GB" dirty="0"/>
              <a:t> </a:t>
            </a:r>
          </a:p>
          <a:p>
            <a:r>
              <a:rPr lang="en-US" sz="2200" b="0" dirty="0"/>
              <a:t>Define mobile apps and explain their purpose on smartphones and tablets.</a:t>
            </a:r>
          </a:p>
          <a:p>
            <a:r>
              <a:rPr lang="en-US" sz="2200" b="0" dirty="0"/>
              <a:t>Identify different types of mobile apps: native, cross-platform, and hybrid.</a:t>
            </a:r>
          </a:p>
          <a:p>
            <a:r>
              <a:rPr lang="en-US" sz="2200" b="0" dirty="0"/>
              <a:t>Describe how mobile apps interact with device hardware and APIs.</a:t>
            </a:r>
          </a:p>
          <a:p>
            <a:r>
              <a:rPr lang="en-US" sz="2200" b="0" dirty="0"/>
              <a:t>Explain the benefits of mobile apps for users and businesses</a:t>
            </a:r>
          </a:p>
        </p:txBody>
      </p:sp>
    </p:spTree>
    <p:extLst>
      <p:ext uri="{BB962C8B-B14F-4D97-AF65-F5344CB8AC3E}">
        <p14:creationId xmlns:p14="http://schemas.microsoft.com/office/powerpoint/2010/main" val="39970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2204864"/>
            <a:ext cx="8382000" cy="3962400"/>
          </a:xfrm>
        </p:spPr>
        <p:txBody>
          <a:bodyPr>
            <a:normAutofit/>
          </a:bodyPr>
          <a:lstStyle/>
          <a:p>
            <a:r>
              <a:rPr lang="en-ZA" sz="2400" dirty="0"/>
              <a:t>Operating Systems</a:t>
            </a:r>
          </a:p>
          <a:p>
            <a:r>
              <a:rPr lang="en-ZA" sz="2400" b="0" dirty="0"/>
              <a:t>Development Frameworks</a:t>
            </a:r>
          </a:p>
          <a:p>
            <a:r>
              <a:rPr lang="en-ZA" sz="2400" b="0" dirty="0"/>
              <a:t>Programming Languages</a:t>
            </a:r>
          </a:p>
          <a:p>
            <a:r>
              <a:rPr lang="en-ZA" sz="2400" b="0" dirty="0"/>
              <a:t>APIs</a:t>
            </a:r>
          </a:p>
          <a:p>
            <a:r>
              <a:rPr lang="en-ZA" sz="2400" b="0" dirty="0"/>
              <a:t>Tools</a:t>
            </a:r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619672" y="765646"/>
            <a:ext cx="4536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Mobile Platforms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1026" name="Picture 2" descr="Smartphones, Mobile Phones and Tablet Computers Stock Illustration -  Illustration of touchscreen, heap: 131303453">
            <a:extLst>
              <a:ext uri="{FF2B5EF4-FFF2-40B4-BE49-F238E27FC236}">
                <a16:creationId xmlns:a16="http://schemas.microsoft.com/office/drawing/2014/main" id="{E44EAA5F-F556-50B1-30E2-F89B0983A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377" y="1889829"/>
            <a:ext cx="4104456" cy="307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033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B287C-F239-2A3F-1944-955B1E64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316596-B4E2-9D49-EC49-51B1C6777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348880"/>
            <a:ext cx="8382000" cy="3962400"/>
          </a:xfrm>
        </p:spPr>
        <p:txBody>
          <a:bodyPr>
            <a:normAutofit/>
          </a:bodyPr>
          <a:lstStyle/>
          <a:p>
            <a:r>
              <a:rPr lang="en-ZA" sz="2400" b="0" dirty="0"/>
              <a:t>Android</a:t>
            </a:r>
          </a:p>
          <a:p>
            <a:r>
              <a:rPr lang="en-ZA" sz="2400" b="0" dirty="0"/>
              <a:t>iOS</a:t>
            </a:r>
          </a:p>
          <a:p>
            <a:r>
              <a:rPr lang="en-ZA" sz="2400" b="0" dirty="0"/>
              <a:t>HarmonyOs</a:t>
            </a:r>
          </a:p>
          <a:p>
            <a:r>
              <a:rPr lang="en-ZA" sz="2400" b="0" dirty="0"/>
              <a:t>KaiOS</a:t>
            </a:r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6372C2-D51C-CEB9-C5C4-03A3C94ECE70}"/>
              </a:ext>
            </a:extLst>
          </p:cNvPr>
          <p:cNvSpPr txBox="1"/>
          <p:nvPr/>
        </p:nvSpPr>
        <p:spPr>
          <a:xfrm>
            <a:off x="1202160" y="836712"/>
            <a:ext cx="66247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Widely Used Mobile Platforms (Operating Systems)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2050" name="Picture 2" descr="Mobile Operating System Market Share (2009-2023)">
            <a:extLst>
              <a:ext uri="{FF2B5EF4-FFF2-40B4-BE49-F238E27FC236}">
                <a16:creationId xmlns:a16="http://schemas.microsoft.com/office/drawing/2014/main" id="{0D3779C0-E808-1C3E-AFE2-C6BA210EA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204864"/>
            <a:ext cx="5499323" cy="309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3715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949115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303748" y="774908"/>
            <a:ext cx="45365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Mobile Operating System Market Share Analysis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1043608" y="1559738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b="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8F3E0D-F136-7439-21BA-B31A71F5C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03" y="2349233"/>
            <a:ext cx="6330930" cy="351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4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CA0DF-10A3-B43F-F747-EB787FA15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BDFCD7-232C-8C26-8C2E-377DD5142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949115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CFD1C-4D7E-633E-0066-7D788E1491AD}"/>
              </a:ext>
            </a:extLst>
          </p:cNvPr>
          <p:cNvSpPr txBox="1"/>
          <p:nvPr/>
        </p:nvSpPr>
        <p:spPr>
          <a:xfrm>
            <a:off x="2051720" y="637962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Mobile Platform Core Functions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8B733A54-BBC0-9412-1F6D-3A582093783B}"/>
              </a:ext>
            </a:extLst>
          </p:cNvPr>
          <p:cNvSpPr txBox="1">
            <a:spLocks/>
          </p:cNvSpPr>
          <p:nvPr/>
        </p:nvSpPr>
        <p:spPr>
          <a:xfrm>
            <a:off x="237980" y="1835262"/>
            <a:ext cx="7560840" cy="419010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000" b="0" i="1" dirty="0"/>
          </a:p>
          <a:p>
            <a:pPr marL="0" indent="0">
              <a:buNone/>
            </a:pPr>
            <a:endParaRPr lang="en-US" sz="8000" b="0" dirty="0"/>
          </a:p>
          <a:p>
            <a:r>
              <a:rPr lang="en-ZA" sz="8000" b="0" dirty="0"/>
              <a:t>Process Management</a:t>
            </a:r>
          </a:p>
          <a:p>
            <a:r>
              <a:rPr lang="en-ZA" sz="8000" b="0" dirty="0"/>
              <a:t>Memory Management</a:t>
            </a:r>
          </a:p>
          <a:p>
            <a:r>
              <a:rPr lang="en-ZA" sz="8000" b="0" dirty="0"/>
              <a:t>Device &amp; Hardware Management</a:t>
            </a:r>
          </a:p>
          <a:p>
            <a:r>
              <a:rPr lang="en-ZA" sz="8000" b="0" dirty="0"/>
              <a:t>Security Management</a:t>
            </a:r>
          </a:p>
          <a:p>
            <a:r>
              <a:rPr lang="en-ZA" sz="8000" b="0" dirty="0"/>
              <a:t>User Interface (UI) Management</a:t>
            </a:r>
          </a:p>
          <a:p>
            <a:r>
              <a:rPr lang="en-ZA" sz="8000" b="0" dirty="0"/>
              <a:t>Networking &amp; Communication</a:t>
            </a:r>
          </a:p>
          <a:p>
            <a:r>
              <a:rPr lang="en-ZA" sz="8000" b="0" dirty="0"/>
              <a:t>Application Lifecycle Management</a:t>
            </a:r>
          </a:p>
          <a:p>
            <a:r>
              <a:rPr lang="en-ZA" sz="8000" b="0" dirty="0"/>
              <a:t>Power &amp; Battery Management</a:t>
            </a:r>
          </a:p>
          <a:p>
            <a:endParaRPr lang="en-US" sz="3400" b="0" dirty="0"/>
          </a:p>
          <a:p>
            <a:endParaRPr lang="en-US" sz="7200" b="0" dirty="0"/>
          </a:p>
          <a:p>
            <a:pPr marL="457200" lvl="1" indent="0">
              <a:buNone/>
            </a:pPr>
            <a:endParaRPr lang="en-US" sz="24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3074" name="Picture 2" descr="What Is a Mobile Operating System? — Techslang">
            <a:extLst>
              <a:ext uri="{FF2B5EF4-FFF2-40B4-BE49-F238E27FC236}">
                <a16:creationId xmlns:a16="http://schemas.microsoft.com/office/drawing/2014/main" id="{89351FEA-AC11-BE9B-CC37-9955939E77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58"/>
          <a:stretch/>
        </p:blipFill>
        <p:spPr bwMode="auto">
          <a:xfrm>
            <a:off x="5148064" y="1715180"/>
            <a:ext cx="3474386" cy="346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801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67744" y="1052736"/>
            <a:ext cx="4536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Mobile Applications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098" name="Picture 2" descr="7 Popular Types of Business Applications for Mobile Phones - O2I">
            <a:extLst>
              <a:ext uri="{FF2B5EF4-FFF2-40B4-BE49-F238E27FC236}">
                <a16:creationId xmlns:a16="http://schemas.microsoft.com/office/drawing/2014/main" id="{9C79E786-A18A-0780-617A-DDE3EC470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348880"/>
            <a:ext cx="3769364" cy="2811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843706-12DB-93FF-51A1-749DA5DDACA5}"/>
              </a:ext>
            </a:extLst>
          </p:cNvPr>
          <p:cNvSpPr txBox="1"/>
          <p:nvPr/>
        </p:nvSpPr>
        <p:spPr>
          <a:xfrm>
            <a:off x="179512" y="1934660"/>
            <a:ext cx="5195124" cy="4352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+mj-lt"/>
              </a:rPr>
              <a:t>Mobile applications, or "apps," are </a:t>
            </a:r>
            <a:r>
              <a:rPr lang="en-US" dirty="0">
                <a:latin typeface="+mj-lt"/>
              </a:rPr>
              <a:t>software programs designed to run on mobile devices such as smartphones and tablets</a:t>
            </a:r>
            <a:r>
              <a:rPr lang="en-US" b="0" i="0" dirty="0">
                <a:effectLst/>
                <a:latin typeface="+mj-lt"/>
              </a:rPr>
              <a:t>, offering a wide range of functionalities from communication and entertainment to productivity and business tools: </a:t>
            </a:r>
          </a:p>
          <a:p>
            <a:endParaRPr lang="en-US" dirty="0">
              <a:latin typeface="+mj-lt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ZA" sz="18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Social Media </a:t>
            </a:r>
            <a:r>
              <a:rPr lang="en-ZA" sz="18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(e.g. Instagram, Facebook, Twitter (X), TikTok, Snapchat ) 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ZA" sz="18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Messaging</a:t>
            </a:r>
            <a:r>
              <a:rPr lang="en-ZA" sz="18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ZA" kern="100" dirty="0">
                <a:ea typeface="Aptos" panose="020B0004020202020204" pitchFamily="34" charset="0"/>
                <a:cs typeface="Times New Roman" panose="02020603050405020304" pitchFamily="18" charset="0"/>
              </a:rPr>
              <a:t>e.g. </a:t>
            </a:r>
            <a:r>
              <a:rPr lang="en-ZA" sz="18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WhatsApp, Telegram, Messenger) 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ZA" sz="18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Entertainment</a:t>
            </a:r>
            <a:r>
              <a:rPr lang="en-ZA" sz="18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ZA" kern="100" dirty="0">
                <a:ea typeface="Aptos" panose="020B0004020202020204" pitchFamily="34" charset="0"/>
                <a:cs typeface="Times New Roman" panose="02020603050405020304" pitchFamily="18" charset="0"/>
              </a:rPr>
              <a:t>e.g. </a:t>
            </a:r>
            <a:r>
              <a:rPr lang="en-ZA" sz="18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Spotify, Netflix, YouTube) 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ZA" sz="18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Productivity</a:t>
            </a:r>
            <a:r>
              <a:rPr lang="en-ZA" sz="18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ZA" kern="100" dirty="0">
                <a:ea typeface="Aptos" panose="020B0004020202020204" pitchFamily="34" charset="0"/>
                <a:cs typeface="Times New Roman" panose="02020603050405020304" pitchFamily="18" charset="0"/>
              </a:rPr>
              <a:t>e.g. </a:t>
            </a:r>
            <a:r>
              <a:rPr lang="en-ZA" sz="18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Microsoft Teams, Google Docs, Evernote, Zoom) </a:t>
            </a:r>
          </a:p>
          <a:p>
            <a:endParaRPr lang="en-ZA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55493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A815B-2688-7612-1F41-B162C2E5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680C08-7C38-C7EA-4CCB-35B6D3FC6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2C75D-BF7A-A2CD-C10A-703FB1CF4791}"/>
              </a:ext>
            </a:extLst>
          </p:cNvPr>
          <p:cNvSpPr txBox="1"/>
          <p:nvPr/>
        </p:nvSpPr>
        <p:spPr>
          <a:xfrm>
            <a:off x="2195736" y="743264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Strategies of Mobile Application Dev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5124" name="Picture 4" descr="Native vs Hybrid vs Cross-Platform: Best for 2022|Extern Labs">
            <a:extLst>
              <a:ext uri="{FF2B5EF4-FFF2-40B4-BE49-F238E27FC236}">
                <a16:creationId xmlns:a16="http://schemas.microsoft.com/office/drawing/2014/main" id="{2EDFF902-E8EB-DB4C-F0BD-839A76A47B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93" b="6624"/>
          <a:stretch/>
        </p:blipFill>
        <p:spPr bwMode="auto">
          <a:xfrm>
            <a:off x="395536" y="1988840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076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833655" y="-37322"/>
            <a:ext cx="45365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Native vs Hybrid vs Cross Platform Apps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-36512" y="1700808"/>
            <a:ext cx="7164796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850" t="1704" r="53" b="1160"/>
          <a:stretch/>
        </p:blipFill>
        <p:spPr>
          <a:xfrm>
            <a:off x="1691680" y="1532338"/>
            <a:ext cx="4964471" cy="455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717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835696" y="1009472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Framework:  Dev Approach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6146" name="Picture 2" descr="Native vs. Hybrid vs. Cross-Platform - What Your Product Needs | Railsware  Blog">
            <a:extLst>
              <a:ext uri="{FF2B5EF4-FFF2-40B4-BE49-F238E27FC236}">
                <a16:creationId xmlns:a16="http://schemas.microsoft.com/office/drawing/2014/main" id="{E93CAD9A-E34E-1C37-A423-5E3A0D658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192" y="1772816"/>
            <a:ext cx="7639272" cy="439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773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329AC-1087-DDC4-2060-B841CF7A8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E40FC2-690D-B3A3-DBE0-5E70D84EB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FDD0C-0A76-0A48-EFC4-BBAF8FCBB2F7}"/>
              </a:ext>
            </a:extLst>
          </p:cNvPr>
          <p:cNvSpPr txBox="1"/>
          <p:nvPr/>
        </p:nvSpPr>
        <p:spPr>
          <a:xfrm>
            <a:off x="2051720" y="857868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Mobile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16337B08-FA26-0F3B-5E2A-96EC4D816B53}"/>
              </a:ext>
            </a:extLst>
          </p:cNvPr>
          <p:cNvSpPr txBox="1">
            <a:spLocks/>
          </p:cNvSpPr>
          <p:nvPr/>
        </p:nvSpPr>
        <p:spPr>
          <a:xfrm>
            <a:off x="467544" y="3849140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u="sng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07FAAE-5D89-7AE1-59D1-648E303B89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4862514"/>
            <a:ext cx="4014192" cy="1883174"/>
          </a:xfrm>
          <a:prstGeom prst="rect">
            <a:avLst/>
          </a:prstGeom>
        </p:spPr>
      </p:pic>
      <p:pic>
        <p:nvPicPr>
          <p:cNvPr id="7170" name="Picture 2" descr="List of the Best Languages for Mobile App Development | IT Craft">
            <a:extLst>
              <a:ext uri="{FF2B5EF4-FFF2-40B4-BE49-F238E27FC236}">
                <a16:creationId xmlns:a16="http://schemas.microsoft.com/office/drawing/2014/main" id="{938B37EC-4E74-04CD-67F0-2234330F18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80" b="5819"/>
          <a:stretch/>
        </p:blipFill>
        <p:spPr bwMode="auto">
          <a:xfrm>
            <a:off x="557572" y="2060848"/>
            <a:ext cx="7848600" cy="2428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0215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463C-ABED-563C-AD7A-77C5F684A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45B1E1-95EC-026A-B628-75F367A44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158217-45E8-5413-53A6-E16C14932578}"/>
              </a:ext>
            </a:extLst>
          </p:cNvPr>
          <p:cNvSpPr txBox="1"/>
          <p:nvPr/>
        </p:nvSpPr>
        <p:spPr>
          <a:xfrm>
            <a:off x="2051720" y="857868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Mobile Platform Architectures 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913D484C-E91B-21E6-2668-ACA9B86AFB98}"/>
              </a:ext>
            </a:extLst>
          </p:cNvPr>
          <p:cNvSpPr txBox="1">
            <a:spLocks/>
          </p:cNvSpPr>
          <p:nvPr/>
        </p:nvSpPr>
        <p:spPr>
          <a:xfrm>
            <a:off x="467544" y="3849140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u="sng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4098" name="Picture 2" descr="MVC x MVP x MVVM">
            <a:extLst>
              <a:ext uri="{FF2B5EF4-FFF2-40B4-BE49-F238E27FC236}">
                <a16:creationId xmlns:a16="http://schemas.microsoft.com/office/drawing/2014/main" id="{9A463346-9C0A-FA15-223B-F63D3AAE92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2" b="9741"/>
          <a:stretch>
            <a:fillRect/>
          </a:stretch>
        </p:blipFill>
        <p:spPr bwMode="auto">
          <a:xfrm>
            <a:off x="574216" y="2070096"/>
            <a:ext cx="8081348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5266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B5D4F-08CF-049A-E39A-E348402E6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8E4D98-02A2-E4DE-412C-6A472A291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2204864"/>
            <a:ext cx="9324528" cy="3962400"/>
          </a:xfrm>
        </p:spPr>
        <p:txBody>
          <a:bodyPr>
            <a:normAutofit/>
          </a:bodyPr>
          <a:lstStyle/>
          <a:p>
            <a:r>
              <a:rPr lang="en-US" sz="2400" b="0" dirty="0"/>
              <a:t>Location-aware apps use geographic data to provide services based on the user's location.</a:t>
            </a:r>
          </a:p>
          <a:p>
            <a:r>
              <a:rPr lang="en-US" sz="2400" dirty="0"/>
              <a:t>Technologies used:</a:t>
            </a:r>
          </a:p>
          <a:p>
            <a:pPr lvl="1"/>
            <a:r>
              <a:rPr lang="en-US" sz="2000" dirty="0"/>
              <a:t>GPS</a:t>
            </a:r>
          </a:p>
          <a:p>
            <a:pPr lvl="1"/>
            <a:r>
              <a:rPr lang="en-US" sz="2000" dirty="0"/>
              <a:t>Wi-Fi positioning</a:t>
            </a:r>
          </a:p>
          <a:p>
            <a:pPr lvl="1"/>
            <a:r>
              <a:rPr lang="en-US" sz="2000" dirty="0"/>
              <a:t>Cell tower triangulation</a:t>
            </a:r>
          </a:p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C58F2-226D-1F90-63C6-F9AD09871C8F}"/>
              </a:ext>
            </a:extLst>
          </p:cNvPr>
          <p:cNvSpPr txBox="1"/>
          <p:nvPr/>
        </p:nvSpPr>
        <p:spPr>
          <a:xfrm>
            <a:off x="2051720" y="857868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Location Aware Applications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F8F62AE-05D9-FFCA-3E7E-897E96416DAC}"/>
              </a:ext>
            </a:extLst>
          </p:cNvPr>
          <p:cNvSpPr txBox="1">
            <a:spLocks/>
          </p:cNvSpPr>
          <p:nvPr/>
        </p:nvSpPr>
        <p:spPr>
          <a:xfrm>
            <a:off x="467544" y="3849140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u="sng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5122" name="Picture 2" descr="How to Create a Location-Based App for Android &amp; iOS">
            <a:extLst>
              <a:ext uri="{FF2B5EF4-FFF2-40B4-BE49-F238E27FC236}">
                <a16:creationId xmlns:a16="http://schemas.microsoft.com/office/drawing/2014/main" id="{1873AF7C-E6AA-FBB7-2BC1-38425F410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4" t="12219" r="3280" b="1450"/>
          <a:stretch>
            <a:fillRect/>
          </a:stretch>
        </p:blipFill>
        <p:spPr bwMode="auto">
          <a:xfrm>
            <a:off x="4231511" y="3140878"/>
            <a:ext cx="4912489" cy="302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300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EB98F-070A-C620-11DE-40B5784FD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B82A53-AED3-A4E5-1E3D-C241FE224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24544" y="2420888"/>
            <a:ext cx="6186264" cy="3962400"/>
          </a:xfrm>
        </p:spPr>
        <p:txBody>
          <a:bodyPr>
            <a:normAutofit/>
          </a:bodyPr>
          <a:lstStyle/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37163-96C4-C7ED-FD7F-2735D8087277}"/>
              </a:ext>
            </a:extLst>
          </p:cNvPr>
          <p:cNvSpPr txBox="1"/>
          <p:nvPr/>
        </p:nvSpPr>
        <p:spPr>
          <a:xfrm>
            <a:off x="805093" y="1350059"/>
            <a:ext cx="7020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Business Perspective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3" name="AutoShape 2" descr="Top 10 Benefits Of Mobile Apps For Your Business In 2025">
            <a:extLst>
              <a:ext uri="{FF2B5EF4-FFF2-40B4-BE49-F238E27FC236}">
                <a16:creationId xmlns:a16="http://schemas.microsoft.com/office/drawing/2014/main" id="{698AA809-F2D1-A341-FFEB-5E9A65139E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700D3E-7CB8-1B4B-6641-238DDB97D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096852"/>
            <a:ext cx="6255719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54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2346755"/>
            <a:ext cx="6186264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Parameters for consideration may include:</a:t>
            </a:r>
            <a:endParaRPr lang="en-ZA" sz="2000" dirty="0"/>
          </a:p>
          <a:p>
            <a:pPr lvl="1"/>
            <a:r>
              <a:rPr lang="en-US" sz="1700" dirty="0"/>
              <a:t>Targeted device (OS platform)</a:t>
            </a:r>
            <a:endParaRPr lang="en-ZA" sz="1700" dirty="0"/>
          </a:p>
          <a:p>
            <a:pPr lvl="1"/>
            <a:r>
              <a:rPr lang="en-ZA" sz="1700" dirty="0"/>
              <a:t>UI and UX </a:t>
            </a:r>
          </a:p>
          <a:p>
            <a:pPr lvl="1"/>
            <a:r>
              <a:rPr lang="en-ZA" sz="1700" dirty="0"/>
              <a:t>Device features (</a:t>
            </a:r>
            <a:r>
              <a:rPr lang="en-US" sz="1700" dirty="0"/>
              <a:t>Access to native hardware features through APIs)</a:t>
            </a:r>
            <a:endParaRPr lang="en-ZA" sz="1700" dirty="0"/>
          </a:p>
          <a:p>
            <a:pPr lvl="1"/>
            <a:r>
              <a:rPr lang="en-ZA" sz="1700" dirty="0"/>
              <a:t>Performance</a:t>
            </a:r>
          </a:p>
          <a:p>
            <a:pPr lvl="1"/>
            <a:r>
              <a:rPr lang="en-ZA" sz="1700" dirty="0"/>
              <a:t>Easily upgradeable</a:t>
            </a:r>
          </a:p>
          <a:p>
            <a:pPr lvl="1"/>
            <a:r>
              <a:rPr lang="en-ZA" sz="1700" dirty="0"/>
              <a:t>Security</a:t>
            </a:r>
          </a:p>
          <a:p>
            <a:pPr lvl="1"/>
            <a:r>
              <a:rPr lang="en-US" sz="1700" dirty="0"/>
              <a:t>Cost (Cheap development cost?)</a:t>
            </a:r>
            <a:endParaRPr lang="en-ZA" sz="1700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303748" y="1014669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Factors to consider: Mobile App Dev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924944"/>
            <a:ext cx="3344417" cy="237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052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5055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T Data Day Template" id="{92846BAD-006C-4266-8FF7-592E96877308}" vid="{D95C4ACA-B937-4CA7-8EE4-059BD2ABB2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2F7482BA8A594BB82EB43DDDC30A7B" ma:contentTypeVersion="0" ma:contentTypeDescription="Create a new document." ma:contentTypeScope="" ma:versionID="cfac4779270873affce0d8e4580d4c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FBC31D-43B2-41BB-8D13-4FBD595149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9DC2DB-DA30-434E-BF62-455F46779EA5}">
  <ds:schemaRefs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4E52D24-A7FE-46E9-B344-6ABD7A716B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Say it in Six template</Template>
  <TotalTime>21906</TotalTime>
  <Words>345</Words>
  <Application>Microsoft Office PowerPoint</Application>
  <PresentationFormat>On-screen Show (4:3)</PresentationFormat>
  <Paragraphs>188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Gill Sans MT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Freedom Mthobisi Khubisa</dc:creator>
  <cp:lastModifiedBy>Freedom Khubisa</cp:lastModifiedBy>
  <cp:revision>99</cp:revision>
  <dcterms:created xsi:type="dcterms:W3CDTF">2022-02-22T09:59:59Z</dcterms:created>
  <dcterms:modified xsi:type="dcterms:W3CDTF">2026-03-16T21:50:25Z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0x010100B42F7482BA8A594BB82EB43DDDC30A7B</vt:lpwstr>
  </property>
</Properties>
</file>