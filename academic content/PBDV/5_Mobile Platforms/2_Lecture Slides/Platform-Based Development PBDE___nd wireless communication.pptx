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79" r:id="rId5"/>
    <p:sldId id="284" r:id="rId6"/>
    <p:sldId id="362" r:id="rId7"/>
    <p:sldId id="363" r:id="rId8"/>
    <p:sldId id="364" r:id="rId9"/>
    <p:sldId id="365" r:id="rId10"/>
    <p:sldId id="366" r:id="rId11"/>
    <p:sldId id="367" r:id="rId12"/>
    <p:sldId id="368" r:id="rId13"/>
    <p:sldId id="344" r:id="rId14"/>
    <p:sldId id="360" r:id="rId15"/>
    <p:sldId id="283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6CE"/>
    <a:srgbClr val="D5CEB9"/>
    <a:srgbClr val="CBB168"/>
    <a:srgbClr val="BA9B6A"/>
    <a:srgbClr val="A485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82" d="100"/>
          <a:sy n="82" d="100"/>
        </p:scale>
        <p:origin x="1502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313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 dirty="0">
              <a:latin typeface="Gill Sans MT" panose="020B0502020104020203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B94288-37BE-42FD-A3CE-C644F7468E54}" type="datetimeFigureOut">
              <a:rPr lang="en-ZA" smtClean="0">
                <a:latin typeface="Gill Sans MT" panose="020B0502020104020203" pitchFamily="34" charset="0"/>
              </a:rPr>
              <a:t>2026/03/24</a:t>
            </a:fld>
            <a:endParaRPr lang="en-ZA" dirty="0">
              <a:latin typeface="Gill Sans MT" panose="020B0502020104020203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 dirty="0">
              <a:latin typeface="Gill Sans MT" panose="020B0502020104020203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38CC4-D689-4043-A112-A0EF0661C963}" type="slidenum">
              <a:rPr lang="en-ZA" smtClean="0">
                <a:latin typeface="Gill Sans MT" panose="020B0502020104020203" pitchFamily="34" charset="0"/>
              </a:rPr>
              <a:t>‹#›</a:t>
            </a:fld>
            <a:endParaRPr lang="en-ZA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79745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Gill Sans MT" panose="020B05020201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Gill Sans MT" panose="020B0502020104020203" pitchFamily="34" charset="0"/>
              </a:defRPr>
            </a:lvl1pPr>
          </a:lstStyle>
          <a:p>
            <a:fld id="{B78CA02F-F0F2-854F-B286-9B534A264BAA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Gill Sans MT" panose="020B05020201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Gill Sans MT" panose="020B0502020104020203" pitchFamily="34" charset="0"/>
              </a:defRPr>
            </a:lvl1pPr>
          </a:lstStyle>
          <a:p>
            <a:fld id="{BF04800F-0C89-EC4F-919F-9C2CE26B175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665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jpe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8433" y="1988840"/>
            <a:ext cx="3444240" cy="20756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8433" y="4293096"/>
            <a:ext cx="3444240" cy="51116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49" y="0"/>
            <a:ext cx="9136901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68" y="0"/>
            <a:ext cx="90792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14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91" y="0"/>
            <a:ext cx="90964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8382000" cy="3962400"/>
          </a:xfrm>
        </p:spPr>
        <p:txBody>
          <a:bodyPr/>
          <a:lstStyle>
            <a:lvl1pPr>
              <a:defRPr b="1"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39970" cy="151008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  <p:pic>
        <p:nvPicPr>
          <p:cNvPr id="5" name="Picture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5B311ECE-6512-433C-AD41-986B120671A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68344" y="64561"/>
            <a:ext cx="1380959" cy="138095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977646-DDB7-4E3D-94A7-D1AF9A0CE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1"/>
            <a:ext cx="8382000" cy="3962400"/>
          </a:xfrm>
        </p:spPr>
        <p:txBody>
          <a:bodyPr/>
          <a:lstStyle>
            <a:lvl1pPr>
              <a:defRPr b="1"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F17B5A-BE59-4F19-B2D3-8D08B707A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05001"/>
            <a:ext cx="8382000" cy="3962400"/>
          </a:xfrm>
        </p:spPr>
        <p:txBody>
          <a:bodyPr/>
          <a:lstStyle>
            <a:lvl1pPr>
              <a:defRPr b="1"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97" y="-18587"/>
            <a:ext cx="9144793" cy="689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706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3191272" cy="1143000"/>
          </a:xfrm>
        </p:spPr>
        <p:txBody>
          <a:bodyPr>
            <a:normAutofit/>
          </a:bodyPr>
          <a:lstStyle>
            <a:lvl1pPr>
              <a:defRPr sz="280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ill Sans M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>
            <a:normAutofit/>
          </a:bodyPr>
          <a:lstStyle>
            <a:lvl1pPr>
              <a:defRPr sz="1800">
                <a:latin typeface="Gill Sans MT" pitchFamily="34" charset="0"/>
              </a:defRPr>
            </a:lvl1pPr>
            <a:lvl2pPr>
              <a:defRPr sz="1800">
                <a:latin typeface="Gill Sans MT" pitchFamily="34" charset="0"/>
              </a:defRPr>
            </a:lvl2pPr>
            <a:lvl3pPr>
              <a:defRPr sz="1800">
                <a:latin typeface="Gill Sans MT" pitchFamily="34" charset="0"/>
              </a:defRPr>
            </a:lvl3pPr>
            <a:lvl4pPr>
              <a:defRPr sz="1800">
                <a:latin typeface="Gill Sans MT" pitchFamily="34" charset="0"/>
              </a:defRPr>
            </a:lvl4pPr>
            <a:lvl5pPr>
              <a:defRPr sz="1800">
                <a:latin typeface="Gill Sans MT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ill Sans MT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>
            <a:normAutofit/>
          </a:bodyPr>
          <a:lstStyle>
            <a:lvl1pPr>
              <a:defRPr sz="1800">
                <a:latin typeface="Gill Sans MT" pitchFamily="34" charset="0"/>
              </a:defRPr>
            </a:lvl1pPr>
            <a:lvl2pPr>
              <a:defRPr sz="1800">
                <a:latin typeface="Gill Sans MT" pitchFamily="34" charset="0"/>
              </a:defRPr>
            </a:lvl2pPr>
            <a:lvl3pPr>
              <a:defRPr sz="1800">
                <a:latin typeface="Gill Sans MT" pitchFamily="34" charset="0"/>
              </a:defRPr>
            </a:lvl3pPr>
            <a:lvl4pPr>
              <a:defRPr sz="1800">
                <a:latin typeface="Gill Sans MT" pitchFamily="34" charset="0"/>
              </a:defRPr>
            </a:lvl4pPr>
            <a:lvl5pPr>
              <a:defRPr sz="1800">
                <a:latin typeface="Gill Sans MT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95120" cy="1143000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ctr">
              <a:defRPr sz="2000" b="0"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Gill Sans MT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6256" y="5417568"/>
            <a:ext cx="1817346" cy="10952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3528" y="6223239"/>
            <a:ext cx="5407163" cy="28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Gill Sans MT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Gill Sans MT" panose="020B050202010402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Gill Sans MT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04" y="6021288"/>
            <a:ext cx="5544312" cy="7589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95120" cy="1143000"/>
          </a:xfrm>
        </p:spPr>
        <p:txBody>
          <a:bodyPr/>
          <a:lstStyle>
            <a:lvl1pPr>
              <a:defRPr>
                <a:latin typeface="Gill Sans MT" panose="020B05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Gill Sans MT" pitchFamily="34" charset="0"/>
              </a:defRPr>
            </a:lvl1pPr>
            <a:lvl2pPr>
              <a:defRPr>
                <a:latin typeface="Gill Sans MT" pitchFamily="34" charset="0"/>
              </a:defRPr>
            </a:lvl2pPr>
            <a:lvl3pPr>
              <a:defRPr>
                <a:latin typeface="Gill Sans MT" pitchFamily="34" charset="0"/>
              </a:defRPr>
            </a:lvl3pPr>
            <a:lvl4pPr>
              <a:defRPr>
                <a:latin typeface="Gill Sans MT" pitchFamily="34" charset="0"/>
              </a:defRPr>
            </a:lvl4pPr>
            <a:lvl5pPr>
              <a:defRPr>
                <a:latin typeface="Gill Sans MT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04" y="6021288"/>
            <a:ext cx="5544312" cy="75895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77" r:id="rId3"/>
    <p:sldLayoutId id="2147483678" r:id="rId4"/>
    <p:sldLayoutId id="2147483675" r:id="rId5"/>
    <p:sldLayoutId id="2147483674" r:id="rId6"/>
    <p:sldLayoutId id="2147483671" r:id="rId7"/>
    <p:sldLayoutId id="2147483667" r:id="rId8"/>
    <p:sldLayoutId id="2147483676" r:id="rId9"/>
    <p:sldLayoutId id="2147483679" r:id="rId10"/>
    <p:sldLayoutId id="2147483664" r:id="rId11"/>
    <p:sldLayoutId id="2147483665" r:id="rId12"/>
    <p:sldLayoutId id="2147483666" r:id="rId13"/>
    <p:sldLayoutId id="2147483668" r:id="rId14"/>
    <p:sldLayoutId id="2147483669" r:id="rId15"/>
    <p:sldLayoutId id="2147483670" r:id="rId1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Gill Sans MT" panose="020B0502020104020203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7518" y="5487145"/>
            <a:ext cx="7050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Department : Information Technology</a:t>
            </a:r>
            <a:b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8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800" dirty="0">
              <a:latin typeface="Gill Sans MT" panose="020B05020201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2A3A6F-91D9-4129-87EA-C75A870F0E96}"/>
              </a:ext>
            </a:extLst>
          </p:cNvPr>
          <p:cNvSpPr txBox="1"/>
          <p:nvPr/>
        </p:nvSpPr>
        <p:spPr>
          <a:xfrm>
            <a:off x="355866" y="5193220"/>
            <a:ext cx="70506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Lecturer Name : Freedom</a:t>
            </a:r>
            <a:endParaRPr lang="en-US" sz="2800" dirty="0">
              <a:latin typeface="Gill Sans MT" panose="020B05020201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9569" y="3759697"/>
            <a:ext cx="77048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Subject Name: Platform Based Development </a:t>
            </a:r>
          </a:p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Arial"/>
              </a:rPr>
              <a:t>Subject Code: PBDE401 | PBDV301</a:t>
            </a:r>
            <a:b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</a:br>
            <a:r>
              <a:rPr lang="en-US" sz="24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 </a:t>
            </a:r>
            <a:endParaRPr lang="en-US" sz="2400" dirty="0">
              <a:latin typeface="Gill Sans MT" panose="020B05020201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9569" y="1988840"/>
            <a:ext cx="77048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Location-aware application </a:t>
            </a:r>
          </a:p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&amp; Challenges with mobility and wireless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019335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595972" y="1052736"/>
            <a:ext cx="41044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chemeClr val="bg1">
                    <a:lumMod val="50000"/>
                  </a:schemeClr>
                </a:solidFill>
                <a:latin typeface="Gill Sans MT" pitchFamily="34" charset="0"/>
                <a:cs typeface="Arial"/>
              </a:rPr>
              <a:t>Outline of the lesson </a:t>
            </a:r>
            <a:endParaRPr lang="en-US" sz="3200" dirty="0">
              <a:latin typeface="Gill Sans MT" panose="020B0502020104020203" pitchFamily="34" charset="0"/>
              <a:cs typeface="Arial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98E6E9-33AB-4D98-A95F-FF2B99D99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842864"/>
            <a:ext cx="9073008" cy="3962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800" dirty="0"/>
              <a:t>Objectives : </a:t>
            </a:r>
            <a:r>
              <a:rPr lang="en-GB" dirty="0"/>
              <a:t> </a:t>
            </a:r>
          </a:p>
          <a:p>
            <a:pPr>
              <a:spcAft>
                <a:spcPts val="800"/>
              </a:spcAft>
              <a:buFont typeface="+mj-lt"/>
              <a:buAutoNum type="arabicPeriod"/>
            </a:pPr>
            <a:r>
              <a:rPr lang="en-ZA" sz="22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Explain</a:t>
            </a:r>
            <a:r>
              <a:rPr lang="en-ZA" sz="22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what location-aware applications and services are.</a:t>
            </a:r>
          </a:p>
          <a:p>
            <a:pPr>
              <a:spcAft>
                <a:spcPts val="800"/>
              </a:spcAft>
              <a:buFont typeface="+mj-lt"/>
              <a:buAutoNum type="arabicPeriod"/>
            </a:pPr>
            <a:r>
              <a:rPr lang="en-ZA" sz="22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Describe</a:t>
            </a:r>
            <a:r>
              <a:rPr lang="en-ZA" sz="22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key technologies enabling location awareness.</a:t>
            </a:r>
          </a:p>
          <a:p>
            <a:pPr>
              <a:spcAft>
                <a:spcPts val="800"/>
              </a:spcAft>
              <a:buFont typeface="+mj-lt"/>
              <a:buAutoNum type="arabicPeriod"/>
            </a:pPr>
            <a:r>
              <a:rPr lang="en-ZA" sz="22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Identify</a:t>
            </a:r>
            <a:r>
              <a:rPr lang="en-ZA" sz="22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real-world examples of location-aware systems across various industries.</a:t>
            </a:r>
          </a:p>
          <a:p>
            <a:pPr>
              <a:spcAft>
                <a:spcPts val="800"/>
              </a:spcAft>
              <a:buFont typeface="+mj-lt"/>
              <a:buAutoNum type="arabicPeriod"/>
            </a:pPr>
            <a:r>
              <a:rPr lang="en-ZA" sz="22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Analyze</a:t>
            </a:r>
            <a:r>
              <a:rPr lang="en-ZA" sz="22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challenges introduced by user mobility and wireless communication</a:t>
            </a:r>
          </a:p>
          <a:p>
            <a:pPr>
              <a:spcAft>
                <a:spcPts val="800"/>
              </a:spcAft>
              <a:buFont typeface="+mj-lt"/>
              <a:buAutoNum type="arabicPeriod"/>
            </a:pPr>
            <a:r>
              <a:rPr lang="en-ZA" sz="2200" b="1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Discuss</a:t>
            </a:r>
            <a:r>
              <a:rPr lang="en-ZA" sz="2200" kern="100" dirty="0"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solutions or strategies to overcome these challenges</a:t>
            </a:r>
          </a:p>
          <a:p>
            <a:pPr marL="0" indent="0">
              <a:buNone/>
            </a:pP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399708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36685" y="700311"/>
            <a:ext cx="5400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Location-aware applications/services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935596" y="2276872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27B430-CBF4-F54A-BDF1-B3B5F9B83BF1}"/>
              </a:ext>
            </a:extLst>
          </p:cNvPr>
          <p:cNvSpPr txBox="1"/>
          <p:nvPr/>
        </p:nvSpPr>
        <p:spPr>
          <a:xfrm>
            <a:off x="404537" y="1916832"/>
            <a:ext cx="83349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Location-aware applications leverage the geographical location of a user to provide personalized services, information, or functionality.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They rely on location data obtained from GPS, Wi-Fi, cellular networks, or other sensors to determine the user's position.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These applications offer a wide range of benefits, including navigation, social networking, geotagging, and location-based advertising.</a:t>
            </a:r>
          </a:p>
        </p:txBody>
      </p:sp>
      <p:pic>
        <p:nvPicPr>
          <p:cNvPr id="3" name="Picture 4" descr="7 Hot Ideas for Location Based Apps">
            <a:extLst>
              <a:ext uri="{FF2B5EF4-FFF2-40B4-BE49-F238E27FC236}">
                <a16:creationId xmlns:a16="http://schemas.microsoft.com/office/drawing/2014/main" id="{D1CF22AA-DDD8-32C0-CCF9-A5387B5F87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3666445"/>
            <a:ext cx="3744416" cy="2496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1063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63688" y="1003662"/>
            <a:ext cx="5400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Technologies for Location awareness 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935596" y="2276872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27B430-CBF4-F54A-BDF1-B3B5F9B83BF1}"/>
              </a:ext>
            </a:extLst>
          </p:cNvPr>
          <p:cNvSpPr txBox="1"/>
          <p:nvPr/>
        </p:nvSpPr>
        <p:spPr>
          <a:xfrm>
            <a:off x="323528" y="2267695"/>
            <a:ext cx="626469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ZA" dirty="0"/>
          </a:p>
          <a:p>
            <a:pPr algn="l">
              <a:buFont typeface="+mj-lt"/>
              <a:buAutoNum type="arabicPeriod"/>
            </a:pPr>
            <a:r>
              <a:rPr lang="en-ZA" dirty="0"/>
              <a:t>GPS (Global Positioning System)- Utilizes satellites to determine the user's location.</a:t>
            </a:r>
          </a:p>
          <a:p>
            <a:pPr algn="l">
              <a:buFont typeface="+mj-lt"/>
              <a:buAutoNum type="arabicPeriod"/>
            </a:pPr>
            <a:r>
              <a:rPr lang="en-ZA" dirty="0"/>
              <a:t>Wi-Fi Positioning System (WPS)- Estimates location based on nearby Wi-Fi networks.</a:t>
            </a:r>
          </a:p>
          <a:p>
            <a:pPr algn="l">
              <a:buFont typeface="+mj-lt"/>
              <a:buAutoNum type="arabicPeriod"/>
            </a:pPr>
            <a:r>
              <a:rPr lang="en-ZA" dirty="0"/>
              <a:t>Cell ID - Uses the cell tower ID to approximate the user's location.</a:t>
            </a:r>
          </a:p>
          <a:p>
            <a:pPr algn="l">
              <a:buFont typeface="+mj-lt"/>
              <a:buAutoNum type="arabicPeriod"/>
            </a:pPr>
            <a:r>
              <a:rPr lang="en-ZA" dirty="0"/>
              <a:t>Bluetooth Beacons- Small devices that transmit signals to communicate with nearby smartphones</a:t>
            </a:r>
          </a:p>
          <a:p>
            <a:pPr algn="l">
              <a:buFont typeface="+mj-lt"/>
              <a:buAutoNum type="arabicPeriod"/>
            </a:pPr>
            <a:r>
              <a:rPr lang="en-ZA" dirty="0"/>
              <a:t> Other: </a:t>
            </a:r>
            <a:r>
              <a:rPr lang="en-ZA" dirty="0">
                <a:solidFill>
                  <a:srgbClr val="FF0000"/>
                </a:solidFill>
              </a:rPr>
              <a:t>Radio Frequency Identification (RFID), Computer Vision &amp; Camera-Based Systems, Ultra-Wideband (UWB)</a:t>
            </a:r>
          </a:p>
          <a:p>
            <a:r>
              <a:rPr lang="en-ZA" dirty="0">
                <a:solidFill>
                  <a:srgbClr val="FF0000"/>
                </a:solidFill>
              </a:rPr>
              <a:t>IP Address Geolocation ?</a:t>
            </a:r>
          </a:p>
          <a:p>
            <a:pPr algn="l">
              <a:buFont typeface="+mj-lt"/>
              <a:buAutoNum type="arabicPeriod"/>
            </a:pPr>
            <a:endParaRPr lang="en-ZA" dirty="0"/>
          </a:p>
        </p:txBody>
      </p:sp>
      <p:pic>
        <p:nvPicPr>
          <p:cNvPr id="3076" name="Picture 4" descr="Mobile Apps: Beacons vs. GPS vs. WiFi">
            <a:extLst>
              <a:ext uri="{FF2B5EF4-FFF2-40B4-BE49-F238E27FC236}">
                <a16:creationId xmlns:a16="http://schemas.microsoft.com/office/drawing/2014/main" id="{DCD920FE-CE9F-A8A2-3AB2-7D5FAED57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031602" y="2732264"/>
            <a:ext cx="3489507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1133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47664" y="735633"/>
            <a:ext cx="5400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Location-awareness </a:t>
            </a:r>
          </a:p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in Android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935596" y="2276872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2000" dirty="0"/>
          </a:p>
        </p:txBody>
      </p:sp>
      <p:pic>
        <p:nvPicPr>
          <p:cNvPr id="2" name="Picture 2" descr="Location Aware Android Apps - An introduction to Geolocation in Android">
            <a:extLst>
              <a:ext uri="{FF2B5EF4-FFF2-40B4-BE49-F238E27FC236}">
                <a16:creationId xmlns:a16="http://schemas.microsoft.com/office/drawing/2014/main" id="{E3A9345C-ACBE-268A-D2EC-C4C7267B61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0" t="13388"/>
          <a:stretch/>
        </p:blipFill>
        <p:spPr bwMode="auto">
          <a:xfrm>
            <a:off x="467544" y="2273627"/>
            <a:ext cx="6372708" cy="3598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3748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935596" y="2276872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2000" dirty="0"/>
          </a:p>
        </p:txBody>
      </p:sp>
      <p:pic>
        <p:nvPicPr>
          <p:cNvPr id="6146" name="Picture 2" descr="Geofencing - CyberHoot Cybrary Term">
            <a:extLst>
              <a:ext uri="{FF2B5EF4-FFF2-40B4-BE49-F238E27FC236}">
                <a16:creationId xmlns:a16="http://schemas.microsoft.com/office/drawing/2014/main" id="{D1B968F7-220F-E667-977C-F8A4BDCA9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97" y="2588110"/>
            <a:ext cx="2432441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418DFD-3C55-1CD4-AACF-5BE63170E0A7}"/>
              </a:ext>
            </a:extLst>
          </p:cNvPr>
          <p:cNvSpPr txBox="1"/>
          <p:nvPr/>
        </p:nvSpPr>
        <p:spPr>
          <a:xfrm>
            <a:off x="1835696" y="859650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Gill Sans MT" panose="020B0502020104020203" pitchFamily="34" charset="0"/>
                <a:cs typeface="Gill Sans"/>
              </a:rPr>
              <a:t>What is happening here?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CEB9AA-FD6A-0404-ADA9-B16C6EB527F6}"/>
              </a:ext>
            </a:extLst>
          </p:cNvPr>
          <p:cNvSpPr txBox="1"/>
          <p:nvPr/>
        </p:nvSpPr>
        <p:spPr>
          <a:xfrm>
            <a:off x="70371" y="1696237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b="1" dirty="0"/>
              <a:t>Geofencing</a:t>
            </a:r>
          </a:p>
        </p:txBody>
      </p:sp>
      <p:pic>
        <p:nvPicPr>
          <p:cNvPr id="1026" name="Picture 2" descr="How to Use Geo-Targeting to Drive Conversions">
            <a:extLst>
              <a:ext uri="{FF2B5EF4-FFF2-40B4-BE49-F238E27FC236}">
                <a16:creationId xmlns:a16="http://schemas.microsoft.com/office/drawing/2014/main" id="{5A08E331-2874-B3F7-5BB1-591520E70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753" y="3629655"/>
            <a:ext cx="2432441" cy="1459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B78632-F056-A27F-3E46-671E82A6F59E}"/>
              </a:ext>
            </a:extLst>
          </p:cNvPr>
          <p:cNvSpPr txBox="1"/>
          <p:nvPr/>
        </p:nvSpPr>
        <p:spPr>
          <a:xfrm>
            <a:off x="2735796" y="2662946"/>
            <a:ext cx="36724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b="1" dirty="0"/>
              <a:t>Geotargeting</a:t>
            </a:r>
          </a:p>
        </p:txBody>
      </p:sp>
      <p:pic>
        <p:nvPicPr>
          <p:cNvPr id="1028" name="Picture 4" descr="How to Geotag Video - Videomaker">
            <a:extLst>
              <a:ext uri="{FF2B5EF4-FFF2-40B4-BE49-F238E27FC236}">
                <a16:creationId xmlns:a16="http://schemas.microsoft.com/office/drawing/2014/main" id="{5A86BFFE-D4A7-FBF9-8E44-8FD2BABEB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3825" y="2379003"/>
            <a:ext cx="2432441" cy="1945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049079-24BF-AD96-149C-483BF32BC392}"/>
              </a:ext>
            </a:extLst>
          </p:cNvPr>
          <p:cNvSpPr txBox="1"/>
          <p:nvPr/>
        </p:nvSpPr>
        <p:spPr>
          <a:xfrm>
            <a:off x="5922404" y="1671117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b="1" dirty="0"/>
              <a:t>Geotagging</a:t>
            </a:r>
          </a:p>
        </p:txBody>
      </p:sp>
    </p:spTree>
    <p:extLst>
      <p:ext uri="{BB962C8B-B14F-4D97-AF65-F5344CB8AC3E}">
        <p14:creationId xmlns:p14="http://schemas.microsoft.com/office/powerpoint/2010/main" val="962983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36685" y="700311"/>
            <a:ext cx="5400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Challenges in location-aware apps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935596" y="2276872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27B430-CBF4-F54A-BDF1-B3B5F9B83BF1}"/>
              </a:ext>
            </a:extLst>
          </p:cNvPr>
          <p:cNvSpPr txBox="1"/>
          <p:nvPr/>
        </p:nvSpPr>
        <p:spPr>
          <a:xfrm>
            <a:off x="107504" y="1628800"/>
            <a:ext cx="561662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Battery Drain </a:t>
            </a:r>
            <a:r>
              <a:rPr lang="en-US" dirty="0"/>
              <a:t>- Continuous use of GPS and other location services can drain the device's battery quickly.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Accuracy</a:t>
            </a:r>
            <a:r>
              <a:rPr lang="en-US" b="1" dirty="0"/>
              <a:t> </a:t>
            </a:r>
            <a:r>
              <a:rPr lang="en-US" dirty="0"/>
              <a:t>-Achieving high accuracy in location tracking, especially in urban areas with tall buildings or rural areas with limited GPS coverage, can be challenging.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Privacy Concerns </a:t>
            </a:r>
            <a:r>
              <a:rPr lang="en-US" dirty="0"/>
              <a:t>- Balancing the need for location data with user privacy concerns is a constant challenge for developers.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Data Security </a:t>
            </a:r>
            <a:r>
              <a:rPr lang="en-US" dirty="0"/>
              <a:t>- Ensuring that location data is securely stored and transmitted to prevent unauthorized access.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Compliance</a:t>
            </a:r>
            <a:r>
              <a:rPr lang="en-US" dirty="0"/>
              <a:t> - Adhering to location-based advertising regulations and privacy laws in different regions can be complex.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F2D76F-646A-88F9-1A45-DF76BD4EE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605" y="2675923"/>
            <a:ext cx="2727360" cy="150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316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DACE3-9662-44DD-283C-CE0A96217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19F2DADE-1218-33D5-3445-31B7A7840BEE}"/>
              </a:ext>
            </a:extLst>
          </p:cNvPr>
          <p:cNvSpPr txBox="1">
            <a:spLocks/>
          </p:cNvSpPr>
          <p:nvPr/>
        </p:nvSpPr>
        <p:spPr>
          <a:xfrm>
            <a:off x="935596" y="2276872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BCA1EA-DB92-001F-A261-F7770C711023}"/>
              </a:ext>
            </a:extLst>
          </p:cNvPr>
          <p:cNvSpPr txBox="1"/>
          <p:nvPr/>
        </p:nvSpPr>
        <p:spPr>
          <a:xfrm>
            <a:off x="1871700" y="620688"/>
            <a:ext cx="5400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Gill Sans MT" panose="020B0502020104020203" pitchFamily="34" charset="0"/>
                <a:cs typeface="Gill Sans"/>
              </a:rPr>
              <a:t>Think Zone!!</a:t>
            </a:r>
          </a:p>
          <a:p>
            <a:pPr algn="ctr"/>
            <a:r>
              <a:rPr lang="en-US" sz="3200" b="1" dirty="0">
                <a:solidFill>
                  <a:srgbClr val="FF0000"/>
                </a:solidFill>
                <a:latin typeface="Gill Sans MT" panose="020B0502020104020203" pitchFamily="34" charset="0"/>
                <a:cs typeface="Gill Sans"/>
              </a:rPr>
              <a:t>ANSWER 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FEF208-A212-DA12-CF6D-7F446A026FEE}"/>
              </a:ext>
            </a:extLst>
          </p:cNvPr>
          <p:cNvSpPr txBox="1"/>
          <p:nvPr/>
        </p:nvSpPr>
        <p:spPr>
          <a:xfrm>
            <a:off x="179512" y="1612660"/>
            <a:ext cx="871296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Social Media Risk   [ 15 marks ]</a:t>
            </a:r>
          </a:p>
          <a:p>
            <a:pPr>
              <a:buNone/>
            </a:pPr>
            <a:r>
              <a:rPr lang="en-US" dirty="0"/>
              <a:t>A teenager regularly posts photos on social media with geotags showing their exact location in real time.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Analyse the potential privacy and security risks involved.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Explain how this information could be misused by others.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Recommend practical steps the teenager can take to reduce these risks.  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2. Advertising            [ 15 marks ]</a:t>
            </a:r>
          </a:p>
          <a:p>
            <a:r>
              <a:rPr lang="en-US" dirty="0"/>
              <a:t>A user notices that after visiting a hospital, they start receiving ads related to medical treatments.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Explain how geotargeting could be responsible for this situation.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Analyse the ethical concerns related to this type of targeting.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Discuss whether this use of location data should be regulated.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217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E5BE1-AB2A-A9F1-4516-2DBEF0AB9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B82976AF-9A71-DF19-EDE7-3F628294A267}"/>
              </a:ext>
            </a:extLst>
          </p:cNvPr>
          <p:cNvSpPr txBox="1">
            <a:spLocks/>
          </p:cNvSpPr>
          <p:nvPr/>
        </p:nvSpPr>
        <p:spPr>
          <a:xfrm>
            <a:off x="935596" y="2276872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3C7B81-6657-6A79-6AE0-40D7873E24CF}"/>
              </a:ext>
            </a:extLst>
          </p:cNvPr>
          <p:cNvSpPr txBox="1"/>
          <p:nvPr/>
        </p:nvSpPr>
        <p:spPr>
          <a:xfrm>
            <a:off x="179512" y="1612660"/>
            <a:ext cx="871296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 Travel Blogging                  [ 15 marks ]</a:t>
            </a:r>
          </a:p>
          <a:p>
            <a:r>
              <a:rPr lang="en-US" dirty="0"/>
              <a:t>A travel blogger shares their live location while traveling to different places around the world.</a:t>
            </a:r>
          </a:p>
          <a:p>
            <a:endParaRPr lang="en-US" dirty="0"/>
          </a:p>
          <a:p>
            <a:r>
              <a:rPr lang="en-US" b="1" dirty="0"/>
              <a:t>Questions: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Identify the risks associated with sharing live location publicly.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Explain how geotagging can expose personal patterns or routines.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Suggest safer alternatives for sharing travel experiences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26CFF2-202F-2962-0B84-0FBAD3D7868E}"/>
              </a:ext>
            </a:extLst>
          </p:cNvPr>
          <p:cNvSpPr txBox="1"/>
          <p:nvPr/>
        </p:nvSpPr>
        <p:spPr>
          <a:xfrm>
            <a:off x="1871700" y="549640"/>
            <a:ext cx="5400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Gill Sans MT" panose="020B0502020104020203" pitchFamily="34" charset="0"/>
                <a:cs typeface="Gill Sans"/>
              </a:rPr>
              <a:t>Think Zone!!</a:t>
            </a:r>
          </a:p>
          <a:p>
            <a:pPr algn="ctr"/>
            <a:r>
              <a:rPr lang="en-US" sz="3200" b="1" dirty="0">
                <a:solidFill>
                  <a:srgbClr val="FF0000"/>
                </a:solidFill>
                <a:latin typeface="Gill Sans MT" panose="020B0502020104020203" pitchFamily="34" charset="0"/>
                <a:cs typeface="Gill Sans"/>
              </a:rPr>
              <a:t>ANSWER ME</a:t>
            </a:r>
          </a:p>
        </p:txBody>
      </p:sp>
    </p:spTree>
    <p:extLst>
      <p:ext uri="{BB962C8B-B14F-4D97-AF65-F5344CB8AC3E}">
        <p14:creationId xmlns:p14="http://schemas.microsoft.com/office/powerpoint/2010/main" val="2745397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03748" y="961782"/>
            <a:ext cx="45365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Mobility and Wireless Communication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935596" y="2276872"/>
            <a:ext cx="7200800" cy="3306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endParaRPr lang="en-US" sz="2000" dirty="0"/>
          </a:p>
        </p:txBody>
      </p:sp>
      <p:pic>
        <p:nvPicPr>
          <p:cNvPr id="1028" name="Picture 4" descr="5G wireless communication systems: Vision and challenges | Semantic Scholar">
            <a:extLst>
              <a:ext uri="{FF2B5EF4-FFF2-40B4-BE49-F238E27FC236}">
                <a16:creationId xmlns:a16="http://schemas.microsoft.com/office/drawing/2014/main" id="{EC798F56-355F-1410-CC21-425727F4595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262" y="2120339"/>
            <a:ext cx="5464027" cy="3306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47B7F0-B19F-A7F0-44FB-A649738C5F9C}"/>
              </a:ext>
            </a:extLst>
          </p:cNvPr>
          <p:cNvSpPr txBox="1"/>
          <p:nvPr/>
        </p:nvSpPr>
        <p:spPr>
          <a:xfrm>
            <a:off x="323528" y="2439550"/>
            <a:ext cx="295232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ZA" b="1" dirty="0"/>
              <a:t>Important considerations (Challenges)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ZA" dirty="0"/>
              <a:t>Network Coverage &amp; Connectivity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ZA" dirty="0"/>
              <a:t>Bandwidth &amp; Data Throughput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ZA" dirty="0"/>
              <a:t>Energy Efficiency &amp; Battery Life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ZA" dirty="0"/>
              <a:t>Security &amp; Privacy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ZA" dirty="0"/>
              <a:t>Regulatory &amp; Compliance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123510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3048" y="7882317"/>
            <a:ext cx="2779652" cy="1855738"/>
          </a:xfrm>
        </p:spPr>
        <p:txBody>
          <a:bodyPr>
            <a:normAutofit/>
          </a:bodyPr>
          <a:lstStyle/>
          <a:p>
            <a:pPr lvl="1" indent="-342900"/>
            <a:endParaRPr lang="en-US" sz="2000" dirty="0"/>
          </a:p>
          <a:p>
            <a:pPr marL="400050" lvl="1" indent="0">
              <a:buNone/>
            </a:pPr>
            <a:r>
              <a:rPr lang="en-US" sz="2000" dirty="0"/>
              <a:t> </a:t>
            </a: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1907704" y="839614"/>
            <a:ext cx="55446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sz="3200" b="1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  <a:cs typeface="Gill Sans"/>
              </a:rPr>
              <a:t>Conclusion</a:t>
            </a:r>
            <a:endParaRPr lang="en-ZA" sz="3200" b="1" i="0" dirty="0">
              <a:solidFill>
                <a:srgbClr val="ECECEC"/>
              </a:solidFill>
              <a:effectLst/>
              <a:highlight>
                <a:srgbClr val="212121"/>
              </a:highlight>
              <a:latin typeface="Söhne"/>
            </a:endParaRPr>
          </a:p>
          <a:p>
            <a:pPr algn="ctr"/>
            <a:endParaRPr lang="en-US" sz="3200" b="1" dirty="0">
              <a:solidFill>
                <a:schemeClr val="bg1">
                  <a:lumMod val="50000"/>
                </a:schemeClr>
              </a:solidFill>
              <a:latin typeface="Gill Sans MT" panose="020B0502020104020203" pitchFamily="34" charset="0"/>
              <a:cs typeface="Gill Sans"/>
            </a:endParaRP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CF7DF3B-AD23-4AA4-B9D1-E3958B9DBED4}"/>
              </a:ext>
            </a:extLst>
          </p:cNvPr>
          <p:cNvSpPr txBox="1">
            <a:spLocks/>
          </p:cNvSpPr>
          <p:nvPr/>
        </p:nvSpPr>
        <p:spPr>
          <a:xfrm>
            <a:off x="0" y="2060848"/>
            <a:ext cx="5896540" cy="4085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b="1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ZA" sz="2400" dirty="0"/>
          </a:p>
          <a:p>
            <a:pPr marL="400050" lvl="1" indent="0">
              <a:buFont typeface="Arial" pitchFamily="34" charset="0"/>
              <a:buNone/>
            </a:pPr>
            <a:endParaRPr lang="en-US" sz="2000" dirty="0"/>
          </a:p>
          <a:p>
            <a:pPr marL="0" indent="0">
              <a:buFont typeface="Arial" pitchFamily="34" charset="0"/>
              <a:buNone/>
            </a:pPr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EFD038-A451-B055-A4AD-D77055287521}"/>
              </a:ext>
            </a:extLst>
          </p:cNvPr>
          <p:cNvSpPr txBox="1"/>
          <p:nvPr/>
        </p:nvSpPr>
        <p:spPr>
          <a:xfrm>
            <a:off x="467544" y="1528814"/>
            <a:ext cx="796175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Location-aware applications offer significant benefits, enabling services across industries such as transportation, retail, and healthcare. Technologies such as GPS, Wi-Fi, and Bluetooth power these services, but challenges arise with mobility, including: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Network Coverage &amp; Connectivity</a:t>
            </a:r>
            <a:r>
              <a:rPr lang="en-US" dirty="0"/>
              <a:t> – Use offline modes and network failover.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Bandwidth &amp; Data Throughput</a:t>
            </a:r>
            <a:r>
              <a:rPr lang="en-US" dirty="0"/>
              <a:t> – Apply data compression and adaptive streaming.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Energy Efficiency &amp; Battery Life</a:t>
            </a:r>
            <a:r>
              <a:rPr lang="en-US" dirty="0"/>
              <a:t> – Utilize low-power APIs and background throttling.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Security &amp; Privacy</a:t>
            </a:r>
            <a:r>
              <a:rPr lang="en-US" dirty="0"/>
              <a:t> – Implement encryption and user consent controls.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Regulatory &amp; Compliance</a:t>
            </a:r>
            <a:r>
              <a:rPr lang="en-US" dirty="0"/>
              <a:t> – Ensure compliance with data privacy laws.</a:t>
            </a:r>
          </a:p>
          <a:p>
            <a:pPr lvl="1"/>
            <a:r>
              <a:rPr lang="en-US" dirty="0"/>
              <a:t>Balancing these challenges with effective solutions is key to delivering secure and efficient location-based services.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118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150555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T Data Day Template" id="{92846BAD-006C-4266-8FF7-592E96877308}" vid="{D95C4ACA-B937-4CA7-8EE4-059BD2ABB2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2F7482BA8A594BB82EB43DDDC30A7B" ma:contentTypeVersion="0" ma:contentTypeDescription="Create a new document." ma:contentTypeScope="" ma:versionID="cfac4779270873affce0d8e4580d4c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FBC31D-43B2-41BB-8D13-4FBD5951496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69DC2DB-DA30-434E-BF62-455F46779EA5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4E52D24-A7FE-46E9-B344-6ABD7A716B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Say it in Six template</Template>
  <TotalTime>33556</TotalTime>
  <Words>672</Words>
  <Application>Microsoft Office PowerPoint</Application>
  <PresentationFormat>On-screen Show (4:3)</PresentationFormat>
  <Paragraphs>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Gill Sans MT</vt:lpstr>
      <vt:lpstr>Söhne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Freedom Mthobisi Khubisa</dc:creator>
  <cp:lastModifiedBy>Freedom Khubisa</cp:lastModifiedBy>
  <cp:revision>155</cp:revision>
  <dcterms:created xsi:type="dcterms:W3CDTF">2022-02-22T09:59:59Z</dcterms:created>
  <dcterms:modified xsi:type="dcterms:W3CDTF">2026-03-24T09:25:00Z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0x010100B42F7482BA8A594BB82EB43DDDC30A7B</vt:lpwstr>
  </property>
</Properties>
</file>