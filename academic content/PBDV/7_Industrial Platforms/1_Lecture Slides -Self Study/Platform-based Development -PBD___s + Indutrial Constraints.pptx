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handoutMasterIdLst>
    <p:handoutMasterId r:id="rId20"/>
  </p:handoutMasterIdLst>
  <p:sldIdLst>
    <p:sldId id="279" r:id="rId5"/>
    <p:sldId id="284" r:id="rId6"/>
    <p:sldId id="355" r:id="rId7"/>
    <p:sldId id="356" r:id="rId8"/>
    <p:sldId id="368" r:id="rId9"/>
    <p:sldId id="366" r:id="rId10"/>
    <p:sldId id="360" r:id="rId11"/>
    <p:sldId id="361" r:id="rId12"/>
    <p:sldId id="362" r:id="rId13"/>
    <p:sldId id="363" r:id="rId14"/>
    <p:sldId id="371" r:id="rId15"/>
    <p:sldId id="372" r:id="rId16"/>
    <p:sldId id="373" r:id="rId17"/>
    <p:sldId id="28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B168"/>
    <a:srgbClr val="F4E6CE"/>
    <a:srgbClr val="D5CEB9"/>
    <a:srgbClr val="BA9B6A"/>
    <a:srgbClr val="A485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111" d="100"/>
          <a:sy n="111" d="100"/>
        </p:scale>
        <p:origin x="1650" y="96"/>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latin typeface="Gill Sans MT" panose="020B0502020104020203"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B94288-37BE-42FD-A3CE-C644F7468E54}" type="datetimeFigureOut">
              <a:rPr lang="en-ZA" smtClean="0">
                <a:latin typeface="Gill Sans MT" panose="020B0502020104020203" pitchFamily="34" charset="0"/>
              </a:rPr>
              <a:t>2025/06/10</a:t>
            </a:fld>
            <a:endParaRPr lang="en-ZA" dirty="0">
              <a:latin typeface="Gill Sans MT" panose="020B0502020104020203"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latin typeface="Gill Sans MT" panose="020B0502020104020203"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938CC4-D689-4043-A112-A0EF0661C963}" type="slidenum">
              <a:rPr lang="en-ZA" smtClean="0">
                <a:latin typeface="Gill Sans MT" panose="020B0502020104020203" pitchFamily="34" charset="0"/>
              </a:rPr>
              <a:t>‹#›</a:t>
            </a:fld>
            <a:endParaRPr lang="en-ZA" dirty="0">
              <a:latin typeface="Gill Sans MT" panose="020B0502020104020203" pitchFamily="34" charset="0"/>
            </a:endParaRPr>
          </a:p>
        </p:txBody>
      </p:sp>
    </p:spTree>
    <p:extLst>
      <p:ext uri="{BB962C8B-B14F-4D97-AF65-F5344CB8AC3E}">
        <p14:creationId xmlns:p14="http://schemas.microsoft.com/office/powerpoint/2010/main" val="30079745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Gill Sans MT" panose="020B0502020104020203"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Gill Sans MT" panose="020B0502020104020203" pitchFamily="34" charset="0"/>
              </a:defRPr>
            </a:lvl1pPr>
          </a:lstStyle>
          <a:p>
            <a:fld id="{B78CA02F-F0F2-854F-B286-9B534A264BAA}" type="datetimeFigureOut">
              <a:rPr lang="en-US" smtClean="0"/>
              <a:pPr/>
              <a:t>6/10/2025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Gill Sans MT" panose="020B0502020104020203"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Gill Sans MT" panose="020B0502020104020203" pitchFamily="34" charset="0"/>
              </a:defRPr>
            </a:lvl1pPr>
          </a:lstStyle>
          <a:p>
            <a:fld id="{BF04800F-0C89-EC4F-919F-9C2CE26B175A}" type="slidenum">
              <a:rPr lang="en-US" smtClean="0"/>
              <a:pPr/>
              <a:t>‹#›</a:t>
            </a:fld>
            <a:endParaRPr lang="en-US" dirty="0"/>
          </a:p>
        </p:txBody>
      </p:sp>
    </p:spTree>
    <p:extLst>
      <p:ext uri="{BB962C8B-B14F-4D97-AF65-F5344CB8AC3E}">
        <p14:creationId xmlns:p14="http://schemas.microsoft.com/office/powerpoint/2010/main" val="274966573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Gill Sans MT" panose="020B0502020104020203" pitchFamily="34" charset="0"/>
        <a:ea typeface="+mn-ea"/>
        <a:cs typeface="+mn-cs"/>
      </a:defRPr>
    </a:lvl1pPr>
    <a:lvl2pPr marL="457200" algn="l" defTabSz="457200" rtl="0" eaLnBrk="1" latinLnBrk="0" hangingPunct="1">
      <a:defRPr sz="1200" kern="1200">
        <a:solidFill>
          <a:schemeClr val="tx1"/>
        </a:solidFill>
        <a:latin typeface="Gill Sans MT" panose="020B0502020104020203" pitchFamily="34" charset="0"/>
        <a:ea typeface="+mn-ea"/>
        <a:cs typeface="+mn-cs"/>
      </a:defRPr>
    </a:lvl2pPr>
    <a:lvl3pPr marL="914400" algn="l" defTabSz="457200" rtl="0" eaLnBrk="1" latinLnBrk="0" hangingPunct="1">
      <a:defRPr sz="1200" kern="1200">
        <a:solidFill>
          <a:schemeClr val="tx1"/>
        </a:solidFill>
        <a:latin typeface="Gill Sans MT" panose="020B0502020104020203" pitchFamily="34" charset="0"/>
        <a:ea typeface="+mn-ea"/>
        <a:cs typeface="+mn-cs"/>
      </a:defRPr>
    </a:lvl3pPr>
    <a:lvl4pPr marL="1371600" algn="l" defTabSz="457200" rtl="0" eaLnBrk="1" latinLnBrk="0" hangingPunct="1">
      <a:defRPr sz="1200" kern="1200">
        <a:solidFill>
          <a:schemeClr val="tx1"/>
        </a:solidFill>
        <a:latin typeface="Gill Sans MT" panose="020B0502020104020203" pitchFamily="34" charset="0"/>
        <a:ea typeface="+mn-ea"/>
        <a:cs typeface="+mn-cs"/>
      </a:defRPr>
    </a:lvl4pPr>
    <a:lvl5pPr marL="1828800" algn="l" defTabSz="457200" rtl="0" eaLnBrk="1" latinLnBrk="0" hangingPunct="1">
      <a:defRPr sz="1200" kern="1200">
        <a:solidFill>
          <a:schemeClr val="tx1"/>
        </a:solidFill>
        <a:latin typeface="Gill Sans MT" panose="020B0502020104020203"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descr="Graphical user interface, text&#10;&#10;Description automatically generated">
            <a:extLst>
              <a:ext uri="{FF2B5EF4-FFF2-40B4-BE49-F238E27FC236}">
                <a16:creationId xmlns:a16="http://schemas.microsoft.com/office/drawing/2014/main" id="{EB2C6208-0A0A-42E4-A594-20222CA1DA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7584" y="915830"/>
            <a:ext cx="3888432" cy="3888432"/>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2" name="Picture 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78433" y="1988840"/>
            <a:ext cx="3444240" cy="2075688"/>
          </a:xfrm>
          <a:prstGeom prst="rect">
            <a:avLst/>
          </a:prstGeom>
        </p:spPr>
      </p:pic>
      <p:pic>
        <p:nvPicPr>
          <p:cNvPr id="3" name="Picture 2"/>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178433" y="4293096"/>
            <a:ext cx="3444240" cy="51116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49" y="0"/>
            <a:ext cx="9136901"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68" y="0"/>
            <a:ext cx="9079264" cy="6858000"/>
          </a:xfrm>
          <a:prstGeom prst="rect">
            <a:avLst/>
          </a:prstGeom>
        </p:spPr>
      </p:pic>
    </p:spTree>
    <p:extLst>
      <p:ext uri="{BB962C8B-B14F-4D97-AF65-F5344CB8AC3E}">
        <p14:creationId xmlns:p14="http://schemas.microsoft.com/office/powerpoint/2010/main" val="375914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3791" y="0"/>
            <a:ext cx="9096417" cy="6858000"/>
          </a:xfrm>
          <a:prstGeom prst="rect">
            <a:avLst/>
          </a:prstGeom>
        </p:spPr>
      </p:pic>
    </p:spTree>
    <p:extLst>
      <p:ext uri="{BB962C8B-B14F-4D97-AF65-F5344CB8AC3E}">
        <p14:creationId xmlns:p14="http://schemas.microsoft.com/office/powerpoint/2010/main" val="316029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6256" y="5417568"/>
            <a:ext cx="1817346" cy="1095232"/>
          </a:xfrm>
          <a:prstGeom prst="rect">
            <a:avLst/>
          </a:prstGeom>
        </p:spPr>
      </p:pic>
      <p:pic>
        <p:nvPicPr>
          <p:cNvPr id="4" name="Picture 3"/>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8" name="Content Placeholder 2"/>
          <p:cNvSpPr>
            <a:spLocks noGrp="1"/>
          </p:cNvSpPr>
          <p:nvPr>
            <p:ph idx="1"/>
          </p:nvPr>
        </p:nvSpPr>
        <p:spPr>
          <a:xfrm>
            <a:off x="457200" y="1905001"/>
            <a:ext cx="8382000" cy="3962400"/>
          </a:xfrm>
        </p:spPr>
        <p:txBody>
          <a:bodyPr/>
          <a:lstStyle>
            <a:lvl1pPr>
              <a:defRPr b="1">
                <a:latin typeface="Gill Sans MT" panose="020B0502020104020203" pitchFamily="34" charset="0"/>
                <a:ea typeface="Open Sans" panose="020B0606030504020204" pitchFamily="34" charset="0"/>
                <a:cs typeface="Open Sans" panose="020B0606030504020204" pitchFamily="34" charset="0"/>
              </a:defRPr>
            </a:lvl1pPr>
            <a:lvl2pPr>
              <a:defRPr>
                <a:latin typeface="Gill Sans MT" panose="020B0502020104020203" pitchFamily="34" charset="0"/>
                <a:ea typeface="Open Sans" panose="020B0606030504020204" pitchFamily="34" charset="0"/>
                <a:cs typeface="Open Sans" panose="020B0606030504020204" pitchFamily="34" charset="0"/>
              </a:defRPr>
            </a:lvl2pPr>
            <a:lvl3pPr>
              <a:defRPr>
                <a:latin typeface="Gill Sans MT" panose="020B0502020104020203" pitchFamily="34" charset="0"/>
                <a:ea typeface="Open Sans" panose="020B0606030504020204" pitchFamily="34" charset="0"/>
                <a:cs typeface="Open Sans" panose="020B0606030504020204" pitchFamily="34" charset="0"/>
              </a:defRPr>
            </a:lvl3pPr>
            <a:lvl4pPr>
              <a:defRPr>
                <a:latin typeface="Gill Sans MT" panose="020B0502020104020203" pitchFamily="34" charset="0"/>
                <a:ea typeface="Open Sans" panose="020B0606030504020204" pitchFamily="34" charset="0"/>
                <a:cs typeface="Open Sans" panose="020B0606030504020204" pitchFamily="34" charset="0"/>
              </a:defRPr>
            </a:lvl4pPr>
            <a:lvl5pPr>
              <a:defRPr>
                <a:latin typeface="Gill Sans MT" panose="020B0502020104020203" pitchFamily="34" charset="0"/>
                <a:ea typeface="Open Sans" panose="020B0606030504020204" pitchFamily="34" charset="0"/>
                <a:cs typeface="Open Sans" panose="020B0606030504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39970" cy="1510082"/>
          </a:xfrm>
          <a:prstGeom prst="rect">
            <a:avLst/>
          </a:prstGeom>
        </p:spPr>
      </p:pic>
      <p:pic>
        <p:nvPicPr>
          <p:cNvPr id="6" name="Picture 5"/>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6256" y="5417568"/>
            <a:ext cx="1817346" cy="1095232"/>
          </a:xfrm>
          <a:prstGeom prst="rect">
            <a:avLst/>
          </a:prstGeom>
        </p:spPr>
      </p:pic>
      <p:pic>
        <p:nvPicPr>
          <p:cNvPr id="9" name="Picture 8"/>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
        <p:nvSpPr>
          <p:cNvPr id="10" name="Content Placeholder 2">
            <a:extLst>
              <a:ext uri="{FF2B5EF4-FFF2-40B4-BE49-F238E27FC236}">
                <a16:creationId xmlns:a16="http://schemas.microsoft.com/office/drawing/2014/main" id="{DA977646-DDB7-4E3D-94A7-D1AF9A0CED88}"/>
              </a:ext>
            </a:extLst>
          </p:cNvPr>
          <p:cNvSpPr>
            <a:spLocks noGrp="1"/>
          </p:cNvSpPr>
          <p:nvPr>
            <p:ph idx="1"/>
          </p:nvPr>
        </p:nvSpPr>
        <p:spPr>
          <a:xfrm>
            <a:off x="457200" y="1905001"/>
            <a:ext cx="8382000" cy="3962400"/>
          </a:xfrm>
        </p:spPr>
        <p:txBody>
          <a:bodyPr/>
          <a:lstStyle>
            <a:lvl1pPr>
              <a:defRPr b="1">
                <a:latin typeface="Gill Sans MT" panose="020B0502020104020203" pitchFamily="34" charset="0"/>
                <a:ea typeface="Open Sans" panose="020B0606030504020204" pitchFamily="34" charset="0"/>
                <a:cs typeface="Open Sans" panose="020B0606030504020204" pitchFamily="34" charset="0"/>
              </a:defRPr>
            </a:lvl1pPr>
            <a:lvl2pPr>
              <a:defRPr>
                <a:latin typeface="Gill Sans MT" panose="020B0502020104020203" pitchFamily="34" charset="0"/>
                <a:ea typeface="Open Sans" panose="020B0606030504020204" pitchFamily="34" charset="0"/>
                <a:cs typeface="Open Sans" panose="020B0606030504020204" pitchFamily="34" charset="0"/>
              </a:defRPr>
            </a:lvl2pPr>
            <a:lvl3pPr>
              <a:defRPr>
                <a:latin typeface="Gill Sans MT" panose="020B0502020104020203" pitchFamily="34" charset="0"/>
                <a:ea typeface="Open Sans" panose="020B0606030504020204" pitchFamily="34" charset="0"/>
                <a:cs typeface="Open Sans" panose="020B0606030504020204" pitchFamily="34" charset="0"/>
              </a:defRPr>
            </a:lvl3pPr>
            <a:lvl4pPr>
              <a:defRPr>
                <a:latin typeface="Gill Sans MT" panose="020B0502020104020203" pitchFamily="34" charset="0"/>
                <a:ea typeface="Open Sans" panose="020B0606030504020204" pitchFamily="34" charset="0"/>
                <a:cs typeface="Open Sans" panose="020B0606030504020204" pitchFamily="34" charset="0"/>
              </a:defRPr>
            </a:lvl4pPr>
            <a:lvl5pPr>
              <a:defRPr>
                <a:latin typeface="Gill Sans MT" panose="020B0502020104020203" pitchFamily="34" charset="0"/>
                <a:ea typeface="Open Sans" panose="020B0606030504020204" pitchFamily="34" charset="0"/>
                <a:cs typeface="Open Sans" panose="020B0606030504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6256" y="5417568"/>
            <a:ext cx="1817346" cy="1095232"/>
          </a:xfrm>
          <a:prstGeom prst="rect">
            <a:avLst/>
          </a:prstGeom>
        </p:spPr>
      </p:pic>
      <p:pic>
        <p:nvPicPr>
          <p:cNvPr id="9" name="Picture 8"/>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
        <p:nvSpPr>
          <p:cNvPr id="11" name="Content Placeholder 2">
            <a:extLst>
              <a:ext uri="{FF2B5EF4-FFF2-40B4-BE49-F238E27FC236}">
                <a16:creationId xmlns:a16="http://schemas.microsoft.com/office/drawing/2014/main" id="{D1F17B5A-BE59-4F19-B2D3-8D08B707A296}"/>
              </a:ext>
            </a:extLst>
          </p:cNvPr>
          <p:cNvSpPr>
            <a:spLocks noGrp="1"/>
          </p:cNvSpPr>
          <p:nvPr>
            <p:ph idx="1"/>
          </p:nvPr>
        </p:nvSpPr>
        <p:spPr>
          <a:xfrm>
            <a:off x="457200" y="1905001"/>
            <a:ext cx="8382000" cy="3962400"/>
          </a:xfrm>
        </p:spPr>
        <p:txBody>
          <a:bodyPr/>
          <a:lstStyle>
            <a:lvl1pPr>
              <a:defRPr b="1">
                <a:latin typeface="Gill Sans MT" panose="020B0502020104020203" pitchFamily="34" charset="0"/>
                <a:ea typeface="Open Sans" panose="020B0606030504020204" pitchFamily="34" charset="0"/>
                <a:cs typeface="Open Sans" panose="020B0606030504020204" pitchFamily="34" charset="0"/>
              </a:defRPr>
            </a:lvl1pPr>
            <a:lvl2pPr>
              <a:defRPr>
                <a:latin typeface="Gill Sans MT" panose="020B0502020104020203" pitchFamily="34" charset="0"/>
                <a:ea typeface="Open Sans" panose="020B0606030504020204" pitchFamily="34" charset="0"/>
                <a:cs typeface="Open Sans" panose="020B0606030504020204" pitchFamily="34" charset="0"/>
              </a:defRPr>
            </a:lvl2pPr>
            <a:lvl3pPr>
              <a:defRPr>
                <a:latin typeface="Gill Sans MT" panose="020B0502020104020203" pitchFamily="34" charset="0"/>
                <a:ea typeface="Open Sans" panose="020B0606030504020204" pitchFamily="34" charset="0"/>
                <a:cs typeface="Open Sans" panose="020B0606030504020204" pitchFamily="34" charset="0"/>
              </a:defRPr>
            </a:lvl3pPr>
            <a:lvl4pPr>
              <a:defRPr>
                <a:latin typeface="Gill Sans MT" panose="020B0502020104020203" pitchFamily="34" charset="0"/>
                <a:ea typeface="Open Sans" panose="020B0606030504020204" pitchFamily="34" charset="0"/>
                <a:cs typeface="Open Sans" panose="020B0606030504020204" pitchFamily="34" charset="0"/>
              </a:defRPr>
            </a:lvl4pPr>
            <a:lvl5pPr>
              <a:defRPr>
                <a:latin typeface="Gill Sans MT" panose="020B0502020104020203" pitchFamily="34" charset="0"/>
                <a:ea typeface="Open Sans" panose="020B0606030504020204" pitchFamily="34" charset="0"/>
                <a:cs typeface="Open Sans" panose="020B0606030504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6256" y="5417568"/>
            <a:ext cx="1817346" cy="1095232"/>
          </a:xfrm>
          <a:prstGeom prst="rect">
            <a:avLst/>
          </a:prstGeom>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397" y="-18587"/>
            <a:ext cx="9144793" cy="6895174"/>
          </a:xfrm>
          <a:prstGeom prst="rect">
            <a:avLst/>
          </a:prstGeom>
        </p:spPr>
      </p:pic>
    </p:spTree>
    <p:extLst>
      <p:ext uri="{BB962C8B-B14F-4D97-AF65-F5344CB8AC3E}">
        <p14:creationId xmlns:p14="http://schemas.microsoft.com/office/powerpoint/2010/main" val="2503706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3191272" cy="1143000"/>
          </a:xfrm>
        </p:spPr>
        <p:txBody>
          <a:bodyPr>
            <a:normAutofit/>
          </a:bodyPr>
          <a:lstStyle>
            <a:lvl1pPr>
              <a:defRPr sz="2800">
                <a:latin typeface="Gill Sans MT" panose="020B0502020104020203" pitchFamily="34" charset="0"/>
              </a:defRPr>
            </a:lvl1pPr>
          </a:lstStyle>
          <a:p>
            <a:r>
              <a:rPr lang="en-US"/>
              <a:t>Click to edit Master title style</a:t>
            </a:r>
            <a:endParaRPr lang="en-ZA" dirty="0"/>
          </a:p>
        </p:txBody>
      </p:sp>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6256" y="5417568"/>
            <a:ext cx="1817346" cy="1095232"/>
          </a:xfrm>
          <a:prstGeom prst="rect">
            <a:avLst/>
          </a:prstGeom>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a:latin typeface="Gill Sans M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1800">
                <a:latin typeface="Gill Sans MT" pitchFamily="34" charset="0"/>
              </a:defRPr>
            </a:lvl1pPr>
            <a:lvl2pPr>
              <a:defRPr sz="1800">
                <a:latin typeface="Gill Sans MT" pitchFamily="34" charset="0"/>
              </a:defRPr>
            </a:lvl2pPr>
            <a:lvl3pPr>
              <a:defRPr sz="1800">
                <a:latin typeface="Gill Sans MT" pitchFamily="34" charset="0"/>
              </a:defRPr>
            </a:lvl3pPr>
            <a:lvl4pPr>
              <a:defRPr sz="1800">
                <a:latin typeface="Gill Sans MT" pitchFamily="34" charset="0"/>
              </a:defRPr>
            </a:lvl4pPr>
            <a:lvl5pPr>
              <a:defRPr sz="1800">
                <a:latin typeface="Gill Sans MT" pitchFamily="34" charset="0"/>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a:latin typeface="Gill Sans M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1800">
                <a:latin typeface="Gill Sans MT" pitchFamily="34" charset="0"/>
              </a:defRPr>
            </a:lvl1pPr>
            <a:lvl2pPr>
              <a:defRPr sz="1800">
                <a:latin typeface="Gill Sans MT" pitchFamily="34" charset="0"/>
              </a:defRPr>
            </a:lvl2pPr>
            <a:lvl3pPr>
              <a:defRPr sz="1800">
                <a:latin typeface="Gill Sans MT" pitchFamily="34" charset="0"/>
              </a:defRPr>
            </a:lvl3pPr>
            <a:lvl4pPr>
              <a:defRPr sz="1800">
                <a:latin typeface="Gill Sans MT" pitchFamily="34" charset="0"/>
              </a:defRPr>
            </a:lvl4pPr>
            <a:lvl5pPr>
              <a:defRPr sz="1800">
                <a:latin typeface="Gill Sans MT" pitchFamily="34" charset="0"/>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6256" y="5417568"/>
            <a:ext cx="1817346" cy="1095232"/>
          </a:xfrm>
          <a:prstGeom prst="rect">
            <a:avLst/>
          </a:prstGeom>
        </p:spPr>
      </p:pic>
      <p:pic>
        <p:nvPicPr>
          <p:cNvPr id="10" name="Picture 9"/>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995120" cy="1143000"/>
          </a:xfrm>
        </p:spPr>
        <p:txBody>
          <a:bodyPr/>
          <a:lstStyle>
            <a:lvl1pPr>
              <a:defRPr>
                <a:latin typeface="Gill Sans MT" panose="020B0502020104020203" pitchFamily="34" charset="0"/>
              </a:defRPr>
            </a:lvl1pPr>
          </a:lstStyle>
          <a:p>
            <a:r>
              <a:rPr lang="en-US"/>
              <a:t>Click to edit Master title style</a:t>
            </a:r>
            <a:endParaRPr lang="en-ZA"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6256" y="5417568"/>
            <a:ext cx="1817346" cy="1095232"/>
          </a:xfrm>
          <a:prstGeom prst="rect">
            <a:avLst/>
          </a:prstGeom>
        </p:spPr>
      </p:pic>
      <p:pic>
        <p:nvPicPr>
          <p:cNvPr id="6" name="Picture 5"/>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ctr">
              <a:defRPr sz="2000" b="0">
                <a:latin typeface="Gill Sans MT" panose="020B0502020104020203" pitchFamily="34" charset="0"/>
              </a:defRPr>
            </a:lvl1pPr>
          </a:lstStyle>
          <a:p>
            <a:r>
              <a:rPr lang="en-US"/>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atin typeface="Gill Sans MT" pitchFamily="34" charset="0"/>
              </a:defRPr>
            </a:lvl1pPr>
            <a:lvl2pPr>
              <a:defRPr sz="2800">
                <a:latin typeface="Gill Sans MT" pitchFamily="34" charset="0"/>
              </a:defRPr>
            </a:lvl2pPr>
            <a:lvl3pPr>
              <a:defRPr sz="2400">
                <a:latin typeface="Gill Sans MT" pitchFamily="34" charset="0"/>
              </a:defRPr>
            </a:lvl3pPr>
            <a:lvl4pPr>
              <a:defRPr sz="2000">
                <a:latin typeface="Gill Sans MT" pitchFamily="34" charset="0"/>
              </a:defRPr>
            </a:lvl4pPr>
            <a:lvl5pPr>
              <a:defRPr sz="2000">
                <a:latin typeface="Gill Sans MT" pitchFamily="34"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Gill Sans MT"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6256" y="5417568"/>
            <a:ext cx="1817346" cy="1095232"/>
          </a:xfrm>
          <a:prstGeom prst="rect">
            <a:avLst/>
          </a:prstGeom>
        </p:spPr>
      </p:pic>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528" y="6223239"/>
            <a:ext cx="5407163" cy="289561"/>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Gill Sans MT" pitchFamily="34" charset="0"/>
              </a:defRPr>
            </a:lvl1pPr>
          </a:lstStyle>
          <a:p>
            <a:r>
              <a:rPr lang="en-US"/>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Gill Sans MT" panose="020B050202010402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Z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Gill Sans MT"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7504" y="6021288"/>
            <a:ext cx="5544312" cy="75895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995120" cy="1143000"/>
          </a:xfrm>
        </p:spPr>
        <p:txBody>
          <a:bodyPr/>
          <a:lstStyle>
            <a:lvl1pPr>
              <a:defRPr>
                <a:latin typeface="Gill Sans MT" panose="020B0502020104020203" pitchFamily="34" charset="0"/>
              </a:defRPr>
            </a:lvl1pPr>
          </a:lstStyle>
          <a:p>
            <a:r>
              <a:rPr lang="en-US"/>
              <a:t>Click to edit Master title style</a:t>
            </a:r>
            <a:endParaRPr lang="en-ZA" dirty="0"/>
          </a:p>
        </p:txBody>
      </p:sp>
      <p:sp>
        <p:nvSpPr>
          <p:cNvPr id="3" name="Vertical Text Placeholder 2"/>
          <p:cNvSpPr>
            <a:spLocks noGrp="1"/>
          </p:cNvSpPr>
          <p:nvPr>
            <p:ph type="body" orient="vert" idx="1"/>
          </p:nvPr>
        </p:nvSpPr>
        <p:spPr/>
        <p:txBody>
          <a:bodyPr vert="eaVert"/>
          <a:lstStyle>
            <a:lvl1pPr>
              <a:defRPr>
                <a:latin typeface="Gill Sans MT" pitchFamily="34" charset="0"/>
              </a:defRPr>
            </a:lvl1pPr>
            <a:lvl2pPr>
              <a:defRPr>
                <a:latin typeface="Gill Sans MT" pitchFamily="34" charset="0"/>
              </a:defRPr>
            </a:lvl2pPr>
            <a:lvl3pPr>
              <a:defRPr>
                <a:latin typeface="Gill Sans MT" pitchFamily="34" charset="0"/>
              </a:defRPr>
            </a:lvl3pPr>
            <a:lvl4pPr>
              <a:defRPr>
                <a:latin typeface="Gill Sans MT" pitchFamily="34" charset="0"/>
              </a:defRPr>
            </a:lvl4pPr>
            <a:lvl5pPr>
              <a:defRPr>
                <a:latin typeface="Gill Sans MT"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7504" y="6021288"/>
            <a:ext cx="5544312" cy="75895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ZA"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77" r:id="rId3"/>
    <p:sldLayoutId id="2147483678" r:id="rId4"/>
    <p:sldLayoutId id="2147483675" r:id="rId5"/>
    <p:sldLayoutId id="2147483674" r:id="rId6"/>
    <p:sldLayoutId id="2147483671" r:id="rId7"/>
    <p:sldLayoutId id="2147483667" r:id="rId8"/>
    <p:sldLayoutId id="2147483676" r:id="rId9"/>
    <p:sldLayoutId id="2147483679" r:id="rId10"/>
    <p:sldLayoutId id="2147483664" r:id="rId11"/>
    <p:sldLayoutId id="2147483665" r:id="rId12"/>
    <p:sldLayoutId id="2147483666" r:id="rId13"/>
    <p:sldLayoutId id="2147483668" r:id="rId14"/>
    <p:sldLayoutId id="2147483669" r:id="rId15"/>
    <p:sldLayoutId id="2147483670" r:id="rId16"/>
  </p:sldLayoutIdLst>
  <p:txStyles>
    <p:titleStyle>
      <a:lvl1pPr algn="ctr" defTabSz="914400" rtl="0" eaLnBrk="1" latinLnBrk="0" hangingPunct="1">
        <a:spcBef>
          <a:spcPct val="0"/>
        </a:spcBef>
        <a:buNone/>
        <a:defRPr sz="4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7518" y="5487145"/>
            <a:ext cx="7050615" cy="830997"/>
          </a:xfrm>
          <a:prstGeom prst="rect">
            <a:avLst/>
          </a:prstGeom>
          <a:noFill/>
        </p:spPr>
        <p:txBody>
          <a:bodyPr wrap="square" rtlCol="0">
            <a:spAutoFit/>
          </a:bodyPr>
          <a:lstStyle/>
          <a:p>
            <a:r>
              <a:rPr lang="en-US" sz="2000" b="1" dirty="0">
                <a:solidFill>
                  <a:schemeClr val="bg1">
                    <a:lumMod val="50000"/>
                  </a:schemeClr>
                </a:solidFill>
                <a:latin typeface="Gill Sans MT" panose="020B0502020104020203" pitchFamily="34" charset="0"/>
                <a:cs typeface="Arial"/>
              </a:rPr>
              <a:t>Department : Information Technology</a:t>
            </a:r>
            <a:br>
              <a:rPr lang="en-US" sz="2800" b="1" dirty="0">
                <a:solidFill>
                  <a:schemeClr val="bg1">
                    <a:lumMod val="50000"/>
                  </a:schemeClr>
                </a:solidFill>
                <a:latin typeface="Gill Sans MT" panose="020B0502020104020203" pitchFamily="34" charset="0"/>
                <a:cs typeface="Gill Sans"/>
              </a:rPr>
            </a:br>
            <a:r>
              <a:rPr lang="en-US" sz="2800" b="1" dirty="0">
                <a:solidFill>
                  <a:schemeClr val="bg1">
                    <a:lumMod val="50000"/>
                  </a:schemeClr>
                </a:solidFill>
                <a:latin typeface="Gill Sans MT" panose="020B0502020104020203" pitchFamily="34" charset="0"/>
                <a:cs typeface="Gill Sans"/>
              </a:rPr>
              <a:t> </a:t>
            </a:r>
            <a:endParaRPr lang="en-US" sz="2800" dirty="0">
              <a:latin typeface="Gill Sans MT" panose="020B0502020104020203" pitchFamily="34" charset="0"/>
            </a:endParaRPr>
          </a:p>
        </p:txBody>
      </p:sp>
      <p:sp>
        <p:nvSpPr>
          <p:cNvPr id="3" name="TextBox 2">
            <a:extLst>
              <a:ext uri="{FF2B5EF4-FFF2-40B4-BE49-F238E27FC236}">
                <a16:creationId xmlns:a16="http://schemas.microsoft.com/office/drawing/2014/main" id="{5B2A3A6F-91D9-4129-87EA-C75A870F0E96}"/>
              </a:ext>
            </a:extLst>
          </p:cNvPr>
          <p:cNvSpPr txBox="1"/>
          <p:nvPr/>
        </p:nvSpPr>
        <p:spPr>
          <a:xfrm>
            <a:off x="355866" y="5193220"/>
            <a:ext cx="7050615" cy="400110"/>
          </a:xfrm>
          <a:prstGeom prst="rect">
            <a:avLst/>
          </a:prstGeom>
          <a:noFill/>
        </p:spPr>
        <p:txBody>
          <a:bodyPr wrap="square" rtlCol="0">
            <a:spAutoFit/>
          </a:bodyPr>
          <a:lstStyle/>
          <a:p>
            <a:r>
              <a:rPr lang="en-US" sz="2000" b="1" dirty="0">
                <a:solidFill>
                  <a:schemeClr val="bg1">
                    <a:lumMod val="50000"/>
                  </a:schemeClr>
                </a:solidFill>
                <a:latin typeface="Gill Sans MT" panose="020B0502020104020203" pitchFamily="34" charset="0"/>
                <a:cs typeface="Arial"/>
              </a:rPr>
              <a:t>Lecturer Name : Freedom</a:t>
            </a:r>
            <a:endParaRPr lang="en-US" sz="2800" dirty="0">
              <a:latin typeface="Gill Sans MT" panose="020B0502020104020203" pitchFamily="34" charset="0"/>
            </a:endParaRPr>
          </a:p>
        </p:txBody>
      </p:sp>
      <p:sp>
        <p:nvSpPr>
          <p:cNvPr id="5" name="TextBox 4"/>
          <p:cNvSpPr txBox="1"/>
          <p:nvPr/>
        </p:nvSpPr>
        <p:spPr>
          <a:xfrm>
            <a:off x="549569" y="3759697"/>
            <a:ext cx="7704856" cy="1200329"/>
          </a:xfrm>
          <a:prstGeom prst="rect">
            <a:avLst/>
          </a:prstGeom>
          <a:noFill/>
        </p:spPr>
        <p:txBody>
          <a:bodyPr wrap="square" rtlCol="0">
            <a:spAutoFit/>
          </a:bodyPr>
          <a:lstStyle/>
          <a:p>
            <a:pPr algn="ctr"/>
            <a:r>
              <a:rPr lang="en-US" sz="2400" b="1" dirty="0">
                <a:solidFill>
                  <a:schemeClr val="bg1">
                    <a:lumMod val="50000"/>
                  </a:schemeClr>
                </a:solidFill>
                <a:latin typeface="Gill Sans MT" panose="020B0502020104020203" pitchFamily="34" charset="0"/>
                <a:cs typeface="Arial"/>
              </a:rPr>
              <a:t>Subject Name: Platform Based Development </a:t>
            </a:r>
          </a:p>
          <a:p>
            <a:pPr algn="ctr"/>
            <a:r>
              <a:rPr lang="en-US" sz="2400" b="1" dirty="0">
                <a:solidFill>
                  <a:schemeClr val="bg1">
                    <a:lumMod val="50000"/>
                  </a:schemeClr>
                </a:solidFill>
                <a:latin typeface="Gill Sans MT" panose="020B0502020104020203" pitchFamily="34" charset="0"/>
                <a:cs typeface="Arial"/>
              </a:rPr>
              <a:t>Subject Code: PBDE401 | PBDV301</a:t>
            </a:r>
            <a:br>
              <a:rPr lang="en-US" sz="2400" b="1" dirty="0">
                <a:solidFill>
                  <a:schemeClr val="bg1">
                    <a:lumMod val="50000"/>
                  </a:schemeClr>
                </a:solidFill>
                <a:latin typeface="Gill Sans MT" panose="020B0502020104020203" pitchFamily="34" charset="0"/>
                <a:cs typeface="Gill Sans"/>
              </a:rPr>
            </a:br>
            <a:r>
              <a:rPr lang="en-US" sz="2400" b="1" dirty="0">
                <a:solidFill>
                  <a:schemeClr val="bg1">
                    <a:lumMod val="50000"/>
                  </a:schemeClr>
                </a:solidFill>
                <a:latin typeface="Gill Sans MT" panose="020B0502020104020203" pitchFamily="34" charset="0"/>
                <a:cs typeface="Gill Sans"/>
              </a:rPr>
              <a:t> </a:t>
            </a:r>
            <a:endParaRPr lang="en-US" sz="2400" dirty="0">
              <a:latin typeface="Gill Sans MT" panose="020B0502020104020203" pitchFamily="34" charset="0"/>
            </a:endParaRPr>
          </a:p>
        </p:txBody>
      </p:sp>
      <p:sp>
        <p:nvSpPr>
          <p:cNvPr id="6" name="TextBox 5"/>
          <p:cNvSpPr txBox="1"/>
          <p:nvPr/>
        </p:nvSpPr>
        <p:spPr>
          <a:xfrm>
            <a:off x="549569" y="2559694"/>
            <a:ext cx="8342911" cy="1077218"/>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Domain Specific Languages + Industrial Platform Constraints</a:t>
            </a:r>
            <a:r>
              <a:rPr lang="en-ZA" dirty="0"/>
              <a:t> </a:t>
            </a:r>
            <a:endParaRPr lang="en-US" dirty="0"/>
          </a:p>
        </p:txBody>
      </p:sp>
    </p:spTree>
    <p:extLst>
      <p:ext uri="{BB962C8B-B14F-4D97-AF65-F5344CB8AC3E}">
        <p14:creationId xmlns:p14="http://schemas.microsoft.com/office/powerpoint/2010/main" val="2019335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595972" y="1052736"/>
            <a:ext cx="4104456" cy="584775"/>
          </a:xfrm>
          <a:prstGeom prst="rect">
            <a:avLst/>
          </a:prstGeom>
          <a:noFill/>
        </p:spPr>
        <p:txBody>
          <a:bodyPr wrap="square" rtlCol="0">
            <a:spAutoFit/>
          </a:bodyPr>
          <a:lstStyle/>
          <a:p>
            <a:r>
              <a:rPr lang="en-US" sz="3200" b="1" dirty="0">
                <a:solidFill>
                  <a:schemeClr val="bg1">
                    <a:lumMod val="50000"/>
                  </a:schemeClr>
                </a:solidFill>
                <a:latin typeface="Gill Sans MT" pitchFamily="34" charset="0"/>
                <a:cs typeface="Arial"/>
              </a:rPr>
              <a:t>Outline of the lesson </a:t>
            </a:r>
            <a:endParaRPr lang="en-US" sz="3200" dirty="0">
              <a:latin typeface="Gill Sans MT" panose="020B0502020104020203" pitchFamily="34" charset="0"/>
              <a:cs typeface="Arial"/>
            </a:endParaRPr>
          </a:p>
        </p:txBody>
      </p:sp>
      <p:sp>
        <p:nvSpPr>
          <p:cNvPr id="2" name="Content Placeholder 1">
            <a:extLst>
              <a:ext uri="{FF2B5EF4-FFF2-40B4-BE49-F238E27FC236}">
                <a16:creationId xmlns:a16="http://schemas.microsoft.com/office/drawing/2014/main" id="{6D98E6E9-33AB-4D98-A95F-FF2B99D99A5B}"/>
              </a:ext>
            </a:extLst>
          </p:cNvPr>
          <p:cNvSpPr>
            <a:spLocks noGrp="1"/>
          </p:cNvSpPr>
          <p:nvPr>
            <p:ph idx="1"/>
          </p:nvPr>
        </p:nvSpPr>
        <p:spPr>
          <a:xfrm>
            <a:off x="457200" y="1905001"/>
            <a:ext cx="5915000" cy="3962400"/>
          </a:xfrm>
        </p:spPr>
        <p:txBody>
          <a:bodyPr>
            <a:normAutofit lnSpcReduction="10000"/>
          </a:bodyPr>
          <a:lstStyle/>
          <a:p>
            <a:pPr marL="0" indent="0">
              <a:buNone/>
            </a:pPr>
            <a:r>
              <a:rPr lang="en-GB" sz="2800" dirty="0"/>
              <a:t>Objectives</a:t>
            </a:r>
            <a:r>
              <a:rPr lang="en-GB" dirty="0"/>
              <a:t> </a:t>
            </a:r>
          </a:p>
          <a:p>
            <a:pPr marL="457200" indent="-457200">
              <a:buFont typeface="+mj-lt"/>
              <a:buAutoNum type="arabicPeriod"/>
            </a:pPr>
            <a:r>
              <a:rPr lang="en-US" sz="1800" dirty="0"/>
              <a:t>Define Domain-Specific Languages (DSLs) and their role in robotics</a:t>
            </a:r>
          </a:p>
          <a:p>
            <a:pPr marL="457200" indent="-457200">
              <a:buFont typeface="+mj-lt"/>
              <a:buAutoNum type="arabicPeriod"/>
            </a:pPr>
            <a:r>
              <a:rPr lang="en-US" sz="1800" dirty="0"/>
              <a:t>Describe key characteristics of DSLs</a:t>
            </a:r>
          </a:p>
          <a:p>
            <a:pPr marL="457200" indent="-457200">
              <a:buFont typeface="+mj-lt"/>
              <a:buAutoNum type="arabicPeriod"/>
            </a:pPr>
            <a:r>
              <a:rPr lang="en-US" sz="2000" dirty="0"/>
              <a:t>Classify DSLs and explain their benefits and use cases</a:t>
            </a:r>
          </a:p>
          <a:p>
            <a:pPr marL="457200" indent="-457200">
              <a:buFont typeface="+mj-lt"/>
              <a:buAutoNum type="arabicPeriod"/>
            </a:pPr>
            <a:r>
              <a:rPr lang="en-US" sz="2000" dirty="0"/>
              <a:t>Explain Visual Programming Languages (VPLs) as a form of DSL in robotics</a:t>
            </a:r>
          </a:p>
          <a:p>
            <a:pPr marL="457200" indent="-457200">
              <a:buFont typeface="+mj-lt"/>
              <a:buAutoNum type="arabicPeriod"/>
            </a:pPr>
            <a:r>
              <a:rPr lang="en-US" sz="2000" dirty="0"/>
              <a:t>Identify challenges associated with using DSLs</a:t>
            </a:r>
          </a:p>
          <a:p>
            <a:pPr marL="457200" indent="-457200">
              <a:buFont typeface="+mj-lt"/>
              <a:buAutoNum type="arabicPeriod"/>
            </a:pPr>
            <a:r>
              <a:rPr lang="en-ZA" sz="2000" dirty="0"/>
              <a:t>Recognize industrial platform constraints that affect DSL implementation</a:t>
            </a:r>
            <a:endParaRPr lang="en-GB" sz="2400" dirty="0"/>
          </a:p>
          <a:p>
            <a:pPr marL="457200" indent="-457200">
              <a:buFont typeface="+mj-lt"/>
              <a:buAutoNum type="arabicPeriod"/>
            </a:pPr>
            <a:endParaRPr lang="en-GB" sz="2400" dirty="0"/>
          </a:p>
          <a:p>
            <a:pPr marL="457200" indent="-457200">
              <a:buFont typeface="+mj-lt"/>
              <a:buAutoNum type="arabicPeriod"/>
            </a:pPr>
            <a:endParaRPr lang="en-GB" sz="2400" dirty="0"/>
          </a:p>
          <a:p>
            <a:pPr marL="0" indent="0">
              <a:buNone/>
            </a:pPr>
            <a:endParaRPr lang="en-GB" sz="2400" dirty="0"/>
          </a:p>
          <a:p>
            <a:pPr marL="457200" indent="-457200">
              <a:buFont typeface="+mj-lt"/>
              <a:buAutoNum type="arabicPeriod"/>
            </a:pPr>
            <a:endParaRPr lang="en-GB" sz="2400" dirty="0"/>
          </a:p>
          <a:p>
            <a:pPr marL="0" indent="0">
              <a:buNone/>
            </a:pPr>
            <a:endParaRPr lang="en-GB" dirty="0"/>
          </a:p>
        </p:txBody>
      </p:sp>
    </p:spTree>
    <p:extLst>
      <p:ext uri="{BB962C8B-B14F-4D97-AF65-F5344CB8AC3E}">
        <p14:creationId xmlns:p14="http://schemas.microsoft.com/office/powerpoint/2010/main" val="39970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762000" y="2129954"/>
            <a:ext cx="8382000" cy="3962400"/>
          </a:xfrm>
        </p:spPr>
        <p:txBody>
          <a:bodyPr>
            <a:normAutofit/>
          </a:bodyPr>
          <a:lstStyle/>
          <a:p>
            <a:endParaRPr lang="en-ZA" sz="24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719572" y="1004489"/>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Domain Specific Language (DSL) </a:t>
            </a:r>
            <a:endParaRPr lang="en-US" sz="2400" dirty="0">
              <a:latin typeface="Gill Sans MT" panose="020B0502020104020203"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1582195"/>
            <a:ext cx="5277685" cy="3962400"/>
          </a:xfrm>
          <a:prstGeom prst="rect">
            <a:avLst/>
          </a:prstGeom>
        </p:spPr>
      </p:pic>
    </p:spTree>
    <p:extLst>
      <p:ext uri="{BB962C8B-B14F-4D97-AF65-F5344CB8AC3E}">
        <p14:creationId xmlns:p14="http://schemas.microsoft.com/office/powerpoint/2010/main" val="1995658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205391" y="1885378"/>
            <a:ext cx="5976664" cy="3962400"/>
          </a:xfrm>
        </p:spPr>
        <p:txBody>
          <a:bodyPr>
            <a:normAutofit/>
          </a:bodyPr>
          <a:lstStyle/>
          <a:p>
            <a:r>
              <a:rPr lang="en-ZA" sz="1700" dirty="0"/>
              <a:t>Domain-Specific Language (DSL) </a:t>
            </a:r>
            <a:r>
              <a:rPr lang="en-ZA" sz="1700" b="0" dirty="0"/>
              <a:t>is a programming language specifically designed to address the requirements and constraints of a particular domain or problem space.</a:t>
            </a:r>
          </a:p>
          <a:p>
            <a:r>
              <a:rPr lang="en-ZA" sz="1700" b="0" dirty="0"/>
              <a:t>DSLs enable domain experts to write code and express concepts in a way that closely aligns with their domain-specific knowledge and terminology.</a:t>
            </a:r>
          </a:p>
          <a:p>
            <a:r>
              <a:rPr lang="en-US" sz="1700" b="0" dirty="0"/>
              <a:t>They provide tailored commands and syntax to make robot development more intuitive</a:t>
            </a:r>
            <a:endParaRPr lang="en-ZA" sz="1700" b="0" dirty="0"/>
          </a:p>
          <a:p>
            <a:r>
              <a:rPr lang="en-US" sz="1700" b="0" dirty="0"/>
              <a:t>In robotics, DSLs are used to control robot behavior, movement, or communication.</a:t>
            </a:r>
          </a:p>
          <a:p>
            <a:r>
              <a:rPr lang="en-US" sz="1700" b="0" dirty="0"/>
              <a:t>Examples: ABB RAPID for industrial robots, VEXcode for educational robotics</a:t>
            </a:r>
            <a:endParaRPr lang="en-ZA" sz="1700" b="0" dirty="0"/>
          </a:p>
          <a:p>
            <a:endParaRPr lang="en-ZA" sz="22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827584" y="1026973"/>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Domain Specific Language </a:t>
            </a:r>
            <a:endParaRPr lang="en-US" sz="2400" dirty="0">
              <a:latin typeface="Gill Sans MT" panose="020B0502020104020203" pitchFamily="34"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92633" y="2921709"/>
            <a:ext cx="3251367" cy="1736156"/>
          </a:xfrm>
          <a:prstGeom prst="rect">
            <a:avLst/>
          </a:prstGeom>
        </p:spPr>
      </p:pic>
    </p:spTree>
    <p:extLst>
      <p:ext uri="{BB962C8B-B14F-4D97-AF65-F5344CB8AC3E}">
        <p14:creationId xmlns:p14="http://schemas.microsoft.com/office/powerpoint/2010/main" val="156816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1763688" y="1447800"/>
            <a:ext cx="6408712" cy="3962400"/>
          </a:xfrm>
        </p:spPr>
        <p:txBody>
          <a:bodyPr>
            <a:normAutofit lnSpcReduction="10000"/>
          </a:bodyPr>
          <a:lstStyle/>
          <a:p>
            <a:pPr marL="400050" lvl="1" indent="0">
              <a:buNone/>
            </a:pPr>
            <a:endParaRPr lang="en-US" sz="2000" dirty="0"/>
          </a:p>
          <a:p>
            <a:pPr marL="400050" lvl="1" indent="0">
              <a:buNone/>
            </a:pPr>
            <a:endParaRPr lang="en-US" sz="2000" dirty="0"/>
          </a:p>
          <a:p>
            <a:pPr marL="514350" indent="-514350">
              <a:buFont typeface="+mj-lt"/>
              <a:buAutoNum type="arabicPeriod"/>
            </a:pPr>
            <a:r>
              <a:rPr lang="en-ZA" sz="1800" dirty="0"/>
              <a:t>External DSL</a:t>
            </a:r>
          </a:p>
          <a:p>
            <a:pPr marL="800100" lvl="2" indent="0">
              <a:buNone/>
            </a:pPr>
            <a:r>
              <a:rPr lang="en-ZA" sz="1800" dirty="0"/>
              <a:t>An external DSL has its own syntax and is parsed by a separate compiler or interpreter. Examples include </a:t>
            </a:r>
            <a:r>
              <a:rPr lang="en-ZA" sz="1800" b="1" dirty="0"/>
              <a:t>SQL</a:t>
            </a:r>
            <a:r>
              <a:rPr lang="en-ZA" sz="1800" dirty="0"/>
              <a:t> (for database queries) and </a:t>
            </a:r>
            <a:r>
              <a:rPr lang="en-ZA" sz="1800" b="1" dirty="0"/>
              <a:t>regular expressions</a:t>
            </a:r>
            <a:r>
              <a:rPr lang="en-ZA" sz="1800" dirty="0"/>
              <a:t>.</a:t>
            </a:r>
          </a:p>
          <a:p>
            <a:pPr marL="514350" indent="-514350">
              <a:buFont typeface="+mj-lt"/>
              <a:buAutoNum type="arabicPeriod"/>
            </a:pPr>
            <a:r>
              <a:rPr lang="en-ZA" sz="1800" dirty="0"/>
              <a:t>Internal DSL (Embedded DSL)</a:t>
            </a:r>
          </a:p>
          <a:p>
            <a:pPr marL="800100" lvl="2" indent="0">
              <a:buNone/>
            </a:pPr>
            <a:r>
              <a:rPr lang="en-ZA" sz="1800" dirty="0"/>
              <a:t>An internal DSL is embedded within a host programming language. It leverages the syntax and constructs of the host language, making it easier to integrate with existing codebases. Examples include Ruby on Rails (for web development) and SwiftUI (for iOS app development).</a:t>
            </a:r>
          </a:p>
          <a:p>
            <a:pPr marL="800100" lvl="2" indent="0">
              <a:buNone/>
            </a:pPr>
            <a:r>
              <a:rPr lang="en-ZA" sz="1800" b="0" dirty="0"/>
              <a:t>Use a base language, such as </a:t>
            </a:r>
            <a:r>
              <a:rPr lang="en-ZA" sz="1800" b="1" dirty="0"/>
              <a:t>Lisp, F# or Haskell</a:t>
            </a:r>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611560" y="1285345"/>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Types of Domain Specific Languages </a:t>
            </a:r>
            <a:endParaRPr lang="en-US" sz="2400" dirty="0">
              <a:latin typeface="Gill Sans MT" panose="020B0502020104020203" pitchFamily="34" charset="0"/>
            </a:endParaRPr>
          </a:p>
        </p:txBody>
      </p:sp>
    </p:spTree>
    <p:extLst>
      <p:ext uri="{BB962C8B-B14F-4D97-AF65-F5344CB8AC3E}">
        <p14:creationId xmlns:p14="http://schemas.microsoft.com/office/powerpoint/2010/main" val="155674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56541" y="2416174"/>
            <a:ext cx="5272934" cy="3024336"/>
          </a:xfrm>
        </p:spPr>
        <p:txBody>
          <a:bodyPr>
            <a:normAutofit/>
          </a:bodyPr>
          <a:lstStyle/>
          <a:p>
            <a:pPr marL="0" indent="0">
              <a:buNone/>
            </a:pPr>
            <a:r>
              <a:rPr lang="en-ZA" sz="2000" dirty="0"/>
              <a:t>Characteristics of DSLs</a:t>
            </a:r>
          </a:p>
          <a:p>
            <a:pPr lvl="1"/>
            <a:r>
              <a:rPr lang="en-ZA" sz="1600" b="0" dirty="0"/>
              <a:t>High-level of abstraction-Hides technical complexity; uses familiar domain terms. </a:t>
            </a:r>
          </a:p>
          <a:p>
            <a:pPr lvl="1"/>
            <a:r>
              <a:rPr lang="en-ZA" sz="1600" b="0" dirty="0"/>
              <a:t>Domain Focus- </a:t>
            </a:r>
            <a:r>
              <a:rPr lang="en-US" sz="1600" b="0" dirty="0"/>
              <a:t>Designed for specific tasks (not general-purpose)</a:t>
            </a:r>
            <a:endParaRPr lang="en-ZA" sz="1600" b="0" dirty="0"/>
          </a:p>
          <a:p>
            <a:pPr lvl="1"/>
            <a:r>
              <a:rPr lang="en-ZA" sz="1600" b="0" dirty="0"/>
              <a:t>Limited Scope- </a:t>
            </a:r>
            <a:r>
              <a:rPr lang="en-US" sz="1600" b="0" dirty="0"/>
              <a:t>Powerful within the domain, but not useful outside it.</a:t>
            </a:r>
            <a:endParaRPr lang="en-ZA" sz="1600" b="0" dirty="0"/>
          </a:p>
          <a:p>
            <a:pPr lvl="1"/>
            <a:r>
              <a:rPr lang="en-ZA" sz="1600" b="0" dirty="0"/>
              <a:t>Readability - Easier for non-programmers or engineers</a:t>
            </a:r>
          </a:p>
          <a:p>
            <a:pPr lvl="1"/>
            <a:r>
              <a:rPr lang="en-ZA" sz="1600" b="0" dirty="0"/>
              <a:t>Productivity</a:t>
            </a:r>
          </a:p>
          <a:p>
            <a:endParaRPr lang="en-ZA" sz="22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827584" y="1322187"/>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Domain Specific Language </a:t>
            </a:r>
            <a:endParaRPr lang="en-US" sz="2400" dirty="0">
              <a:latin typeface="Gill Sans MT" panose="020B0502020104020203" pitchFamily="34" charset="0"/>
            </a:endParaRPr>
          </a:p>
        </p:txBody>
      </p:sp>
      <p:pic>
        <p:nvPicPr>
          <p:cNvPr id="6" name="Picture 2" descr="The What and Why of Domain-Specific Languages - Manning"/>
          <p:cNvPicPr>
            <a:picLocks noChangeAspect="1" noChangeArrowheads="1"/>
          </p:cNvPicPr>
          <p:nvPr/>
        </p:nvPicPr>
        <p:blipFill rotWithShape="1">
          <a:blip r:embed="rId2">
            <a:extLst>
              <a:ext uri="{28A0092B-C50C-407E-A947-70E740481C1C}">
                <a14:useLocalDpi xmlns:a14="http://schemas.microsoft.com/office/drawing/2010/main" val="0"/>
              </a:ext>
            </a:extLst>
          </a:blip>
          <a:srcRect l="6819" t="2457" r="4545"/>
          <a:stretch/>
        </p:blipFill>
        <p:spPr bwMode="auto">
          <a:xfrm>
            <a:off x="5274611" y="2222800"/>
            <a:ext cx="3672408" cy="3113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111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0" y="1901582"/>
            <a:ext cx="5036164" cy="4494995"/>
          </a:xfrm>
        </p:spPr>
        <p:txBody>
          <a:bodyPr>
            <a:normAutofit fontScale="55000" lnSpcReduction="20000"/>
          </a:bodyPr>
          <a:lstStyle/>
          <a:p>
            <a:pPr marL="0" indent="0">
              <a:buNone/>
            </a:pPr>
            <a:r>
              <a:rPr lang="en-ZA" dirty="0"/>
              <a:t>DSLs can be classified based on their purpose and the problem domain they address</a:t>
            </a:r>
          </a:p>
          <a:p>
            <a:pPr lvl="1"/>
            <a:r>
              <a:rPr lang="en-ZA" sz="2900" b="1" dirty="0"/>
              <a:t>Text-based DSLs </a:t>
            </a:r>
            <a:r>
              <a:rPr lang="en-ZA" sz="2900" dirty="0"/>
              <a:t>-  are programming languages designed to address specific domains using textual representations. </a:t>
            </a:r>
          </a:p>
          <a:p>
            <a:pPr lvl="1"/>
            <a:r>
              <a:rPr lang="en-ZA" sz="2900" b="1" dirty="0"/>
              <a:t>Behavioural DSLs </a:t>
            </a:r>
            <a:r>
              <a:rPr lang="en-ZA" sz="2900" dirty="0"/>
              <a:t>-  focus on capturing and representing the behaviour or logic of systems or components within a specific domain. These DSLs enable users to describe the expected behaviour, rules, and interactions of entities within a system. </a:t>
            </a:r>
          </a:p>
          <a:p>
            <a:pPr lvl="1"/>
            <a:r>
              <a:rPr lang="en-ZA" sz="2900" b="1" dirty="0"/>
              <a:t>Motion Control DSLs</a:t>
            </a:r>
            <a:r>
              <a:rPr lang="en-ZA" sz="2900" dirty="0"/>
              <a:t> - are designed specifically for controlling and orchestrating the movement of physical objects or devices, such as robots, drones, or industrial machinery. </a:t>
            </a:r>
          </a:p>
          <a:p>
            <a:pPr lvl="1"/>
            <a:r>
              <a:rPr lang="en-ZA" sz="2900" b="1" dirty="0"/>
              <a:t>Simulation DSLs</a:t>
            </a:r>
            <a:r>
              <a:rPr lang="en-ZA" sz="2900" dirty="0"/>
              <a:t> - are used to model and simulate real-world phenomena or systems in a specific domain. These DSLs provide constructs and abstractions to define the entities, properties, and behaviors of the system being simulated. </a:t>
            </a:r>
            <a:endParaRPr lang="en-ZA" sz="2900" b="0" dirty="0"/>
          </a:p>
          <a:p>
            <a:pPr lvl="1"/>
            <a:endParaRPr lang="en-ZA" sz="29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827584" y="1144074"/>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Domain Specific Languages </a:t>
            </a:r>
            <a:endParaRPr lang="en-US" sz="2400" dirty="0">
              <a:latin typeface="Gill Sans MT" panose="020B0502020104020203" pitchFamily="34"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5534" y="2852936"/>
            <a:ext cx="3693744" cy="2371716"/>
          </a:xfrm>
          <a:prstGeom prst="rect">
            <a:avLst/>
          </a:prstGeom>
        </p:spPr>
      </p:pic>
    </p:spTree>
    <p:extLst>
      <p:ext uri="{BB962C8B-B14F-4D97-AF65-F5344CB8AC3E}">
        <p14:creationId xmlns:p14="http://schemas.microsoft.com/office/powerpoint/2010/main" val="1384394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611560" y="1918388"/>
            <a:ext cx="4536504" cy="3962400"/>
          </a:xfrm>
        </p:spPr>
        <p:txBody>
          <a:bodyPr>
            <a:normAutofit lnSpcReduction="10000"/>
          </a:bodyPr>
          <a:lstStyle/>
          <a:p>
            <a:pPr marL="0" indent="0">
              <a:buNone/>
            </a:pPr>
            <a:r>
              <a:rPr lang="en-ZA" sz="2100" dirty="0"/>
              <a:t>Use Cases for DSLs</a:t>
            </a:r>
          </a:p>
          <a:p>
            <a:pPr lvl="1"/>
            <a:r>
              <a:rPr lang="en-ZA" sz="1700" b="0" dirty="0"/>
              <a:t>Database Query Languages (e.g., SQL): DSLs tailored for querying and manipulating database data.</a:t>
            </a:r>
          </a:p>
          <a:p>
            <a:pPr lvl="1"/>
            <a:r>
              <a:rPr lang="en-ZA" sz="1700" b="0" dirty="0"/>
              <a:t>Configuration Languages (e.g., YAML, JSON): DSLs for specifying configuration settings in a structured manner.</a:t>
            </a:r>
          </a:p>
          <a:p>
            <a:pPr lvl="1"/>
            <a:r>
              <a:rPr lang="en-ZA" sz="1700" b="0" dirty="0"/>
              <a:t>Scientific and Mathematical Modeling (e.g., MATLAB): DSLs that facilitate expressing mathematical and scientific concepts.</a:t>
            </a:r>
          </a:p>
          <a:p>
            <a:pPr lvl="1"/>
            <a:r>
              <a:rPr lang="en-ZA" sz="1700" b="0" dirty="0"/>
              <a:t>Game Development (e.g., Unreal Engine Blueprints): DSLs for designing game mechanics and behaviors without traditional coding.</a:t>
            </a:r>
          </a:p>
          <a:p>
            <a:endParaRPr lang="en-ZA" sz="22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755576" y="997420"/>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Domain Specific Languages </a:t>
            </a:r>
            <a:endParaRPr lang="en-US" sz="2400" dirty="0">
              <a:latin typeface="Gill Sans MT" panose="020B0502020104020203" pitchFamily="34" charset="0"/>
            </a:endParaRPr>
          </a:p>
        </p:txBody>
      </p:sp>
      <p:pic>
        <p:nvPicPr>
          <p:cNvPr id="2050" name="Picture 2">
            <a:extLst>
              <a:ext uri="{FF2B5EF4-FFF2-40B4-BE49-F238E27FC236}">
                <a16:creationId xmlns:a16="http://schemas.microsoft.com/office/drawing/2014/main" id="{719DBB7B-81C9-1BBD-F2B5-C67B35D572A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724" t="20557" r="22133" b="4066"/>
          <a:stretch>
            <a:fillRect/>
          </a:stretch>
        </p:blipFill>
        <p:spPr bwMode="auto">
          <a:xfrm>
            <a:off x="5418567" y="2132856"/>
            <a:ext cx="3545921" cy="3250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527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68932" y="2159151"/>
            <a:ext cx="4536504" cy="4230960"/>
          </a:xfrm>
        </p:spPr>
        <p:txBody>
          <a:bodyPr>
            <a:normAutofit/>
          </a:bodyPr>
          <a:lstStyle/>
          <a:p>
            <a:pPr lvl="0"/>
            <a:r>
              <a:rPr lang="en-US" sz="1700" dirty="0"/>
              <a:t>Visual Programming Languages (VPLs) </a:t>
            </a:r>
            <a:r>
              <a:rPr lang="en-US" sz="1700" b="0" dirty="0"/>
              <a:t>are indeed a common form of DSL used in robotics. </a:t>
            </a:r>
          </a:p>
          <a:p>
            <a:pPr lvl="1"/>
            <a:r>
              <a:rPr lang="en-US" sz="1700" b="0" dirty="0"/>
              <a:t>VPLs allow users to create and </a:t>
            </a:r>
            <a:r>
              <a:rPr lang="en-US" sz="1700" b="1" dirty="0"/>
              <a:t>manipulate programs </a:t>
            </a:r>
            <a:r>
              <a:rPr lang="en-US" sz="1700" b="0" dirty="0"/>
              <a:t>using graphical elements and visual representations instead of traditional textual code. </a:t>
            </a:r>
          </a:p>
          <a:p>
            <a:pPr lvl="1"/>
            <a:r>
              <a:rPr lang="en-ZA" sz="1700" b="0" dirty="0"/>
              <a:t>They have been used to </a:t>
            </a:r>
            <a:r>
              <a:rPr lang="en-ZA" sz="1700" b="1" dirty="0"/>
              <a:t>program social robots</a:t>
            </a:r>
            <a:r>
              <a:rPr lang="en-ZA" sz="1700" dirty="0"/>
              <a:t> </a:t>
            </a:r>
            <a:r>
              <a:rPr lang="en-ZA" sz="1700" b="0" dirty="0"/>
              <a:t>(Interaction Composer), </a:t>
            </a:r>
            <a:r>
              <a:rPr lang="en-ZA" sz="1700" b="1" dirty="0"/>
              <a:t>IoT devices and robots </a:t>
            </a:r>
            <a:r>
              <a:rPr lang="en-ZA" sz="1700" b="0" dirty="0"/>
              <a:t>(Robokol) and </a:t>
            </a:r>
            <a:r>
              <a:rPr lang="en-ZA" sz="1700" b="1" dirty="0"/>
              <a:t>service robots.</a:t>
            </a:r>
          </a:p>
          <a:p>
            <a:pPr lvl="1"/>
            <a:r>
              <a:rPr lang="en-ZA" sz="1700" b="0" dirty="0"/>
              <a:t>They offer a better visualization and understanding of both the </a:t>
            </a:r>
            <a:r>
              <a:rPr lang="en-ZA" sz="1700" b="1" dirty="0"/>
              <a:t>modeling process</a:t>
            </a:r>
            <a:r>
              <a:rPr lang="en-ZA" sz="1700" b="0" dirty="0"/>
              <a:t> and the </a:t>
            </a:r>
            <a:r>
              <a:rPr lang="en-ZA" sz="1700" b="1" dirty="0"/>
              <a:t>final model</a:t>
            </a:r>
            <a:r>
              <a:rPr lang="en-ZA" sz="1700" b="0" dirty="0"/>
              <a:t>.</a:t>
            </a:r>
          </a:p>
          <a:p>
            <a:endParaRPr lang="en-ZA" sz="2200" b="0" dirty="0"/>
          </a:p>
          <a:p>
            <a:endParaRPr lang="en-ZA" sz="22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719572" y="1081933"/>
            <a:ext cx="7704856" cy="1077218"/>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Visual Programming Languages in Robotics</a:t>
            </a:r>
            <a:endParaRPr lang="en-US" sz="2400" dirty="0">
              <a:latin typeface="Gill Sans MT" panose="020B0502020104020203"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5529" y="2439354"/>
            <a:ext cx="4273289" cy="2825038"/>
          </a:xfrm>
          <a:prstGeom prst="rect">
            <a:avLst/>
          </a:prstGeom>
        </p:spPr>
      </p:pic>
    </p:spTree>
    <p:extLst>
      <p:ext uri="{BB962C8B-B14F-4D97-AF65-F5344CB8AC3E}">
        <p14:creationId xmlns:p14="http://schemas.microsoft.com/office/powerpoint/2010/main" val="2702613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791712" y="2132856"/>
            <a:ext cx="4536504" cy="4014936"/>
          </a:xfrm>
        </p:spPr>
        <p:txBody>
          <a:bodyPr>
            <a:normAutofit/>
          </a:bodyPr>
          <a:lstStyle/>
          <a:p>
            <a:pPr marL="0" indent="0">
              <a:buNone/>
            </a:pPr>
            <a:r>
              <a:rPr lang="en-ZA" sz="1600" b="0" dirty="0"/>
              <a:t>DSL that </a:t>
            </a:r>
            <a:r>
              <a:rPr lang="en-ZA" sz="1600" dirty="0"/>
              <a:t>combine</a:t>
            </a:r>
            <a:r>
              <a:rPr lang="en-ZA" sz="1600" b="0" dirty="0"/>
              <a:t> of VPL and textual representations : </a:t>
            </a:r>
          </a:p>
          <a:p>
            <a:r>
              <a:rPr lang="en-ZA" sz="1600" dirty="0"/>
              <a:t>Choregraphe - </a:t>
            </a:r>
            <a:r>
              <a:rPr lang="en-ZA" sz="1600" b="0" dirty="0"/>
              <a:t>programs</a:t>
            </a:r>
            <a:r>
              <a:rPr lang="en-ZA" sz="1600" dirty="0"/>
              <a:t> </a:t>
            </a:r>
            <a:r>
              <a:rPr lang="en-ZA" sz="1600" b="0" dirty="0"/>
              <a:t>a Nao robot</a:t>
            </a:r>
          </a:p>
          <a:p>
            <a:r>
              <a:rPr lang="en-ZA" sz="1600" dirty="0"/>
              <a:t>LightRocks - </a:t>
            </a:r>
            <a:r>
              <a:rPr lang="en-ZA" sz="1600" b="0" dirty="0"/>
              <a:t>allows defines models for production robots</a:t>
            </a:r>
            <a:r>
              <a:rPr lang="en-ZA" sz="1600" dirty="0"/>
              <a:t> </a:t>
            </a:r>
          </a:p>
          <a:p>
            <a:r>
              <a:rPr lang="en-ZA" sz="1600" dirty="0"/>
              <a:t>DiaSpec - </a:t>
            </a:r>
            <a:r>
              <a:rPr lang="en-ZA" sz="1600" b="0" dirty="0"/>
              <a:t>allows defining Sence/Compute/Control applications</a:t>
            </a:r>
          </a:p>
          <a:p>
            <a:r>
              <a:rPr lang="en-ZA" sz="1600" dirty="0"/>
              <a:t>Sumsumption - </a:t>
            </a:r>
            <a:r>
              <a:rPr lang="en-ZA" sz="1600" b="0" dirty="0"/>
              <a:t>defines models of a complete robotic system.</a:t>
            </a:r>
          </a:p>
          <a:p>
            <a:endParaRPr lang="en-ZA" sz="22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827584" y="1322187"/>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DSL – VPL &amp; Textual Representation </a:t>
            </a:r>
            <a:endParaRPr lang="en-US" sz="2400" dirty="0">
              <a:latin typeface="Gill Sans MT" panose="020B0502020104020203" pitchFamily="34"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rcRect l="27469" r="26000"/>
          <a:stretch>
            <a:fillRect/>
          </a:stretch>
        </p:blipFill>
        <p:spPr>
          <a:xfrm>
            <a:off x="5508104" y="1944510"/>
            <a:ext cx="1678783" cy="3006529"/>
          </a:xfrm>
          <a:prstGeom prst="rect">
            <a:avLst/>
          </a:prstGeom>
        </p:spPr>
      </p:pic>
    </p:spTree>
    <p:extLst>
      <p:ext uri="{BB962C8B-B14F-4D97-AF65-F5344CB8AC3E}">
        <p14:creationId xmlns:p14="http://schemas.microsoft.com/office/powerpoint/2010/main" val="180828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7DF3B-AD23-4AA4-B9D1-E3958B9DBED4}"/>
              </a:ext>
            </a:extLst>
          </p:cNvPr>
          <p:cNvSpPr>
            <a:spLocks noGrp="1"/>
          </p:cNvSpPr>
          <p:nvPr>
            <p:ph idx="1"/>
          </p:nvPr>
        </p:nvSpPr>
        <p:spPr>
          <a:xfrm>
            <a:off x="323528" y="1700808"/>
            <a:ext cx="5328592" cy="4014936"/>
          </a:xfrm>
        </p:spPr>
        <p:txBody>
          <a:bodyPr>
            <a:normAutofit fontScale="62500" lnSpcReduction="20000"/>
          </a:bodyPr>
          <a:lstStyle/>
          <a:p>
            <a:pPr marL="0" indent="0">
              <a:buNone/>
            </a:pPr>
            <a:endParaRPr lang="en-ZA" dirty="0"/>
          </a:p>
          <a:p>
            <a:r>
              <a:rPr lang="en-ZA" dirty="0">
                <a:solidFill>
                  <a:srgbClr val="FF0000"/>
                </a:solidFill>
              </a:rPr>
              <a:t>Learning Curve</a:t>
            </a:r>
            <a:r>
              <a:rPr lang="en-ZA" dirty="0"/>
              <a:t>- </a:t>
            </a:r>
            <a:r>
              <a:rPr lang="en-ZA" b="0" dirty="0"/>
              <a:t>Developers need to learn the specific syntax, semantics, and constructs of the DSL, which can have a learning curve.</a:t>
            </a:r>
          </a:p>
          <a:p>
            <a:r>
              <a:rPr lang="en-ZA" dirty="0">
                <a:solidFill>
                  <a:srgbClr val="FF0000"/>
                </a:solidFill>
              </a:rPr>
              <a:t>Limited Community and Tools</a:t>
            </a:r>
            <a:r>
              <a:rPr lang="en-ZA" dirty="0"/>
              <a:t>- </a:t>
            </a:r>
            <a:r>
              <a:rPr lang="en-ZA" b="0" dirty="0"/>
              <a:t>DSLs may have a smaller community compared to general-purpose languages, resulting in fewer resources and tools available.</a:t>
            </a:r>
          </a:p>
          <a:p>
            <a:r>
              <a:rPr lang="en-ZA" dirty="0">
                <a:solidFill>
                  <a:srgbClr val="FF0000"/>
                </a:solidFill>
              </a:rPr>
              <a:t>Integration with General-Purpose Code</a:t>
            </a:r>
            <a:r>
              <a:rPr lang="en-ZA" dirty="0"/>
              <a:t>- </a:t>
            </a:r>
            <a:r>
              <a:rPr lang="en-ZA" b="0" dirty="0"/>
              <a:t>When using an external DSL, integration with general-purpose code may require additional effort and coordination.</a:t>
            </a:r>
          </a:p>
          <a:p>
            <a:endParaRPr lang="en-ZA" sz="22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ACF7DF3B-AD23-4AA4-B9D1-E3958B9DBED4}"/>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p:cNvSpPr txBox="1"/>
          <p:nvPr/>
        </p:nvSpPr>
        <p:spPr>
          <a:xfrm>
            <a:off x="719572" y="831759"/>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Challenges of DSL</a:t>
            </a:r>
            <a:endParaRPr lang="en-US" sz="2400" dirty="0">
              <a:latin typeface="Gill Sans MT" panose="020B0502020104020203"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5413" y="2204864"/>
            <a:ext cx="3218587" cy="2664296"/>
          </a:xfrm>
          <a:prstGeom prst="rect">
            <a:avLst/>
          </a:prstGeom>
        </p:spPr>
      </p:pic>
    </p:spTree>
    <p:extLst>
      <p:ext uri="{BB962C8B-B14F-4D97-AF65-F5344CB8AC3E}">
        <p14:creationId xmlns:p14="http://schemas.microsoft.com/office/powerpoint/2010/main" val="3353037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FD17-528E-A72C-34B2-875F766F122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EB8F1E-0D0D-9D2D-2EF3-095E08555575}"/>
              </a:ext>
            </a:extLst>
          </p:cNvPr>
          <p:cNvSpPr>
            <a:spLocks noGrp="1"/>
          </p:cNvSpPr>
          <p:nvPr>
            <p:ph idx="1"/>
          </p:nvPr>
        </p:nvSpPr>
        <p:spPr>
          <a:xfrm>
            <a:off x="1115616" y="2165387"/>
            <a:ext cx="4536504" cy="4014936"/>
          </a:xfrm>
        </p:spPr>
        <p:txBody>
          <a:bodyPr>
            <a:normAutofit/>
          </a:bodyPr>
          <a:lstStyle/>
          <a:p>
            <a:pPr>
              <a:buFont typeface="+mj-lt"/>
              <a:buAutoNum type="arabicPeriod"/>
            </a:pPr>
            <a:r>
              <a:rPr lang="en-ZA" sz="1600" b="0" dirty="0"/>
              <a:t>Real-Time Performance</a:t>
            </a:r>
          </a:p>
          <a:p>
            <a:pPr>
              <a:buFont typeface="+mj-lt"/>
              <a:buAutoNum type="arabicPeriod"/>
            </a:pPr>
            <a:r>
              <a:rPr lang="en-ZA" sz="1600" b="0" dirty="0"/>
              <a:t>Limited Processing Power and Memory</a:t>
            </a:r>
          </a:p>
          <a:p>
            <a:pPr>
              <a:buFont typeface="+mj-lt"/>
              <a:buAutoNum type="arabicPeriod"/>
            </a:pPr>
            <a:r>
              <a:rPr lang="en-ZA" sz="1600" b="0" dirty="0"/>
              <a:t>Hardware Specificity/ Vendor Lock-In</a:t>
            </a:r>
          </a:p>
          <a:p>
            <a:pPr>
              <a:buFont typeface="+mj-lt"/>
              <a:buAutoNum type="arabicPeriod"/>
            </a:pPr>
            <a:r>
              <a:rPr lang="en-ZA" sz="1600" b="0" dirty="0"/>
              <a:t>Legacy System Compatibility</a:t>
            </a:r>
          </a:p>
          <a:p>
            <a:pPr>
              <a:buFont typeface="+mj-lt"/>
              <a:buAutoNum type="arabicPeriod"/>
            </a:pPr>
            <a:r>
              <a:rPr lang="en-ZA" sz="1600" b="0" dirty="0"/>
              <a:t>Safety and Regulatory Compliance </a:t>
            </a:r>
          </a:p>
          <a:p>
            <a:pPr>
              <a:buFont typeface="+mj-lt"/>
              <a:buAutoNum type="arabicPeriod"/>
            </a:pPr>
            <a:r>
              <a:rPr lang="en-ZA" sz="1600" b="0" dirty="0"/>
              <a:t>Scalability and Maintainability</a:t>
            </a:r>
          </a:p>
          <a:p>
            <a:pPr>
              <a:buFont typeface="+mj-lt"/>
              <a:buAutoNum type="arabicPeriod"/>
            </a:pPr>
            <a:r>
              <a:rPr lang="en-ZA" sz="1600" b="0" dirty="0"/>
              <a:t>Cybersecurity</a:t>
            </a:r>
          </a:p>
          <a:p>
            <a:pPr>
              <a:buFont typeface="+mj-lt"/>
              <a:buAutoNum type="arabicPeriod"/>
            </a:pPr>
            <a:r>
              <a:rPr lang="en-ZA" sz="1600" b="0" dirty="0"/>
              <a:t>Connectivity and Communication Protocols</a:t>
            </a:r>
          </a:p>
          <a:p>
            <a:pPr>
              <a:buFont typeface="+mj-lt"/>
              <a:buAutoNum type="arabicPeriod"/>
            </a:pPr>
            <a:r>
              <a:rPr lang="en-ZA" sz="1600" b="0" dirty="0"/>
              <a:t>Power and Energy Efficiency</a:t>
            </a:r>
          </a:p>
          <a:p>
            <a:pPr>
              <a:buFont typeface="+mj-lt"/>
              <a:buAutoNum type="arabicPeriod"/>
            </a:pPr>
            <a:r>
              <a:rPr lang="en-ZA" sz="1600" b="0" dirty="0"/>
              <a:t>Cost Constraints and ROI Requirements </a:t>
            </a:r>
          </a:p>
          <a:p>
            <a:endParaRPr lang="en-ZA" sz="22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5832F68D-2C02-ABE2-3F2E-D2CA41741ADB}"/>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a:extLst>
              <a:ext uri="{FF2B5EF4-FFF2-40B4-BE49-F238E27FC236}">
                <a16:creationId xmlns:a16="http://schemas.microsoft.com/office/drawing/2014/main" id="{179A3BAD-700E-7667-11C6-ED76B13A649D}"/>
              </a:ext>
            </a:extLst>
          </p:cNvPr>
          <p:cNvSpPr txBox="1"/>
          <p:nvPr/>
        </p:nvSpPr>
        <p:spPr>
          <a:xfrm>
            <a:off x="719572" y="1510885"/>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Industrial Platform Constraints (IPCs)</a:t>
            </a:r>
            <a:endParaRPr lang="en-US" sz="2400" dirty="0">
              <a:latin typeface="Gill Sans MT" panose="020B0502020104020203" pitchFamily="34" charset="0"/>
            </a:endParaRPr>
          </a:p>
        </p:txBody>
      </p:sp>
      <p:pic>
        <p:nvPicPr>
          <p:cNvPr id="3079" name="Picture 7" descr="Industrial Work Platforms for Enhanced Safety | Chemey">
            <a:extLst>
              <a:ext uri="{FF2B5EF4-FFF2-40B4-BE49-F238E27FC236}">
                <a16:creationId xmlns:a16="http://schemas.microsoft.com/office/drawing/2014/main" id="{A7B73F97-922A-860B-001A-31A0ADF195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19138" y="2406470"/>
            <a:ext cx="3658407" cy="261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815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A6D98-1BB4-EF8D-CF4E-5FA7F42444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DAEC4A-A4EC-0EDA-CF8A-E6589B86AC13}"/>
              </a:ext>
            </a:extLst>
          </p:cNvPr>
          <p:cNvSpPr>
            <a:spLocks noGrp="1"/>
          </p:cNvSpPr>
          <p:nvPr>
            <p:ph idx="1"/>
          </p:nvPr>
        </p:nvSpPr>
        <p:spPr>
          <a:xfrm>
            <a:off x="669132" y="1844824"/>
            <a:ext cx="4035397" cy="4248472"/>
          </a:xfrm>
        </p:spPr>
        <p:txBody>
          <a:bodyPr>
            <a:normAutofit fontScale="85000" lnSpcReduction="20000"/>
          </a:bodyPr>
          <a:lstStyle/>
          <a:p>
            <a:pPr>
              <a:buFont typeface="+mj-lt"/>
              <a:buAutoNum type="arabicPeriod"/>
            </a:pPr>
            <a:r>
              <a:rPr lang="en-US" sz="1900" b="0" dirty="0"/>
              <a:t>DSLs must compile or interpret to real-time-capable code for motion control and sensor feedback.</a:t>
            </a:r>
          </a:p>
          <a:p>
            <a:pPr>
              <a:buFont typeface="+mj-lt"/>
              <a:buAutoNum type="arabicPeriod"/>
            </a:pPr>
            <a:r>
              <a:rPr lang="en-US" sz="1900" b="0" dirty="0"/>
              <a:t>DSLs must be lightweight, efficient, and avoid overhead-heavy features.</a:t>
            </a:r>
          </a:p>
          <a:p>
            <a:pPr>
              <a:buFont typeface="+mj-lt"/>
              <a:buAutoNum type="arabicPeriod"/>
            </a:pPr>
            <a:r>
              <a:rPr lang="en-ZA" sz="1900" b="0" dirty="0"/>
              <a:t>DSLs often become tied to a vendor (e.g., FANUC KAREL, KUKA KRL), reducing portability across platforms.</a:t>
            </a:r>
          </a:p>
          <a:p>
            <a:pPr>
              <a:buFont typeface="+mj-lt"/>
              <a:buAutoNum type="arabicPeriod"/>
            </a:pPr>
            <a:r>
              <a:rPr lang="en-ZA" sz="1900" b="0" dirty="0"/>
              <a:t>DSLs need integration capabilities with older systems using industrial protocols like OPC UA or Modbus.</a:t>
            </a:r>
          </a:p>
          <a:p>
            <a:pPr>
              <a:buFont typeface="+mj-lt"/>
              <a:buAutoNum type="arabicPeriod"/>
            </a:pPr>
            <a:r>
              <a:rPr lang="en-US" sz="1900" b="0" dirty="0"/>
              <a:t>DSLs must avoid vulnerable constructs and be compatible with secure runtime environments.</a:t>
            </a:r>
            <a:endParaRPr lang="en-ZA" sz="1900" b="0" dirty="0"/>
          </a:p>
          <a:p>
            <a:pPr>
              <a:buFont typeface="+mj-lt"/>
              <a:buAutoNum type="arabicPeriod"/>
            </a:pPr>
            <a:r>
              <a:rPr lang="en-US" sz="1900" b="0" dirty="0"/>
              <a:t>DSLs should be modular, well-documented, and easy to update over time, especially by engineers.</a:t>
            </a:r>
          </a:p>
          <a:p>
            <a:pPr>
              <a:buFont typeface="+mj-lt"/>
              <a:buAutoNum type="arabicPeriod"/>
            </a:pPr>
            <a:r>
              <a:rPr lang="en-US" sz="1900" b="0" dirty="0"/>
              <a:t>DSLs must enable or support interfacing with PLCs, sensors, and actuators.</a:t>
            </a:r>
          </a:p>
          <a:p>
            <a:endParaRPr lang="en-ZA" sz="2200" dirty="0"/>
          </a:p>
          <a:p>
            <a:pPr marL="400050" lvl="1" indent="0">
              <a:buNone/>
            </a:pPr>
            <a:endParaRPr lang="en-US" sz="2000" dirty="0"/>
          </a:p>
          <a:p>
            <a:pPr marL="0" indent="0">
              <a:buNone/>
            </a:pPr>
            <a:endParaRPr lang="en-ZA" dirty="0"/>
          </a:p>
          <a:p>
            <a:endParaRPr lang="en-ZA" dirty="0"/>
          </a:p>
          <a:p>
            <a:endParaRPr lang="en-ZA" dirty="0"/>
          </a:p>
          <a:p>
            <a:endParaRPr lang="en-ZA" dirty="0"/>
          </a:p>
          <a:p>
            <a:endParaRPr lang="en-GB" dirty="0"/>
          </a:p>
        </p:txBody>
      </p:sp>
      <p:sp>
        <p:nvSpPr>
          <p:cNvPr id="14" name="Content Placeholder 1">
            <a:extLst>
              <a:ext uri="{FF2B5EF4-FFF2-40B4-BE49-F238E27FC236}">
                <a16:creationId xmlns:a16="http://schemas.microsoft.com/office/drawing/2014/main" id="{4943833A-9727-BBC6-4626-CBD73A1E7013}"/>
              </a:ext>
            </a:extLst>
          </p:cNvPr>
          <p:cNvSpPr txBox="1">
            <a:spLocks/>
          </p:cNvSpPr>
          <p:nvPr/>
        </p:nvSpPr>
        <p:spPr>
          <a:xfrm>
            <a:off x="179512" y="1633348"/>
            <a:ext cx="5095099" cy="39112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ill Sans MT" panose="020B0502020104020203"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t> </a:t>
            </a:r>
            <a:endParaRPr lang="en-US" sz="2400" dirty="0"/>
          </a:p>
        </p:txBody>
      </p:sp>
      <p:sp>
        <p:nvSpPr>
          <p:cNvPr id="8" name="TextBox 7">
            <a:extLst>
              <a:ext uri="{FF2B5EF4-FFF2-40B4-BE49-F238E27FC236}">
                <a16:creationId xmlns:a16="http://schemas.microsoft.com/office/drawing/2014/main" id="{5097DB41-1BB5-235E-D64C-C92C88DB0018}"/>
              </a:ext>
            </a:extLst>
          </p:cNvPr>
          <p:cNvSpPr txBox="1"/>
          <p:nvPr/>
        </p:nvSpPr>
        <p:spPr>
          <a:xfrm>
            <a:off x="669132" y="1192445"/>
            <a:ext cx="7704856" cy="584775"/>
          </a:xfrm>
          <a:prstGeom prst="rect">
            <a:avLst/>
          </a:prstGeom>
          <a:noFill/>
        </p:spPr>
        <p:txBody>
          <a:bodyPr wrap="square" rtlCol="0">
            <a:spAutoFit/>
          </a:bodyPr>
          <a:lstStyle/>
          <a:p>
            <a:pPr algn="ctr"/>
            <a:r>
              <a:rPr lang="en-US" sz="3200" b="1" dirty="0">
                <a:solidFill>
                  <a:schemeClr val="bg1">
                    <a:lumMod val="50000"/>
                  </a:schemeClr>
                </a:solidFill>
                <a:latin typeface="Gill Sans MT" panose="020B0502020104020203" pitchFamily="34" charset="0"/>
                <a:cs typeface="Gill Sans"/>
              </a:rPr>
              <a:t>DSLs on IPC</a:t>
            </a:r>
            <a:endParaRPr lang="en-US" sz="2400" dirty="0">
              <a:latin typeface="Gill Sans MT" panose="020B0502020104020203" pitchFamily="34" charset="0"/>
            </a:endParaRPr>
          </a:p>
        </p:txBody>
      </p:sp>
      <p:pic>
        <p:nvPicPr>
          <p:cNvPr id="4099" name="Picture 3" descr="CONSIDERATION – LAW Notes">
            <a:extLst>
              <a:ext uri="{FF2B5EF4-FFF2-40B4-BE49-F238E27FC236}">
                <a16:creationId xmlns:a16="http://schemas.microsoft.com/office/drawing/2014/main" id="{39AC8FA6-123F-7F29-B3C4-7CBFCB80A24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040" y="2708920"/>
            <a:ext cx="4118892" cy="2113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0185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150555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UT Data Day Template" id="{92846BAD-006C-4266-8FF7-592E96877308}" vid="{D95C4ACA-B937-4CA7-8EE4-059BD2ABB2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42F7482BA8A594BB82EB43DDDC30A7B" ma:contentTypeVersion="0" ma:contentTypeDescription="Create a new document." ma:contentTypeScope="" ma:versionID="cfac4779270873affce0d8e4580d4c94">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7BFBC31D-43B2-41BB-8D13-4FBD59514968}">
  <ds:schemaRefs>
    <ds:schemaRef ds:uri="http://schemas.microsoft.com/sharepoint/v3/contenttype/forms"/>
  </ds:schemaRefs>
</ds:datastoreItem>
</file>

<file path=customXml/itemProps2.xml><?xml version="1.0" encoding="utf-8"?>
<ds:datastoreItem xmlns:ds="http://schemas.openxmlformats.org/officeDocument/2006/customXml" ds:itemID="{74E52D24-A7FE-46E9-B344-6ABD7A716B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69DC2DB-DA30-434E-BF62-455F46779EA5}">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Say it in Six template</Template>
  <TotalTime>26115</TotalTime>
  <Words>938</Words>
  <Application>Microsoft Office PowerPoint</Application>
  <PresentationFormat>On-screen Show (4:3)</PresentationFormat>
  <Paragraphs>150</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Gill Sans MT</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Freedom Mthobisi Khubisa</dc:creator>
  <cp:lastModifiedBy>Freedom Khubisa</cp:lastModifiedBy>
  <cp:revision>156</cp:revision>
  <dcterms:created xsi:type="dcterms:W3CDTF">2022-02-22T09:59:59Z</dcterms:created>
  <dcterms:modified xsi:type="dcterms:W3CDTF">2025-06-10T08:51:18Z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0x010100B42F7482BA8A594BB82EB43DDDC30A7B</vt:lpwstr>
  </property>
</Properties>
</file>