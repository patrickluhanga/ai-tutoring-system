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79" r:id="rId5"/>
    <p:sldId id="284" r:id="rId6"/>
    <p:sldId id="288" r:id="rId7"/>
    <p:sldId id="356" r:id="rId8"/>
    <p:sldId id="342" r:id="rId9"/>
    <p:sldId id="343" r:id="rId10"/>
    <p:sldId id="344" r:id="rId11"/>
    <p:sldId id="345" r:id="rId12"/>
    <p:sldId id="347" r:id="rId13"/>
    <p:sldId id="346" r:id="rId14"/>
    <p:sldId id="355" r:id="rId15"/>
    <p:sldId id="349" r:id="rId16"/>
    <p:sldId id="351" r:id="rId17"/>
    <p:sldId id="357" r:id="rId18"/>
    <p:sldId id="352" r:id="rId19"/>
    <p:sldId id="358" r:id="rId20"/>
    <p:sldId id="283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B168"/>
    <a:srgbClr val="F4E6CE"/>
    <a:srgbClr val="D5CEB9"/>
    <a:srgbClr val="BA9B6A"/>
    <a:srgbClr val="A48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1" d="100"/>
          <a:sy n="111" d="100"/>
        </p:scale>
        <p:origin x="165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94288-37BE-42FD-A3CE-C644F7468E54}" type="datetimeFigureOut">
              <a:rPr lang="en-ZA" smtClean="0">
                <a:latin typeface="Gill Sans MT" panose="020B0502020104020203" pitchFamily="34" charset="0"/>
              </a:rPr>
              <a:t>2025/06/10</a:t>
            </a:fld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8CC4-D689-4043-A112-A0EF0661C963}" type="slidenum">
              <a:rPr lang="en-ZA" smtClean="0">
                <a:latin typeface="Gill Sans MT" panose="020B0502020104020203" pitchFamily="34" charset="0"/>
              </a:rPr>
              <a:t>‹#›</a:t>
            </a:fld>
            <a:endParaRPr lang="en-ZA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74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78CA02F-F0F2-854F-B286-9B534A264BAA}" type="datetimeFigureOut">
              <a:rPr lang="en-US" smtClean="0"/>
              <a:pPr/>
              <a:t>6/10/2025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F04800F-0C89-EC4F-919F-9C2CE26B17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6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B2C6208-0A0A-42E4-A594-20222CA1DA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7584" y="915830"/>
            <a:ext cx="3888432" cy="388843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1988840"/>
            <a:ext cx="3444240" cy="20756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4293096"/>
            <a:ext cx="3444240" cy="5111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" y="0"/>
            <a:ext cx="91369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68" y="0"/>
            <a:ext cx="9079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4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1" y="0"/>
            <a:ext cx="9096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39970" cy="15100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77646-DDB7-4E3D-94A7-D1AF9A0CE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752600" cy="1752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F17B5A-BE59-4F19-B2D3-8D08B707A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7" y="-18587"/>
            <a:ext cx="9144793" cy="68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0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3191272" cy="1143000"/>
          </a:xfrm>
        </p:spPr>
        <p:txBody>
          <a:bodyPr>
            <a:normAutofit/>
          </a:bodyPr>
          <a:lstStyle>
            <a:lvl1pPr>
              <a:defRPr sz="28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ctr">
              <a:defRPr sz="2000" b="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Gill Sans MT" pitchFamily="34" charset="0"/>
              </a:defRPr>
            </a:lvl1pPr>
            <a:lvl2pPr>
              <a:defRPr sz="2800">
                <a:latin typeface="Gill Sans MT" pitchFamily="34" charset="0"/>
              </a:defRPr>
            </a:lvl2pPr>
            <a:lvl3pPr>
              <a:defRPr sz="2400">
                <a:latin typeface="Gill Sans MT" pitchFamily="34" charset="0"/>
              </a:defRPr>
            </a:lvl3pPr>
            <a:lvl4pPr>
              <a:defRPr sz="2000">
                <a:latin typeface="Gill Sans MT" pitchFamily="34" charset="0"/>
              </a:defRPr>
            </a:lvl4pPr>
            <a:lvl5pPr>
              <a:defRPr sz="2000">
                <a:latin typeface="Gill Sans MT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Gill Sans MT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Gill Sans MT" panose="020B05020201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7" r:id="rId3"/>
    <p:sldLayoutId id="2147483678" r:id="rId4"/>
    <p:sldLayoutId id="2147483675" r:id="rId5"/>
    <p:sldLayoutId id="2147483674" r:id="rId6"/>
    <p:sldLayoutId id="2147483671" r:id="rId7"/>
    <p:sldLayoutId id="2147483667" r:id="rId8"/>
    <p:sldLayoutId id="2147483676" r:id="rId9"/>
    <p:sldLayoutId id="2147483679" r:id="rId10"/>
    <p:sldLayoutId id="2147483664" r:id="rId11"/>
    <p:sldLayoutId id="2147483665" r:id="rId12"/>
    <p:sldLayoutId id="2147483666" r:id="rId13"/>
    <p:sldLayoutId id="2147483668" r:id="rId14"/>
    <p:sldLayoutId id="2147483669" r:id="rId15"/>
    <p:sldLayoutId id="2147483670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7518" y="5487145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Department : Information Technology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A3A6F-91D9-4129-87EA-C75A870F0E96}"/>
              </a:ext>
            </a:extLst>
          </p:cNvPr>
          <p:cNvSpPr txBox="1"/>
          <p:nvPr/>
        </p:nvSpPr>
        <p:spPr>
          <a:xfrm>
            <a:off x="355866" y="5193220"/>
            <a:ext cx="7050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Lecturer Name : Freedom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569" y="3759697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Name: Platform Based Development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Code: PBDE401 | PBDV301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9569" y="2564904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Industrial Platforms </a:t>
            </a:r>
            <a:endParaRPr lang="en-US" sz="2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33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595972" y="1052736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itchFamily="34" charset="0"/>
                <a:cs typeface="Arial"/>
              </a:rPr>
              <a:t>Outline of the lesson </a:t>
            </a:r>
            <a:endParaRPr lang="en-US" sz="3200" dirty="0">
              <a:latin typeface="Gill Sans MT" panose="020B0502020104020203" pitchFamily="34" charset="0"/>
              <a:cs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98E6E9-33AB-4D98-A95F-FF2B99D99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4824"/>
            <a:ext cx="8435280" cy="39624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2800" dirty="0"/>
              <a:t>Objectives</a:t>
            </a:r>
            <a:r>
              <a:rPr lang="en-GB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Understanding what are platforms in the industrial context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Understanding two predominant forms of platforms and their design principles  </a:t>
            </a:r>
          </a:p>
          <a:p>
            <a:pPr lvl="1"/>
            <a:r>
              <a:rPr lang="en-GB" sz="2400" b="1" dirty="0"/>
              <a:t>Company-Specific Platforms (Internal)</a:t>
            </a:r>
          </a:p>
          <a:p>
            <a:pPr lvl="1"/>
            <a:r>
              <a:rPr lang="en-GB" sz="2400" b="1" dirty="0"/>
              <a:t>Industry –wide Platforms (External)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Understanding the goal and purpose of Robotics</a:t>
            </a:r>
          </a:p>
          <a:p>
            <a:pPr marL="457200" indent="-457200">
              <a:buFont typeface="+mj-lt"/>
              <a:buAutoNum type="arabicPeriod"/>
            </a:pPr>
            <a:r>
              <a:rPr lang="en-ZA" sz="2400" dirty="0"/>
              <a:t>Key principles and methods for robotics systems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Types of </a:t>
            </a:r>
            <a:r>
              <a:rPr lang="en-GB" sz="2400" dirty="0"/>
              <a:t>Robotic software and ROS </a:t>
            </a:r>
            <a:r>
              <a:rPr lang="en-GB" sz="2400" dirty="0" err="1"/>
              <a:t>achitecture</a:t>
            </a:r>
            <a:endParaRPr lang="en-GB" sz="2400" dirty="0"/>
          </a:p>
          <a:p>
            <a:pPr marL="457200" indent="-457200">
              <a:buFont typeface="+mj-lt"/>
              <a:buAutoNum type="arabicPeriod"/>
            </a:pPr>
            <a:endParaRPr lang="en-GB" sz="2400" b="1" dirty="0"/>
          </a:p>
          <a:p>
            <a:pPr marL="0" indent="0">
              <a:buNone/>
            </a:pPr>
            <a:endParaRPr lang="en-GB" sz="2400" dirty="0"/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0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32856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683568" y="1694809"/>
            <a:ext cx="8280920" cy="3911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400" dirty="0"/>
              <a:t> </a:t>
            </a:r>
            <a:endParaRPr lang="en-US" sz="2400" dirty="0"/>
          </a:p>
          <a:p>
            <a:r>
              <a:rPr lang="en-US" sz="2000" b="0" dirty="0"/>
              <a:t>The term “</a:t>
            </a:r>
            <a:r>
              <a:rPr lang="en-US" sz="2000" dirty="0"/>
              <a:t> Platform</a:t>
            </a:r>
            <a:r>
              <a:rPr lang="en-US" sz="2000" b="0" dirty="0"/>
              <a:t>” has become ubiquitous.</a:t>
            </a:r>
          </a:p>
          <a:p>
            <a:r>
              <a:rPr lang="en-US" sz="2000" dirty="0"/>
              <a:t>Platforms</a:t>
            </a:r>
            <a:r>
              <a:rPr lang="en-US" sz="2000" b="0" dirty="0"/>
              <a:t> exist in a variety of industries, especially in </a:t>
            </a:r>
            <a:r>
              <a:rPr lang="en-US" sz="2000" dirty="0"/>
              <a:t>high-tech </a:t>
            </a:r>
            <a:r>
              <a:rPr lang="en-US" sz="2000" b="0" dirty="0"/>
              <a:t>businesses driven by information technology. </a:t>
            </a:r>
          </a:p>
          <a:p>
            <a:r>
              <a:rPr lang="en-US" sz="2000" b="0" dirty="0"/>
              <a:t>For example :  </a:t>
            </a:r>
            <a:r>
              <a:rPr lang="en-US" sz="2000" dirty="0"/>
              <a:t>Microsoft,  Apple, Google, Intel – </a:t>
            </a:r>
            <a:r>
              <a:rPr lang="en-US" sz="2000" b="0" dirty="0"/>
              <a:t>hardware, software products + applications (each has its platform – see image below) </a:t>
            </a:r>
          </a:p>
          <a:p>
            <a:r>
              <a:rPr lang="en-US" sz="2000" b="0" dirty="0"/>
              <a:t>Often associated with “ Network Effect “ – driven by complementary innovations</a:t>
            </a:r>
            <a:endParaRPr lang="en-ZA" sz="2000" b="0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5" b="5110"/>
          <a:stretch/>
        </p:blipFill>
        <p:spPr>
          <a:xfrm>
            <a:off x="2339752" y="4221088"/>
            <a:ext cx="3672408" cy="1944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092320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Industrial Platforms </a:t>
            </a:r>
            <a:endParaRPr lang="en-US" sz="2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3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242" y="3110385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685518" y="1412776"/>
            <a:ext cx="6838810" cy="446449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0" dirty="0"/>
              <a:t>Industry platforms and associated innovations, as well as platforms on top of or </a:t>
            </a:r>
            <a:r>
              <a:rPr lang="en-US" sz="2400" dirty="0"/>
              <a:t>embedded within other platforms </a:t>
            </a:r>
            <a:r>
              <a:rPr lang="en-US" sz="2400" b="0" dirty="0"/>
              <a:t>have become increasingly pervasive in our everyday lives. Industrial platforms are digital systems used to monitor, control, and analyze industrial operations</a:t>
            </a:r>
          </a:p>
          <a:p>
            <a:pPr marL="0" indent="0" algn="ctr">
              <a:buNone/>
            </a:pPr>
            <a:r>
              <a:rPr lang="en-GB" sz="2300" dirty="0"/>
              <a:t> </a:t>
            </a:r>
            <a:endParaRPr lang="en-US" sz="2300" dirty="0"/>
          </a:p>
          <a:p>
            <a:pPr lvl="1"/>
            <a:r>
              <a:rPr lang="en-ZA" sz="2300" b="0" dirty="0"/>
              <a:t>Industrial Internet of Things (</a:t>
            </a:r>
            <a:r>
              <a:rPr lang="en-ZA" sz="2300" b="0" dirty="0" err="1"/>
              <a:t>IIoT</a:t>
            </a:r>
            <a:r>
              <a:rPr lang="en-ZA" sz="2300" b="0" dirty="0"/>
              <a:t>) Platforms (</a:t>
            </a:r>
            <a:r>
              <a:rPr lang="en-US" sz="2300" dirty="0"/>
              <a:t>Connect machines/devices e.g., GE Predix, MindSphere).</a:t>
            </a:r>
            <a:endParaRPr lang="en-ZA" sz="2300" b="0" dirty="0"/>
          </a:p>
          <a:p>
            <a:pPr lvl="1"/>
            <a:r>
              <a:rPr lang="en-ZA" sz="2300" b="0" dirty="0"/>
              <a:t>Cloud Computing Platforms (</a:t>
            </a:r>
            <a:r>
              <a:rPr lang="en-US" sz="2300" dirty="0"/>
              <a:t>Handle big data, AI models, dashboards e.g., Azure, AWS).</a:t>
            </a:r>
            <a:endParaRPr lang="en-ZA" sz="2300" b="0" dirty="0"/>
          </a:p>
          <a:p>
            <a:pPr lvl="1"/>
            <a:r>
              <a:rPr lang="en-ZA" sz="2300" b="0" dirty="0"/>
              <a:t>Data Analytics Platforms (</a:t>
            </a:r>
            <a:r>
              <a:rPr lang="en-US" sz="2300" dirty="0"/>
              <a:t>Analyze industrial data for insights, predictive maintenance, and optimization e.g., Power BI, IBM Watson Analytics )</a:t>
            </a:r>
            <a:r>
              <a:rPr lang="en-ZA" sz="2300" b="0" dirty="0"/>
              <a:t> </a:t>
            </a:r>
          </a:p>
          <a:p>
            <a:pPr lvl="1"/>
            <a:r>
              <a:rPr lang="en-ZA" sz="2300" dirty="0"/>
              <a:t>Enterprise Resource Planning </a:t>
            </a:r>
            <a:r>
              <a:rPr lang="en-ZA" sz="2300" b="0" dirty="0"/>
              <a:t>Platforms </a:t>
            </a:r>
            <a:r>
              <a:rPr lang="en-ZA" sz="2300" dirty="0"/>
              <a:t>(</a:t>
            </a:r>
            <a:r>
              <a:rPr lang="en-US" sz="2300" dirty="0"/>
              <a:t>Resource, order, and inventory management) </a:t>
            </a:r>
            <a:endParaRPr lang="en-ZA" sz="2300" b="0" dirty="0"/>
          </a:p>
          <a:p>
            <a:pPr lvl="1"/>
            <a:r>
              <a:rPr lang="en-ZA" sz="2300" b="0" dirty="0"/>
              <a:t>Platforms </a:t>
            </a:r>
          </a:p>
          <a:p>
            <a:pPr lvl="1"/>
            <a:r>
              <a:rPr lang="en-ZA" sz="2300" b="0" dirty="0"/>
              <a:t>Collaborative Platforms (</a:t>
            </a:r>
            <a:r>
              <a:rPr lang="en-US" sz="2300" dirty="0"/>
              <a:t>Enable teamwork, sharing data, workflows, and real-time communication across teams and robots e.g., Microsoft Teams with integrated Power Automate, Slack</a:t>
            </a:r>
            <a:endParaRPr lang="en-ZA" sz="2300" b="0" dirty="0"/>
          </a:p>
          <a:p>
            <a:pPr lvl="1"/>
            <a:r>
              <a:rPr lang="en-ZA" sz="2300" b="0" dirty="0"/>
              <a:t>Energy Management Platforms (</a:t>
            </a:r>
            <a:r>
              <a:rPr lang="en-US" sz="2300" dirty="0"/>
              <a:t>Monitor and optimize energy consumption across industrial equipment e.g., </a:t>
            </a:r>
            <a:r>
              <a:rPr lang="en-ZA" sz="2300" dirty="0"/>
              <a:t>Schneider Electric EcoStruxure )</a:t>
            </a:r>
            <a:endParaRPr lang="en-ZA" sz="2300" b="0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611560" y="688340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Industrial Platforms </a:t>
            </a:r>
            <a:endParaRPr lang="en-US" sz="2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198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428" y="1844824"/>
            <a:ext cx="8382000" cy="4250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Two predominant forms of platforms</a:t>
            </a:r>
            <a:endParaRPr lang="en-ZA" sz="2400" dirty="0"/>
          </a:p>
          <a:p>
            <a:pPr lvl="1"/>
            <a:r>
              <a:rPr lang="en-ZA" sz="2000" dirty="0"/>
              <a:t>Internal or company-specific platforms  </a:t>
            </a:r>
          </a:p>
          <a:p>
            <a:pPr lvl="1"/>
            <a:r>
              <a:rPr lang="en-ZA" sz="2000" dirty="0"/>
              <a:t>External or industry-wide </a:t>
            </a:r>
            <a:r>
              <a:rPr lang="en-US" sz="2000" dirty="0"/>
              <a:t>platforms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ZA" sz="2400" dirty="0"/>
          </a:p>
          <a:p>
            <a:pPr marL="0" indent="0">
              <a:buNone/>
            </a:pPr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683568" y="1694809"/>
            <a:ext cx="8280920" cy="3911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762000" y="1092320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Industrial Platforms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241078"/>
            <a:ext cx="3528394" cy="20429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6"/>
          <a:stretch/>
        </p:blipFill>
        <p:spPr>
          <a:xfrm>
            <a:off x="5004048" y="3234888"/>
            <a:ext cx="3593976" cy="204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733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683568" y="1694809"/>
            <a:ext cx="7992888" cy="3911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sz="2400" dirty="0"/>
              <a:t>Internal or company-specific platforms</a:t>
            </a:r>
            <a:r>
              <a:rPr lang="en-GB" sz="2400" dirty="0"/>
              <a:t> </a:t>
            </a:r>
          </a:p>
          <a:p>
            <a:pPr marL="0" indent="0">
              <a:buNone/>
            </a:pPr>
            <a:r>
              <a:rPr lang="en-GB" sz="2400" b="0" dirty="0"/>
              <a:t>Characteristics</a:t>
            </a:r>
            <a:endParaRPr lang="en-US" sz="2400" b="0" dirty="0"/>
          </a:p>
          <a:p>
            <a:pPr lvl="1"/>
            <a:r>
              <a:rPr lang="en-US" sz="1600" b="0" dirty="0"/>
              <a:t>In the context of new product development and incremental innovation around </a:t>
            </a:r>
            <a:r>
              <a:rPr lang="en-US" sz="1600" dirty="0"/>
              <a:t>reusable components </a:t>
            </a:r>
            <a:r>
              <a:rPr lang="en-US" sz="1600" b="0" dirty="0"/>
              <a:t>or technologies.</a:t>
            </a:r>
          </a:p>
          <a:p>
            <a:pPr lvl="1"/>
            <a:r>
              <a:rPr lang="en-US" sz="1600" b="0" dirty="0"/>
              <a:t>Involves building a family of related products or sets of new features by deploying these components.</a:t>
            </a:r>
          </a:p>
          <a:p>
            <a:pPr lvl="1"/>
            <a:r>
              <a:rPr lang="en-US" sz="1600" b="0" dirty="0"/>
              <a:t>For example: </a:t>
            </a:r>
            <a:r>
              <a:rPr lang="en-US" sz="1600" dirty="0"/>
              <a:t>Product Platforms </a:t>
            </a:r>
            <a:r>
              <a:rPr lang="en-US" sz="1600" b="0" dirty="0"/>
              <a:t>-</a:t>
            </a:r>
            <a:r>
              <a:rPr lang="en-US" sz="1600" dirty="0">
                <a:solidFill>
                  <a:srgbClr val="FF0000"/>
                </a:solidFill>
              </a:rPr>
              <a:t> How can the needs of different customers be met? </a:t>
            </a:r>
            <a:endParaRPr lang="en-ZA" sz="1600" dirty="0">
              <a:solidFill>
                <a:srgbClr val="FF0000"/>
              </a:solidFill>
            </a:endParaRPr>
          </a:p>
          <a:p>
            <a:pPr lvl="1"/>
            <a:r>
              <a:rPr lang="en-US" sz="1600" b="0" dirty="0"/>
              <a:t>Produce a family of automobile products or consumer electronics devices etc. </a:t>
            </a:r>
            <a:endParaRPr lang="en-ZA" sz="1600" b="0" dirty="0"/>
          </a:p>
          <a:p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762000" y="1092320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Industrial Platforms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9" t="10340" r="1109" b="7104"/>
          <a:stretch/>
        </p:blipFill>
        <p:spPr>
          <a:xfrm>
            <a:off x="1979712" y="4221820"/>
            <a:ext cx="4320480" cy="191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84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683568" y="1694809"/>
            <a:ext cx="8280920" cy="3911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sz="2400" dirty="0"/>
              <a:t>Internal or company-specific platforms  </a:t>
            </a:r>
          </a:p>
          <a:p>
            <a:pPr marL="0" indent="0">
              <a:buNone/>
            </a:pPr>
            <a:r>
              <a:rPr lang="en-ZA" sz="2400" b="0" dirty="0"/>
              <a:t>Design Principles</a:t>
            </a:r>
            <a:r>
              <a:rPr lang="en-GB" sz="2400" b="0" dirty="0"/>
              <a:t> </a:t>
            </a:r>
            <a:endParaRPr lang="en-US" sz="2000" b="0" dirty="0"/>
          </a:p>
          <a:p>
            <a:pPr lvl="1"/>
            <a:r>
              <a:rPr lang="en-US" sz="1600" b="0" dirty="0"/>
              <a:t>The </a:t>
            </a:r>
            <a:r>
              <a:rPr lang="en-US" sz="1600" dirty="0"/>
              <a:t>stability </a:t>
            </a:r>
            <a:r>
              <a:rPr lang="en-US" sz="1600" b="0" dirty="0"/>
              <a:t>of the system architecture</a:t>
            </a:r>
          </a:p>
          <a:p>
            <a:pPr lvl="1"/>
            <a:r>
              <a:rPr lang="en-US" sz="1600" b="0" dirty="0"/>
              <a:t>The systematic or planned reuse of modular components</a:t>
            </a:r>
          </a:p>
          <a:p>
            <a:pPr lvl="1"/>
            <a:r>
              <a:rPr lang="en-US" sz="1600" dirty="0"/>
              <a:t>Trade-off : </a:t>
            </a:r>
            <a:r>
              <a:rPr lang="en-ZA" sz="1600" dirty="0">
                <a:solidFill>
                  <a:srgbClr val="FF0000"/>
                </a:solidFill>
              </a:rPr>
              <a:t>functionality and performance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Optimization of subsystem</a:t>
            </a:r>
            <a:endParaRPr lang="en-GB" sz="1600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1092320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Industrial Platforms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858104"/>
            <a:ext cx="3600400" cy="223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96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487093" y="1722573"/>
            <a:ext cx="6264696" cy="47771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sz="2400" dirty="0"/>
              <a:t>External or industry-wide </a:t>
            </a:r>
            <a:r>
              <a:rPr lang="en-US" sz="2400" dirty="0"/>
              <a:t>platforms </a:t>
            </a:r>
          </a:p>
          <a:p>
            <a:pPr marL="0" indent="0">
              <a:buNone/>
            </a:pPr>
            <a:r>
              <a:rPr lang="en-US" sz="2400" b="0" dirty="0"/>
              <a:t>Characteristics</a:t>
            </a:r>
          </a:p>
          <a:p>
            <a:pPr lvl="1"/>
            <a:r>
              <a:rPr lang="en-US" sz="1600" b="0" dirty="0"/>
              <a:t>Products, services or technologies developed by one or more firms, and which </a:t>
            </a:r>
            <a:r>
              <a:rPr lang="en-US" sz="1600" b="1" dirty="0"/>
              <a:t>serve as foundations </a:t>
            </a:r>
            <a:r>
              <a:rPr lang="en-US" sz="1600" b="0" dirty="0"/>
              <a:t>upon which a larger number of businesses can build further complementary innovations.</a:t>
            </a:r>
          </a:p>
          <a:p>
            <a:pPr lvl="1"/>
            <a:r>
              <a:rPr lang="en-US" sz="1600" b="0" dirty="0"/>
              <a:t>Perform a function that is essential </a:t>
            </a:r>
            <a:r>
              <a:rPr lang="en-US" sz="1600" b="1" dirty="0"/>
              <a:t>to a broader technological system </a:t>
            </a:r>
            <a:r>
              <a:rPr lang="en-US" sz="1600" dirty="0"/>
              <a:t> </a:t>
            </a:r>
            <a:r>
              <a:rPr lang="en-US" sz="1600" b="0" dirty="0"/>
              <a:t>and </a:t>
            </a:r>
            <a:r>
              <a:rPr lang="en-US" sz="1600" b="1" dirty="0"/>
              <a:t>solve a business problem</a:t>
            </a:r>
            <a:r>
              <a:rPr lang="en-US" sz="1600" dirty="0"/>
              <a:t> </a:t>
            </a:r>
            <a:r>
              <a:rPr lang="en-US" sz="1600" b="0" dirty="0"/>
              <a:t>for many businesses and users in the industry.</a:t>
            </a:r>
          </a:p>
          <a:p>
            <a:pPr lvl="1"/>
            <a:r>
              <a:rPr lang="en-US" sz="1600" dirty="0">
                <a:solidFill>
                  <a:srgbClr val="00B050"/>
                </a:solidFill>
              </a:rPr>
              <a:t>Openness </a:t>
            </a:r>
            <a:r>
              <a:rPr lang="en-US" sz="1600" b="0" dirty="0"/>
              <a:t>– vary on a number of dimensions – such as level of access to information on interfaces to link to the platform or utilize its capabilities or cost of access. </a:t>
            </a:r>
          </a:p>
          <a:p>
            <a:r>
              <a:rPr lang="en-US" sz="2000" b="0" dirty="0"/>
              <a:t>For example – mobile application </a:t>
            </a:r>
            <a:r>
              <a:rPr lang="en-US" sz="2000" dirty="0"/>
              <a:t>APIs </a:t>
            </a:r>
            <a:r>
              <a:rPr lang="en-US" sz="2000" b="0" dirty="0"/>
              <a:t>+ </a:t>
            </a:r>
            <a:r>
              <a:rPr lang="en-US" sz="2000" dirty="0"/>
              <a:t>Cloud</a:t>
            </a:r>
            <a:r>
              <a:rPr lang="en-US" sz="2000" b="0" dirty="0"/>
              <a:t> computing platforms cost</a:t>
            </a:r>
          </a:p>
          <a:p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702418" y="1075103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Industrial Platforms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341" y="2702546"/>
            <a:ext cx="2682659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96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673304" y="1690710"/>
            <a:ext cx="8280920" cy="391124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sz="3100" dirty="0"/>
              <a:t>External or industry-wide </a:t>
            </a:r>
            <a:r>
              <a:rPr lang="en-US" sz="3100" dirty="0"/>
              <a:t>platforms </a:t>
            </a:r>
          </a:p>
          <a:p>
            <a:r>
              <a:rPr lang="en-US" sz="2600" b="0" dirty="0"/>
              <a:t>Various products and technologies serve as industry platforms </a:t>
            </a:r>
          </a:p>
          <a:p>
            <a:pPr lvl="1"/>
            <a:r>
              <a:rPr lang="en-ZA" dirty="0"/>
              <a:t>Microsoft Windows and Linux operating systems</a:t>
            </a:r>
          </a:p>
          <a:p>
            <a:pPr lvl="1"/>
            <a:r>
              <a:rPr lang="en-ZA" dirty="0"/>
              <a:t>Intel and ARM microprocessors;</a:t>
            </a:r>
          </a:p>
          <a:p>
            <a:pPr lvl="1"/>
            <a:r>
              <a:rPr lang="en-ZA" dirty="0"/>
              <a:t>Apple’s iPod, iPhone, and iPad along with the iOS operating system and iTunes and the Apple App Store</a:t>
            </a:r>
          </a:p>
          <a:p>
            <a:pPr lvl="1"/>
            <a:r>
              <a:rPr lang="en-ZA" dirty="0"/>
              <a:t>Google’s Internet search engine</a:t>
            </a:r>
          </a:p>
          <a:p>
            <a:pPr lvl="1"/>
            <a:r>
              <a:rPr lang="en-ZA" dirty="0"/>
              <a:t> Android operating system for smart phones, </a:t>
            </a:r>
          </a:p>
          <a:p>
            <a:pPr lvl="1"/>
            <a:r>
              <a:rPr lang="en-ZA" dirty="0"/>
              <a:t>Social networking sites such as Facebook, LinkedIn, and Twitter</a:t>
            </a:r>
          </a:p>
          <a:p>
            <a:pPr lvl="1"/>
            <a:r>
              <a:rPr lang="en-US" dirty="0"/>
              <a:t>Internet </a:t>
            </a:r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702418" y="1075103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Industrial Platforms </a:t>
            </a:r>
            <a:endParaRPr lang="en-US" sz="24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120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683568" y="1694809"/>
            <a:ext cx="6480720" cy="3911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sz="2400" dirty="0"/>
              <a:t>External or industry-wide </a:t>
            </a:r>
            <a:r>
              <a:rPr lang="en-US" sz="2400" dirty="0"/>
              <a:t>platforms </a:t>
            </a:r>
          </a:p>
          <a:p>
            <a:pPr marL="0" indent="0">
              <a:buNone/>
            </a:pPr>
            <a:r>
              <a:rPr lang="en-ZA" sz="2400" dirty="0"/>
              <a:t>Design Principles</a:t>
            </a:r>
            <a:r>
              <a:rPr lang="en-GB" sz="2400" dirty="0"/>
              <a:t> </a:t>
            </a:r>
            <a:endParaRPr lang="en-US" sz="2000" b="0" dirty="0"/>
          </a:p>
          <a:p>
            <a:pPr lvl="1"/>
            <a:r>
              <a:rPr lang="en-US" sz="1600" b="0" dirty="0"/>
              <a:t>The </a:t>
            </a:r>
            <a:r>
              <a:rPr lang="en-US" sz="1600" b="1" dirty="0"/>
              <a:t>stability</a:t>
            </a:r>
            <a:r>
              <a:rPr lang="en-US" sz="1600" dirty="0"/>
              <a:t> </a:t>
            </a:r>
            <a:r>
              <a:rPr lang="en-US" sz="1600" b="0" dirty="0"/>
              <a:t>of the system architecture is essential</a:t>
            </a:r>
          </a:p>
          <a:p>
            <a:pPr lvl="1"/>
            <a:r>
              <a:rPr lang="en-US" sz="1600" b="0" dirty="0"/>
              <a:t>The logic of design is inverted.</a:t>
            </a:r>
          </a:p>
          <a:p>
            <a:pPr lvl="1"/>
            <a:r>
              <a:rPr lang="en-US" sz="1600" b="0" dirty="0"/>
              <a:t>The interfaces around the platform must be sufficiently </a:t>
            </a:r>
            <a:r>
              <a:rPr lang="en-US" sz="1600" dirty="0"/>
              <a:t>“</a:t>
            </a:r>
            <a:r>
              <a:rPr lang="en-US" sz="1600" b="1" dirty="0"/>
              <a:t>open</a:t>
            </a:r>
            <a:r>
              <a:rPr lang="en-US" sz="1600" dirty="0"/>
              <a:t>” to allow outside firms to “plug in” </a:t>
            </a:r>
            <a:r>
              <a:rPr lang="en-US" sz="1600" b="0" dirty="0"/>
              <a:t>complements as well as innovate on these complements and </a:t>
            </a:r>
            <a:r>
              <a:rPr lang="en-US" sz="1600" dirty="0"/>
              <a:t>make money from their investments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92320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Types of Industrial Platforms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3891060"/>
            <a:ext cx="1649846" cy="22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99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683568" y="1694809"/>
            <a:ext cx="6480720" cy="3911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000" b="0" dirty="0"/>
          </a:p>
        </p:txBody>
      </p:sp>
      <p:sp>
        <p:nvSpPr>
          <p:cNvPr id="8" name="TextBox 7"/>
          <p:cNvSpPr txBox="1"/>
          <p:nvPr/>
        </p:nvSpPr>
        <p:spPr>
          <a:xfrm>
            <a:off x="323528" y="1100750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High-Level IoT/IIoT Architecture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EFC53-3CC1-0888-067A-AB275338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619994"/>
            <a:ext cx="5768128" cy="417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872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395536" y="1844907"/>
            <a:ext cx="5400600" cy="391124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sz="1600" b="0" dirty="0"/>
              <a:t>The goal of robotics in any industry is to design machines that can help and assist humans (and other robots in some instances). </a:t>
            </a:r>
          </a:p>
          <a:p>
            <a:r>
              <a:rPr lang="en-US" sz="1600" b="0" dirty="0"/>
              <a:t>To automate repetitive, dangerous, or precision tasks in industrial environments, improving productivity, quality, and worker safety. </a:t>
            </a:r>
          </a:p>
          <a:p>
            <a:r>
              <a:rPr lang="en-ZA" sz="1600" b="0" dirty="0"/>
              <a:t>Robotics involves design, construction, operation, and use of robots. </a:t>
            </a:r>
          </a:p>
          <a:p>
            <a:r>
              <a:rPr lang="en-ZA" sz="1600" b="0" dirty="0"/>
              <a:t>Robotics is an </a:t>
            </a:r>
            <a:r>
              <a:rPr lang="en-ZA" sz="1600" b="0" dirty="0">
                <a:solidFill>
                  <a:srgbClr val="00B050"/>
                </a:solidFill>
              </a:rPr>
              <a:t>interdisciplinary</a:t>
            </a:r>
            <a:r>
              <a:rPr lang="en-ZA" sz="1600" b="0" dirty="0"/>
              <a:t> branch of computer science and engineering.</a:t>
            </a:r>
            <a:endParaRPr lang="en-US" sz="1600" b="0" dirty="0"/>
          </a:p>
          <a:p>
            <a:r>
              <a:rPr lang="en-US" sz="1600" dirty="0"/>
              <a:t>Benefits </a:t>
            </a:r>
          </a:p>
          <a:p>
            <a:pPr lvl="1"/>
            <a:r>
              <a:rPr lang="en-US" sz="1600" dirty="0"/>
              <a:t>Increase manufacturing efficiency and consistency</a:t>
            </a:r>
          </a:p>
          <a:p>
            <a:pPr lvl="1"/>
            <a:r>
              <a:rPr lang="en-US" sz="1600" dirty="0"/>
              <a:t>Reduce human error and workplace injuries</a:t>
            </a:r>
          </a:p>
          <a:p>
            <a:pPr lvl="1"/>
            <a:r>
              <a:rPr lang="en-US" sz="1600" dirty="0"/>
              <a:t>Enable flexible production for customized products</a:t>
            </a:r>
          </a:p>
          <a:p>
            <a:pPr lvl="1"/>
            <a:r>
              <a:rPr lang="en-US" sz="1600" dirty="0"/>
              <a:t>Optimize operational costs through automation</a:t>
            </a:r>
            <a:endParaRPr lang="en-ZA" sz="1600" b="0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719572" y="1101846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Robotics in Industry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512" y="2420888"/>
            <a:ext cx="3059832" cy="246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31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396168" y="2097943"/>
            <a:ext cx="4032448" cy="3531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 dirty="0"/>
              <a:t>Some fundamental principles and methods needed to create a robotic systems</a:t>
            </a:r>
            <a:r>
              <a:rPr lang="en-GB" sz="1600" i="1" dirty="0"/>
              <a:t> </a:t>
            </a:r>
          </a:p>
          <a:p>
            <a:r>
              <a:rPr lang="en-US" sz="1600" b="0" dirty="0"/>
              <a:t>Mechanics and Kinematics</a:t>
            </a:r>
          </a:p>
          <a:p>
            <a:r>
              <a:rPr lang="en-US" sz="1600" b="0" dirty="0"/>
              <a:t>Sensors and perception</a:t>
            </a:r>
          </a:p>
          <a:p>
            <a:r>
              <a:rPr lang="en-US" sz="1600" b="0" dirty="0"/>
              <a:t>Control Systems</a:t>
            </a:r>
          </a:p>
          <a:p>
            <a:r>
              <a:rPr lang="en-US" sz="1600" b="0" dirty="0"/>
              <a:t>Artificial Intelligence (Machine learning &amp; Deep learning)</a:t>
            </a:r>
          </a:p>
          <a:p>
            <a:r>
              <a:rPr lang="en-US" sz="1600" b="0" dirty="0"/>
              <a:t>Software Development</a:t>
            </a:r>
          </a:p>
          <a:p>
            <a:r>
              <a:rPr lang="en-US" sz="1600" b="0" dirty="0"/>
              <a:t>Human-robot interaction</a:t>
            </a:r>
          </a:p>
          <a:p>
            <a:r>
              <a:rPr lang="en-US" sz="1600" b="0" dirty="0"/>
              <a:t>Safety and Ethics</a:t>
            </a:r>
            <a:endParaRPr lang="en-ZA" sz="1600" b="0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1322187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Robotics Foundation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616" y="2420888"/>
            <a:ext cx="4439643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076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38C84-D387-80DB-442B-FD5EF0800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9D6EAC-0088-0519-E691-139B1886D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ECD9EFA0-55AC-831D-94A2-FEBC09EE6703}"/>
              </a:ext>
            </a:extLst>
          </p:cNvPr>
          <p:cNvSpPr txBox="1">
            <a:spLocks/>
          </p:cNvSpPr>
          <p:nvPr/>
        </p:nvSpPr>
        <p:spPr>
          <a:xfrm>
            <a:off x="494690" y="1851793"/>
            <a:ext cx="4032448" cy="35312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Robotic Arms</a:t>
            </a:r>
          </a:p>
          <a:p>
            <a:pPr lvl="1"/>
            <a:r>
              <a:rPr lang="en-US" sz="1600" dirty="0"/>
              <a:t>Perform precise tasks such as welding, assembly, and painting</a:t>
            </a:r>
          </a:p>
          <a:p>
            <a:pPr lvl="1"/>
            <a:r>
              <a:rPr lang="en-US" sz="1600" dirty="0"/>
              <a:t>Common in automotive, electronics, and metal fabrication industries</a:t>
            </a:r>
          </a:p>
          <a:p>
            <a:pPr marL="0" indent="0">
              <a:buNone/>
            </a:pPr>
            <a:r>
              <a:rPr lang="en-US" sz="1600" dirty="0"/>
              <a:t>Automated Guided Vehicles (AGVs)</a:t>
            </a:r>
          </a:p>
          <a:p>
            <a:pPr lvl="1"/>
            <a:r>
              <a:rPr lang="en-US" sz="1600" dirty="0"/>
              <a:t>Transport materials autonomously within factories and warehouses</a:t>
            </a:r>
          </a:p>
          <a:p>
            <a:pPr lvl="1"/>
            <a:r>
              <a:rPr lang="en-US" sz="1600" dirty="0"/>
              <a:t>Increase logistics efficiency and reduce manual labor</a:t>
            </a:r>
          </a:p>
          <a:p>
            <a:pPr marL="0" indent="0">
              <a:buNone/>
            </a:pPr>
            <a:r>
              <a:rPr lang="en-US" sz="1600" dirty="0"/>
              <a:t>Drones</a:t>
            </a:r>
          </a:p>
          <a:p>
            <a:pPr lvl="1"/>
            <a:r>
              <a:rPr lang="en-US" sz="1600" dirty="0"/>
              <a:t>Inspect difficult-to-access areas and monitor inventory</a:t>
            </a:r>
          </a:p>
          <a:p>
            <a:pPr lvl="1"/>
            <a:r>
              <a:rPr lang="en-US" sz="1600" dirty="0"/>
              <a:t>Useful for safety inspections and site mapping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55016-BC2D-07D1-7F9F-6BBD76C905D7}"/>
              </a:ext>
            </a:extLst>
          </p:cNvPr>
          <p:cNvSpPr txBox="1"/>
          <p:nvPr/>
        </p:nvSpPr>
        <p:spPr>
          <a:xfrm>
            <a:off x="494690" y="1155407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Application of Robotics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3074" name="Picture 2" descr="The Application of Robotics: Advancements and Impact in Various Industries">
            <a:extLst>
              <a:ext uri="{FF2B5EF4-FFF2-40B4-BE49-F238E27FC236}">
                <a16:creationId xmlns:a16="http://schemas.microsoft.com/office/drawing/2014/main" id="{77C9600F-9D17-26D7-AC9D-D6BFD4D4A3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24" t="15774" r="9629" b="15212"/>
          <a:stretch>
            <a:fillRect/>
          </a:stretch>
        </p:blipFill>
        <p:spPr bwMode="auto">
          <a:xfrm>
            <a:off x="4784279" y="2601883"/>
            <a:ext cx="4003917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902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29954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159602" y="1454590"/>
            <a:ext cx="5276493" cy="4893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600" dirty="0"/>
              <a:t> </a:t>
            </a:r>
            <a:endParaRPr lang="en-US" sz="1600" dirty="0"/>
          </a:p>
          <a:p>
            <a:r>
              <a:rPr lang="en-US" sz="1600" b="0" dirty="0"/>
              <a:t>There are variety of </a:t>
            </a:r>
            <a:r>
              <a:rPr lang="en-US" sz="1600" dirty="0"/>
              <a:t>different types of software </a:t>
            </a:r>
            <a:r>
              <a:rPr lang="en-US" sz="1600" b="0" dirty="0"/>
              <a:t>available in the robotics industry.</a:t>
            </a:r>
          </a:p>
          <a:p>
            <a:r>
              <a:rPr lang="en-US" sz="1600" b="0" dirty="0"/>
              <a:t>Specific robotics software packages, mostly come packaged with the particular brands of robot.</a:t>
            </a:r>
          </a:p>
          <a:p>
            <a:r>
              <a:rPr lang="en-US" sz="1600" dirty="0"/>
              <a:t>Types of Robotic Software</a:t>
            </a:r>
          </a:p>
          <a:p>
            <a:pPr lvl="1"/>
            <a:r>
              <a:rPr lang="en-ZA" sz="1600" dirty="0"/>
              <a:t>Robot Operating Systems – ROS (</a:t>
            </a:r>
            <a:r>
              <a:rPr lang="en-ZA" sz="1600" i="1" dirty="0"/>
              <a:t>ROS, ROS2</a:t>
            </a:r>
            <a:r>
              <a:rPr lang="en-ZA" sz="1600" dirty="0"/>
              <a:t>)</a:t>
            </a:r>
          </a:p>
          <a:p>
            <a:pPr lvl="1"/>
            <a:r>
              <a:rPr lang="en-ZA" sz="1600" dirty="0"/>
              <a:t>Programming Environments (</a:t>
            </a:r>
            <a:r>
              <a:rPr lang="en-ZA" sz="1600" i="1" dirty="0"/>
              <a:t>ABB’s RAPID, Fanuc’s Karel, KUKA’s KRL</a:t>
            </a:r>
            <a:r>
              <a:rPr lang="en-ZA" sz="1600" dirty="0"/>
              <a:t>)</a:t>
            </a:r>
          </a:p>
          <a:p>
            <a:pPr lvl="1"/>
            <a:r>
              <a:rPr lang="en-ZA" sz="1600" dirty="0"/>
              <a:t>Simulation Software (</a:t>
            </a:r>
            <a:r>
              <a:rPr lang="en-US" sz="1600" dirty="0"/>
              <a:t>Gazebo, V-REP (</a:t>
            </a:r>
            <a:r>
              <a:rPr lang="en-US" sz="1600" i="1" dirty="0"/>
              <a:t>CoppeliaSim), RoboDK, MATLAB Robotics Toolbox</a:t>
            </a:r>
            <a:r>
              <a:rPr lang="en-US" sz="1600" dirty="0"/>
              <a:t>)</a:t>
            </a:r>
            <a:endParaRPr lang="en-ZA" sz="1600" dirty="0"/>
          </a:p>
          <a:p>
            <a:pPr lvl="1"/>
            <a:r>
              <a:rPr lang="en-ZA" sz="1600" dirty="0"/>
              <a:t>Control Software (</a:t>
            </a:r>
            <a:r>
              <a:rPr lang="en-ZA" sz="1600" i="1" dirty="0"/>
              <a:t>Beckhoff TwinCAT, Siemens TIA Portal</a:t>
            </a:r>
            <a:r>
              <a:rPr lang="en-ZA" sz="1600" dirty="0"/>
              <a:t>)</a:t>
            </a:r>
          </a:p>
          <a:p>
            <a:pPr lvl="1"/>
            <a:r>
              <a:rPr lang="en-ZA" sz="1600" dirty="0"/>
              <a:t>Vision and Sensor Integration Software (</a:t>
            </a:r>
            <a:r>
              <a:rPr lang="en-ZA" sz="1600" i="1" dirty="0"/>
              <a:t>Cognex VisionPro, OpenCV, Intel RealSense SDK</a:t>
            </a:r>
            <a:r>
              <a:rPr lang="en-ZA" sz="1600" dirty="0"/>
              <a:t>)</a:t>
            </a:r>
          </a:p>
          <a:p>
            <a:pPr lvl="1"/>
            <a:r>
              <a:rPr lang="en-US" sz="1600" dirty="0"/>
              <a:t>Fleet or Swarm Management Platforms (</a:t>
            </a:r>
            <a:r>
              <a:rPr lang="en-ZA" sz="1600" i="1" dirty="0"/>
              <a:t>FetchCore, GreyMatter, LocusONE</a:t>
            </a:r>
            <a:r>
              <a:rPr lang="en-ZA" sz="1600" dirty="0"/>
              <a:t>)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719572" y="936486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Robotics Software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" name="Picture 2" descr="Robot operating system (ROS) framework. Sensors, controllers and... |  Download Scientific Diagram">
            <a:extLst>
              <a:ext uri="{FF2B5EF4-FFF2-40B4-BE49-F238E27FC236}">
                <a16:creationId xmlns:a16="http://schemas.microsoft.com/office/drawing/2014/main" id="{68AAD416-EF4E-1FAD-F736-7561C1F22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932" y="3140968"/>
            <a:ext cx="3761808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455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44EA4-DB71-7FB3-2B3F-174A8DF02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7A5938-B8AA-7E27-50C0-89DE8307E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51806"/>
            <a:ext cx="8382000" cy="3962400"/>
          </a:xfrm>
        </p:spPr>
        <p:txBody>
          <a:bodyPr>
            <a:normAutofit/>
          </a:bodyPr>
          <a:lstStyle/>
          <a:p>
            <a:endParaRPr lang="en-ZA" sz="2400" dirty="0"/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00381DC1-E7AD-CE60-A254-BCC271EA2674}"/>
              </a:ext>
            </a:extLst>
          </p:cNvPr>
          <p:cNvSpPr txBox="1">
            <a:spLocks/>
          </p:cNvSpPr>
          <p:nvPr/>
        </p:nvSpPr>
        <p:spPr>
          <a:xfrm>
            <a:off x="396168" y="2097943"/>
            <a:ext cx="4032448" cy="3531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ZA" sz="16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D00FF-74F4-CABA-7BD5-9B557CD34E78}"/>
              </a:ext>
            </a:extLst>
          </p:cNvPr>
          <p:cNvSpPr txBox="1"/>
          <p:nvPr/>
        </p:nvSpPr>
        <p:spPr>
          <a:xfrm>
            <a:off x="396168" y="811509"/>
            <a:ext cx="7704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RO2 Architecture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8A2D8AD-DDC5-1890-907A-E4290A6A5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162" y="1296478"/>
            <a:ext cx="5781547" cy="433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92D54B-5D5C-6657-6254-173E6C38927C}"/>
              </a:ext>
            </a:extLst>
          </p:cNvPr>
          <p:cNvSpPr txBox="1"/>
          <p:nvPr/>
        </p:nvSpPr>
        <p:spPr>
          <a:xfrm>
            <a:off x="263163" y="5288186"/>
            <a:ext cx="65520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Click here</a:t>
            </a:r>
            <a:r>
              <a:rPr lang="en-ZA" dirty="0"/>
              <a:t>: https://medium.com/software-architecture-foundations/robot-operating-system-2-ros-2-architecture-731ef1867776</a:t>
            </a:r>
          </a:p>
        </p:txBody>
      </p:sp>
    </p:spTree>
    <p:extLst>
      <p:ext uri="{BB962C8B-B14F-4D97-AF65-F5344CB8AC3E}">
        <p14:creationId xmlns:p14="http://schemas.microsoft.com/office/powerpoint/2010/main" val="397029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5055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T Data Day Template" id="{92846BAD-006C-4266-8FF7-592E96877308}" vid="{D95C4ACA-B937-4CA7-8EE4-059BD2ABB2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2F7482BA8A594BB82EB43DDDC30A7B" ma:contentTypeVersion="0" ma:contentTypeDescription="Create a new document." ma:contentTypeScope="" ma:versionID="cfac4779270873affce0d8e4580d4c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FBC31D-43B2-41BB-8D13-4FBD595149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9DC2DB-DA30-434E-BF62-455F46779EA5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4E52D24-A7FE-46E9-B344-6ABD7A716B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Say it in Six template</Template>
  <TotalTime>20337</TotalTime>
  <Words>1010</Words>
  <Application>Microsoft Office PowerPoint</Application>
  <PresentationFormat>On-screen Show (4:3)</PresentationFormat>
  <Paragraphs>192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Freedom Mthobisi Khubisa</dc:creator>
  <cp:lastModifiedBy>Freedom Khubisa</cp:lastModifiedBy>
  <cp:revision>142</cp:revision>
  <dcterms:created xsi:type="dcterms:W3CDTF">2022-02-22T09:59:59Z</dcterms:created>
  <dcterms:modified xsi:type="dcterms:W3CDTF">2025-06-10T07:52:28Z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0x010100B42F7482BA8A594BB82EB43DDDC30A7B</vt:lpwstr>
  </property>
</Properties>
</file>