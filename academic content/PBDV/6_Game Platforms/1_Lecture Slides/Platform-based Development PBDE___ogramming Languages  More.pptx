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79" r:id="rId5"/>
    <p:sldId id="284" r:id="rId6"/>
    <p:sldId id="322" r:id="rId7"/>
    <p:sldId id="341" r:id="rId8"/>
    <p:sldId id="348" r:id="rId9"/>
    <p:sldId id="320" r:id="rId10"/>
    <p:sldId id="344" r:id="rId11"/>
    <p:sldId id="333" r:id="rId12"/>
    <p:sldId id="331" r:id="rId13"/>
    <p:sldId id="332" r:id="rId14"/>
    <p:sldId id="336" r:id="rId15"/>
    <p:sldId id="335" r:id="rId16"/>
    <p:sldId id="334" r:id="rId17"/>
    <p:sldId id="345" r:id="rId18"/>
    <p:sldId id="340" r:id="rId19"/>
    <p:sldId id="337" r:id="rId20"/>
    <p:sldId id="346" r:id="rId21"/>
    <p:sldId id="349" r:id="rId22"/>
    <p:sldId id="338" r:id="rId23"/>
    <p:sldId id="339" r:id="rId24"/>
    <p:sldId id="28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6CE"/>
    <a:srgbClr val="D5CEB9"/>
    <a:srgbClr val="CBB168"/>
    <a:srgbClr val="BA9B6A"/>
    <a:srgbClr val="A48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11" d="100"/>
          <a:sy n="111" d="100"/>
        </p:scale>
        <p:origin x="165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94288-37BE-42FD-A3CE-C644F7468E54}" type="datetimeFigureOut">
              <a:rPr lang="en-ZA" smtClean="0">
                <a:latin typeface="Gill Sans MT" panose="020B0502020104020203" pitchFamily="34" charset="0"/>
              </a:rPr>
              <a:t>2026/04/23</a:t>
            </a:fld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8CC4-D689-4043-A112-A0EF0661C963}" type="slidenum">
              <a:rPr lang="en-ZA" smtClean="0">
                <a:latin typeface="Gill Sans MT" panose="020B0502020104020203" pitchFamily="34" charset="0"/>
              </a:rPr>
              <a:t>‹#›</a:t>
            </a:fld>
            <a:endParaRPr lang="en-ZA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74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78CA02F-F0F2-854F-B286-9B534A264BAA}" type="datetimeFigureOut">
              <a:rPr lang="en-US" smtClean="0"/>
              <a:pPr/>
              <a:t>4/23/2026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F04800F-0C89-EC4F-919F-9C2CE26B17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B2C6208-0A0A-42E4-A594-20222CA1DA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7584" y="915830"/>
            <a:ext cx="3888432" cy="388843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1988840"/>
            <a:ext cx="3444240" cy="20756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4293096"/>
            <a:ext cx="3444240" cy="5111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" y="0"/>
            <a:ext cx="91369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68" y="0"/>
            <a:ext cx="9079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4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1" y="0"/>
            <a:ext cx="9096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39970" cy="1510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77646-DDB7-4E3D-94A7-D1AF9A0CE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752600" cy="1752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F17B5A-BE59-4F19-B2D3-8D08B707A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18587"/>
            <a:ext cx="9144793" cy="68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3191272" cy="1143000"/>
          </a:xfrm>
        </p:spPr>
        <p:txBody>
          <a:bodyPr>
            <a:normAutofit/>
          </a:bodyPr>
          <a:lstStyle>
            <a:lvl1pPr>
              <a:defRPr sz="28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ctr">
              <a:defRPr sz="2000" b="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Gill Sans MT" pitchFamily="34" charset="0"/>
              </a:defRPr>
            </a:lvl1pPr>
            <a:lvl2pPr>
              <a:defRPr sz="2800">
                <a:latin typeface="Gill Sans MT" pitchFamily="34" charset="0"/>
              </a:defRPr>
            </a:lvl2pPr>
            <a:lvl3pPr>
              <a:defRPr sz="2400">
                <a:latin typeface="Gill Sans MT" pitchFamily="34" charset="0"/>
              </a:defRPr>
            </a:lvl3pPr>
            <a:lvl4pPr>
              <a:defRPr sz="2000">
                <a:latin typeface="Gill Sans MT" pitchFamily="34" charset="0"/>
              </a:defRPr>
            </a:lvl4pPr>
            <a:lvl5pPr>
              <a:defRPr sz="2000">
                <a:latin typeface="Gill Sans MT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Gill Sans MT" panose="020B05020201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7" r:id="rId3"/>
    <p:sldLayoutId id="2147483678" r:id="rId4"/>
    <p:sldLayoutId id="2147483675" r:id="rId5"/>
    <p:sldLayoutId id="2147483674" r:id="rId6"/>
    <p:sldLayoutId id="2147483671" r:id="rId7"/>
    <p:sldLayoutId id="2147483667" r:id="rId8"/>
    <p:sldLayoutId id="2147483676" r:id="rId9"/>
    <p:sldLayoutId id="2147483679" r:id="rId10"/>
    <p:sldLayoutId id="2147483664" r:id="rId11"/>
    <p:sldLayoutId id="2147483665" r:id="rId12"/>
    <p:sldLayoutId id="2147483666" r:id="rId13"/>
    <p:sldLayoutId id="2147483668" r:id="rId14"/>
    <p:sldLayoutId id="2147483669" r:id="rId15"/>
    <p:sldLayoutId id="214748367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A3A6F-91D9-4129-87EA-C75A870F0E96}"/>
              </a:ext>
            </a:extLst>
          </p:cNvPr>
          <p:cNvSpPr txBox="1"/>
          <p:nvPr/>
        </p:nvSpPr>
        <p:spPr>
          <a:xfrm>
            <a:off x="355866" y="5193220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569" y="3759697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Platform Based Development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Code: PBDV301 | PBDE401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9853" y="1988840"/>
            <a:ext cx="77048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Types of Game Platforms</a:t>
            </a: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&amp;</a:t>
            </a: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Programming Languages </a:t>
            </a:r>
          </a:p>
          <a:p>
            <a:pPr algn="ctr"/>
            <a:endParaRPr lang="en-US" sz="2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33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595972" y="1052736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itchFamily="34" charset="0"/>
                <a:cs typeface="Arial"/>
              </a:rPr>
              <a:t>Outline of the lesson </a:t>
            </a:r>
            <a:endParaRPr lang="en-US" sz="3200" dirty="0">
              <a:latin typeface="Gill Sans MT" panose="020B0502020104020203" pitchFamily="34" charset="0"/>
              <a:cs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98E6E9-33AB-4D98-A95F-FF2B99D99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7715200" cy="39002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3800" dirty="0">
                <a:latin typeface="+mj-lt"/>
              </a:rPr>
              <a:t>Objectives :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ZA" sz="22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Develop a thorough understanding of the components and functions of a game platform.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ZA" sz="22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Explore various types of game platforms, identifying their distinct features and use cases.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ZA" sz="22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Acquire knowledge of programming languages commonly used in game development and understand their specific roles.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ZA" sz="22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Gain insight into the entire game development lifecycle, including the use of game engines and the key roles involved in creating a game.</a:t>
            </a:r>
          </a:p>
          <a:p>
            <a:pPr algn="l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0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691144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What is a game platform?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395536" y="2060848"/>
            <a:ext cx="4680520" cy="440904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0" dirty="0"/>
              <a:t>A game platform is the environment or system on which a video game runs. It includes both the hardware (device) and the software ecosystem (operating system, APIs, and tools)</a:t>
            </a:r>
            <a:r>
              <a:rPr lang="en-ZA" sz="2600" b="0" dirty="0"/>
              <a:t>. </a:t>
            </a:r>
          </a:p>
          <a:p>
            <a:r>
              <a:rPr lang="en-ZA" sz="2600" b="0" dirty="0"/>
              <a:t>The term "</a:t>
            </a:r>
            <a:r>
              <a:rPr lang="en-ZA" sz="2600" b="0" dirty="0">
                <a:solidFill>
                  <a:srgbClr val="FF0000"/>
                </a:solidFill>
              </a:rPr>
              <a:t>platform</a:t>
            </a:r>
            <a:r>
              <a:rPr lang="en-ZA" sz="2600" b="0" dirty="0"/>
              <a:t>" refers to the underlying technology or infrastructure that supports the games and allows them to be played.</a:t>
            </a:r>
          </a:p>
          <a:p>
            <a:pPr marL="0" indent="0">
              <a:buNone/>
            </a:pPr>
            <a:r>
              <a:rPr lang="en-US" sz="2600" dirty="0"/>
              <a:t>Why platform matters?</a:t>
            </a:r>
          </a:p>
          <a:p>
            <a:pPr lvl="1"/>
            <a:r>
              <a:rPr lang="en-ZA" sz="2600" b="0" dirty="0"/>
              <a:t>Performance (graphics, speed) </a:t>
            </a:r>
          </a:p>
          <a:p>
            <a:pPr lvl="1"/>
            <a:r>
              <a:rPr lang="en-ZA" sz="2600" b="0" dirty="0"/>
              <a:t>Controls (keyboard, controller, touch) </a:t>
            </a:r>
          </a:p>
          <a:p>
            <a:pPr lvl="1"/>
            <a:r>
              <a:rPr lang="en-ZA" sz="2600" b="0" dirty="0"/>
              <a:t>Audience (casual vs hardcore gamers) </a:t>
            </a:r>
          </a:p>
          <a:p>
            <a:pPr lvl="1"/>
            <a:r>
              <a:rPr lang="en-ZA" sz="2600" b="0" dirty="0"/>
              <a:t>Development complexity </a:t>
            </a:r>
          </a:p>
          <a:p>
            <a:pPr marL="0" indent="0">
              <a:buNone/>
            </a:pPr>
            <a:r>
              <a:rPr lang="en-ZA" sz="2400" b="0" dirty="0">
                <a:solidFill>
                  <a:srgbClr val="FF0000"/>
                </a:solidFill>
              </a:rPr>
              <a:t>Think:  A game designed for a smartphone must be optimized differently than one for a high-end gaming PC</a:t>
            </a:r>
            <a:endParaRPr lang="en-US" sz="2400" b="0" dirty="0">
              <a:solidFill>
                <a:srgbClr val="FF000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2050" name="Picture 2" descr="Videogames Poster | Retro video games, Retro gaming, Video game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768362"/>
            <a:ext cx="2664296" cy="3570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531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68560" y="2636912"/>
            <a:ext cx="6444208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sz="2100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735360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Benefits of  Video Games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395536" y="2060848"/>
            <a:ext cx="5040560" cy="3744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en-US" sz="2000" b="0" dirty="0"/>
              <a:t>Improve Cognitive Skills</a:t>
            </a:r>
          </a:p>
          <a:p>
            <a:pPr algn="l">
              <a:buFont typeface="+mj-lt"/>
              <a:buAutoNum type="arabicPeriod"/>
            </a:pPr>
            <a:r>
              <a:rPr lang="en-US" sz="2000" b="0" dirty="0"/>
              <a:t>Enhance Coordination </a:t>
            </a:r>
          </a:p>
          <a:p>
            <a:pPr algn="l">
              <a:buFont typeface="+mj-lt"/>
              <a:buAutoNum type="arabicPeriod"/>
            </a:pPr>
            <a:r>
              <a:rPr lang="en-US" sz="2000" b="0" dirty="0"/>
              <a:t>Encourages Teamwork and Social Connections</a:t>
            </a:r>
          </a:p>
          <a:p>
            <a:pPr algn="l">
              <a:buFont typeface="+mj-lt"/>
              <a:buAutoNum type="arabicPeriod"/>
            </a:pPr>
            <a:r>
              <a:rPr lang="en-US" sz="2000" b="0" dirty="0"/>
              <a:t>Reduces Stress</a:t>
            </a:r>
          </a:p>
          <a:p>
            <a:pPr>
              <a:buFont typeface="+mj-lt"/>
              <a:buAutoNum type="arabicPeriod"/>
            </a:pPr>
            <a:r>
              <a:rPr lang="en-US" sz="2000" b="0" dirty="0"/>
              <a:t>Boost Creativity</a:t>
            </a:r>
          </a:p>
          <a:p>
            <a:pPr>
              <a:buFont typeface="+mj-lt"/>
              <a:buAutoNum type="arabicPeriod"/>
            </a:pPr>
            <a:r>
              <a:rPr lang="en-US" sz="2000" b="0" dirty="0"/>
              <a:t>Therapeutic Uses</a:t>
            </a:r>
          </a:p>
          <a:p>
            <a:pPr algn="l">
              <a:buFont typeface="+mj-lt"/>
              <a:buAutoNum type="arabicPeriod"/>
            </a:pPr>
            <a:r>
              <a:rPr lang="en-US" sz="2000" b="0" dirty="0"/>
              <a:t>Learning and Education</a:t>
            </a:r>
          </a:p>
          <a:p>
            <a:pPr marL="0" indent="0">
              <a:buNone/>
            </a:pPr>
            <a:endParaRPr lang="en-US" sz="2000" dirty="0"/>
          </a:p>
          <a:p>
            <a:pPr algn="l">
              <a:buFont typeface="+mj-lt"/>
              <a:buAutoNum type="arabicPeriod"/>
            </a:pPr>
            <a:endParaRPr lang="en-US" sz="2000" dirty="0"/>
          </a:p>
          <a:p>
            <a:pPr marL="457200" lvl="1" indent="0" algn="l">
              <a:buNone/>
            </a:pPr>
            <a:endParaRPr lang="en-US" dirty="0"/>
          </a:p>
          <a:p>
            <a:pPr marL="0" indent="0">
              <a:buNone/>
            </a:pPr>
            <a:endParaRPr lang="en-US" sz="2000" b="0" dirty="0"/>
          </a:p>
          <a:p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2052" name="Picture 4" descr="Video Games And Their Effects On People: | by Taha sultan | Medium">
            <a:extLst>
              <a:ext uri="{FF2B5EF4-FFF2-40B4-BE49-F238E27FC236}">
                <a16:creationId xmlns:a16="http://schemas.microsoft.com/office/drawing/2014/main" id="{5BEA610C-B6EF-6B2A-429A-24D2D89C2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130" y="2204864"/>
            <a:ext cx="4584867" cy="305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5149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01596-6415-2C52-1866-1D522A53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7D0F8-0761-281D-BFB6-D4D75EB3A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68560" y="2636912"/>
            <a:ext cx="6444208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sz="2100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492C10-20B9-5AED-ED50-7A714B7B8A7D}"/>
              </a:ext>
            </a:extLst>
          </p:cNvPr>
          <p:cNvSpPr txBox="1"/>
          <p:nvPr/>
        </p:nvSpPr>
        <p:spPr>
          <a:xfrm>
            <a:off x="2195736" y="735360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Games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1CF2ED12-2FFE-7133-844B-AE0865DC524F}"/>
              </a:ext>
            </a:extLst>
          </p:cNvPr>
          <p:cNvSpPr txBox="1">
            <a:spLocks/>
          </p:cNvSpPr>
          <p:nvPr/>
        </p:nvSpPr>
        <p:spPr>
          <a:xfrm>
            <a:off x="233264" y="1844824"/>
            <a:ext cx="5040560" cy="3744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en-US" sz="2000" b="0" dirty="0"/>
              <a:t>By Genre</a:t>
            </a:r>
          </a:p>
          <a:p>
            <a:pPr lvl="1"/>
            <a:r>
              <a:rPr lang="en-US" sz="1600" b="0" dirty="0"/>
              <a:t>Action Games</a:t>
            </a:r>
          </a:p>
          <a:p>
            <a:pPr lvl="1"/>
            <a:r>
              <a:rPr lang="en-US" sz="1600" b="0" dirty="0"/>
              <a:t>Adventure Games</a:t>
            </a:r>
          </a:p>
          <a:p>
            <a:pPr lvl="1"/>
            <a:r>
              <a:rPr lang="en-US" sz="1600" b="0" dirty="0"/>
              <a:t>Role-Playing Games (RPGs)</a:t>
            </a:r>
          </a:p>
          <a:p>
            <a:pPr lvl="1"/>
            <a:r>
              <a:rPr lang="en-US" sz="1600" b="0" dirty="0"/>
              <a:t>Simulation Games </a:t>
            </a:r>
          </a:p>
          <a:p>
            <a:pPr lvl="1"/>
            <a:r>
              <a:rPr lang="en-US" sz="1600" b="0" dirty="0"/>
              <a:t>Strategy Games</a:t>
            </a:r>
          </a:p>
          <a:p>
            <a:pPr lvl="1"/>
            <a:r>
              <a:rPr lang="en-US" sz="1600" b="0" dirty="0"/>
              <a:t>Sport Games</a:t>
            </a:r>
          </a:p>
          <a:p>
            <a:pPr lvl="1"/>
            <a:r>
              <a:rPr lang="en-US" sz="1600" b="0" dirty="0"/>
              <a:t>Puzzle Games </a:t>
            </a:r>
          </a:p>
          <a:p>
            <a:pPr>
              <a:buFont typeface="+mj-lt"/>
              <a:buAutoNum type="arabicPeriod"/>
            </a:pPr>
            <a:r>
              <a:rPr lang="en-US" sz="2000" b="0" dirty="0"/>
              <a:t>By Player Mode</a:t>
            </a:r>
          </a:p>
          <a:p>
            <a:pPr lvl="1"/>
            <a:r>
              <a:rPr lang="en-US" sz="1600" dirty="0"/>
              <a:t>Sing-Player</a:t>
            </a:r>
          </a:p>
          <a:p>
            <a:pPr lvl="1"/>
            <a:r>
              <a:rPr lang="en-US" sz="1600" dirty="0"/>
              <a:t>Multiplayer</a:t>
            </a:r>
          </a:p>
          <a:p>
            <a:pPr lvl="1"/>
            <a:r>
              <a:rPr lang="en-US" sz="1600" dirty="0"/>
              <a:t>Online Multiplayer (MMO)</a:t>
            </a:r>
          </a:p>
          <a:p>
            <a:pPr marL="457200" lvl="1" indent="0">
              <a:buNone/>
            </a:pPr>
            <a:endParaRPr lang="en-US" sz="1600" b="0" dirty="0"/>
          </a:p>
          <a:p>
            <a:pPr marL="0" indent="0">
              <a:buNone/>
            </a:pPr>
            <a:endParaRPr lang="en-US" sz="2000" dirty="0"/>
          </a:p>
          <a:p>
            <a:pPr algn="l">
              <a:buFont typeface="+mj-lt"/>
              <a:buAutoNum type="arabicPeriod"/>
            </a:pPr>
            <a:endParaRPr lang="en-US" sz="2000" dirty="0"/>
          </a:p>
          <a:p>
            <a:pPr marL="457200" lvl="1" indent="0" algn="l">
              <a:buNone/>
            </a:pPr>
            <a:endParaRPr lang="en-US" dirty="0"/>
          </a:p>
          <a:p>
            <a:pPr marL="0" indent="0">
              <a:buNone/>
            </a:pPr>
            <a:endParaRPr lang="en-US" sz="2000" b="0" dirty="0"/>
          </a:p>
          <a:p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7170" name="Picture 2" descr="Every Video Game Genre Explained in 6 Minutes">
            <a:extLst>
              <a:ext uri="{FF2B5EF4-FFF2-40B4-BE49-F238E27FC236}">
                <a16:creationId xmlns:a16="http://schemas.microsoft.com/office/drawing/2014/main" id="{0C370EC5-8DB2-DD85-E061-DA615C967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948" y="1854767"/>
            <a:ext cx="5980156" cy="336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74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949115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781690" y="937445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Games Platforms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043608" y="1615159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b="0" dirty="0"/>
          </a:p>
          <a:p>
            <a:pPr marL="457200" lvl="1" indent="0">
              <a:buNone/>
            </a:pPr>
            <a:endParaRPr lang="en-US" sz="24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41EBD-09B8-DB42-A7A9-024670E524D5}"/>
              </a:ext>
            </a:extLst>
          </p:cNvPr>
          <p:cNvSpPr txBox="1"/>
          <p:nvPr/>
        </p:nvSpPr>
        <p:spPr>
          <a:xfrm>
            <a:off x="256603" y="1945617"/>
            <a:ext cx="4688904" cy="5101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ZA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etermine how games are played</a:t>
            </a:r>
          </a:p>
          <a:p>
            <a:pPr marL="285750" indent="-285750">
              <a:lnSpc>
                <a:spcPct val="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lang="en-ZA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hape game design</a:t>
            </a:r>
          </a:p>
          <a:p>
            <a:pPr marL="285750" indent="-285750">
              <a:lnSpc>
                <a:spcPct val="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ZA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ffect accessibility</a:t>
            </a:r>
          </a:p>
          <a:p>
            <a:pPr marL="285750" indent="-285750">
              <a:lnSpc>
                <a:spcPct val="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ZA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nfluence cost and development</a:t>
            </a:r>
            <a:endParaRPr lang="en-ZA" sz="20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ZA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efine the gaming experience</a:t>
            </a:r>
          </a:p>
          <a:p>
            <a:pPr marL="285750" indent="-285750">
              <a:lnSpc>
                <a:spcPct val="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2000" kern="100" dirty="0"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ZA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mpact distribution and reach</a:t>
            </a:r>
            <a:endParaRPr lang="en-ZA" sz="20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Drive innovation</a:t>
            </a:r>
          </a:p>
          <a:p>
            <a:pPr>
              <a:lnSpc>
                <a:spcPct val="50000"/>
              </a:lnSpc>
              <a:spcAft>
                <a:spcPts val="800"/>
              </a:spcAft>
            </a:pPr>
            <a:endParaRPr lang="en-ZA" sz="2000" b="1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50000"/>
              </a:lnSpc>
              <a:spcAft>
                <a:spcPts val="800"/>
              </a:spcAft>
            </a:pPr>
            <a:r>
              <a:rPr lang="en-ZA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Types of Game Platforms </a:t>
            </a:r>
          </a:p>
          <a:p>
            <a:pPr lvl="1"/>
            <a:r>
              <a:rPr lang="en-ZA" dirty="0"/>
              <a:t>  PC Platforms</a:t>
            </a:r>
            <a:br>
              <a:rPr lang="en-ZA" dirty="0"/>
            </a:br>
            <a:r>
              <a:rPr lang="en-ZA" dirty="0"/>
              <a:t>  Console Platforms</a:t>
            </a:r>
            <a:br>
              <a:rPr lang="en-ZA" dirty="0"/>
            </a:br>
            <a:r>
              <a:rPr lang="en-ZA" dirty="0"/>
              <a:t>  Mobile Platforms</a:t>
            </a:r>
            <a:br>
              <a:rPr lang="en-ZA" dirty="0"/>
            </a:br>
            <a:r>
              <a:rPr lang="en-ZA" dirty="0"/>
              <a:t>  Web-Based Platforms</a:t>
            </a:r>
          </a:p>
          <a:p>
            <a:pPr lvl="1"/>
            <a:r>
              <a:rPr lang="en-ZA" dirty="0"/>
              <a:t>  Cloud Gaming Platforms</a:t>
            </a:r>
          </a:p>
          <a:p>
            <a:pPr lvl="1"/>
            <a:r>
              <a:rPr lang="en-ZA" dirty="0"/>
              <a:t>  Virtual Reality Platforms</a:t>
            </a:r>
          </a:p>
          <a:p>
            <a:pPr lvl="1"/>
            <a:endParaRPr lang="en-ZA" dirty="0"/>
          </a:p>
          <a:p>
            <a:pPr lvl="1"/>
            <a:br>
              <a:rPr lang="en-ZA" b="1" dirty="0"/>
            </a:br>
            <a:endParaRPr lang="en-ZA" sz="2000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50000"/>
              </a:lnSpc>
              <a:spcAft>
                <a:spcPts val="800"/>
              </a:spcAft>
            </a:pPr>
            <a:endParaRPr lang="en-ZA" sz="2000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AutoShape 2" descr="What are the Best Platforms for Games?">
            <a:extLst>
              <a:ext uri="{FF2B5EF4-FFF2-40B4-BE49-F238E27FC236}">
                <a16:creationId xmlns:a16="http://schemas.microsoft.com/office/drawing/2014/main" id="{05E1672E-8192-C4E6-CBDE-DD3B37E7BC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3078" name="Picture 6" descr="Different Types of Video Games and Platforms - The Tech Block">
            <a:extLst>
              <a:ext uri="{FF2B5EF4-FFF2-40B4-BE49-F238E27FC236}">
                <a16:creationId xmlns:a16="http://schemas.microsoft.com/office/drawing/2014/main" id="{80613F45-4753-BA34-D383-D4667727C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456" y="2815355"/>
            <a:ext cx="4500957" cy="253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41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4B4A8-C48B-741E-A2F6-B40EAB58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C8ABFE-E081-A3A8-B033-8016DA9AF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949115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13590-E1EF-FAC7-8D0C-5099008F7EBD}"/>
              </a:ext>
            </a:extLst>
          </p:cNvPr>
          <p:cNvSpPr txBox="1"/>
          <p:nvPr/>
        </p:nvSpPr>
        <p:spPr>
          <a:xfrm>
            <a:off x="1943708" y="634042"/>
            <a:ext cx="5724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Games Platforms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6A77B3B-4BA9-2B8F-0221-EF00963D15FC}"/>
              </a:ext>
            </a:extLst>
          </p:cNvPr>
          <p:cNvSpPr txBox="1">
            <a:spLocks/>
          </p:cNvSpPr>
          <p:nvPr/>
        </p:nvSpPr>
        <p:spPr>
          <a:xfrm>
            <a:off x="1043608" y="1615159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200" b="0" dirty="0"/>
          </a:p>
          <a:p>
            <a:pPr marL="457200" lvl="1" indent="0">
              <a:buNone/>
            </a:pPr>
            <a:endParaRPr lang="en-US" sz="24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DCA558-562C-CDD3-35AA-2EA744BEF2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9" t="3322" r="4914" b="5303"/>
          <a:stretch/>
        </p:blipFill>
        <p:spPr>
          <a:xfrm>
            <a:off x="78432" y="1700808"/>
            <a:ext cx="6630366" cy="435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04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691144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game platforms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07504" y="1915608"/>
            <a:ext cx="8280920" cy="4079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PC Platforms</a:t>
            </a:r>
            <a:endParaRPr lang="en-US" b="0" dirty="0"/>
          </a:p>
          <a:p>
            <a:r>
              <a:rPr lang="en-ZA" sz="2000" b="0" dirty="0"/>
              <a:t>PC platforms are gaming computers that offer a wide range of games and advanced features.</a:t>
            </a:r>
          </a:p>
          <a:p>
            <a:r>
              <a:rPr lang="en-ZA" sz="2000" b="0" dirty="0"/>
              <a:t>They are highly customizable and offer superior performance</a:t>
            </a:r>
            <a:r>
              <a:rPr lang="en-US" sz="2000" b="0" dirty="0"/>
              <a:t>. </a:t>
            </a:r>
          </a:p>
          <a:p>
            <a:r>
              <a:rPr lang="en-US" sz="2000" b="0" dirty="0"/>
              <a:t>Support multiple game distribution platforms like Steam and Epic Games Store. Examples  - Windows PC and Mac. </a:t>
            </a:r>
          </a:p>
          <a:p>
            <a:pPr marL="0" indent="0">
              <a:buNone/>
            </a:pPr>
            <a:endParaRPr lang="en-US" b="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4100" name="Picture 4" descr="The Best PC Strategy and Tactics Games for 2023 | PCM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1" y="4221088"/>
            <a:ext cx="3153467" cy="177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22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691144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game platforms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07504" y="1915608"/>
            <a:ext cx="8280920" cy="4079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Console Platforms</a:t>
            </a:r>
            <a:endParaRPr lang="en-US" b="0" dirty="0"/>
          </a:p>
          <a:p>
            <a:r>
              <a:rPr lang="en-US" sz="2000" b="0" dirty="0"/>
              <a:t>Console platforms are dedicated gaming machines designed for home use.</a:t>
            </a:r>
          </a:p>
          <a:p>
            <a:r>
              <a:rPr lang="en-US" sz="2000" b="0" dirty="0"/>
              <a:t>They typically offer high-quality graphics, advanced features, and exclusive titles. </a:t>
            </a:r>
            <a:r>
              <a:rPr lang="en-ZA" sz="2000" dirty="0">
                <a:solidFill>
                  <a:srgbClr val="FF0000"/>
                </a:solidFill>
              </a:rPr>
              <a:t> </a:t>
            </a:r>
            <a:r>
              <a:rPr lang="en-ZA" sz="2000" b="0" dirty="0"/>
              <a:t>E</a:t>
            </a:r>
            <a:r>
              <a:rPr lang="en-US" sz="2000" b="0" dirty="0"/>
              <a:t>xamples- Sony PlayStation, Microsoft Xbox and Nintendo Switch.</a:t>
            </a:r>
          </a:p>
          <a:p>
            <a:pPr marL="0" indent="0">
              <a:buNone/>
            </a:pPr>
            <a:endParaRPr lang="en-US" b="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6" name="Picture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60" b="7160"/>
          <a:stretch>
            <a:fillRect/>
          </a:stretch>
        </p:blipFill>
        <p:spPr>
          <a:xfrm>
            <a:off x="1979712" y="3573016"/>
            <a:ext cx="4346314" cy="217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32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691144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game platforms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07504" y="1915608"/>
            <a:ext cx="8280920" cy="4079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Mobile Platforms</a:t>
            </a:r>
            <a:endParaRPr lang="en-US" b="0" dirty="0"/>
          </a:p>
          <a:p>
            <a:r>
              <a:rPr lang="en-ZA" sz="2000" b="0" dirty="0"/>
              <a:t>Mobile platforms are used to play games on smartphones and tablets.</a:t>
            </a:r>
          </a:p>
          <a:p>
            <a:r>
              <a:rPr lang="en-US" sz="2000" b="0" dirty="0"/>
              <a:t>Often simpler mechanics, touch controls, and accessible to a broad audience.</a:t>
            </a:r>
            <a:r>
              <a:rPr lang="en-ZA" sz="2000" b="0" dirty="0"/>
              <a:t> </a:t>
            </a:r>
          </a:p>
          <a:p>
            <a:r>
              <a:rPr lang="en-ZA" sz="2000" b="0" dirty="0"/>
              <a:t>They offer a wide range of games, including casual games and more complex titles</a:t>
            </a:r>
            <a:r>
              <a:rPr lang="en-US" sz="2000" b="0" dirty="0"/>
              <a:t>. Examples :  Android and iOS</a:t>
            </a:r>
          </a:p>
          <a:p>
            <a:pPr marL="0" indent="0">
              <a:buNone/>
            </a:pPr>
            <a:endParaRPr lang="en-US" b="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7" name="Picture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41" b="13741"/>
          <a:stretch>
            <a:fillRect/>
          </a:stretch>
        </p:blipFill>
        <p:spPr>
          <a:xfrm>
            <a:off x="2166496" y="4210590"/>
            <a:ext cx="4041977" cy="195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54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691144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game platforms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07504" y="1915608"/>
            <a:ext cx="8280920" cy="4249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dirty="0"/>
              <a:t>Cloud Gaming Platforms</a:t>
            </a:r>
            <a:endParaRPr lang="en-ZA" sz="2000" dirty="0"/>
          </a:p>
          <a:p>
            <a:r>
              <a:rPr lang="en-US" sz="2000" b="0" dirty="0"/>
              <a:t>Cloud gaming platforms are the latest addition to the gaming landscape.</a:t>
            </a:r>
          </a:p>
          <a:p>
            <a:r>
              <a:rPr lang="en-US" sz="2000" b="0" dirty="0"/>
              <a:t>They allow players to stream games over the internet, eliminating the need for dedicated hardware. Examples : Google Stadia and Nvidia GeForce Now</a:t>
            </a:r>
          </a:p>
          <a:p>
            <a:endParaRPr lang="en-ZA" sz="240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b="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7170" name="Picture 2" descr="Which Game Streaming Service Is Best? | Stadia vs. GeForce Now vs. Amazon  Luna - YouTub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34"/>
          <a:stretch/>
        </p:blipFill>
        <p:spPr bwMode="auto">
          <a:xfrm>
            <a:off x="1547664" y="3573016"/>
            <a:ext cx="4962572" cy="188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593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691144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game platforms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07504" y="1915608"/>
            <a:ext cx="8280920" cy="4249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Virtual Reality Platforms</a:t>
            </a:r>
            <a:endParaRPr lang="en-US" b="0" dirty="0"/>
          </a:p>
          <a:p>
            <a:r>
              <a:rPr lang="en-ZA" sz="2000" b="0" dirty="0"/>
              <a:t>Virtual reality (VR) games generally require players to use a special head-mounted unit </a:t>
            </a:r>
            <a:r>
              <a:rPr lang="en-US" sz="2000" b="0" dirty="0"/>
              <a:t>. </a:t>
            </a:r>
          </a:p>
          <a:p>
            <a:r>
              <a:rPr lang="en-ZA" sz="2000" b="0" dirty="0"/>
              <a:t>This unit provides stereoscopic screens and motion to immerse a player within virtual environment that responds to their head movements.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Font typeface="Arial" pitchFamily="34" charset="0"/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/>
          </a:p>
          <a:p>
            <a:endParaRPr lang="en-ZA" sz="240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b="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7" name="Picture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6" b="1646"/>
          <a:stretch>
            <a:fillRect/>
          </a:stretch>
        </p:blipFill>
        <p:spPr>
          <a:xfrm>
            <a:off x="1619672" y="3954032"/>
            <a:ext cx="4176464" cy="202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94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916832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89190" y="908720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Global Game Market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098" name="Picture 2" descr="Last looks: Our final 2023 games market estimates and forecasts">
            <a:extLst>
              <a:ext uri="{FF2B5EF4-FFF2-40B4-BE49-F238E27FC236}">
                <a16:creationId xmlns:a16="http://schemas.microsoft.com/office/drawing/2014/main" id="{FAD3FEBE-C369-E5B1-74D9-AD64682E4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1" y="2049430"/>
            <a:ext cx="6933067" cy="389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379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BD33F-C3F1-4DCD-1191-028DC9C7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3EE678-1E14-84C3-A1C5-7B8E54AB7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916832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4100" name="Picture 4" descr="Which countries have the largest video gaming markets? | World Economic  Forum">
            <a:extLst>
              <a:ext uri="{FF2B5EF4-FFF2-40B4-BE49-F238E27FC236}">
                <a16:creationId xmlns:a16="http://schemas.microsoft.com/office/drawing/2014/main" id="{986D784F-660F-F941-1A5B-E146B44A17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0"/>
          <a:stretch>
            <a:fillRect/>
          </a:stretch>
        </p:blipFill>
        <p:spPr bwMode="auto">
          <a:xfrm>
            <a:off x="381775" y="404664"/>
            <a:ext cx="6096000" cy="580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1457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07504" y="1915608"/>
            <a:ext cx="8280920" cy="4249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sz="240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b="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AutoShape 2" descr="10 Criteria for Adopting a Game Eng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8194" name="Picture 2" descr="Tips for Nigerian Gamers to Monetize Their Passion in 2025 – Esports Africa  News">
            <a:extLst>
              <a:ext uri="{FF2B5EF4-FFF2-40B4-BE49-F238E27FC236}">
                <a16:creationId xmlns:a16="http://schemas.microsoft.com/office/drawing/2014/main" id="{5E57B478-A22B-5F61-BCE2-2C5D1E77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00808"/>
            <a:ext cx="4320480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D9C184-C08C-C3DD-EDFE-A4B489283FB2}"/>
              </a:ext>
            </a:extLst>
          </p:cNvPr>
          <p:cNvSpPr txBox="1"/>
          <p:nvPr/>
        </p:nvSpPr>
        <p:spPr>
          <a:xfrm>
            <a:off x="4067944" y="3055880"/>
            <a:ext cx="5760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Stop playing around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Gaming is business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Mind your business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BE473C-BB85-EE4F-BBBB-406EA2014CC6}"/>
              </a:ext>
            </a:extLst>
          </p:cNvPr>
          <p:cNvSpPr txBox="1"/>
          <p:nvPr/>
        </p:nvSpPr>
        <p:spPr>
          <a:xfrm>
            <a:off x="1907704" y="932350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New Business</a:t>
            </a:r>
            <a:endParaRPr lang="en-US" sz="2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648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979712" y="808049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Game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07504" y="1915608"/>
            <a:ext cx="8280920" cy="4249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sz="240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b="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5124" name="Picture 4" descr="10+ Top Programming Languages for Video Game Development">
            <a:extLst>
              <a:ext uri="{FF2B5EF4-FFF2-40B4-BE49-F238E27FC236}">
                <a16:creationId xmlns:a16="http://schemas.microsoft.com/office/drawing/2014/main" id="{1BB3C091-E4AC-FA7E-5EA3-400B4A70F3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52"/>
          <a:stretch>
            <a:fillRect/>
          </a:stretch>
        </p:blipFill>
        <p:spPr bwMode="auto">
          <a:xfrm>
            <a:off x="611560" y="2427974"/>
            <a:ext cx="8082644" cy="373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985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A1E73-58F0-8191-D520-1C52130CD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EA142D-B9EB-D8F7-5FA5-11EE71F2F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6325C-C0A1-25E9-520C-4FE9033BAF3C}"/>
              </a:ext>
            </a:extLst>
          </p:cNvPr>
          <p:cNvSpPr txBox="1"/>
          <p:nvPr/>
        </p:nvSpPr>
        <p:spPr>
          <a:xfrm>
            <a:off x="2195736" y="691144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Game Programming Languages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273AA9F-1F8D-CB5C-B233-8C31B5573DAF}"/>
              </a:ext>
            </a:extLst>
          </p:cNvPr>
          <p:cNvSpPr txBox="1">
            <a:spLocks/>
          </p:cNvSpPr>
          <p:nvPr/>
        </p:nvSpPr>
        <p:spPr>
          <a:xfrm>
            <a:off x="107504" y="1915608"/>
            <a:ext cx="8280920" cy="4249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sz="240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b="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1CB2CA-7A1A-C94F-D7D5-BDF8C9FD0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423645"/>
              </p:ext>
            </p:extLst>
          </p:nvPr>
        </p:nvGraphicFramePr>
        <p:xfrm>
          <a:off x="467544" y="1768362"/>
          <a:ext cx="8280920" cy="4392487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70230">
                  <a:extLst>
                    <a:ext uri="{9D8B030D-6E8A-4147-A177-3AD203B41FA5}">
                      <a16:colId xmlns:a16="http://schemas.microsoft.com/office/drawing/2014/main" val="126366041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4056462582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1629706391"/>
                    </a:ext>
                  </a:extLst>
                </a:gridCol>
                <a:gridCol w="2070230">
                  <a:extLst>
                    <a:ext uri="{9D8B030D-6E8A-4147-A177-3AD203B41FA5}">
                      <a16:colId xmlns:a16="http://schemas.microsoft.com/office/drawing/2014/main" val="2826875604"/>
                    </a:ext>
                  </a:extLst>
                </a:gridCol>
              </a:tblGrid>
              <a:tr h="357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b="1" dirty="0"/>
                        <a:t>Programming Language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b="1" dirty="0"/>
                        <a:t>What It’s Good For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b="1"/>
                        <a:t>Platforms Used On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b="1" dirty="0"/>
                        <a:t>Types of Games</a:t>
                      </a:r>
                    </a:p>
                  </a:txBody>
                  <a:tcPr marL="54530" marR="54530" marT="27265" marB="27265" anchor="ctr"/>
                </a:tc>
                <a:extLst>
                  <a:ext uri="{0D108BD9-81ED-4DB2-BD59-A6C34878D82A}">
                    <a16:rowId xmlns:a16="http://schemas.microsoft.com/office/drawing/2014/main" val="2110015159"/>
                  </a:ext>
                </a:extLst>
              </a:tr>
              <a:tr h="817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b="1"/>
                        <a:t>C++</a:t>
                      </a:r>
                      <a:endParaRPr lang="en-ZA" sz="1100"/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High performance, full hardware control, AAA game development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/>
                        <a:t>PC, Consoles (PlayStation, Xbox, Nintendo Switch)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AAA games, open-world games, shooters (Unreal Engine games)</a:t>
                      </a:r>
                    </a:p>
                  </a:txBody>
                  <a:tcPr marL="54530" marR="54530" marT="27265" marB="27265" anchor="ctr"/>
                </a:tc>
                <a:extLst>
                  <a:ext uri="{0D108BD9-81ED-4DB2-BD59-A6C34878D82A}">
                    <a16:rowId xmlns:a16="http://schemas.microsoft.com/office/drawing/2014/main" val="3958523778"/>
                  </a:ext>
                </a:extLst>
              </a:tr>
              <a:tr h="664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b="1"/>
                        <a:t>C#</a:t>
                      </a:r>
                      <a:endParaRPr lang="en-ZA" sz="1100"/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Easy-to-learn, fast development, strong engine support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/>
                        <a:t>PC, Mobile, Consoles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/>
                        <a:t>Indie games, mobile games, 2D/3D games (via Unity)</a:t>
                      </a:r>
                    </a:p>
                  </a:txBody>
                  <a:tcPr marL="54530" marR="54530" marT="27265" marB="27265" anchor="ctr"/>
                </a:tc>
                <a:extLst>
                  <a:ext uri="{0D108BD9-81ED-4DB2-BD59-A6C34878D82A}">
                    <a16:rowId xmlns:a16="http://schemas.microsoft.com/office/drawing/2014/main" val="4094225068"/>
                  </a:ext>
                </a:extLst>
              </a:tr>
              <a:tr h="510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b="1"/>
                        <a:t>Java</a:t>
                      </a:r>
                      <a:endParaRPr lang="en-ZA" sz="1100"/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/>
                        <a:t>Cross-platform apps, Android development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/>
                        <a:t>Android Mobile, PC (limited)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dirty="0"/>
                        <a:t>Mobile games, casual games, simple 2D games</a:t>
                      </a:r>
                    </a:p>
                  </a:txBody>
                  <a:tcPr marL="54530" marR="54530" marT="27265" marB="27265" anchor="ctr"/>
                </a:tc>
                <a:extLst>
                  <a:ext uri="{0D108BD9-81ED-4DB2-BD59-A6C34878D82A}">
                    <a16:rowId xmlns:a16="http://schemas.microsoft.com/office/drawing/2014/main" val="1426797068"/>
                  </a:ext>
                </a:extLst>
              </a:tr>
              <a:tr h="510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b="1"/>
                        <a:t>Python</a:t>
                      </a:r>
                      <a:endParaRPr lang="en-ZA" sz="1100"/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Game prototypes, scripting, AI systems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/>
                        <a:t>PC (mostly development tools)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Prototypes, educational games, simple indie games</a:t>
                      </a:r>
                    </a:p>
                  </a:txBody>
                  <a:tcPr marL="54530" marR="54530" marT="27265" marB="27265" anchor="ctr"/>
                </a:tc>
                <a:extLst>
                  <a:ext uri="{0D108BD9-81ED-4DB2-BD59-A6C34878D82A}">
                    <a16:rowId xmlns:a16="http://schemas.microsoft.com/office/drawing/2014/main" val="3519186374"/>
                  </a:ext>
                </a:extLst>
              </a:tr>
              <a:tr h="510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b="1"/>
                        <a:t>JavaScript</a:t>
                      </a:r>
                      <a:endParaRPr lang="en-ZA" sz="1100"/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/>
                        <a:t>Browser-based games, web interactivity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/>
                        <a:t>Web browsers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Web games, HTML5 games, casual online games</a:t>
                      </a:r>
                    </a:p>
                  </a:txBody>
                  <a:tcPr marL="54530" marR="54530" marT="27265" marB="27265" anchor="ctr"/>
                </a:tc>
                <a:extLst>
                  <a:ext uri="{0D108BD9-81ED-4DB2-BD59-A6C34878D82A}">
                    <a16:rowId xmlns:a16="http://schemas.microsoft.com/office/drawing/2014/main" val="1428945384"/>
                  </a:ext>
                </a:extLst>
              </a:tr>
              <a:tr h="357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b="1"/>
                        <a:t>GDScript</a:t>
                      </a:r>
                      <a:endParaRPr lang="en-ZA" sz="1100"/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Simple scripting for game logic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/>
                        <a:t>PC, Mobile (via Godot)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/>
                        <a:t>Indie games, 2D/3D games</a:t>
                      </a:r>
                    </a:p>
                  </a:txBody>
                  <a:tcPr marL="54530" marR="54530" marT="27265" marB="27265" anchor="ctr"/>
                </a:tc>
                <a:extLst>
                  <a:ext uri="{0D108BD9-81ED-4DB2-BD59-A6C34878D82A}">
                    <a16:rowId xmlns:a16="http://schemas.microsoft.com/office/drawing/2014/main" val="699019070"/>
                  </a:ext>
                </a:extLst>
              </a:tr>
              <a:tr h="664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 b="1"/>
                        <a:t>HLSL / GLSL</a:t>
                      </a:r>
                      <a:endParaRPr lang="en-ZA" sz="1100"/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Graphics and shader programming (visual effects)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sz="1100"/>
                        <a:t>PC, Consoles, Mobile (via engines)</a:t>
                      </a:r>
                    </a:p>
                  </a:txBody>
                  <a:tcPr marL="54530" marR="54530" marT="27265" marB="272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Advanced graphics, lighting, visual effects</a:t>
                      </a:r>
                    </a:p>
                  </a:txBody>
                  <a:tcPr marL="54530" marR="54530" marT="27265" marB="27265" anchor="ctr"/>
                </a:tc>
                <a:extLst>
                  <a:ext uri="{0D108BD9-81ED-4DB2-BD59-A6C34878D82A}">
                    <a16:rowId xmlns:a16="http://schemas.microsoft.com/office/drawing/2014/main" val="2543468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158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844F8-E57F-1E83-95D7-9BF440D5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EE464A-0E23-BC33-CAD6-630E6556B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26D57-4729-4BF7-68D3-4B9FC57C818F}"/>
              </a:ext>
            </a:extLst>
          </p:cNvPr>
          <p:cNvSpPr txBox="1"/>
          <p:nvPr/>
        </p:nvSpPr>
        <p:spPr>
          <a:xfrm>
            <a:off x="1979712" y="843165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Game Engines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22FE0126-A285-67D6-53FC-190C4813B655}"/>
              </a:ext>
            </a:extLst>
          </p:cNvPr>
          <p:cNvSpPr txBox="1">
            <a:spLocks/>
          </p:cNvSpPr>
          <p:nvPr/>
        </p:nvSpPr>
        <p:spPr>
          <a:xfrm>
            <a:off x="107504" y="1915608"/>
            <a:ext cx="8280920" cy="4249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sz="240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b="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3" name="AutoShape 2" descr="10 Criteria for Adopting a Game Engine">
            <a:extLst>
              <a:ext uri="{FF2B5EF4-FFF2-40B4-BE49-F238E27FC236}">
                <a16:creationId xmlns:a16="http://schemas.microsoft.com/office/drawing/2014/main" id="{9C94D160-41AC-5D4B-395B-B11FB264A3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12292" name="Picture 4" descr="10 Criteria for Adopting a Game Engine">
            <a:extLst>
              <a:ext uri="{FF2B5EF4-FFF2-40B4-BE49-F238E27FC236}">
                <a16:creationId xmlns:a16="http://schemas.microsoft.com/office/drawing/2014/main" id="{4808FE4E-FD85-3621-087A-23D6D4411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405" y="2570323"/>
            <a:ext cx="4467363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0CCB14-AF96-5178-210B-7BC7768F4B02}"/>
              </a:ext>
            </a:extLst>
          </p:cNvPr>
          <p:cNvSpPr txBox="1"/>
          <p:nvPr/>
        </p:nvSpPr>
        <p:spPr>
          <a:xfrm>
            <a:off x="-95296" y="1598762"/>
            <a:ext cx="4536504" cy="48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2000" dirty="0"/>
              <a:t>A </a:t>
            </a:r>
            <a:r>
              <a:rPr lang="en-ZA" sz="2000" b="1" dirty="0">
                <a:solidFill>
                  <a:srgbClr val="00B050"/>
                </a:solidFill>
              </a:rPr>
              <a:t>game engine </a:t>
            </a:r>
            <a:r>
              <a:rPr lang="en-ZA" sz="2000" dirty="0"/>
              <a:t>is a software framework used to build and run video games. </a:t>
            </a:r>
          </a:p>
          <a:p>
            <a:pPr marL="5143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ZA" sz="2000" dirty="0"/>
              <a:t>It provides ready-made systems so developers don’t have to build everything from scratch.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ZA" sz="2000" b="1" dirty="0"/>
              <a:t>Graphics Rendering System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ZA" sz="2000" b="1" dirty="0"/>
              <a:t>Physics Engine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ZA" sz="2000" b="1" dirty="0"/>
              <a:t>Audio System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ZA" sz="2000" b="1" dirty="0"/>
              <a:t>Scripting Support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ZA" sz="2000" b="1" dirty="0"/>
              <a:t>Cross-platform support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ZA" sz="2000" b="1" dirty="0"/>
              <a:t>Asset management tools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ZA" sz="2000" b="1" dirty="0"/>
              <a:t>Real-time editing</a:t>
            </a:r>
            <a:br>
              <a:rPr lang="en-ZA" dirty="0"/>
            </a:b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41764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691144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Game Development Process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07504" y="1915608"/>
            <a:ext cx="8280920" cy="4249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sz="240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b="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10242" name="Picture 2" descr="The 7 Stages of Game Development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" t="7166" r="4059" b="8200"/>
          <a:stretch/>
        </p:blipFill>
        <p:spPr bwMode="auto">
          <a:xfrm>
            <a:off x="1715352" y="1926642"/>
            <a:ext cx="5016888" cy="379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238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885267"/>
            <a:ext cx="8820472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195736" y="691144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Key Roles in Game Development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07504" y="1915608"/>
            <a:ext cx="8280920" cy="4249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sz="240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sz="2000" b="0" dirty="0"/>
          </a:p>
          <a:p>
            <a:pPr marL="0" indent="0">
              <a:buNone/>
            </a:pPr>
            <a:endParaRPr lang="en-US" b="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11266" name="Picture 2" descr="5 Essential Stages of Game Development Proces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43" b="11188"/>
          <a:stretch/>
        </p:blipFill>
        <p:spPr bwMode="auto">
          <a:xfrm>
            <a:off x="1378015" y="2204864"/>
            <a:ext cx="6387969" cy="285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446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5055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T Data Day Template" id="{92846BAD-006C-4266-8FF7-592E96877308}" vid="{D95C4ACA-B937-4CA7-8EE4-059BD2ABB2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F7482BA8A594BB82EB43DDDC30A7B" ma:contentTypeVersion="0" ma:contentTypeDescription="Create a new document." ma:contentTypeScope="" ma:versionID="cfac4779270873affce0d8e4580d4c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FBC31D-43B2-41BB-8D13-4FBD595149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9DC2DB-DA30-434E-BF62-455F46779EA5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4E52D24-A7FE-46E9-B344-6ABD7A716B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Say it in Six template</Template>
  <TotalTime>20882</TotalTime>
  <Words>832</Words>
  <Application>Microsoft Office PowerPoint</Application>
  <PresentationFormat>On-screen Show (4:3)</PresentationFormat>
  <Paragraphs>356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Gill Sans MT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Freedom Mthobisi Khubisa</dc:creator>
  <cp:lastModifiedBy>Freedom Khubisa</cp:lastModifiedBy>
  <cp:revision>115</cp:revision>
  <dcterms:created xsi:type="dcterms:W3CDTF">2022-02-22T09:59:59Z</dcterms:created>
  <dcterms:modified xsi:type="dcterms:W3CDTF">2026-04-23T06:48:53Z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0x010100B42F7482BA8A594BB82EB43DDDC30A7B</vt:lpwstr>
  </property>
</Properties>
</file>