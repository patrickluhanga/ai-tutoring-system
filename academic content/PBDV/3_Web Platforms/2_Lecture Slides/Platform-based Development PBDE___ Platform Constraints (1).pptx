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79" r:id="rId5"/>
    <p:sldId id="284" r:id="rId6"/>
    <p:sldId id="320" r:id="rId7"/>
    <p:sldId id="324" r:id="rId8"/>
    <p:sldId id="325" r:id="rId9"/>
    <p:sldId id="288" r:id="rId10"/>
    <p:sldId id="315" r:id="rId11"/>
    <p:sldId id="319" r:id="rId12"/>
    <p:sldId id="318" r:id="rId13"/>
    <p:sldId id="326" r:id="rId14"/>
    <p:sldId id="323" r:id="rId15"/>
    <p:sldId id="316" r:id="rId16"/>
    <p:sldId id="310" r:id="rId17"/>
    <p:sldId id="322" r:id="rId18"/>
    <p:sldId id="327" r:id="rId19"/>
    <p:sldId id="28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6CE"/>
    <a:srgbClr val="D5CEB9"/>
    <a:srgbClr val="CBB168"/>
    <a:srgbClr val="BA9B6A"/>
    <a:srgbClr val="A48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1" d="100"/>
          <a:sy n="111" d="100"/>
        </p:scale>
        <p:origin x="165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94288-37BE-42FD-A3CE-C644F7468E54}" type="datetimeFigureOut">
              <a:rPr lang="en-ZA" smtClean="0">
                <a:latin typeface="Gill Sans MT" panose="020B0502020104020203" pitchFamily="34" charset="0"/>
              </a:rPr>
              <a:t>2026/02/16</a:t>
            </a:fld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8CC4-D689-4043-A112-A0EF0661C963}" type="slidenum">
              <a:rPr lang="en-ZA" smtClean="0">
                <a:latin typeface="Gill Sans MT" panose="020B0502020104020203" pitchFamily="34" charset="0"/>
              </a:rPr>
              <a:t>‹#›</a:t>
            </a:fld>
            <a:endParaRPr lang="en-ZA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74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78CA02F-F0F2-854F-B286-9B534A264BAA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F04800F-0C89-EC4F-919F-9C2CE26B17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6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1988840"/>
            <a:ext cx="3444240" cy="20756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4293096"/>
            <a:ext cx="3444240" cy="5111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" y="0"/>
            <a:ext cx="91369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68" y="0"/>
            <a:ext cx="9079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4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1" y="0"/>
            <a:ext cx="9096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39970" cy="15100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77646-DDB7-4E3D-94A7-D1AF9A0CE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F17B5A-BE59-4F19-B2D3-8D08B707A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7" y="-18587"/>
            <a:ext cx="9144793" cy="68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0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3191272" cy="1143000"/>
          </a:xfrm>
        </p:spPr>
        <p:txBody>
          <a:bodyPr>
            <a:normAutofit/>
          </a:bodyPr>
          <a:lstStyle>
            <a:lvl1pPr>
              <a:defRPr sz="28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ctr">
              <a:defRPr sz="2000" b="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Gill Sans MT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Gill Sans MT" panose="020B05020201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7" r:id="rId3"/>
    <p:sldLayoutId id="2147483678" r:id="rId4"/>
    <p:sldLayoutId id="2147483675" r:id="rId5"/>
    <p:sldLayoutId id="2147483674" r:id="rId6"/>
    <p:sldLayoutId id="2147483671" r:id="rId7"/>
    <p:sldLayoutId id="2147483667" r:id="rId8"/>
    <p:sldLayoutId id="2147483676" r:id="rId9"/>
    <p:sldLayoutId id="2147483679" r:id="rId10"/>
    <p:sldLayoutId id="2147483664" r:id="rId11"/>
    <p:sldLayoutId id="2147483665" r:id="rId12"/>
    <p:sldLayoutId id="2147483666" r:id="rId13"/>
    <p:sldLayoutId id="2147483668" r:id="rId14"/>
    <p:sldLayoutId id="2147483669" r:id="rId15"/>
    <p:sldLayoutId id="2147483670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7518" y="5487145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Department : Information Technology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A3A6F-91D9-4129-87EA-C75A870F0E96}"/>
              </a:ext>
            </a:extLst>
          </p:cNvPr>
          <p:cNvSpPr txBox="1"/>
          <p:nvPr/>
        </p:nvSpPr>
        <p:spPr>
          <a:xfrm>
            <a:off x="355866" y="5193220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Lecturer Name : Freedom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4596" y="384653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Name: Platform Based Development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Code: PBDV301 | PBDE401  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2506050"/>
            <a:ext cx="77048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b="1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0"/>
              <a:cs typeface="Gill Sans"/>
            </a:endParaRP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Platforms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DF53A0-8304-7809-B5FE-99E7978787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9880" y="293627"/>
            <a:ext cx="3234288" cy="1949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54FA08-260A-857A-3D13-03B0E864A1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0098" y="2329087"/>
            <a:ext cx="3444240" cy="51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3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595972" y="1052736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itchFamily="34" charset="0"/>
                <a:cs typeface="Arial"/>
              </a:rPr>
              <a:t>Outline of the lesson </a:t>
            </a:r>
            <a:endParaRPr lang="en-US" sz="3200" dirty="0">
              <a:latin typeface="Gill Sans MT" panose="020B0502020104020203" pitchFamily="34" charset="0"/>
              <a:cs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98E6E9-33AB-4D98-A95F-FF2B99D99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32856"/>
            <a:ext cx="838200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Objectives: 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Understanding what are web programming languages.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Differentiate between front-end programming languages and back-end programming languages. 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Learn  and understand significant features of web programming languages.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Learn factors to consider when choosing “the most suitable” web programming languages.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800" dirty="0"/>
              <a:t>Understanding the different web platform constraints</a:t>
            </a:r>
          </a:p>
          <a:p>
            <a:pPr marL="457200" indent="-457200">
              <a:buFont typeface="+mj-lt"/>
              <a:buAutoNum type="arabicPeriod"/>
            </a:pPr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0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67744" y="1052736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251520" y="2194104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5600" dirty="0"/>
          </a:p>
          <a:p>
            <a:r>
              <a:rPr lang="en-US" sz="11200" dirty="0"/>
              <a:t>Different web solutions (websites &amp; Apps)</a:t>
            </a:r>
            <a:endParaRPr lang="en-US" sz="11200" b="0" dirty="0"/>
          </a:p>
          <a:p>
            <a:pPr lvl="1"/>
            <a:r>
              <a:rPr lang="en-US" sz="8000" dirty="0"/>
              <a:t>Static websites</a:t>
            </a:r>
          </a:p>
          <a:p>
            <a:pPr lvl="1"/>
            <a:r>
              <a:rPr lang="en-US" sz="8000" dirty="0"/>
              <a:t>Dynamic websites (web app) </a:t>
            </a:r>
          </a:p>
          <a:p>
            <a:pPr lvl="1"/>
            <a:r>
              <a:rPr lang="en-US" sz="8000" dirty="0"/>
              <a:t>Single page applications</a:t>
            </a:r>
          </a:p>
          <a:p>
            <a:pPr lvl="1"/>
            <a:r>
              <a:rPr lang="en-US" sz="8000" dirty="0"/>
              <a:t>Progressive web apps</a:t>
            </a:r>
          </a:p>
          <a:p>
            <a:pPr lvl="1"/>
            <a:r>
              <a:rPr lang="en-US" sz="8000" dirty="0"/>
              <a:t>Real-time applications </a:t>
            </a:r>
          </a:p>
          <a:p>
            <a:pPr lvl="1"/>
            <a:r>
              <a:rPr lang="en-US" sz="7200" dirty="0"/>
              <a:t>Artificial Intelligence (AI) applications</a:t>
            </a:r>
          </a:p>
          <a:p>
            <a:endParaRPr lang="en-US" sz="6400" dirty="0"/>
          </a:p>
          <a:p>
            <a:pPr marL="457200" lvl="1" indent="0">
              <a:buNone/>
            </a:pPr>
            <a:endParaRPr lang="en-US" sz="24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4098" name="Picture 2" descr="Static vs Dynamic websites - The pros and cons - Lama Ap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3000992"/>
            <a:ext cx="2808312" cy="222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418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dirty="0"/>
              <a:t>S</a:t>
            </a: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67744" y="1052736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65" y="2247844"/>
            <a:ext cx="3456384" cy="1673925"/>
          </a:xfrm>
          <a:prstGeom prst="rect">
            <a:avLst/>
          </a:prstGeom>
        </p:spPr>
      </p:pic>
      <p:pic>
        <p:nvPicPr>
          <p:cNvPr id="2050" name="Picture 2" descr="diagram showing the architecture of a dynamic web app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316"/>
          <a:stretch/>
        </p:blipFill>
        <p:spPr bwMode="auto">
          <a:xfrm>
            <a:off x="6084168" y="2333077"/>
            <a:ext cx="2564787" cy="1748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iagram showing single-page web architectu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233" y="3903674"/>
            <a:ext cx="3012004" cy="157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42093" y="3955485"/>
            <a:ext cx="147578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1600" dirty="0"/>
              <a:t>-Static websites</a:t>
            </a:r>
          </a:p>
          <a:p>
            <a:endParaRPr lang="en-ZA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4148532"/>
            <a:ext cx="255018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1600" dirty="0"/>
              <a:t>-Dynamic websites/Web app</a:t>
            </a:r>
          </a:p>
          <a:p>
            <a:endParaRPr lang="en-ZA" dirty="0"/>
          </a:p>
        </p:txBody>
      </p:sp>
      <p:sp>
        <p:nvSpPr>
          <p:cNvPr id="11" name="TextBox 10"/>
          <p:cNvSpPr txBox="1"/>
          <p:nvPr/>
        </p:nvSpPr>
        <p:spPr>
          <a:xfrm>
            <a:off x="3275856" y="5498539"/>
            <a:ext cx="218482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1600" dirty="0"/>
              <a:t>-Single Page applications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9194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2129954"/>
            <a:ext cx="8382000" cy="3962400"/>
          </a:xfrm>
        </p:spPr>
        <p:txBody>
          <a:bodyPr>
            <a:normAutofit/>
          </a:bodyPr>
          <a:lstStyle/>
          <a:p>
            <a:r>
              <a:rPr lang="en-US" sz="2400" dirty="0"/>
              <a:t>Difference between client-side and server-side 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67744" y="1052736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3074" name="Picture 2" descr="Visual Illustration of the difference between frontend and backend cod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708920"/>
            <a:ext cx="5256584" cy="2628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355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67744" y="1052736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200" dirty="0"/>
          </a:p>
          <a:p>
            <a:r>
              <a:rPr lang="en-US" sz="11200" dirty="0"/>
              <a:t>Right tool for the right job</a:t>
            </a:r>
            <a:endParaRPr lang="en-US" sz="11200" b="0" dirty="0"/>
          </a:p>
          <a:p>
            <a:pPr lvl="1"/>
            <a:r>
              <a:rPr lang="en-US" sz="8000" dirty="0"/>
              <a:t>Knowing different programming languages</a:t>
            </a:r>
          </a:p>
          <a:p>
            <a:r>
              <a:rPr lang="en-US" sz="8000" dirty="0"/>
              <a:t>Any programming language that </a:t>
            </a:r>
            <a:r>
              <a:rPr lang="en-US" sz="8000" i="1" dirty="0"/>
              <a:t>assists in the development of a web application or website </a:t>
            </a:r>
            <a:r>
              <a:rPr lang="en-US" sz="8000" dirty="0"/>
              <a:t>is a web programming language.</a:t>
            </a:r>
            <a:endParaRPr lang="en-US" sz="8000" b="0" dirty="0"/>
          </a:p>
          <a:p>
            <a:pPr lvl="1"/>
            <a:r>
              <a:rPr lang="en-US" sz="6400" dirty="0">
                <a:solidFill>
                  <a:srgbClr val="FF0000"/>
                </a:solidFill>
              </a:rPr>
              <a:t>HTML5</a:t>
            </a:r>
          </a:p>
          <a:p>
            <a:pPr lvl="1"/>
            <a:r>
              <a:rPr lang="en-US" sz="6400" dirty="0"/>
              <a:t>Java</a:t>
            </a:r>
          </a:p>
          <a:p>
            <a:pPr lvl="1"/>
            <a:r>
              <a:rPr lang="en-US" sz="6400" dirty="0"/>
              <a:t>Python</a:t>
            </a:r>
          </a:p>
          <a:p>
            <a:pPr lvl="1"/>
            <a:r>
              <a:rPr lang="en-US" sz="6400" dirty="0"/>
              <a:t>C#</a:t>
            </a:r>
          </a:p>
          <a:p>
            <a:pPr lvl="1"/>
            <a:r>
              <a:rPr lang="en-US" sz="6400" dirty="0"/>
              <a:t>Ruby</a:t>
            </a:r>
          </a:p>
          <a:p>
            <a:pPr lvl="1"/>
            <a:r>
              <a:rPr lang="en-US" sz="6400" dirty="0">
                <a:solidFill>
                  <a:srgbClr val="FF0000"/>
                </a:solidFill>
              </a:rPr>
              <a:t>CSS3</a:t>
            </a:r>
          </a:p>
          <a:p>
            <a:pPr lvl="1"/>
            <a:r>
              <a:rPr lang="en-US" sz="6400" dirty="0"/>
              <a:t>JavaScript etc.</a:t>
            </a:r>
            <a:r>
              <a:rPr lang="en-US" sz="3200" dirty="0"/>
              <a:t> </a:t>
            </a:r>
            <a:endParaRPr lang="en-US" sz="3100" dirty="0"/>
          </a:p>
          <a:p>
            <a:pPr algn="ctr"/>
            <a:endParaRPr lang="en-US" sz="24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4081810"/>
            <a:ext cx="3444758" cy="175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73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Front-end development (User/Client-side)</a:t>
            </a:r>
          </a:p>
          <a:p>
            <a:pPr marL="400050" lvl="1" indent="0">
              <a:buNone/>
            </a:pPr>
            <a:r>
              <a:rPr lang="en-US" sz="2000" b="1" dirty="0"/>
              <a:t>Tools </a:t>
            </a:r>
          </a:p>
          <a:p>
            <a:pPr lvl="2" indent="-342900"/>
            <a:r>
              <a:rPr lang="en-US" sz="2200" dirty="0"/>
              <a:t>Code editors –  E.g. VS Code, Atom, Sublime Text etc. </a:t>
            </a:r>
          </a:p>
          <a:p>
            <a:pPr lvl="2" indent="-342900"/>
            <a:r>
              <a:rPr lang="en-US" sz="2200" dirty="0"/>
              <a:t>IDE (</a:t>
            </a:r>
            <a:r>
              <a:rPr lang="en-US" dirty="0"/>
              <a:t>Integrated development environment)</a:t>
            </a:r>
            <a:r>
              <a:rPr lang="en-US" sz="2200" dirty="0"/>
              <a:t> – Visual Studio, </a:t>
            </a:r>
            <a:r>
              <a:rPr lang="en-ZA" sz="2200" dirty="0"/>
              <a:t>Eclipse, PyCharm</a:t>
            </a:r>
            <a:endParaRPr lang="en-US" sz="2200" dirty="0"/>
          </a:p>
          <a:p>
            <a:pPr lvl="2" indent="-342900"/>
            <a:r>
              <a:rPr lang="en-US" sz="2200" dirty="0"/>
              <a:t>Terminal (Command Interface)</a:t>
            </a:r>
          </a:p>
          <a:p>
            <a:pPr lvl="2" indent="-342900"/>
            <a:r>
              <a:rPr lang="en-US" sz="2200" dirty="0"/>
              <a:t>Browser</a:t>
            </a:r>
          </a:p>
          <a:p>
            <a:pPr lvl="2" indent="-342900"/>
            <a:r>
              <a:rPr lang="en-US" sz="2200" dirty="0"/>
              <a:t>Github</a:t>
            </a:r>
          </a:p>
          <a:p>
            <a:pPr lvl="2" indent="-342900"/>
            <a:r>
              <a:rPr lang="en-US" sz="2200" dirty="0"/>
              <a:t>Basic web technologies :</a:t>
            </a:r>
            <a:endParaRPr lang="en-US" sz="2400" dirty="0"/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1200" dirty="0"/>
              <a:t>HTML – f</a:t>
            </a:r>
            <a:r>
              <a:rPr lang="en-US" sz="1200" b="0" dirty="0"/>
              <a:t>oundation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1200" dirty="0"/>
              <a:t>CSS - a</a:t>
            </a:r>
            <a:r>
              <a:rPr lang="en-US" sz="1200" b="0" dirty="0"/>
              <a:t>ppearance  (extension SAAS)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1200" dirty="0"/>
              <a:t>JavaScript- r</a:t>
            </a:r>
            <a:r>
              <a:rPr lang="en-US" sz="1200" b="0" dirty="0"/>
              <a:t>esponse to user input (dynamic) </a:t>
            </a:r>
            <a:endParaRPr lang="en-US" sz="2400" b="0" dirty="0"/>
          </a:p>
          <a:p>
            <a:pPr marL="0" lvl="2" indent="0">
              <a:buNone/>
            </a:pPr>
            <a:r>
              <a:rPr lang="en-US" sz="2400" dirty="0"/>
              <a:t> </a:t>
            </a:r>
            <a:r>
              <a:rPr lang="en-US" sz="2200" dirty="0"/>
              <a:t>Advantages – Fast , free, easy to use, customizable </a:t>
            </a:r>
          </a:p>
          <a:p>
            <a:pPr marL="0" indent="0">
              <a:buNone/>
            </a:pPr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67744" y="1052736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87" b="26052"/>
          <a:stretch/>
        </p:blipFill>
        <p:spPr>
          <a:xfrm>
            <a:off x="5724128" y="3717032"/>
            <a:ext cx="2337049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99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6186264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Front-end - other important concepts </a:t>
            </a:r>
          </a:p>
          <a:p>
            <a:r>
              <a:rPr lang="en-US" sz="2000" b="0" dirty="0"/>
              <a:t>Responsive design</a:t>
            </a:r>
          </a:p>
          <a:p>
            <a:r>
              <a:rPr lang="en-US" sz="2000" b="0" dirty="0"/>
              <a:t>Version control</a:t>
            </a:r>
          </a:p>
          <a:p>
            <a:r>
              <a:rPr lang="en-US" sz="2000" b="0" dirty="0"/>
              <a:t>Package managers</a:t>
            </a:r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67744" y="1052736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2780928"/>
            <a:ext cx="3456384" cy="230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48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6186264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JavaScript -  Front-end and Back-end</a:t>
            </a:r>
          </a:p>
          <a:p>
            <a:pPr marL="400050" lvl="1" indent="0">
              <a:buNone/>
            </a:pPr>
            <a:r>
              <a:rPr lang="en-US" sz="2000" dirty="0"/>
              <a:t>(Also create mobile cross-platform apps (Android and iOS)</a:t>
            </a:r>
          </a:p>
          <a:p>
            <a:pPr marL="400050" lvl="1" indent="0">
              <a:buNone/>
            </a:pPr>
            <a:r>
              <a:rPr lang="en-US" sz="2000" b="1" dirty="0"/>
              <a:t>Frameworks </a:t>
            </a:r>
            <a:endParaRPr lang="en-ZA" sz="2000" b="1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67744" y="1052736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3621579"/>
            <a:ext cx="4392488" cy="247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59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96A14-2413-725F-F04D-8F355079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2180CC-F81F-52F4-F71D-EB70A041B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6186264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Python -  Front-end and Back-end</a:t>
            </a:r>
          </a:p>
          <a:p>
            <a:pPr marL="400050" lvl="1" indent="0">
              <a:buNone/>
            </a:pPr>
            <a:r>
              <a:rPr lang="en-US" sz="2000" b="1" dirty="0"/>
              <a:t>Frameworks </a:t>
            </a:r>
            <a:endParaRPr lang="en-ZA" sz="2000" b="1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542B8-F49A-1219-C7E1-132256047610}"/>
              </a:ext>
            </a:extLst>
          </p:cNvPr>
          <p:cNvSpPr txBox="1"/>
          <p:nvPr/>
        </p:nvSpPr>
        <p:spPr>
          <a:xfrm>
            <a:off x="2267744" y="1052736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3" name="Picture 2" descr="The Top 10 Python Frameworks for Web Development">
            <a:extLst>
              <a:ext uri="{FF2B5EF4-FFF2-40B4-BE49-F238E27FC236}">
                <a16:creationId xmlns:a16="http://schemas.microsoft.com/office/drawing/2014/main" id="{B79E25F7-9238-B923-D866-C8A8FD654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996952"/>
            <a:ext cx="5028816" cy="301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58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6186264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Python -  Front-end and Back-end</a:t>
            </a:r>
          </a:p>
          <a:p>
            <a:pPr marL="400050" lvl="1" indent="0">
              <a:buNone/>
            </a:pPr>
            <a:r>
              <a:rPr lang="en-US" sz="2000" b="1" dirty="0"/>
              <a:t>Frameworks </a:t>
            </a:r>
            <a:endParaRPr lang="en-ZA" sz="2000" b="1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67744" y="1052736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1026" name="Picture 2" descr="Flask vs Django - Use Cases in Web App Development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5" t="2833" r="5665"/>
          <a:stretch/>
        </p:blipFill>
        <p:spPr bwMode="auto">
          <a:xfrm>
            <a:off x="971600" y="3068960"/>
            <a:ext cx="4594829" cy="2865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lask vs. Django: Choose Your Python Web Framewor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704" y="3429000"/>
            <a:ext cx="3024336" cy="1701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94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r>
              <a:rPr lang="en-US" sz="2400" dirty="0"/>
              <a:t>Back-end development (Server-side)</a:t>
            </a:r>
          </a:p>
          <a:p>
            <a:pPr marL="400050" lvl="1" indent="0">
              <a:buNone/>
            </a:pPr>
            <a:r>
              <a:rPr lang="en-US" sz="2000" b="1" dirty="0"/>
              <a:t>Tools </a:t>
            </a:r>
          </a:p>
          <a:p>
            <a:pPr marL="800100" lvl="2" indent="0">
              <a:buNone/>
            </a:pPr>
            <a:r>
              <a:rPr lang="en-US" sz="1600" dirty="0"/>
              <a:t>IDE – E.g.  Visual Studio, NetBeans, Eclipse. 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67744" y="1052736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356992"/>
            <a:ext cx="3456384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70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3800" dirty="0"/>
              <a:t>Suitable web programming languages</a:t>
            </a:r>
          </a:p>
          <a:p>
            <a:pPr marL="0" indent="0">
              <a:buNone/>
            </a:pPr>
            <a:r>
              <a:rPr lang="en-US" b="0" dirty="0"/>
              <a:t>There are a number of parameters (factors) to consider: </a:t>
            </a:r>
          </a:p>
          <a:p>
            <a:pPr lvl="1"/>
            <a:r>
              <a:rPr lang="en-US" b="0" dirty="0"/>
              <a:t>Project requirements (e.g. type of application and features)</a:t>
            </a:r>
          </a:p>
          <a:p>
            <a:pPr lvl="1"/>
            <a:r>
              <a:rPr lang="en-US" b="0" dirty="0"/>
              <a:t>Popularity,</a:t>
            </a:r>
          </a:p>
          <a:p>
            <a:pPr lvl="1"/>
            <a:r>
              <a:rPr lang="en-US" b="0" dirty="0"/>
              <a:t>Demand,</a:t>
            </a:r>
          </a:p>
          <a:p>
            <a:pPr lvl="1"/>
            <a:r>
              <a:rPr lang="en-US" dirty="0"/>
              <a:t>Budget,</a:t>
            </a:r>
            <a:endParaRPr lang="en-US" b="0" dirty="0"/>
          </a:p>
          <a:p>
            <a:pPr lvl="1"/>
            <a:r>
              <a:rPr lang="en-US" b="0" dirty="0"/>
              <a:t>Performance, </a:t>
            </a:r>
          </a:p>
          <a:p>
            <a:pPr lvl="1"/>
            <a:r>
              <a:rPr lang="en-US" b="0" dirty="0"/>
              <a:t>Support,</a:t>
            </a:r>
          </a:p>
          <a:p>
            <a:pPr lvl="1"/>
            <a:r>
              <a:rPr lang="en-US" b="0" dirty="0"/>
              <a:t>Learning curve, </a:t>
            </a:r>
          </a:p>
          <a:p>
            <a:pPr lvl="1"/>
            <a:r>
              <a:rPr lang="en-US" b="0" dirty="0"/>
              <a:t>Reliability</a:t>
            </a:r>
            <a:r>
              <a:rPr lang="en-US" dirty="0"/>
              <a:t>, and more</a:t>
            </a:r>
            <a:r>
              <a:rPr lang="en-US" b="0" dirty="0"/>
              <a:t>.  </a:t>
            </a:r>
            <a:r>
              <a:rPr lang="en-US" sz="2000" dirty="0"/>
              <a:t>	</a:t>
            </a:r>
          </a:p>
          <a:p>
            <a:pPr marL="400050" lvl="1" indent="0">
              <a:buNone/>
            </a:pPr>
            <a:r>
              <a:rPr lang="en-US" sz="2000" dirty="0"/>
              <a:t> </a:t>
            </a:r>
          </a:p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979712" y="829761"/>
            <a:ext cx="525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3212976"/>
            <a:ext cx="3058669" cy="203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82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1052736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Platform Constraints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331640" y="2203451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600" b="0" dirty="0"/>
              <a:t>Server dependency </a:t>
            </a:r>
          </a:p>
          <a:p>
            <a:r>
              <a:rPr lang="en-US" sz="8600" b="0" dirty="0"/>
              <a:t>Browser incompatibility</a:t>
            </a:r>
          </a:p>
          <a:p>
            <a:r>
              <a:rPr lang="en-US" sz="8600" b="0" dirty="0"/>
              <a:t>Lack Responsiveness   </a:t>
            </a:r>
          </a:p>
          <a:p>
            <a:r>
              <a:rPr lang="en-US" sz="8600" b="0" dirty="0"/>
              <a:t>Internet reliance</a:t>
            </a:r>
          </a:p>
          <a:p>
            <a:r>
              <a:rPr lang="en-US" sz="8600" b="0" dirty="0"/>
              <a:t>Reduced Speed / Performance</a:t>
            </a:r>
          </a:p>
          <a:p>
            <a:r>
              <a:rPr lang="en-US" sz="8600" b="0" dirty="0"/>
              <a:t>Less Security</a:t>
            </a:r>
          </a:p>
          <a:p>
            <a:r>
              <a:rPr lang="en-US" sz="8600" b="0" dirty="0"/>
              <a:t>No visibility</a:t>
            </a:r>
          </a:p>
          <a:p>
            <a:r>
              <a:rPr lang="en-US" sz="8600" b="0" dirty="0"/>
              <a:t>Restricted Functionality</a:t>
            </a:r>
          </a:p>
          <a:p>
            <a:r>
              <a:rPr lang="en-US" sz="8600" b="0" dirty="0"/>
              <a:t>Compliance with data related laws</a:t>
            </a:r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1026" name="Picture 2" descr="Word Constraints Stock Illustrations – 179 Word Constraints Stock  Illustrations, Vectors &amp; Clipart - Dreamsti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707507"/>
            <a:ext cx="3254987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624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DE3A-A078-E7EB-9082-1CCEB457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A6F9A3-7991-5B8A-3CD4-1D7139981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89A65-0F42-1CC3-EBD1-51C0076DEBD0}"/>
              </a:ext>
            </a:extLst>
          </p:cNvPr>
          <p:cNvSpPr txBox="1"/>
          <p:nvPr/>
        </p:nvSpPr>
        <p:spPr>
          <a:xfrm>
            <a:off x="2051720" y="473258"/>
            <a:ext cx="4608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Road Map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CF14740B-0202-1925-5E2D-CF7BE236D437}"/>
              </a:ext>
            </a:extLst>
          </p:cNvPr>
          <p:cNvSpPr txBox="1">
            <a:spLocks/>
          </p:cNvSpPr>
          <p:nvPr/>
        </p:nvSpPr>
        <p:spPr>
          <a:xfrm>
            <a:off x="1331640" y="2203451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914400">
              <a:buFont typeface="+mj-lt"/>
              <a:buAutoNum type="arabicPeriod" startAt="2"/>
            </a:pPr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D266B-6D00-602F-B918-E43F0E7B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21"/>
          <a:stretch>
            <a:fillRect/>
          </a:stretch>
        </p:blipFill>
        <p:spPr>
          <a:xfrm>
            <a:off x="323528" y="1196752"/>
            <a:ext cx="4095300" cy="46982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A16B14-C77F-30D4-FA36-5F89A8B7AD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6" r="8741" b="3517"/>
          <a:stretch>
            <a:fillRect/>
          </a:stretch>
        </p:blipFill>
        <p:spPr>
          <a:xfrm>
            <a:off x="4559926" y="1412776"/>
            <a:ext cx="4129583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869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5055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T Data Day Template" id="{92846BAD-006C-4266-8FF7-592E96877308}" vid="{D95C4ACA-B937-4CA7-8EE4-059BD2ABB2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2F7482BA8A594BB82EB43DDDC30A7B" ma:contentTypeVersion="0" ma:contentTypeDescription="Create a new document." ma:contentTypeScope="" ma:versionID="cfac4779270873affce0d8e4580d4c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7BFBC31D-43B2-41BB-8D13-4FBD595149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E52D24-A7FE-46E9-B344-6ABD7A716B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69DC2DB-DA30-434E-BF62-455F46779EA5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Say it in Six template</Template>
  <TotalTime>14812</TotalTime>
  <Words>424</Words>
  <Application>Microsoft Office PowerPoint</Application>
  <PresentationFormat>On-screen Show (4:3)</PresentationFormat>
  <Paragraphs>225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Freedom Mthobisi Khubisa</dc:creator>
  <cp:lastModifiedBy>Freedom  Khubisa</cp:lastModifiedBy>
  <cp:revision>95</cp:revision>
  <dcterms:created xsi:type="dcterms:W3CDTF">2022-02-22T09:59:59Z</dcterms:created>
  <dcterms:modified xsi:type="dcterms:W3CDTF">2026-02-17T06:06:22Z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0x010100B42F7482BA8A594BB82EB43DDDC30A7B</vt:lpwstr>
  </property>
</Properties>
</file>