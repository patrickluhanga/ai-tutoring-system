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79" r:id="rId5"/>
    <p:sldId id="284" r:id="rId6"/>
    <p:sldId id="330" r:id="rId7"/>
    <p:sldId id="331" r:id="rId8"/>
    <p:sldId id="345" r:id="rId9"/>
    <p:sldId id="347" r:id="rId10"/>
    <p:sldId id="342" r:id="rId11"/>
    <p:sldId id="343" r:id="rId12"/>
    <p:sldId id="348" r:id="rId13"/>
    <p:sldId id="349" r:id="rId14"/>
    <p:sldId id="350" r:id="rId15"/>
    <p:sldId id="351" r:id="rId16"/>
    <p:sldId id="332" r:id="rId17"/>
    <p:sldId id="352" r:id="rId18"/>
    <p:sldId id="346" r:id="rId19"/>
    <p:sldId id="353" r:id="rId20"/>
    <p:sldId id="334" r:id="rId21"/>
    <p:sldId id="354" r:id="rId22"/>
    <p:sldId id="355" r:id="rId23"/>
    <p:sldId id="356" r:id="rId24"/>
    <p:sldId id="357" r:id="rId25"/>
    <p:sldId id="358" r:id="rId26"/>
    <p:sldId id="359" r:id="rId27"/>
    <p:sldId id="336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35" autoAdjust="0"/>
    <p:restoredTop sz="94660"/>
  </p:normalViewPr>
  <p:slideViewPr>
    <p:cSldViewPr>
      <p:cViewPr varScale="1">
        <p:scale>
          <a:sx n="82" d="100"/>
          <a:sy n="82" d="100"/>
        </p:scale>
        <p:origin x="127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2026/02/22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B2C6208-0A0A-42E4-A594-20222CA1D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584" y="915830"/>
            <a:ext cx="3888432" cy="3888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B311ECE-6512-433C-AD41-986B12067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8344" y="64561"/>
            <a:ext cx="1380959" cy="13809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9" y="3759697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PBDV301 | PBDE401 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572" y="2975944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104F87-D32A-0D19-5F3B-AE10129D8A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4856" y="280439"/>
            <a:ext cx="3234288" cy="194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E4545-8C57-C397-7C7E-E35A76C78A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4856" y="2267940"/>
            <a:ext cx="3444240" cy="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88840"/>
            <a:ext cx="8363272" cy="3962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800" dirty="0"/>
              <a:t>Objectives</a:t>
            </a:r>
            <a:r>
              <a:rPr lang="en-GB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Critically differentiate SaaS from traditional and other cloud service models.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 Architect a basic multi-tenant SaaS system and justify design trade-offs.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Quantitatively evaluate SaaS performance using financial and growth metrics.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Analyze scalability constraints and propose DevOps solutions.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 Assess security and compliance (</a:t>
            </a:r>
            <a:r>
              <a:rPr lang="en-ZA" sz="2600" strike="sngStrike" dirty="0"/>
              <a:t>risk management frameworks</a:t>
            </a:r>
            <a:r>
              <a:rPr lang="en-ZA" sz="2600" dirty="0"/>
              <a:t>) in SaaS.</a:t>
            </a:r>
          </a:p>
          <a:p>
            <a:pPr marL="514350" indent="-514350">
              <a:buFont typeface="+mj-lt"/>
              <a:buAutoNum type="arabicPeriod"/>
            </a:pPr>
            <a:r>
              <a:rPr lang="en-ZA" sz="2600" dirty="0"/>
              <a:t>Evaluate SaaS market positioning (Horizontal vs Vertical SaaS).</a:t>
            </a:r>
          </a:p>
          <a:p>
            <a:pPr marL="0" indent="0">
              <a:buNone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51720" y="491743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58751" y="2129954"/>
            <a:ext cx="520824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Software-as-a-Service is a licensing model in which access to an software and application is provided to the customer or client on a subscription basis.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Accessed with a web browser over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SaaS runs on top of </a:t>
            </a:r>
            <a:r>
              <a:rPr lang="en-US" sz="2000" i="1" dirty="0"/>
              <a:t>PaaS </a:t>
            </a:r>
            <a:r>
              <a:rPr lang="en-US" sz="2000" dirty="0"/>
              <a:t>that in turn runs on top of </a:t>
            </a:r>
            <a:r>
              <a:rPr lang="en-US" sz="2000" i="1" dirty="0"/>
              <a:t>IaaS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third-party vendor controls access and takes responsibility for security, maintenance, and feature upgrades. </a:t>
            </a:r>
          </a:p>
        </p:txBody>
      </p:sp>
      <p:pic>
        <p:nvPicPr>
          <p:cNvPr id="4" name="Picture 2" descr="SaaS integration: a guide to more efficiency | Loco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375" y="2492896"/>
            <a:ext cx="3626661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17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23728" y="718675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277657"/>
            <a:ext cx="4663365" cy="37306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50328" y="1890487"/>
            <a:ext cx="53553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Third Party Responsibility (Cloud Provider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636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F7B9-FC26-A989-A1B4-1292C5995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69344-F269-F89B-E167-239BCAD26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D939A-0B3A-8042-EA18-EFBB3DE9804E}"/>
              </a:ext>
            </a:extLst>
          </p:cNvPr>
          <p:cNvSpPr txBox="1"/>
          <p:nvPr/>
        </p:nvSpPr>
        <p:spPr>
          <a:xfrm>
            <a:off x="1871700" y="685499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(Examples)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B103D33-B191-BD26-7D3A-71CE7F0B64DD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2050" name="Picture 2" descr="What is Salesforce | Resco">
            <a:extLst>
              <a:ext uri="{FF2B5EF4-FFF2-40B4-BE49-F238E27FC236}">
                <a16:creationId xmlns:a16="http://schemas.microsoft.com/office/drawing/2014/main" id="{12072034-5F41-1E98-63A8-C76602D80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04" y="1795543"/>
            <a:ext cx="3312368" cy="248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y I Use Google Workspace (My review after 6 months) | Andrew Marketing">
            <a:extLst>
              <a:ext uri="{FF2B5EF4-FFF2-40B4-BE49-F238E27FC236}">
                <a16:creationId xmlns:a16="http://schemas.microsoft.com/office/drawing/2014/main" id="{F8C8C786-879D-B4B1-5B1A-13FBAAA16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330" y="1762717"/>
            <a:ext cx="3683512" cy="308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ltimate Guide: Microsoft 365 Data Storage Locations">
            <a:extLst>
              <a:ext uri="{FF2B5EF4-FFF2-40B4-BE49-F238E27FC236}">
                <a16:creationId xmlns:a16="http://schemas.microsoft.com/office/drawing/2014/main" id="{E20F352B-0318-6334-7374-BC52C7CF2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53" y="4379499"/>
            <a:ext cx="3058670" cy="171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10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7512-7152-9BEA-96DD-D0EFA894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150AE5-619E-0858-9C89-0D267F6A4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economic shift MOST enabled SaaS dominance in enterprise markets?</a:t>
            </a:r>
          </a:p>
          <a:p>
            <a:pPr marL="0" indent="0">
              <a:buNone/>
            </a:pPr>
            <a:r>
              <a:rPr lang="en-US" sz="1800" b="0" dirty="0"/>
              <a:t>A) Faster CPUs</a:t>
            </a:r>
            <a:br>
              <a:rPr lang="en-US" sz="1800" b="0" dirty="0"/>
            </a:br>
            <a:r>
              <a:rPr lang="en-US" sz="1800" b="0" dirty="0"/>
              <a:t>B) Transition from CapEx to OpEx spending models</a:t>
            </a:r>
            <a:br>
              <a:rPr lang="en-US" sz="1800" b="0" dirty="0"/>
            </a:br>
            <a:r>
              <a:rPr lang="en-US" sz="1800" b="0" dirty="0"/>
              <a:t>C) Growth of open-source software</a:t>
            </a:r>
            <a:br>
              <a:rPr lang="en-US" sz="1800" b="0" dirty="0"/>
            </a:br>
            <a:r>
              <a:rPr lang="en-US" sz="1800" b="0" dirty="0"/>
              <a:t>D) Desktop virtualization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30ED43C-F360-401A-EEC6-1A8D74BC088A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F74F6B7E-2FF6-5CD4-DB5E-DB7799AB1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717032"/>
            <a:ext cx="3462340" cy="202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73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733839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26940" y="624371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307593" y="2376112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000" dirty="0">
                <a:solidFill>
                  <a:srgbClr val="FF0000"/>
                </a:solidFill>
              </a:rPr>
              <a:t>Multi-Tenant vs Single-Tenant Design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467544" y="1897224"/>
            <a:ext cx="58982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SaaS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073" y="2234837"/>
            <a:ext cx="4548758" cy="20455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9782" y="6018185"/>
            <a:ext cx="3593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800" dirty="0"/>
              <a:t>2, ttps://www.igloosoftware.com/blog/multi-tenancy-database/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EB4A5-C22E-16E2-10D3-637AC54EE081}"/>
              </a:ext>
            </a:extLst>
          </p:cNvPr>
          <p:cNvSpPr txBox="1"/>
          <p:nvPr/>
        </p:nvSpPr>
        <p:spPr>
          <a:xfrm>
            <a:off x="417088" y="2424292"/>
            <a:ext cx="43985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SaaS architecture defines how: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Application logic is structured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Infrastructure is provisioned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Tenants (customers) are isolated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Scalability and performance are maintained</a:t>
            </a:r>
          </a:p>
        </p:txBody>
      </p:sp>
    </p:spTree>
    <p:extLst>
      <p:ext uri="{BB962C8B-B14F-4D97-AF65-F5344CB8AC3E}">
        <p14:creationId xmlns:p14="http://schemas.microsoft.com/office/powerpoint/2010/main" val="395474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32693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23728" y="599209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69834" y="1916832"/>
            <a:ext cx="53285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Multi-Tenant Architecture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A single application instance serves multiple customers (tenants) and the supporting infrastructure</a:t>
            </a:r>
          </a:p>
          <a:p>
            <a:pPr marL="1257300" lvl="3" indent="-342900">
              <a:buFont typeface="Arial" panose="020B0604020202020204" pitchFamily="34" charset="0"/>
              <a:buChar char="•"/>
            </a:pPr>
            <a:r>
              <a:rPr lang="en-US" dirty="0"/>
              <a:t>Share infrastructure</a:t>
            </a:r>
          </a:p>
          <a:p>
            <a:pPr marL="1257300" lvl="3" indent="-342900">
              <a:buFont typeface="Arial" panose="020B0604020202020204" pitchFamily="34" charset="0"/>
              <a:buChar char="•"/>
            </a:pPr>
            <a:r>
              <a:rPr lang="en-US" dirty="0"/>
              <a:t>Share application code</a:t>
            </a:r>
          </a:p>
          <a:p>
            <a:pPr marL="1257300" lvl="3" indent="-342900">
              <a:buFont typeface="Arial" panose="020B0604020202020204" pitchFamily="34" charset="0"/>
              <a:buChar char="•"/>
            </a:pPr>
            <a:r>
              <a:rPr lang="en-US" dirty="0"/>
              <a:t>Are logically isolated at the data level</a:t>
            </a:r>
          </a:p>
          <a:p>
            <a:r>
              <a:rPr lang="en-ZA" sz="2000" b="1" dirty="0"/>
              <a:t>Data Isolation Patterns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Shared Database + Tenant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Shared Databased + Separate Schema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Separate Database per Tenant 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101" name="Picture 5" descr="Managing Multi-Tenancy with AWS. I recently had a conversation with a… | by  Chelsea Ifedinezi | Medium">
            <a:extLst>
              <a:ext uri="{FF2B5EF4-FFF2-40B4-BE49-F238E27FC236}">
                <a16:creationId xmlns:a16="http://schemas.microsoft.com/office/drawing/2014/main" id="{F0030190-EE39-7476-95E3-6E1B20F3C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67" b="12411"/>
          <a:stretch>
            <a:fillRect/>
          </a:stretch>
        </p:blipFill>
        <p:spPr bwMode="auto">
          <a:xfrm>
            <a:off x="5629630" y="1575206"/>
            <a:ext cx="2683574" cy="370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0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93DE-1632-49D9-E580-6ABD70C0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DE4481-766E-7129-8499-00C759545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32693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462F1-FDA5-042A-AA8F-83B411BBE472}"/>
              </a:ext>
            </a:extLst>
          </p:cNvPr>
          <p:cNvSpPr txBox="1"/>
          <p:nvPr/>
        </p:nvSpPr>
        <p:spPr>
          <a:xfrm>
            <a:off x="2123728" y="599209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B057361-4226-BFAD-83B3-5D4CA6DE4DF8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5122" name="Picture 2" descr="What is multi-tenant system?">
            <a:extLst>
              <a:ext uri="{FF2B5EF4-FFF2-40B4-BE49-F238E27FC236}">
                <a16:creationId xmlns:a16="http://schemas.microsoft.com/office/drawing/2014/main" id="{58B30A30-5CB7-8F92-44D3-1E80F912D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9"/>
          <a:stretch>
            <a:fillRect/>
          </a:stretch>
        </p:blipFill>
        <p:spPr bwMode="auto">
          <a:xfrm>
            <a:off x="762000" y="2060848"/>
            <a:ext cx="7162800" cy="314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6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6D3A-BB9F-E707-78CE-4C3AEF72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92E797-2466-46E7-6E9D-BF4A93C1D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32693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DAA6F-954D-3BA2-8F7E-F7CB369B3625}"/>
              </a:ext>
            </a:extLst>
          </p:cNvPr>
          <p:cNvSpPr txBox="1"/>
          <p:nvPr/>
        </p:nvSpPr>
        <p:spPr>
          <a:xfrm>
            <a:off x="2123728" y="599209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E343DB4-043F-D0C3-6F28-E687DE9328EA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E018C-B6DB-3C5F-46E1-84EB35AFFC1E}"/>
              </a:ext>
            </a:extLst>
          </p:cNvPr>
          <p:cNvSpPr/>
          <p:nvPr/>
        </p:nvSpPr>
        <p:spPr>
          <a:xfrm>
            <a:off x="544827" y="1993424"/>
            <a:ext cx="53285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Single-Tenant Architecture</a:t>
            </a:r>
          </a:p>
          <a:p>
            <a:r>
              <a:rPr lang="en-ZA" dirty="0"/>
              <a:t>Each customer (tenant) gets: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/>
              <a:t>A dedicated application instance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/>
              <a:t>Dedicated database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/>
              <a:t>Sometimes dedicated infrastructure</a:t>
            </a:r>
          </a:p>
          <a:p>
            <a:r>
              <a:rPr lang="en-ZA" sz="2000" b="1" dirty="0"/>
              <a:t>Deployment Modes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Separate virtual machines per tenant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Container per tenant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Fully isolated cloud environments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146" name="Picture 2" descr="Managing Multi-Tenancy with AWS. I recently had a conversation with a… | by  Chelsea Ifedinezi | Medium">
            <a:extLst>
              <a:ext uri="{FF2B5EF4-FFF2-40B4-BE49-F238E27FC236}">
                <a16:creationId xmlns:a16="http://schemas.microsoft.com/office/drawing/2014/main" id="{C9D5183F-A333-640C-907D-5F68097B0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" t="7211" r="61185" b="15260"/>
          <a:stretch>
            <a:fillRect/>
          </a:stretch>
        </p:blipFill>
        <p:spPr bwMode="auto">
          <a:xfrm>
            <a:off x="5220072" y="1540589"/>
            <a:ext cx="2729600" cy="375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659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E082-ACB6-8256-7A58-9A707F64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05D8C8-CAF2-824E-D785-9D140BE1F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7FBB0-823E-2985-EB3D-F84B149584FD}"/>
              </a:ext>
            </a:extLst>
          </p:cNvPr>
          <p:cNvSpPr txBox="1"/>
          <p:nvPr/>
        </p:nvSpPr>
        <p:spPr>
          <a:xfrm>
            <a:off x="2267744" y="616148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DD147FE-F200-960F-E734-0C3FBABA6B21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D98927-9F53-7726-2355-49123172F74F}"/>
              </a:ext>
            </a:extLst>
          </p:cNvPr>
          <p:cNvSpPr/>
          <p:nvPr/>
        </p:nvSpPr>
        <p:spPr>
          <a:xfrm>
            <a:off x="1050032" y="2129954"/>
            <a:ext cx="71943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8998AC-D1C7-B4AA-9B73-75A91EE86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316369"/>
              </p:ext>
            </p:extLst>
          </p:nvPr>
        </p:nvGraphicFramePr>
        <p:xfrm>
          <a:off x="611560" y="2267227"/>
          <a:ext cx="7482408" cy="256032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94136">
                  <a:extLst>
                    <a:ext uri="{9D8B030D-6E8A-4147-A177-3AD203B41FA5}">
                      <a16:colId xmlns:a16="http://schemas.microsoft.com/office/drawing/2014/main" val="2803749654"/>
                    </a:ext>
                  </a:extLst>
                </a:gridCol>
                <a:gridCol w="2494136">
                  <a:extLst>
                    <a:ext uri="{9D8B030D-6E8A-4147-A177-3AD203B41FA5}">
                      <a16:colId xmlns:a16="http://schemas.microsoft.com/office/drawing/2014/main" val="893621075"/>
                    </a:ext>
                  </a:extLst>
                </a:gridCol>
                <a:gridCol w="2494136">
                  <a:extLst>
                    <a:ext uri="{9D8B030D-6E8A-4147-A177-3AD203B41FA5}">
                      <a16:colId xmlns:a16="http://schemas.microsoft.com/office/drawing/2014/main" val="2939446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 dirty="0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 dirty="0"/>
                        <a:t>Single-Tenant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75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86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51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Physical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83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Extensive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61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Centralized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Distributed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More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53409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EDCB03A-D755-4637-4297-CEE95A5F6B20}"/>
              </a:ext>
            </a:extLst>
          </p:cNvPr>
          <p:cNvSpPr/>
          <p:nvPr/>
        </p:nvSpPr>
        <p:spPr>
          <a:xfrm>
            <a:off x="467544" y="1796280"/>
            <a:ext cx="53285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Direct Comparison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3712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ED3D-298B-CE89-B820-A7C494FB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D6BB43-AC86-3015-4131-3DD11465D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000" dirty="0"/>
              <a:t>A SaaS startup targets healthcare enterprises requiring HIPAA compliance but also wants strong cost efficiency. Which approach is MOST strategically balanced?</a:t>
            </a:r>
          </a:p>
          <a:p>
            <a:pPr marL="0" indent="0">
              <a:buNone/>
            </a:pPr>
            <a:r>
              <a:rPr lang="en-US" sz="1800" b="0" dirty="0"/>
              <a:t>A) Fully shared database multi-tenant</a:t>
            </a:r>
            <a:br>
              <a:rPr lang="en-US" sz="1800" b="0" dirty="0"/>
            </a:br>
            <a:r>
              <a:rPr lang="en-US" sz="1800" b="0" dirty="0"/>
              <a:t>B) Dedicated servers and codebase per tenant</a:t>
            </a:r>
            <a:br>
              <a:rPr lang="en-US" sz="1800" b="0" dirty="0"/>
            </a:br>
            <a:r>
              <a:rPr lang="en-US" sz="1800" b="0" dirty="0"/>
              <a:t>C) Shared application layer with separate database per tenant</a:t>
            </a:r>
            <a:br>
              <a:rPr lang="en-US" sz="1800" b="0" dirty="0"/>
            </a:br>
            <a:r>
              <a:rPr lang="en-US" sz="1800" b="0" dirty="0"/>
              <a:t>D) Single shared database without row-level isolation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BF6463A-A9C5-79B2-ECFC-9BD41205754C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EDD7B4EF-1095-C5F3-6F2B-FD7B844B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072" y="3836876"/>
            <a:ext cx="3462340" cy="202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226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096" y="3311642"/>
            <a:ext cx="1154663" cy="1484567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23728" y="616148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79512" y="1844824"/>
            <a:ext cx="5126935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/>
              <a:t>SaaS Financial Model &amp; Unit Economics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SaaS success depends on </a:t>
            </a:r>
            <a:r>
              <a:rPr lang="en-US" u="sng" dirty="0"/>
              <a:t>unit economics</a:t>
            </a:r>
            <a:r>
              <a:rPr lang="en-US" dirty="0"/>
              <a:t>, whether each customer generates more lifetime value than it costs to acquire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SaaS businesses often lose money upfront and recover revenue over time through subscriptions.</a:t>
            </a:r>
            <a:endParaRPr lang="en-US" sz="2000" dirty="0"/>
          </a:p>
          <a:p>
            <a:r>
              <a:rPr lang="en-US" sz="2000" b="1" dirty="0"/>
              <a:t>Core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MRR (Monthly Recurring Revenue) - Predictable monthly subscription income.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CAC (Customer Acquisition Cost)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Churn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LTV (Lifetime Value)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0242" name="Picture 2" descr="Unlocking growth: Understanding Unit Economics in SaaS">
            <a:extLst>
              <a:ext uri="{FF2B5EF4-FFF2-40B4-BE49-F238E27FC236}">
                <a16:creationId xmlns:a16="http://schemas.microsoft.com/office/drawing/2014/main" id="{877842E8-71DD-FAF9-E4AD-203C1C28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47" y="2564904"/>
            <a:ext cx="3730049" cy="234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00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06FDB-BF02-BA39-81B9-929F2A19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9698F1-34DB-A1F5-B0D1-C19280597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000" dirty="0"/>
              <a:t>A SaaS firm reduces churn from 6% to 3%. What happens to LTV?</a:t>
            </a:r>
          </a:p>
          <a:p>
            <a:pPr marL="0" indent="0">
              <a:buNone/>
            </a:pPr>
            <a:r>
              <a:rPr lang="en-US" sz="1800" b="0" dirty="0"/>
              <a:t>A) Doubles</a:t>
            </a:r>
            <a:br>
              <a:rPr lang="en-US" sz="1800" b="0" dirty="0"/>
            </a:br>
            <a:r>
              <a:rPr lang="en-US" sz="1800" b="0" dirty="0"/>
              <a:t>B) Increases by 50%</a:t>
            </a:r>
            <a:br>
              <a:rPr lang="en-US" sz="1800" b="0" dirty="0"/>
            </a:br>
            <a:r>
              <a:rPr lang="en-US" sz="1800" b="0" dirty="0"/>
              <a:t>C) Triples</a:t>
            </a:r>
            <a:br>
              <a:rPr lang="en-US" sz="1800" b="0" dirty="0"/>
            </a:br>
            <a:r>
              <a:rPr lang="en-US" sz="1800" b="0" dirty="0"/>
              <a:t>D) Remains constant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710377A9-CA03-5FE7-FB21-61E4891C02F8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ED1F25DA-A880-C81B-9F9F-AE109A55B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994" y="3717032"/>
            <a:ext cx="3462340" cy="202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76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F3C3-ED32-4301-B615-D54C1E94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46267-1176-46A7-5920-99B07CE81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2153816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DC0FB-ACC2-F226-02CC-DBF039DE81DE}"/>
              </a:ext>
            </a:extLst>
          </p:cNvPr>
          <p:cNvSpPr txBox="1"/>
          <p:nvPr/>
        </p:nvSpPr>
        <p:spPr>
          <a:xfrm>
            <a:off x="2368424" y="575165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18607F0-F99A-5366-70AB-1A607985794C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0E332-872B-6950-EF1E-D601E2A2CE93}"/>
              </a:ext>
            </a:extLst>
          </p:cNvPr>
          <p:cNvSpPr/>
          <p:nvPr/>
        </p:nvSpPr>
        <p:spPr>
          <a:xfrm>
            <a:off x="166114" y="1835421"/>
            <a:ext cx="4981949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/>
              <a:t>Scalability &amp; DevOps in SaaS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SaaS must handle unpredictable user growth and traffic spikes.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ZA" sz="2000" b="1" dirty="0"/>
              <a:t>Scaling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Vertical Scaling – Increase Server power (Limited and Costly)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Horizontal Scaling  - Add more servers (preferred for cloud SaaS)</a:t>
            </a: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DevOps Practices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CI/CD, Infrastructure as Code, Containerization, Monitoring and Observability</a:t>
            </a:r>
          </a:p>
          <a:p>
            <a:endParaRPr lang="en-US" sz="2000" dirty="0"/>
          </a:p>
        </p:txBody>
      </p:sp>
      <p:pic>
        <p:nvPicPr>
          <p:cNvPr id="12292" name="Picture 4" descr="System Design: Vertical vs Horizontal Scaling">
            <a:extLst>
              <a:ext uri="{FF2B5EF4-FFF2-40B4-BE49-F238E27FC236}">
                <a16:creationId xmlns:a16="http://schemas.microsoft.com/office/drawing/2014/main" id="{5B14102A-8C31-FD98-9817-391AEAEA1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41"/>
          <a:stretch>
            <a:fillRect/>
          </a:stretch>
        </p:blipFill>
        <p:spPr bwMode="auto">
          <a:xfrm>
            <a:off x="4517462" y="2129954"/>
            <a:ext cx="4334125" cy="138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34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9F75-99AA-CE93-59E7-61AB8288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B1B010-961C-2586-6EE5-5485FEE4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000" dirty="0"/>
              <a:t>Why is stateless service design critical for SaaS scalability?</a:t>
            </a:r>
          </a:p>
          <a:p>
            <a:pPr marL="0" indent="0">
              <a:buNone/>
            </a:pPr>
            <a:r>
              <a:rPr lang="en-US" sz="1800" b="0" dirty="0"/>
              <a:t>A) Improves UI</a:t>
            </a:r>
            <a:br>
              <a:rPr lang="en-US" sz="1800" b="0" dirty="0"/>
            </a:br>
            <a:r>
              <a:rPr lang="en-US" sz="1800" b="0" dirty="0"/>
              <a:t>B) Enables horizontal scaling without session dependency</a:t>
            </a:r>
            <a:br>
              <a:rPr lang="en-US" sz="1800" b="0" dirty="0"/>
            </a:br>
            <a:r>
              <a:rPr lang="en-US" sz="1800" b="0" dirty="0"/>
              <a:t>C) Reduces database size</a:t>
            </a:r>
            <a:br>
              <a:rPr lang="en-US" sz="1800" b="0" dirty="0"/>
            </a:br>
            <a:r>
              <a:rPr lang="en-US" sz="1800" b="0" dirty="0"/>
              <a:t>D) Prevents DDoS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9005ACE-4096-DD9E-DDF1-2331090BEE39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C1F66A5F-FC2E-4D53-4E4F-F0702B8A4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579" y="3549743"/>
            <a:ext cx="3828790" cy="22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947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51720" y="68163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467544" y="1879774"/>
            <a:ext cx="72008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/>
              <a:t>Security &amp; Compliance</a:t>
            </a:r>
          </a:p>
          <a:p>
            <a:r>
              <a:rPr lang="en-US" sz="2000" dirty="0"/>
              <a:t>SaaS security is complex due to multi-tenancy and internet exposure. </a:t>
            </a:r>
          </a:p>
          <a:p>
            <a:r>
              <a:rPr lang="en-US" sz="2000" b="1" dirty="0"/>
              <a:t>Major Threats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Cross-tenant data leakage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API attacks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Insider threats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Cloud misconfigurations</a:t>
            </a:r>
          </a:p>
          <a:p>
            <a:r>
              <a:rPr lang="en-US" sz="2000" b="1" dirty="0"/>
              <a:t>Compliance Frameworks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GDPR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POPIA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SOC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ISO 27001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4339" name="Picture 3" descr="Security Compliance: Understanding Security &amp; Compliance">
            <a:extLst>
              <a:ext uri="{FF2B5EF4-FFF2-40B4-BE49-F238E27FC236}">
                <a16:creationId xmlns:a16="http://schemas.microsoft.com/office/drawing/2014/main" id="{FCB6D163-9C30-C768-EE61-4561D5DC6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731" y="2778187"/>
            <a:ext cx="436848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736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48D3-00F4-EC4F-5235-A63ABA96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02CE2-43C3-38C5-945B-6DE34AD8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2076" y="2542309"/>
            <a:ext cx="4077446" cy="2729218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E4EFC-55B4-EEE5-7AEE-60238ED93D32}"/>
              </a:ext>
            </a:extLst>
          </p:cNvPr>
          <p:cNvSpPr txBox="1"/>
          <p:nvPr/>
        </p:nvSpPr>
        <p:spPr>
          <a:xfrm>
            <a:off x="2051720" y="68163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3BBF143-5F72-51E4-22A1-52800EF41171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89C842-216A-E4FA-78EC-21FD7F937FFF}"/>
              </a:ext>
            </a:extLst>
          </p:cNvPr>
          <p:cNvSpPr/>
          <p:nvPr/>
        </p:nvSpPr>
        <p:spPr>
          <a:xfrm>
            <a:off x="519886" y="2359274"/>
            <a:ext cx="396044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/>
              <a:t>Security Layers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Encryption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Role-Based Access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Tenant-scoped authorization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Logging &amp; auditing</a:t>
            </a:r>
          </a:p>
        </p:txBody>
      </p:sp>
      <p:pic>
        <p:nvPicPr>
          <p:cNvPr id="15362" name="Picture 2" descr="Essential Components of Data Security | by Ryan Arjun | Medium">
            <a:extLst>
              <a:ext uri="{FF2B5EF4-FFF2-40B4-BE49-F238E27FC236}">
                <a16:creationId xmlns:a16="http://schemas.microsoft.com/office/drawing/2014/main" id="{3FF9F072-70D6-E85F-1E02-4EED9DC1E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574" y="1758852"/>
            <a:ext cx="4720856" cy="351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629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65C2-078D-2B0F-3F4C-9E79CBBE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F478C8-1FD2-4E60-4009-B6EF7D4B5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000" dirty="0"/>
              <a:t>Which failure is MOST catastrophic in multi-tenant SaaS?</a:t>
            </a:r>
          </a:p>
          <a:p>
            <a:pPr marL="0" indent="0">
              <a:buNone/>
            </a:pPr>
            <a:r>
              <a:rPr lang="en-US" sz="1800" b="0" dirty="0"/>
              <a:t>A) Slow response time</a:t>
            </a:r>
            <a:br>
              <a:rPr lang="en-US" sz="1800" b="0" dirty="0"/>
            </a:br>
            <a:r>
              <a:rPr lang="en-US" sz="1800" b="0" dirty="0"/>
              <a:t>B) Minor UI bug</a:t>
            </a:r>
            <a:br>
              <a:rPr lang="en-US" sz="1800" b="0" dirty="0"/>
            </a:br>
            <a:r>
              <a:rPr lang="en-US" sz="1800" b="0" dirty="0"/>
              <a:t>C) Cross-tenant data exposure</a:t>
            </a:r>
            <a:br>
              <a:rPr lang="en-US" sz="1800" b="0" dirty="0"/>
            </a:br>
            <a:r>
              <a:rPr lang="en-US" sz="1800" b="0" dirty="0"/>
              <a:t>D) Temporary outage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32891CE-FD55-360C-CEE0-370D509277B9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87DF3E68-149C-036F-8048-8885008A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462" y="3493897"/>
            <a:ext cx="3828790" cy="22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95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2D22-ABC4-255B-2F6F-AC003D9B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5C4512-9F06-AEB7-0E65-E1D3E478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7E55-B595-0913-B79C-3E58AF30944F}"/>
              </a:ext>
            </a:extLst>
          </p:cNvPr>
          <p:cNvSpPr txBox="1"/>
          <p:nvPr/>
        </p:nvSpPr>
        <p:spPr>
          <a:xfrm>
            <a:off x="2051720" y="68163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4C013EC0-2F5A-41C9-8600-DF5981577D00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2810F-7FC0-36EB-F972-13C5AB66FD8F}"/>
              </a:ext>
            </a:extLst>
          </p:cNvPr>
          <p:cNvSpPr/>
          <p:nvPr/>
        </p:nvSpPr>
        <p:spPr>
          <a:xfrm>
            <a:off x="627849" y="1912292"/>
            <a:ext cx="7200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/>
              <a:t>SaaS Market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Horizontal SaaS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Vertical SaaS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6390" name="Picture 6" descr="Vertical vs. Horizontal SaaS: What's More Profitable for Your Business?">
            <a:extLst>
              <a:ext uri="{FF2B5EF4-FFF2-40B4-BE49-F238E27FC236}">
                <a16:creationId xmlns:a16="http://schemas.microsoft.com/office/drawing/2014/main" id="{8FB3E8E2-676F-BD9E-C545-1EE553628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277" y="2950174"/>
            <a:ext cx="5113735" cy="2876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168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ABEA-72AF-9192-FB1E-5BCA3051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C1950E-E4C0-0181-FF6A-8A0BC771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53E65-3924-1D09-FBD8-4A4F282ECAD7}"/>
              </a:ext>
            </a:extLst>
          </p:cNvPr>
          <p:cNvSpPr txBox="1"/>
          <p:nvPr/>
        </p:nvSpPr>
        <p:spPr>
          <a:xfrm>
            <a:off x="2051720" y="68163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087C885-4262-9FB7-2D81-ADFC192DCE11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6388" name="Picture 4" descr="Vertical SaaS: Transforming Niche Industries">
            <a:extLst>
              <a:ext uri="{FF2B5EF4-FFF2-40B4-BE49-F238E27FC236}">
                <a16:creationId xmlns:a16="http://schemas.microsoft.com/office/drawing/2014/main" id="{FAA7D8F3-708D-EAB3-4216-2C39D0A63E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6"/>
          <a:stretch>
            <a:fillRect/>
          </a:stretch>
        </p:blipFill>
        <p:spPr bwMode="auto">
          <a:xfrm>
            <a:off x="683568" y="1916832"/>
            <a:ext cx="623887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091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7ABF-C3DB-FB1F-F096-5B01DA67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D9DC9A-0278-E05A-4844-96A35F6FA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7" y="980728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000" dirty="0"/>
              <a:t>Why does Vertical SaaS often have lower churn?</a:t>
            </a:r>
          </a:p>
          <a:p>
            <a:pPr marL="0" indent="0">
              <a:buNone/>
            </a:pPr>
            <a:r>
              <a:rPr lang="en-US" sz="2000" b="0" dirty="0"/>
              <a:t>A) Cheaper pricing</a:t>
            </a:r>
            <a:br>
              <a:rPr lang="en-US" sz="2000" b="0" dirty="0"/>
            </a:br>
            <a:r>
              <a:rPr lang="en-US" sz="2000" b="0" dirty="0"/>
              <a:t>B) Larger customer base</a:t>
            </a:r>
            <a:br>
              <a:rPr lang="en-US" sz="2000" b="0" dirty="0"/>
            </a:br>
            <a:r>
              <a:rPr lang="en-US" sz="2000" b="0" dirty="0"/>
              <a:t>C) Deep workflow integration</a:t>
            </a:r>
            <a:br>
              <a:rPr lang="en-US" sz="2000" b="0" dirty="0"/>
            </a:br>
            <a:r>
              <a:rPr lang="en-US" sz="2000" b="0" dirty="0"/>
              <a:t>D) Less competition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31EBD04B-08E2-47BC-6B6E-4C8BBE15ADA0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The Art of Asking Questions">
            <a:extLst>
              <a:ext uri="{FF2B5EF4-FFF2-40B4-BE49-F238E27FC236}">
                <a16:creationId xmlns:a16="http://schemas.microsoft.com/office/drawing/2014/main" id="{906CA7C8-8DAA-23CF-D9EE-2D104D397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462" y="3493897"/>
            <a:ext cx="3828790" cy="22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843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3421-E502-8FEF-36EB-A6D416B5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07DDB-1132-6378-9201-3F9D8BC27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09" y="2074648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4C806-F859-F24D-2EC7-D32C040BFA4E}"/>
              </a:ext>
            </a:extLst>
          </p:cNvPr>
          <p:cNvSpPr txBox="1"/>
          <p:nvPr/>
        </p:nvSpPr>
        <p:spPr>
          <a:xfrm>
            <a:off x="1979712" y="42132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EC3A07D-1FFF-D5CE-31F6-B31F88B13578}"/>
              </a:ext>
            </a:extLst>
          </p:cNvPr>
          <p:cNvSpPr txBox="1">
            <a:spLocks/>
          </p:cNvSpPr>
          <p:nvPr/>
        </p:nvSpPr>
        <p:spPr>
          <a:xfrm>
            <a:off x="971600" y="2348880"/>
            <a:ext cx="7272808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1ABACA-1BC9-20C3-0B1E-E3A4BA147D99}"/>
              </a:ext>
            </a:extLst>
          </p:cNvPr>
          <p:cNvSpPr/>
          <p:nvPr/>
        </p:nvSpPr>
        <p:spPr>
          <a:xfrm>
            <a:off x="467544" y="5021385"/>
            <a:ext cx="38884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AI-native SaaS, Usage-based billing, API-first products, Vertical AI agents</a:t>
            </a:r>
          </a:p>
        </p:txBody>
      </p:sp>
      <p:pic>
        <p:nvPicPr>
          <p:cNvPr id="18434" name="Picture 2" descr="Unlocking the Future of SaaS - Essential Trends and Insights for 2024">
            <a:extLst>
              <a:ext uri="{FF2B5EF4-FFF2-40B4-BE49-F238E27FC236}">
                <a16:creationId xmlns:a16="http://schemas.microsoft.com/office/drawing/2014/main" id="{CEC83F00-5517-F71D-9489-C6D367B86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18417"/>
            <a:ext cx="6048672" cy="340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99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750689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Software as a Service (SaaS)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539552" y="2348880"/>
            <a:ext cx="6264696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23529" y="1937370"/>
            <a:ext cx="54005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brighter side of SaaS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Reduction in initial costs from the development, deployment, and maintenance of software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For business access to more and better tools through SaaS can only accelerate innovation – </a:t>
            </a:r>
            <a:r>
              <a:rPr lang="en-US" sz="2000" dirty="0">
                <a:solidFill>
                  <a:srgbClr val="FF0000"/>
                </a:solidFill>
              </a:rPr>
              <a:t>AI, IOT and Big data tools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Perfect tools for a mobile and remote workforce (before the global Covid19 pandemic).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Modified to fit the needs of a business and the needs of individual workers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2056" name="Picture 8" descr="The Future of SaaS | New Market Movement | TurningCloud Soluti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762" y="2924944"/>
            <a:ext cx="315060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030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26395</TotalTime>
  <Words>941</Words>
  <Application>Microsoft Office PowerPoint</Application>
  <PresentationFormat>On-screen Show (4:3)</PresentationFormat>
  <Paragraphs>495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 Khubisa</cp:lastModifiedBy>
  <cp:revision>113</cp:revision>
  <dcterms:created xsi:type="dcterms:W3CDTF">2022-02-22T09:59:59Z</dcterms:created>
  <dcterms:modified xsi:type="dcterms:W3CDTF">2026-02-25T10:31:30Z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