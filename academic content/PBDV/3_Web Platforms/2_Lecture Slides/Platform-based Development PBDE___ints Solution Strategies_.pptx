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79" r:id="rId5"/>
    <p:sldId id="346" r:id="rId6"/>
    <p:sldId id="338" r:id="rId7"/>
    <p:sldId id="347" r:id="rId8"/>
    <p:sldId id="339" r:id="rId9"/>
    <p:sldId id="348" r:id="rId10"/>
    <p:sldId id="340" r:id="rId11"/>
    <p:sldId id="349" r:id="rId12"/>
    <p:sldId id="341" r:id="rId13"/>
    <p:sldId id="350" r:id="rId14"/>
    <p:sldId id="343" r:id="rId15"/>
    <p:sldId id="351" r:id="rId16"/>
    <p:sldId id="344" r:id="rId17"/>
    <p:sldId id="352" r:id="rId18"/>
    <p:sldId id="342" r:id="rId19"/>
    <p:sldId id="353" r:id="rId20"/>
    <p:sldId id="345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02" d="100"/>
          <a:sy n="102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2026/02/22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430651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PBDV301 | PBDE401  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3026009"/>
            <a:ext cx="77048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0"/>
              <a:cs typeface="Gill Sans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Web Constraints Solution Strategies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DF53A0-8304-7809-B5FE-99E7978787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9880" y="293627"/>
            <a:ext cx="3234288" cy="194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4FA08-260A-857A-3D13-03B0E864A1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0098" y="2329087"/>
            <a:ext cx="3444240" cy="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8EB5-DA18-A602-1004-3B276779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B255BF-D064-AF14-DD06-E2A7D7E2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strategy primarily ensures a web app remains available during server failure?</a:t>
            </a:r>
          </a:p>
          <a:p>
            <a:pPr marL="0" indent="0">
              <a:buNone/>
            </a:pPr>
            <a:r>
              <a:rPr lang="en-US" sz="1800" b="0" dirty="0"/>
              <a:t>A. Minifying CSS</a:t>
            </a:r>
            <a:br>
              <a:rPr lang="en-US" sz="1800" b="0" dirty="0"/>
            </a:br>
            <a:r>
              <a:rPr lang="en-US" sz="1800" b="0" dirty="0"/>
              <a:t>B. Load balancing with failover</a:t>
            </a:r>
            <a:br>
              <a:rPr lang="en-US" sz="1800" b="0" dirty="0"/>
            </a:br>
            <a:r>
              <a:rPr lang="en-US" sz="1800" b="0" dirty="0"/>
              <a:t>C. Using responsive design</a:t>
            </a:r>
            <a:br>
              <a:rPr lang="en-US" sz="1800" b="0" dirty="0"/>
            </a:br>
            <a:r>
              <a:rPr lang="en-US" sz="1800" b="0" dirty="0"/>
              <a:t>D. Adding animations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90603FF-C450-E706-6483-944A681B046A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454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6154-DB29-C49A-7632-0EDA2FB2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60D0F-04ED-4A81-8ED8-B382609E5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1DA66-D377-676E-2140-44DB8E59918B}"/>
              </a:ext>
            </a:extLst>
          </p:cNvPr>
          <p:cNvSpPr txBox="1"/>
          <p:nvPr/>
        </p:nvSpPr>
        <p:spPr>
          <a:xfrm>
            <a:off x="2328026" y="869919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Server Dependency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DB4EFFE-A263-56D1-C53B-F2F63A940D4E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026" name="Picture 2" descr="What is Auto-Scaling? ⚙️ Definition, Types, Benefits">
            <a:extLst>
              <a:ext uri="{FF2B5EF4-FFF2-40B4-BE49-F238E27FC236}">
                <a16:creationId xmlns:a16="http://schemas.microsoft.com/office/drawing/2014/main" id="{09C6EFA6-2B00-F5ED-BB34-E5145E6270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" t="10124" r="365" b="1078"/>
          <a:stretch>
            <a:fillRect/>
          </a:stretch>
        </p:blipFill>
        <p:spPr bwMode="auto">
          <a:xfrm>
            <a:off x="178994" y="2084730"/>
            <a:ext cx="3875825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fferent Types of Caching: Server Cache vs Browser Cache vs Page (Site)  Cache">
            <a:extLst>
              <a:ext uri="{FF2B5EF4-FFF2-40B4-BE49-F238E27FC236}">
                <a16:creationId xmlns:a16="http://schemas.microsoft.com/office/drawing/2014/main" id="{B5B385A8-38D8-5572-1C81-B912E818A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78108"/>
            <a:ext cx="3807187" cy="168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rverless Architecture vs. Server ...">
            <a:extLst>
              <a:ext uri="{FF2B5EF4-FFF2-40B4-BE49-F238E27FC236}">
                <a16:creationId xmlns:a16="http://schemas.microsoft.com/office/drawing/2014/main" id="{E9DE2E0B-E6EB-CF4B-F378-9573EC6F6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955" y="435111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BA5725-EA1E-56AE-4ABB-6ADB16C1675D}"/>
              </a:ext>
            </a:extLst>
          </p:cNvPr>
          <p:cNvSpPr txBox="1"/>
          <p:nvPr/>
        </p:nvSpPr>
        <p:spPr>
          <a:xfrm>
            <a:off x="178994" y="1782639"/>
            <a:ext cx="344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Load balance and Auto-scaling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785F6-2F24-3BBC-4AD0-1AD21876E319}"/>
              </a:ext>
            </a:extLst>
          </p:cNvPr>
          <p:cNvSpPr txBox="1"/>
          <p:nvPr/>
        </p:nvSpPr>
        <p:spPr>
          <a:xfrm>
            <a:off x="4967328" y="1763552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Caching</a:t>
            </a:r>
          </a:p>
        </p:txBody>
      </p:sp>
    </p:spTree>
    <p:extLst>
      <p:ext uri="{BB962C8B-B14F-4D97-AF65-F5344CB8AC3E}">
        <p14:creationId xmlns:p14="http://schemas.microsoft.com/office/powerpoint/2010/main" val="420682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7512-7152-9BEA-96DD-D0EFA894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150AE5-619E-0858-9C89-0D267F6A4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What is the main purpose of using Babel in web development?</a:t>
            </a:r>
          </a:p>
          <a:p>
            <a:pPr marL="0" indent="0">
              <a:buNone/>
            </a:pPr>
            <a:r>
              <a:rPr lang="en-US" sz="1800" b="0" dirty="0"/>
              <a:t>A. Compress images</a:t>
            </a:r>
            <a:br>
              <a:rPr lang="en-US" sz="1800" b="0" dirty="0"/>
            </a:br>
            <a:r>
              <a:rPr lang="en-US" sz="1800" b="0" dirty="0"/>
              <a:t>B. Convert modern JavaScript into backward-compatible versions</a:t>
            </a:r>
            <a:br>
              <a:rPr lang="en-US" sz="1800" b="0" dirty="0"/>
            </a:br>
            <a:r>
              <a:rPr lang="en-US" sz="1800" b="0" dirty="0"/>
              <a:t>C. Improve database indexing</a:t>
            </a:r>
            <a:br>
              <a:rPr lang="en-US" sz="1800" b="0" dirty="0"/>
            </a:br>
            <a:r>
              <a:rPr lang="en-US" sz="1800" b="0" dirty="0"/>
              <a:t>D. Replace CSS frameworks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30ED43C-F360-401A-EEC6-1A8D74BC088A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73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27F2-2D84-AF06-97AC-867E2C0B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C30B52-080D-10C9-A5F5-0F7861B64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744D2-06EE-3044-8DF8-4CF55712A370}"/>
              </a:ext>
            </a:extLst>
          </p:cNvPr>
          <p:cNvSpPr txBox="1"/>
          <p:nvPr/>
        </p:nvSpPr>
        <p:spPr>
          <a:xfrm>
            <a:off x="2267744" y="677282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Incompatible Browsers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5C4FE64-C4E4-4CE8-56DC-BF274FD01B14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4" name="Picture 2" descr="Cross Browser Testing in Selenium - Scientech Easy">
            <a:extLst>
              <a:ext uri="{FF2B5EF4-FFF2-40B4-BE49-F238E27FC236}">
                <a16:creationId xmlns:a16="http://schemas.microsoft.com/office/drawing/2014/main" id="{7BF0EA64-6078-E027-6475-B2CD6074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6" y="3986816"/>
            <a:ext cx="3502964" cy="210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est Responsive Web Design Frameworks Of 2025 Available | Invedus">
            <a:extLst>
              <a:ext uri="{FF2B5EF4-FFF2-40B4-BE49-F238E27FC236}">
                <a16:creationId xmlns:a16="http://schemas.microsoft.com/office/drawing/2014/main" id="{1D26FC06-2AF4-1A69-AB1C-AC86ADE4E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88" b="4818"/>
          <a:stretch>
            <a:fillRect/>
          </a:stretch>
        </p:blipFill>
        <p:spPr bwMode="auto">
          <a:xfrm>
            <a:off x="4097503" y="2276872"/>
            <a:ext cx="4430266" cy="246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Fundamental Elements of Web Development: HTML, CSS, and JavaScript">
            <a:extLst>
              <a:ext uri="{FF2B5EF4-FFF2-40B4-BE49-F238E27FC236}">
                <a16:creationId xmlns:a16="http://schemas.microsoft.com/office/drawing/2014/main" id="{B39E6944-CAED-AE6F-0CAE-DC198AE39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83" y="1844293"/>
            <a:ext cx="2150765" cy="205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4D3794-6378-9FEA-72A6-0A4AE7B5CCD2}"/>
              </a:ext>
            </a:extLst>
          </p:cNvPr>
          <p:cNvSpPr txBox="1"/>
          <p:nvPr/>
        </p:nvSpPr>
        <p:spPr>
          <a:xfrm>
            <a:off x="1322930" y="1483820"/>
            <a:ext cx="166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Standardized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B72F2-EBFB-04F2-76A5-D437BB6D5FE2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42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D6DD-CF5D-D7A6-8E4F-500D21DF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22779E-D282-9CB0-8C04-120FEC8DE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CSS feature is commonly used to implement responsive layouts?</a:t>
            </a:r>
          </a:p>
          <a:p>
            <a:pPr marL="0" indent="0">
              <a:buNone/>
            </a:pPr>
            <a:r>
              <a:rPr lang="en-US" sz="1800" b="0" dirty="0"/>
              <a:t>A. Media Queries</a:t>
            </a:r>
            <a:br>
              <a:rPr lang="en-US" sz="1800" b="0" dirty="0"/>
            </a:br>
            <a:r>
              <a:rPr lang="en-US" sz="1800" b="0" dirty="0"/>
              <a:t>B. SQL Queries</a:t>
            </a:r>
            <a:br>
              <a:rPr lang="en-US" sz="1800" b="0" dirty="0"/>
            </a:br>
            <a:r>
              <a:rPr lang="en-US" sz="1800" b="0" dirty="0"/>
              <a:t>C. Stored Procedures</a:t>
            </a:r>
            <a:br>
              <a:rPr lang="en-US" sz="1800" b="0" dirty="0"/>
            </a:br>
            <a:r>
              <a:rPr lang="en-US" sz="1800" b="0" dirty="0"/>
              <a:t>D. Cookies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40BA9EB-7909-7807-42E6-3EBD59BED4E8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96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F2B3-209D-0275-2A06-B37C32EC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F08B4-4C57-5162-7CBA-638676AE8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672A9-C9D6-C5EC-948E-286FC794BC18}"/>
              </a:ext>
            </a:extLst>
          </p:cNvPr>
          <p:cNvSpPr txBox="1"/>
          <p:nvPr/>
        </p:nvSpPr>
        <p:spPr>
          <a:xfrm>
            <a:off x="2044999" y="531291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Lack of Responsiveness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7B9AF934-FF8E-04C8-4179-E1D38E086730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52F9-4728-99DB-51B3-B2D8D3597369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pic>
        <p:nvPicPr>
          <p:cNvPr id="4098" name="Picture 2" descr="How HTML, CSS, and JavaScript work">
            <a:extLst>
              <a:ext uri="{FF2B5EF4-FFF2-40B4-BE49-F238E27FC236}">
                <a16:creationId xmlns:a16="http://schemas.microsoft.com/office/drawing/2014/main" id="{76D6F0D6-68F7-1AD4-1B7F-A2A7D78F6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806" y="1387533"/>
            <a:ext cx="4520898" cy="300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FFBE8D-E1A4-A717-97AE-0B369FA61243}"/>
              </a:ext>
            </a:extLst>
          </p:cNvPr>
          <p:cNvSpPr txBox="1"/>
          <p:nvPr/>
        </p:nvSpPr>
        <p:spPr>
          <a:xfrm>
            <a:off x="762000" y="4698973"/>
            <a:ext cx="5694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Test across multiple devices and screen resolutions </a:t>
            </a:r>
          </a:p>
        </p:txBody>
      </p:sp>
      <p:pic>
        <p:nvPicPr>
          <p:cNvPr id="4102" name="Picture 6" descr="Flex vs Grid">
            <a:extLst>
              <a:ext uri="{FF2B5EF4-FFF2-40B4-BE49-F238E27FC236}">
                <a16:creationId xmlns:a16="http://schemas.microsoft.com/office/drawing/2014/main" id="{AF30DBF0-713F-6354-23AC-A1790580A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1" t="17288" b="22036"/>
          <a:stretch>
            <a:fillRect/>
          </a:stretch>
        </p:blipFill>
        <p:spPr bwMode="auto">
          <a:xfrm>
            <a:off x="838180" y="5035150"/>
            <a:ext cx="2603184" cy="101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6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9725-BE4B-311B-0701-479E0D2B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255294-7011-A610-7AA8-A466A4412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technology enables offline functionality in web apps?</a:t>
            </a:r>
          </a:p>
          <a:p>
            <a:pPr marL="0" indent="0">
              <a:buNone/>
            </a:pPr>
            <a:r>
              <a:rPr lang="en-US" sz="1800" b="0" dirty="0"/>
              <a:t>A. Service Workers</a:t>
            </a:r>
            <a:br>
              <a:rPr lang="en-US" sz="1800" b="0" dirty="0"/>
            </a:br>
            <a:r>
              <a:rPr lang="en-US" sz="1800" b="0" dirty="0"/>
              <a:t>B. REST APIs</a:t>
            </a:r>
            <a:br>
              <a:rPr lang="en-US" sz="1800" b="0" dirty="0"/>
            </a:br>
            <a:r>
              <a:rPr lang="en-US" sz="1800" b="0" dirty="0"/>
              <a:t>C. FTP</a:t>
            </a:r>
            <a:br>
              <a:rPr lang="en-US" sz="1800" b="0" dirty="0"/>
            </a:br>
            <a:r>
              <a:rPr lang="en-US" sz="1800" b="0" dirty="0"/>
              <a:t>D. SOAP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4D0E0BA3-DAF7-0B79-02DA-853CDEAD25EC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921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5F12-441D-013E-024A-B4ADBAFC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0CDE50-8382-5334-97FF-D0058B1D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71C2D-DC84-68A7-A9ED-54ADB783C576}"/>
              </a:ext>
            </a:extLst>
          </p:cNvPr>
          <p:cNvSpPr txBox="1"/>
          <p:nvPr/>
        </p:nvSpPr>
        <p:spPr>
          <a:xfrm>
            <a:off x="2267744" y="697405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Internet Reliance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8DDFDAD-7988-329D-B888-21B1C1876310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7865A-7FB3-664C-072A-505C5C18EDF3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pic>
        <p:nvPicPr>
          <p:cNvPr id="5122" name="Picture 2" descr="PWAs and Desktop Applications">
            <a:extLst>
              <a:ext uri="{FF2B5EF4-FFF2-40B4-BE49-F238E27FC236}">
                <a16:creationId xmlns:a16="http://schemas.microsoft.com/office/drawing/2014/main" id="{2A8761B2-8FD2-7E10-6B0B-785AAE85E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23306" r="9167" b="3142"/>
          <a:stretch>
            <a:fillRect/>
          </a:stretch>
        </p:blipFill>
        <p:spPr bwMode="auto">
          <a:xfrm>
            <a:off x="1827288" y="1676938"/>
            <a:ext cx="4861093" cy="246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319C0B-EF44-95B0-59FC-146AD033C92B}"/>
              </a:ext>
            </a:extLst>
          </p:cNvPr>
          <p:cNvSpPr txBox="1"/>
          <p:nvPr/>
        </p:nvSpPr>
        <p:spPr>
          <a:xfrm>
            <a:off x="727670" y="4697379"/>
            <a:ext cx="6506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Local Storage or IndexedDB ( Store critical data locally)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Enable Caching of Static 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41E45-AFC5-5694-407E-61EB849F0940}"/>
              </a:ext>
            </a:extLst>
          </p:cNvPr>
          <p:cNvSpPr txBox="1"/>
          <p:nvPr/>
        </p:nvSpPr>
        <p:spPr>
          <a:xfrm>
            <a:off x="6660232" y="2996952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FF0000"/>
                </a:solidFill>
              </a:rPr>
              <a:t>Restricted critical </a:t>
            </a:r>
          </a:p>
          <a:p>
            <a:r>
              <a:rPr lang="en-ZA" b="1" dirty="0">
                <a:solidFill>
                  <a:srgbClr val="FF0000"/>
                </a:solidFill>
              </a:rPr>
              <a:t>functionality? </a:t>
            </a:r>
          </a:p>
        </p:txBody>
      </p:sp>
    </p:spTree>
    <p:extLst>
      <p:ext uri="{BB962C8B-B14F-4D97-AF65-F5344CB8AC3E}">
        <p14:creationId xmlns:p14="http://schemas.microsoft.com/office/powerpoint/2010/main" val="248860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C952-1516-94DA-68E0-E40F8038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ABCEB9-F1AF-6FFD-D1F3-2EE7AE209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What is the primary benefit of using a CDN?</a:t>
            </a:r>
          </a:p>
          <a:p>
            <a:pPr marL="0" indent="0">
              <a:buNone/>
            </a:pPr>
            <a:r>
              <a:rPr lang="en-US" sz="1800" b="0" dirty="0"/>
              <a:t>A. Encrypting passwords</a:t>
            </a:r>
            <a:br>
              <a:rPr lang="en-US" sz="1800" b="0" dirty="0"/>
            </a:br>
            <a:r>
              <a:rPr lang="en-US" sz="1800" b="0" dirty="0"/>
              <a:t>B. Reducing latency by serving content closer to users</a:t>
            </a:r>
            <a:br>
              <a:rPr lang="en-US" sz="1800" b="0" dirty="0"/>
            </a:br>
            <a:r>
              <a:rPr lang="en-US" sz="1800" b="0" dirty="0"/>
              <a:t>C. Writing backend logic</a:t>
            </a:r>
            <a:br>
              <a:rPr lang="en-US" sz="1800" b="0" dirty="0"/>
            </a:br>
            <a:r>
              <a:rPr lang="en-US" sz="1800" b="0" dirty="0"/>
              <a:t>D. Creating databases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26BB72F2-826F-D6C9-E326-F821E72E2272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819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0BAE-CA30-694F-478D-FD190933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947FBE-C8DD-8CD0-D90D-A3B24D8D0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F0CDD-2026-DB60-7840-41F50E7E167D}"/>
              </a:ext>
            </a:extLst>
          </p:cNvPr>
          <p:cNvSpPr txBox="1"/>
          <p:nvPr/>
        </p:nvSpPr>
        <p:spPr>
          <a:xfrm>
            <a:off x="1619672" y="1095590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Reduced Speed/Performance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E5798B9-E60B-D36D-14CE-F6BEF472784C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E70E4-ADD3-6AE7-196D-716D41E3662C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pic>
        <p:nvPicPr>
          <p:cNvPr id="7170" name="Picture 2" descr="What is CDN (Content Delivery Network)? - ClouDNS Blog">
            <a:extLst>
              <a:ext uri="{FF2B5EF4-FFF2-40B4-BE49-F238E27FC236}">
                <a16:creationId xmlns:a16="http://schemas.microsoft.com/office/drawing/2014/main" id="{5BED00DD-2B60-CCA3-BD79-0673C60A3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7"/>
          <a:stretch>
            <a:fillRect/>
          </a:stretch>
        </p:blipFill>
        <p:spPr bwMode="auto">
          <a:xfrm>
            <a:off x="94680" y="2838507"/>
            <a:ext cx="4858320" cy="249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atabase Indexing Strategies - ByteByteGo Newsletter">
            <a:extLst>
              <a:ext uri="{FF2B5EF4-FFF2-40B4-BE49-F238E27FC236}">
                <a16:creationId xmlns:a16="http://schemas.microsoft.com/office/drawing/2014/main" id="{CF0A4DCD-F4D2-95EA-6B84-FD880E07E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500" y="2782060"/>
            <a:ext cx="4302500" cy="255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8A8D79-B053-F60B-5B9F-4AA2A1AF6E13}"/>
              </a:ext>
            </a:extLst>
          </p:cNvPr>
          <p:cNvSpPr txBox="1"/>
          <p:nvPr/>
        </p:nvSpPr>
        <p:spPr>
          <a:xfrm>
            <a:off x="6335734" y="2454836"/>
            <a:ext cx="2170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Database Indexing</a:t>
            </a:r>
          </a:p>
          <a:p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45196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7EFA-9381-E8C9-8FF1-AB3BC43B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0C6671-0C47-84A9-86CB-F1633F5F0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attack involves injecting malicious scripts into webpages?</a:t>
            </a:r>
          </a:p>
          <a:p>
            <a:pPr marL="0" indent="0">
              <a:buNone/>
            </a:pPr>
            <a:r>
              <a:rPr lang="en-US" sz="1800" b="0" dirty="0"/>
              <a:t>A. SQL Injection</a:t>
            </a:r>
            <a:br>
              <a:rPr lang="en-US" sz="1800" b="0" dirty="0"/>
            </a:br>
            <a:r>
              <a:rPr lang="en-US" sz="1800" b="0" dirty="0"/>
              <a:t>B. XSS</a:t>
            </a:r>
            <a:br>
              <a:rPr lang="en-US" sz="1800" b="0" dirty="0"/>
            </a:br>
            <a:r>
              <a:rPr lang="en-US" sz="1800" b="0" dirty="0"/>
              <a:t>C. DDoS</a:t>
            </a:r>
            <a:br>
              <a:rPr lang="en-US" sz="1800" b="0" dirty="0"/>
            </a:br>
            <a:r>
              <a:rPr lang="en-US" sz="1800" b="0" dirty="0"/>
              <a:t>D. Phishing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C7FD0BE-A25A-EC0D-989B-C18C80DA0871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653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AAFD-B462-501F-EBB8-8443252D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F192FC-345F-C75A-71C8-6E8DBACBC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5B552-4AAD-1EBA-D683-31E6ABE2EB62}"/>
              </a:ext>
            </a:extLst>
          </p:cNvPr>
          <p:cNvSpPr txBox="1"/>
          <p:nvPr/>
        </p:nvSpPr>
        <p:spPr>
          <a:xfrm>
            <a:off x="1619672" y="1095590"/>
            <a:ext cx="6048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Less Security (Security Threats)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D85CF8E-FE50-95ED-47E0-A3E039407D54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A3306F-4C86-AC63-7F67-A2FF544A050D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pic>
        <p:nvPicPr>
          <p:cNvPr id="8196" name="Picture 4" descr="Back to basics: Multi-factor authentication (MFA) | NIST">
            <a:extLst>
              <a:ext uri="{FF2B5EF4-FFF2-40B4-BE49-F238E27FC236}">
                <a16:creationId xmlns:a16="http://schemas.microsoft.com/office/drawing/2014/main" id="{CD1A5719-EED5-AB22-AC69-9BF319207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95"/>
          <a:stretch>
            <a:fillRect/>
          </a:stretch>
        </p:blipFill>
        <p:spPr bwMode="auto">
          <a:xfrm>
            <a:off x="442323" y="2390682"/>
            <a:ext cx="311703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Building Secure Frontend Applications with Content Security Policy (CSP) |  by Frontend Highlights | Medium">
            <a:extLst>
              <a:ext uri="{FF2B5EF4-FFF2-40B4-BE49-F238E27FC236}">
                <a16:creationId xmlns:a16="http://schemas.microsoft.com/office/drawing/2014/main" id="{2530BDE1-6499-DEDD-B804-FA656633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300" y="2129954"/>
            <a:ext cx="5091440" cy="314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80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F05-0CEB-B0A9-E8A1-306531DEE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4B4766-0ACF-E3F7-178E-E0EF5ACC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Which solution directly reduces the size of data sent from the server to the client?</a:t>
            </a:r>
          </a:p>
          <a:p>
            <a:pPr marL="0" indent="0">
              <a:buNone/>
            </a:pPr>
            <a:r>
              <a:rPr lang="en-US" sz="1800" b="0" dirty="0"/>
              <a:t>A. Increasing CPU power</a:t>
            </a:r>
            <a:br>
              <a:rPr lang="en-US" sz="1800" b="0" dirty="0"/>
            </a:br>
            <a:r>
              <a:rPr lang="en-US" sz="1800" b="0" dirty="0"/>
              <a:t>B. Pagination</a:t>
            </a:r>
            <a:br>
              <a:rPr lang="en-US" sz="1800" b="0" dirty="0"/>
            </a:br>
            <a:r>
              <a:rPr lang="en-US" sz="1800" b="0" dirty="0"/>
              <a:t>C. Adding more animations</a:t>
            </a:r>
            <a:br>
              <a:rPr lang="en-US" sz="1800" b="0" dirty="0"/>
            </a:br>
            <a:r>
              <a:rPr lang="en-US" sz="1800" b="0" dirty="0"/>
              <a:t>D. Expanding database storage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40983F9-07A9-45FD-7EB4-485E7FD0607B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2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3EA1-7A89-3CD6-9CEB-7DEB9A58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BF5E2-1ECB-367D-36B3-ABD98C97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B2F11-4DE5-1D6B-C7A9-1A5F999F24F2}"/>
              </a:ext>
            </a:extLst>
          </p:cNvPr>
          <p:cNvSpPr txBox="1"/>
          <p:nvPr/>
        </p:nvSpPr>
        <p:spPr>
          <a:xfrm>
            <a:off x="2044999" y="531291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Data Transfer Size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EC8C01E-7B2F-719E-84E1-2596D6E22067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7818F-F438-17F5-22D7-8D926BCA2F54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pic>
        <p:nvPicPr>
          <p:cNvPr id="6146" name="Picture 2" descr="AddyOsmani.com - Infinite Scroll without Layout Shifts">
            <a:extLst>
              <a:ext uri="{FF2B5EF4-FFF2-40B4-BE49-F238E27FC236}">
                <a16:creationId xmlns:a16="http://schemas.microsoft.com/office/drawing/2014/main" id="{574A4FA7-8524-E586-7C97-5994B71D50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0"/>
          <a:stretch>
            <a:fillRect/>
          </a:stretch>
        </p:blipFill>
        <p:spPr bwMode="auto">
          <a:xfrm>
            <a:off x="4612955" y="1785541"/>
            <a:ext cx="4310177" cy="216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is Lazy Loading | Lazy vs. Eager Loading | Imperva">
            <a:extLst>
              <a:ext uri="{FF2B5EF4-FFF2-40B4-BE49-F238E27FC236}">
                <a16:creationId xmlns:a16="http://schemas.microsoft.com/office/drawing/2014/main" id="{DC57B261-D48E-7940-A3F6-65D23499C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44" y="1653956"/>
            <a:ext cx="4386311" cy="27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What Does Image Optimization Mean? - GTmetrix">
            <a:extLst>
              <a:ext uri="{FF2B5EF4-FFF2-40B4-BE49-F238E27FC236}">
                <a16:creationId xmlns:a16="http://schemas.microsoft.com/office/drawing/2014/main" id="{22F1FDC6-45EA-CCE6-455D-58637A8BA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0" t="37759" r="7288" b="15020"/>
          <a:stretch>
            <a:fillRect/>
          </a:stretch>
        </p:blipFill>
        <p:spPr bwMode="auto">
          <a:xfrm>
            <a:off x="381015" y="4469368"/>
            <a:ext cx="5803451" cy="16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DE4B4-8369-6721-46CB-A6F0470ACCB3}"/>
              </a:ext>
            </a:extLst>
          </p:cNvPr>
          <p:cNvSpPr txBox="1"/>
          <p:nvPr/>
        </p:nvSpPr>
        <p:spPr>
          <a:xfrm>
            <a:off x="611560" y="4218263"/>
            <a:ext cx="235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Image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7C4C3-B62D-367F-2B75-4C933ABC1819}"/>
              </a:ext>
            </a:extLst>
          </p:cNvPr>
          <p:cNvSpPr txBox="1"/>
          <p:nvPr/>
        </p:nvSpPr>
        <p:spPr>
          <a:xfrm>
            <a:off x="539552" y="1635147"/>
            <a:ext cx="324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Pagination and Lazy loading </a:t>
            </a:r>
          </a:p>
        </p:txBody>
      </p:sp>
    </p:spTree>
    <p:extLst>
      <p:ext uri="{BB962C8B-B14F-4D97-AF65-F5344CB8AC3E}">
        <p14:creationId xmlns:p14="http://schemas.microsoft.com/office/powerpoint/2010/main" val="2846524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BDAA0-DCD3-44E7-F802-50910862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85CEAB-22CE-3402-F09B-7A69DCE16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96752"/>
            <a:ext cx="83820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Question </a:t>
            </a:r>
          </a:p>
          <a:p>
            <a:pPr marL="0" indent="0">
              <a:buNone/>
            </a:pPr>
            <a:r>
              <a:rPr lang="en-US" sz="2400" dirty="0"/>
              <a:t>What is a key requirement of GDPR?</a:t>
            </a:r>
          </a:p>
          <a:p>
            <a:pPr marL="0" indent="0">
              <a:buNone/>
            </a:pPr>
            <a:r>
              <a:rPr lang="en-US" sz="1800" b="0" dirty="0"/>
              <a:t>A. Unlimited data storage</a:t>
            </a:r>
            <a:br>
              <a:rPr lang="en-US" sz="1800" b="0" dirty="0"/>
            </a:br>
            <a:r>
              <a:rPr lang="en-US" sz="1800" b="0" dirty="0"/>
              <a:t>B. Explicit user consent for data collection</a:t>
            </a:r>
            <a:br>
              <a:rPr lang="en-US" sz="1800" b="0" dirty="0"/>
            </a:br>
            <a:r>
              <a:rPr lang="en-US" sz="1800" b="0" dirty="0"/>
              <a:t>C. Public sharing of user data</a:t>
            </a:r>
            <a:br>
              <a:rPr lang="en-US" sz="1800" b="0" dirty="0"/>
            </a:br>
            <a:r>
              <a:rPr lang="en-US" sz="1800" b="0" dirty="0"/>
              <a:t>D. No encryption required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DC1FB39-6AA4-05BA-E931-B2C34706A071}"/>
              </a:ext>
            </a:extLst>
          </p:cNvPr>
          <p:cNvSpPr txBox="1">
            <a:spLocks/>
          </p:cNvSpPr>
          <p:nvPr/>
        </p:nvSpPr>
        <p:spPr>
          <a:xfrm>
            <a:off x="455818" y="3528628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32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DED6-D0C5-1D11-A5D4-F8E7B4D6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BD0B3-DE29-6F65-D180-D1425ACF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95A72-AE28-BDFB-EE8A-6E6F87A61DD2}"/>
              </a:ext>
            </a:extLst>
          </p:cNvPr>
          <p:cNvSpPr txBox="1"/>
          <p:nvPr/>
        </p:nvSpPr>
        <p:spPr>
          <a:xfrm>
            <a:off x="2044999" y="531291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Compliance with Data-Related Laws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5AA721B-A5B8-D9EA-CC22-0DBCC692EC16}"/>
              </a:ext>
            </a:extLst>
          </p:cNvPr>
          <p:cNvSpPr txBox="1">
            <a:spLocks/>
          </p:cNvSpPr>
          <p:nvPr/>
        </p:nvSpPr>
        <p:spPr>
          <a:xfrm>
            <a:off x="573131" y="1705430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8A5A-FB59-AC40-7651-59807829DA8E}"/>
              </a:ext>
            </a:extLst>
          </p:cNvPr>
          <p:cNvSpPr txBox="1"/>
          <p:nvPr/>
        </p:nvSpPr>
        <p:spPr>
          <a:xfrm>
            <a:off x="3158348" y="5543797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 </a:t>
            </a:r>
          </a:p>
        </p:txBody>
      </p:sp>
      <p:sp>
        <p:nvSpPr>
          <p:cNvPr id="7" name="AutoShape 4" descr="Opt In vs Opt Out: What's the Difference? | Termly">
            <a:extLst>
              <a:ext uri="{FF2B5EF4-FFF2-40B4-BE49-F238E27FC236}">
                <a16:creationId xmlns:a16="http://schemas.microsoft.com/office/drawing/2014/main" id="{977D8B0F-9CE7-4D70-2078-88700A7B5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6C09F6-9822-B3E0-2FB3-7818EE602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13"/>
          <a:stretch>
            <a:fillRect/>
          </a:stretch>
        </p:blipFill>
        <p:spPr>
          <a:xfrm>
            <a:off x="1187624" y="3249680"/>
            <a:ext cx="4905117" cy="2961879"/>
          </a:xfrm>
          <a:prstGeom prst="rect">
            <a:avLst/>
          </a:prstGeom>
        </p:spPr>
      </p:pic>
      <p:pic>
        <p:nvPicPr>
          <p:cNvPr id="9224" name="Picture 8" descr="Data In Transit Encryption (DITE)">
            <a:extLst>
              <a:ext uri="{FF2B5EF4-FFF2-40B4-BE49-F238E27FC236}">
                <a16:creationId xmlns:a16="http://schemas.microsoft.com/office/drawing/2014/main" id="{60351929-45BD-3015-0F09-D8724350E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2" y="1547643"/>
            <a:ext cx="4219189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Which are the Principles of the main Personal Data Protection laws ?!">
            <a:extLst>
              <a:ext uri="{FF2B5EF4-FFF2-40B4-BE49-F238E27FC236}">
                <a16:creationId xmlns:a16="http://schemas.microsoft.com/office/drawing/2014/main" id="{0D2812C5-465C-16AF-4CF8-E239D1441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0" t="11451"/>
          <a:stretch>
            <a:fillRect/>
          </a:stretch>
        </p:blipFill>
        <p:spPr bwMode="auto">
          <a:xfrm>
            <a:off x="4706645" y="1766296"/>
            <a:ext cx="4103011" cy="241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6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69DC2DB-DA30-434E-BF62-455F46779EA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19465</TotalTime>
  <Words>388</Words>
  <Application>Microsoft Office PowerPoint</Application>
  <PresentationFormat>On-screen Show (4:3)</PresentationFormat>
  <Paragraphs>393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 Khubisa</cp:lastModifiedBy>
  <cp:revision>100</cp:revision>
  <dcterms:created xsi:type="dcterms:W3CDTF">2022-02-22T09:59:59Z</dcterms:created>
  <dcterms:modified xsi:type="dcterms:W3CDTF">2026-02-22T19:32:06Z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