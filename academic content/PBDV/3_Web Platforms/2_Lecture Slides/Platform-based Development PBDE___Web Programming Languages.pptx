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79" r:id="rId5"/>
    <p:sldId id="331" r:id="rId6"/>
    <p:sldId id="333" r:id="rId7"/>
    <p:sldId id="334" r:id="rId8"/>
    <p:sldId id="332" r:id="rId9"/>
    <p:sldId id="328" r:id="rId10"/>
    <p:sldId id="329" r:id="rId11"/>
    <p:sldId id="330" r:id="rId12"/>
    <p:sldId id="310" r:id="rId13"/>
    <p:sldId id="322" r:id="rId14"/>
    <p:sldId id="335" r:id="rId15"/>
    <p:sldId id="336" r:id="rId16"/>
    <p:sldId id="337" r:id="rId17"/>
    <p:sldId id="28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2026/02/19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430651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PBDV301 | PBDE401  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2506050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0"/>
              <a:cs typeface="Gill Sans"/>
            </a:endParaRP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Suitable Web Programming Languages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&amp; Web Constraints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DF53A0-8304-7809-B5FE-99E7978787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9880" y="293627"/>
            <a:ext cx="3234288" cy="194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4FA08-260A-857A-3D13-03B0E864A1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0098" y="2329087"/>
            <a:ext cx="3444240" cy="5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2F54-CFFA-0B2F-DF46-9EFE8F75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41CB2-C88B-0463-36A6-1137C6DEC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When building a client-side interactive web application, the most suitable language is often:</a:t>
            </a:r>
            <a:br>
              <a:rPr lang="en-US" sz="2000" dirty="0"/>
            </a:br>
            <a:r>
              <a:rPr lang="en-US" sz="1800" b="0" dirty="0"/>
              <a:t>A) JavaScript</a:t>
            </a:r>
            <a:br>
              <a:rPr lang="en-US" sz="1800" b="0" dirty="0"/>
            </a:br>
            <a:r>
              <a:rPr lang="en-US" sz="1800" b="0" dirty="0"/>
              <a:t>B) Python</a:t>
            </a:r>
            <a:br>
              <a:rPr lang="en-US" sz="1800" b="0" dirty="0"/>
            </a:br>
            <a:r>
              <a:rPr lang="en-US" sz="1800" b="0" dirty="0"/>
              <a:t>C) C++</a:t>
            </a:r>
            <a:br>
              <a:rPr lang="en-US" sz="1800" b="0" dirty="0"/>
            </a:br>
            <a:r>
              <a:rPr lang="en-US" sz="1800" b="0" dirty="0"/>
              <a:t>D) PHP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95E22-59FB-E3AC-C7B9-3332B488B147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7AAFE-D859-B46F-057C-AA7D2648CB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9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FBA8-EBC8-48E1-B9EF-60C3CCDE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206680-65CD-9CB9-3EB3-0C7985B5C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For a web app that relies heavily on server-side computations and machine learning models, which factor is most relevant?</a:t>
            </a:r>
            <a:br>
              <a:rPr lang="en-US" sz="2000" dirty="0"/>
            </a:br>
            <a:r>
              <a:rPr lang="en-US" sz="1800" b="0" dirty="0"/>
              <a:t>A) Integration with data processing libraries</a:t>
            </a:r>
            <a:br>
              <a:rPr lang="en-US" sz="1800" b="0" dirty="0"/>
            </a:br>
            <a:r>
              <a:rPr lang="en-US" sz="1800" b="0" dirty="0"/>
              <a:t>B) Ability to manipulate the DOM</a:t>
            </a:r>
            <a:br>
              <a:rPr lang="en-US" sz="1800" b="0" dirty="0"/>
            </a:br>
            <a:r>
              <a:rPr lang="en-US" sz="1800" b="0" dirty="0"/>
              <a:t>C) Built-in animation libraries</a:t>
            </a:r>
            <a:br>
              <a:rPr lang="en-US" sz="1800" b="0" dirty="0"/>
            </a:br>
            <a:r>
              <a:rPr lang="en-US" sz="1800" b="0" dirty="0"/>
              <a:t>D) Support for HTTP cookies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FCE45-AD5D-4727-979B-1F7D83A256E0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365CE-89B5-9BB2-42D3-27013896D1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0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67784-0816-2D3C-F7BB-B8095E40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40753-2BA8-748C-02C1-0C541F849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A startup wants a fast time-to-market with minimal coding effort. Which factor is most important in language selection?</a:t>
            </a:r>
            <a:br>
              <a:rPr lang="en-US" sz="2000" dirty="0"/>
            </a:br>
            <a:r>
              <a:rPr lang="en-US" sz="1800" b="0" dirty="0"/>
              <a:t>A) Rapid development frameworks</a:t>
            </a:r>
            <a:br>
              <a:rPr lang="en-US" sz="1800" b="0" dirty="0"/>
            </a:br>
            <a:r>
              <a:rPr lang="en-US" sz="1800" b="0" dirty="0"/>
              <a:t>B) Advanced concurrency control</a:t>
            </a:r>
            <a:br>
              <a:rPr lang="en-US" sz="1800" b="0" dirty="0"/>
            </a:br>
            <a:r>
              <a:rPr lang="en-US" sz="1800" b="0" dirty="0"/>
              <a:t>C) Low-level memory management</a:t>
            </a:r>
            <a:br>
              <a:rPr lang="en-US" sz="1800" b="0" dirty="0"/>
            </a:br>
            <a:r>
              <a:rPr lang="en-US" sz="1800" b="0" dirty="0"/>
              <a:t>D) Multi-threading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C1EA4-323C-0746-2501-9C5081BB18AB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FE63A-D59E-4E38-FE52-648EE66722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808" y="3501008"/>
            <a:ext cx="270237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9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3A31-3DDC-585C-2CEA-BA84FD36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B823DC-61A8-197C-C0A0-775B7924A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Which factor is key when the web application needs to handle sensitive user data?</a:t>
            </a:r>
            <a:br>
              <a:rPr lang="en-US" sz="2000" dirty="0"/>
            </a:br>
            <a:r>
              <a:rPr lang="en-US" sz="1800" b="0" dirty="0"/>
              <a:t>A) Language popularity</a:t>
            </a:r>
            <a:br>
              <a:rPr lang="en-US" sz="1800" b="0" dirty="0"/>
            </a:br>
            <a:r>
              <a:rPr lang="en-US" sz="1800" b="0" dirty="0"/>
              <a:t>B) Security features and built-in sanitization</a:t>
            </a:r>
            <a:br>
              <a:rPr lang="en-US" sz="1800" b="0" dirty="0"/>
            </a:br>
            <a:r>
              <a:rPr lang="en-US" sz="1800" b="0" dirty="0"/>
              <a:t>C) Support for functional programming</a:t>
            </a:r>
            <a:br>
              <a:rPr lang="en-US" sz="1800" b="0" dirty="0"/>
            </a:br>
            <a:r>
              <a:rPr lang="en-US" sz="1800" b="0" dirty="0"/>
              <a:t>D) Ability to run offline</a:t>
            </a:r>
          </a:p>
          <a:p>
            <a:pPr marL="0" indent="0">
              <a:buNone/>
            </a:pPr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D12E3-879A-7A87-8D40-AA285F480AA6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48A7F-62E8-1F86-EF83-C19A8D2842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8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65B4-4C96-9937-4BD3-571A4176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5BACB0-67BC-E61F-0C1A-215E0CB01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Which factor is most important when selecting a web programming language for a high-traffic, real-time web application?</a:t>
            </a:r>
            <a:br>
              <a:rPr lang="en-US" sz="1600" dirty="0"/>
            </a:br>
            <a:r>
              <a:rPr lang="en-US" sz="1800" b="0" dirty="0"/>
              <a:t>A) Syntax readability</a:t>
            </a:r>
            <a:br>
              <a:rPr lang="en-US" sz="1800" b="0" dirty="0"/>
            </a:br>
            <a:r>
              <a:rPr lang="en-US" sz="1800" b="0" dirty="0"/>
              <a:t>B) Concurrency and performance</a:t>
            </a:r>
            <a:br>
              <a:rPr lang="en-US" sz="1800" b="0" dirty="0"/>
            </a:br>
            <a:r>
              <a:rPr lang="en-US" sz="1800" b="0" dirty="0"/>
              <a:t>C) Availability of GUI libraries</a:t>
            </a:r>
            <a:br>
              <a:rPr lang="en-US" sz="1800" b="0" dirty="0"/>
            </a:br>
            <a:r>
              <a:rPr lang="en-US" sz="1800" b="0" dirty="0"/>
              <a:t>D) Ease of embedding in HTML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BBE82-548E-6114-9E4F-86823301D796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68790-AFCB-A2D0-C995-3BBB68B2F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2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CCBC-5245-684A-CCAD-32053230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A9D51-8394-E173-BA5A-CA2E44405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If a project requires rapid prototyping and integration with data analytics tools, which factor should weigh most heavily in choosing a language?</a:t>
            </a:r>
            <a:br>
              <a:rPr lang="en-US" sz="2000" dirty="0"/>
            </a:br>
            <a:r>
              <a:rPr lang="en-US" sz="1800" b="0" dirty="0"/>
              <a:t>A) Community support and libraries</a:t>
            </a:r>
            <a:br>
              <a:rPr lang="en-US" sz="1800" b="0" dirty="0"/>
            </a:br>
            <a:r>
              <a:rPr lang="en-US" sz="1800" b="0" dirty="0"/>
              <a:t>B) Ability to compile to machine code</a:t>
            </a:r>
            <a:br>
              <a:rPr lang="en-US" sz="1800" b="0" dirty="0"/>
            </a:br>
            <a:r>
              <a:rPr lang="en-US" sz="1800" b="0" dirty="0"/>
              <a:t>C) Multi-threading support</a:t>
            </a:r>
            <a:br>
              <a:rPr lang="en-US" sz="1800" b="0" dirty="0"/>
            </a:br>
            <a:r>
              <a:rPr lang="en-US" sz="1800" b="0" dirty="0"/>
              <a:t>D) Low-level memory management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5281B-702F-DC37-E598-EB4B1D234F08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6F7C9-8859-2567-9D22-AC08E8E4DD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1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0663-610C-271B-D376-99FA0DF0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B15D51-C8F8-CD75-15D6-3C0980337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Suitable web programming languages</a:t>
            </a:r>
          </a:p>
          <a:p>
            <a:pPr marL="0" indent="0">
              <a:buNone/>
            </a:pPr>
            <a:r>
              <a:rPr lang="en-US" sz="2000" dirty="0"/>
              <a:t>Which factor is crucial when selecting a language for a large-scale application maintained by a distributed team?</a:t>
            </a:r>
            <a:br>
              <a:rPr lang="en-US" sz="2000" dirty="0"/>
            </a:br>
            <a:r>
              <a:rPr lang="en-US" sz="2000" b="0" dirty="0"/>
              <a:t>A) Type safety and maintainability</a:t>
            </a:r>
            <a:br>
              <a:rPr lang="en-US" sz="2000" b="0" dirty="0"/>
            </a:br>
            <a:r>
              <a:rPr lang="en-US" sz="2000" b="0" dirty="0"/>
              <a:t>B) Browser compatibility</a:t>
            </a:r>
            <a:br>
              <a:rPr lang="en-US" sz="2000" b="0" dirty="0"/>
            </a:br>
            <a:r>
              <a:rPr lang="en-US" sz="2000" b="0" dirty="0"/>
              <a:t>C) Speed of execution</a:t>
            </a:r>
            <a:br>
              <a:rPr lang="en-US" sz="2000" b="0" dirty="0"/>
            </a:br>
            <a:r>
              <a:rPr lang="en-US" sz="2000" b="0" dirty="0"/>
              <a:t>D) Ability to run without a server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9DE97-406A-7951-6A0C-E8B206B7A94C}"/>
              </a:ext>
            </a:extLst>
          </p:cNvPr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16A05-67E3-F62B-283E-7830F0876A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501008"/>
            <a:ext cx="2302003" cy="15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3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800" dirty="0"/>
              <a:t>Suitable web programming languages</a:t>
            </a:r>
          </a:p>
          <a:p>
            <a:pPr marL="0" indent="0">
              <a:buNone/>
            </a:pPr>
            <a:r>
              <a:rPr lang="en-US" b="0" dirty="0"/>
              <a:t>There are a number of parameters (factors) to consider: </a:t>
            </a:r>
          </a:p>
          <a:p>
            <a:pPr lvl="1"/>
            <a:r>
              <a:rPr lang="en-US" b="0" dirty="0"/>
              <a:t>Project requirements (e.g. type of application and features)</a:t>
            </a:r>
          </a:p>
          <a:p>
            <a:pPr lvl="1"/>
            <a:r>
              <a:rPr lang="en-US" b="0" dirty="0"/>
              <a:t>Popularity,</a:t>
            </a:r>
          </a:p>
          <a:p>
            <a:pPr lvl="1"/>
            <a:r>
              <a:rPr lang="en-US" b="0" dirty="0"/>
              <a:t>Demand,</a:t>
            </a:r>
          </a:p>
          <a:p>
            <a:pPr lvl="1"/>
            <a:r>
              <a:rPr lang="en-US" dirty="0"/>
              <a:t>Budget,</a:t>
            </a:r>
            <a:endParaRPr lang="en-US" b="0" dirty="0"/>
          </a:p>
          <a:p>
            <a:pPr lvl="1"/>
            <a:r>
              <a:rPr lang="en-US" b="0" dirty="0"/>
              <a:t>Performance, </a:t>
            </a:r>
          </a:p>
          <a:p>
            <a:pPr lvl="1"/>
            <a:r>
              <a:rPr lang="en-US" b="0" dirty="0"/>
              <a:t>Support,</a:t>
            </a:r>
          </a:p>
          <a:p>
            <a:pPr lvl="1"/>
            <a:r>
              <a:rPr lang="en-US" b="0" dirty="0"/>
              <a:t>Learning curve, </a:t>
            </a:r>
          </a:p>
          <a:p>
            <a:pPr lvl="1"/>
            <a:r>
              <a:rPr lang="en-US" b="0" dirty="0"/>
              <a:t>Reliability</a:t>
            </a:r>
            <a:r>
              <a:rPr lang="en-US" dirty="0"/>
              <a:t>, and more</a:t>
            </a:r>
            <a:r>
              <a:rPr lang="en-US" b="0" dirty="0"/>
              <a:t>.  </a:t>
            </a:r>
            <a:r>
              <a:rPr lang="en-US" sz="2000" dirty="0"/>
              <a:t>	</a:t>
            </a:r>
          </a:p>
          <a:p>
            <a:pPr marL="400050" lvl="1" indent="0">
              <a:buNone/>
            </a:pPr>
            <a:r>
              <a:rPr lang="en-US" sz="2000" dirty="0"/>
              <a:t> </a:t>
            </a:r>
          </a:p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829761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212976"/>
            <a:ext cx="3058669" cy="203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82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477692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Platform Constraints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0" b="0" dirty="0"/>
              <a:t>Server dependency </a:t>
            </a:r>
          </a:p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" name="Picture 2" descr="Web server vs. Application server">
            <a:extLst>
              <a:ext uri="{FF2B5EF4-FFF2-40B4-BE49-F238E27FC236}">
                <a16:creationId xmlns:a16="http://schemas.microsoft.com/office/drawing/2014/main" id="{0D33AAD3-D33F-B2B1-B7CF-0C0A28972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76978"/>
            <a:ext cx="3776753" cy="302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62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9A66-D0B2-6FD2-C7AC-DB0ADD3C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DB652-839A-3AE9-5F4F-C564D693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419BE-8995-D373-7E64-920E77BD1FC2}"/>
              </a:ext>
            </a:extLst>
          </p:cNvPr>
          <p:cNvSpPr txBox="1"/>
          <p:nvPr/>
        </p:nvSpPr>
        <p:spPr>
          <a:xfrm>
            <a:off x="2195736" y="477692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Platform Constraints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34767C80-5EBA-678D-E09C-EB2E9ACFD1FD}"/>
              </a:ext>
            </a:extLst>
          </p:cNvPr>
          <p:cNvSpPr txBox="1">
            <a:spLocks/>
          </p:cNvSpPr>
          <p:nvPr/>
        </p:nvSpPr>
        <p:spPr>
          <a:xfrm>
            <a:off x="611560" y="1736812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0" dirty="0"/>
              <a:t>Browser Incompatibility</a:t>
            </a:r>
          </a:p>
          <a:p>
            <a:endParaRPr lang="en-US" sz="8600" b="0" dirty="0"/>
          </a:p>
          <a:p>
            <a:endParaRPr lang="en-US" sz="8600" b="0" dirty="0"/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2050" name="Picture 2" descr="What is Cross-Browser Compatibility? How to Build Websites that Work  Everywhere">
            <a:extLst>
              <a:ext uri="{FF2B5EF4-FFF2-40B4-BE49-F238E27FC236}">
                <a16:creationId xmlns:a16="http://schemas.microsoft.com/office/drawing/2014/main" id="{78FD6E1D-F156-5944-5795-745F0C13A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259" y="2492896"/>
            <a:ext cx="4347975" cy="244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971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1052736"/>
            <a:ext cx="46085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Web Platform Constraints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331640" y="2203451"/>
            <a:ext cx="6480720" cy="3384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600" b="0" dirty="0"/>
              <a:t>Server dependency </a:t>
            </a:r>
          </a:p>
          <a:p>
            <a:r>
              <a:rPr lang="en-US" sz="8600" b="0" dirty="0"/>
              <a:t>Browser incompatibility</a:t>
            </a:r>
          </a:p>
          <a:p>
            <a:r>
              <a:rPr lang="en-US" sz="8600" b="0" dirty="0"/>
              <a:t>Lack Responsiveness   </a:t>
            </a:r>
          </a:p>
          <a:p>
            <a:r>
              <a:rPr lang="en-US" sz="8600" b="0" dirty="0"/>
              <a:t>Internet reliance</a:t>
            </a:r>
          </a:p>
          <a:p>
            <a:r>
              <a:rPr lang="en-US" sz="8600" b="0" dirty="0"/>
              <a:t>Reduced Speed / Performance</a:t>
            </a:r>
          </a:p>
          <a:p>
            <a:r>
              <a:rPr lang="en-US" sz="8600" b="0" dirty="0"/>
              <a:t>Less Security</a:t>
            </a:r>
          </a:p>
          <a:p>
            <a:r>
              <a:rPr lang="en-US" sz="8600" b="0" dirty="0"/>
              <a:t>No visibility</a:t>
            </a:r>
          </a:p>
          <a:p>
            <a:r>
              <a:rPr lang="en-US" sz="8600" b="0" dirty="0"/>
              <a:t>Restricted Functionality</a:t>
            </a:r>
          </a:p>
          <a:p>
            <a:r>
              <a:rPr lang="en-US" sz="8600" b="0" dirty="0"/>
              <a:t>Compliance with data related laws</a:t>
            </a:r>
          </a:p>
          <a:p>
            <a:r>
              <a:rPr lang="en-US" sz="8600" b="0" dirty="0"/>
              <a:t>…and more</a:t>
            </a:r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026" name="Picture 2" descr="Word Constraints Stock Illustrations – 179 Word Constraints Stock  Illustrations, Vectors &amp; Clipart - Dreams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636912"/>
            <a:ext cx="32549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597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C53D-8425-6168-6671-33A1C6AF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BE06B5-5AAE-2995-3FF7-88180090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19F16-0653-A6EB-173C-3E1A6CD4937E}"/>
              </a:ext>
            </a:extLst>
          </p:cNvPr>
          <p:cNvSpPr txBox="1"/>
          <p:nvPr/>
        </p:nvSpPr>
        <p:spPr>
          <a:xfrm>
            <a:off x="1547664" y="636595"/>
            <a:ext cx="4608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Summary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525BF134-95B2-82AB-74C2-7B224ABDD66B}"/>
              </a:ext>
            </a:extLst>
          </p:cNvPr>
          <p:cNvSpPr txBox="1">
            <a:spLocks/>
          </p:cNvSpPr>
          <p:nvPr/>
        </p:nvSpPr>
        <p:spPr>
          <a:xfrm>
            <a:off x="6721" y="1988840"/>
            <a:ext cx="7525796" cy="5040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400" dirty="0"/>
              <a:t>Language Choice Factors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6400" dirty="0"/>
              <a:t>Consider project type, performance, scalability, maintainability, ecosystem, security, team skills, and cost.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6400" dirty="0"/>
              <a:t>Match the language to the project requirements .</a:t>
            </a:r>
          </a:p>
          <a:p>
            <a:r>
              <a:rPr lang="en-US" sz="6400" dirty="0"/>
              <a:t>Common Web Constraints + Solutions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6400" dirty="0"/>
              <a:t>Browser incompatibility, server dependency, lack of responsiveness, internet reliance, reduced speed, security risks, limited visibility, restricted functionality, and legal compliance are major challenges.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6400" dirty="0"/>
              <a:t>Solution techniques include cross-browser testing, caching, service workers, lazy loading, CDNs, SSR, security best practices, analytics, and feature fallbacks.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6400" dirty="0"/>
              <a:t>Optimize performance, security, and user experience together.</a:t>
            </a:r>
          </a:p>
          <a:p>
            <a:r>
              <a:rPr lang="en-US" sz="6400" dirty="0"/>
              <a:t>Key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 dirty="0"/>
              <a:t>Balance speed-to-market vs maintainability, offline functionality vs internet dependence, and feature richness vs device/browser constraints.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400" dirty="0"/>
              <a:t>Use modern frameworks and tools to maximize functionality while minimizing limitations</a:t>
            </a:r>
          </a:p>
          <a:p>
            <a:pPr marL="914400" indent="-914400">
              <a:buFont typeface="+mj-lt"/>
              <a:buAutoNum type="arabicPeriod"/>
            </a:pPr>
            <a:endParaRPr lang="en-US" sz="86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2800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078" name="Picture 6" descr="Memo to remember - Apps on Google Play">
            <a:extLst>
              <a:ext uri="{FF2B5EF4-FFF2-40B4-BE49-F238E27FC236}">
                <a16:creationId xmlns:a16="http://schemas.microsoft.com/office/drawing/2014/main" id="{98198C86-348C-04B9-0472-44D7BAFDB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-315416"/>
            <a:ext cx="3419872" cy="341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445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9DC2DB-DA30-434E-BF62-455F46779EA5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16960</TotalTime>
  <Words>623</Words>
  <Application>Microsoft Office PowerPoint</Application>
  <PresentationFormat>On-screen Show (4:3)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 Khubisa</cp:lastModifiedBy>
  <cp:revision>97</cp:revision>
  <dcterms:created xsi:type="dcterms:W3CDTF">2022-02-22T09:59:59Z</dcterms:created>
  <dcterms:modified xsi:type="dcterms:W3CDTF">2026-02-19T06:08:48Z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