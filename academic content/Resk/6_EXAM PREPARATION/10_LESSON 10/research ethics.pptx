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324" r:id="rId4"/>
    <p:sldId id="300" r:id="rId5"/>
    <p:sldId id="315" r:id="rId6"/>
    <p:sldId id="301" r:id="rId7"/>
    <p:sldId id="302" r:id="rId8"/>
    <p:sldId id="259" r:id="rId9"/>
    <p:sldId id="325" r:id="rId10"/>
    <p:sldId id="261" r:id="rId11"/>
    <p:sldId id="316" r:id="rId12"/>
    <p:sldId id="320" r:id="rId13"/>
    <p:sldId id="317" r:id="rId14"/>
    <p:sldId id="318" r:id="rId15"/>
    <p:sldId id="319" r:id="rId16"/>
    <p:sldId id="264" r:id="rId17"/>
    <p:sldId id="321" r:id="rId18"/>
    <p:sldId id="267" r:id="rId19"/>
    <p:sldId id="322" r:id="rId20"/>
    <p:sldId id="323" r:id="rId21"/>
    <p:sldId id="309" r:id="rId22"/>
    <p:sldId id="311" r:id="rId23"/>
    <p:sldId id="312" r:id="rId24"/>
    <p:sldId id="313" r:id="rId25"/>
    <p:sldId id="310" r:id="rId26"/>
    <p:sldId id="31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E1FF"/>
    <a:srgbClr val="E1F2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82546-1CB2-4634-867D-E75635374D8C}" type="datetimeFigureOut">
              <a:rPr lang="en-ZA" smtClean="0"/>
              <a:t>10 May 2022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35F86-F144-42CC-A8DA-27ECDC4707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6203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50B5-A32F-4BEC-867B-2E3E7DCEAFBC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2121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0EAB-65FC-4FE2-B3E0-E0D04915BDD5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789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5C7C-0D64-4916-BB91-3CA4FF2398B7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540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95087-BBF2-441A-A5BE-72A83DDA479D}" type="datetime1">
              <a:rPr lang="en-ZA" smtClean="0"/>
              <a:t>10 May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483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A7-9A1F-44F8-9A86-DDF6A7E487BE}" type="datetime1">
              <a:rPr lang="en-ZA" smtClean="0"/>
              <a:t>10 May 2022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905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B3D7F-3B05-4BBB-94FC-3EFA548C8D17}" type="datetime1">
              <a:rPr lang="en-ZA" smtClean="0"/>
              <a:t>10 May 2022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530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4B76-2E89-4881-8BB4-6EF20292471C}" type="datetime1">
              <a:rPr lang="en-ZA" smtClean="0"/>
              <a:t>10 May 2022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40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FD015-AC10-471D-A4B8-16672583B810}" type="datetime1">
              <a:rPr lang="en-ZA" smtClean="0"/>
              <a:t>10 May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135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90851-F019-4890-810B-10BEE049DFFD}" type="datetime1">
              <a:rPr lang="en-ZA" smtClean="0"/>
              <a:t>10 May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06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2A32-F7AE-4D17-9AF6-17974F672B89}" type="datetime1">
              <a:rPr lang="en-ZA" smtClean="0"/>
              <a:t>10 May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081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AAF1-7E3B-4660-98AE-7A2402DC5443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734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6395-A47E-4F62-B1E6-FEDFEF52F23B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4452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BEF1-8B45-4599-BC6E-5F991B26A274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3095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F3324-0D72-4658-966D-BA9846AD82A6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4674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98BE-72BE-4A29-A5A2-644FC081C637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7044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D9F20-C315-4E7E-8317-D3008F44A12C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750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3261-8D44-48B3-82AE-8FCF44C541B2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334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CB55A3-C215-4FBA-97F0-B9D60BEC6FC6}" type="datetime1">
              <a:rPr lang="en-ZA" smtClean="0"/>
              <a:t>10 May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207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om/user/17521303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ut.ac.za/research/institutional_research_ethic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om/user/11290742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lpit.com/cleandata/author/matt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Research ethics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8" y="4385841"/>
            <a:ext cx="6987645" cy="1388534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Research </a:t>
            </a:r>
            <a:r>
              <a:rPr lang="en-US" dirty="0" smtClean="0"/>
              <a:t>Skills</a:t>
            </a:r>
          </a:p>
          <a:p>
            <a:r>
              <a:rPr lang="en-US" dirty="0" smtClean="0"/>
              <a:t>Advanced Diploma ICT</a:t>
            </a:r>
            <a:endParaRPr lang="en-US" dirty="0" smtClean="0"/>
          </a:p>
          <a:p>
            <a:r>
              <a:rPr lang="en-US" dirty="0" err="1" smtClean="0"/>
              <a:t>Dr</a:t>
            </a:r>
            <a:r>
              <a:rPr lang="en-US" dirty="0" smtClean="0"/>
              <a:t> Alveen Singh</a:t>
            </a:r>
          </a:p>
          <a:p>
            <a:r>
              <a:rPr lang="en-US" dirty="0" smtClean="0"/>
              <a:t>Department of Information Technology</a:t>
            </a:r>
          </a:p>
          <a:p>
            <a:r>
              <a:rPr lang="en-US" dirty="0" smtClean="0"/>
              <a:t>May 2022</a:t>
            </a:r>
            <a:endParaRPr lang="en-ZA" dirty="0"/>
          </a:p>
        </p:txBody>
      </p:sp>
      <p:pic>
        <p:nvPicPr>
          <p:cNvPr id="6" name="Picture 5" descr="A close up of a sign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475" y="296227"/>
            <a:ext cx="3552825" cy="12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8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579"/>
    </mc:Choice>
    <mc:Fallback xmlns="">
      <p:transition spd="slow" advTm="2457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291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Content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67543"/>
            <a:ext cx="10018713" cy="4223657"/>
          </a:xfrm>
        </p:spPr>
        <p:txBody>
          <a:bodyPr anchor="t" anchorCtr="0"/>
          <a:lstStyle/>
          <a:p>
            <a:pPr marL="0" lvl="0" indent="0">
              <a:buNone/>
            </a:pP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1.	</a:t>
            </a:r>
            <a:r>
              <a:rPr lang="en-US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Introduction</a:t>
            </a:r>
          </a:p>
          <a:p>
            <a:pPr marL="0" lvl="0" indent="0">
              <a:buNone/>
            </a:pPr>
            <a:r>
              <a:rPr lang="en-US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2.  Rights </a:t>
            </a: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of participants</a:t>
            </a:r>
          </a:p>
          <a:p>
            <a:pPr marL="0" lvl="0" indent="0">
              <a:buNone/>
            </a:pP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2.	Responsibility of the researcher</a:t>
            </a:r>
          </a:p>
          <a:p>
            <a:pPr marL="0" lvl="0" indent="0">
              <a:buNone/>
            </a:pP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3.	Plagiarism</a:t>
            </a:r>
          </a:p>
          <a:p>
            <a:pPr marL="457200" lvl="0" indent="-457200">
              <a:buAutoNum type="arabicPeriod" startAt="4"/>
            </a:pPr>
            <a:r>
              <a:rPr lang="en-US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Publications </a:t>
            </a: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(predatory versus ISI and </a:t>
            </a:r>
            <a:r>
              <a:rPr lang="en-US" b="1" dirty="0" err="1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DHET</a:t>
            </a:r>
            <a:r>
              <a:rPr lang="en-US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)</a:t>
            </a:r>
          </a:p>
          <a:p>
            <a:pPr marL="457200" lvl="0" indent="-457200">
              <a:buAutoNum type="arabicPeriod" startAt="4"/>
            </a:pPr>
            <a:r>
              <a:rPr lang="en-US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The alternative: online data sources</a:t>
            </a:r>
            <a:endParaRPr lang="en-US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</a:t>
            </a:fld>
            <a:endParaRPr lang="en-ZA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95" y="506458"/>
            <a:ext cx="3699510" cy="25473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89498" y="3103005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Globethics.net, 2019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014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388"/>
    </mc:Choice>
    <mc:Fallback xmlns="">
      <p:transition spd="slow" advTm="140388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3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343693"/>
            <a:ext cx="7629525" cy="5722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92858" y="6168850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u="sng" dirty="0" err="1">
                <a:solidFill>
                  <a:srgbClr val="0070C0"/>
                </a:solidFill>
                <a:hlinkClick r:id="rId3"/>
              </a:rPr>
              <a:t>Järvinen</a:t>
            </a:r>
            <a:r>
              <a:rPr lang="en-US" dirty="0" smtClean="0">
                <a:solidFill>
                  <a:srgbClr val="0070C0"/>
                </a:solidFill>
              </a:rPr>
              <a:t>, 2019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419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4292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Introduction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84310" y="1838326"/>
            <a:ext cx="10018713" cy="2371724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Ethics is a crucial aspect of any research </a:t>
            </a: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endeavor. </a:t>
            </a:r>
          </a:p>
          <a:p>
            <a:pPr marL="0" indent="0">
              <a:buNone/>
            </a:pPr>
            <a:endParaRPr lang="en-US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Research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ethics is concerned with the treatment of people involved in the </a:t>
            </a: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research, the way the work of others is acknowledged and the conduct research of research practices. </a:t>
            </a:r>
            <a:endParaRPr lang="en-US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The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researcher should always exhibit fairness, honesty and integrity.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lvl="1"/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4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975" y="4210050"/>
            <a:ext cx="2958304" cy="24695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95975" y="6310258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Bastian, 2016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823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945"/>
    </mc:Choice>
    <mc:Fallback xmlns="">
      <p:transition spd="slow" advTm="4294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23109"/>
            <a:ext cx="10018713" cy="4868091"/>
          </a:xfrm>
        </p:spPr>
        <p:txBody>
          <a:bodyPr/>
          <a:lstStyle/>
          <a:p>
            <a:r>
              <a:rPr lang="en-GB" dirty="0" smtClean="0">
                <a:latin typeface="Arial Rounded MT Bold" panose="020F0704030504030204" pitchFamily="34" charset="0"/>
              </a:rPr>
              <a:t>Universities require </a:t>
            </a:r>
            <a:r>
              <a:rPr lang="en-GB" dirty="0">
                <a:latin typeface="Arial Rounded MT Bold" panose="020F0704030504030204" pitchFamily="34" charset="0"/>
              </a:rPr>
              <a:t>that </a:t>
            </a:r>
            <a:r>
              <a:rPr lang="en-GB" dirty="0" smtClean="0">
                <a:latin typeface="Arial Rounded MT Bold" panose="020F0704030504030204" pitchFamily="34" charset="0"/>
              </a:rPr>
              <a:t>researchers: </a:t>
            </a:r>
            <a:endParaRPr lang="en-GB" dirty="0">
              <a:latin typeface="Arial Rounded MT Bold" panose="020F0704030504030204" pitchFamily="34" charset="0"/>
            </a:endParaRPr>
          </a:p>
          <a:p>
            <a:pPr lvl="1"/>
            <a:r>
              <a:rPr lang="en-GB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explicitly </a:t>
            </a:r>
            <a:r>
              <a:rPr lang="en-GB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state the ethical aspects of the research, </a:t>
            </a:r>
            <a:endParaRPr lang="en-GB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GB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provide </a:t>
            </a:r>
            <a:r>
              <a:rPr lang="en-GB" dirty="0">
                <a:solidFill>
                  <a:srgbClr val="0070C0"/>
                </a:solidFill>
                <a:latin typeface="Arial Rounded MT Bold" panose="020F0704030504030204" pitchFamily="34" charset="0"/>
              </a:rPr>
              <a:t>a plan for ethical behaviour </a:t>
            </a:r>
            <a:endParaRPr lang="en-GB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GB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obtain </a:t>
            </a:r>
            <a:r>
              <a:rPr lang="en-GB" dirty="0">
                <a:solidFill>
                  <a:srgbClr val="FF0000"/>
                </a:solidFill>
                <a:latin typeface="Arial Rounded MT Bold" panose="020F0704030504030204" pitchFamily="34" charset="0"/>
              </a:rPr>
              <a:t>ethical clearance </a:t>
            </a:r>
            <a:r>
              <a:rPr lang="en-GB" dirty="0">
                <a:solidFill>
                  <a:srgbClr val="0070C0"/>
                </a:solidFill>
                <a:latin typeface="Arial Rounded MT Bold" panose="020F0704030504030204" pitchFamily="34" charset="0"/>
              </a:rPr>
              <a:t>before the research may begin. </a:t>
            </a:r>
            <a:endParaRPr lang="en-GB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lvl="1"/>
            <a:endParaRPr lang="en-GB" dirty="0">
              <a:latin typeface="Arial Rounded MT Bold" panose="020F0704030504030204" pitchFamily="34" charset="0"/>
            </a:endParaRPr>
          </a:p>
          <a:p>
            <a:r>
              <a:rPr lang="en-GB" dirty="0" err="1" smtClean="0">
                <a:latin typeface="Arial Rounded MT Bold" panose="020F0704030504030204" pitchFamily="34" charset="0"/>
              </a:rPr>
              <a:t>DUT</a:t>
            </a:r>
            <a:r>
              <a:rPr lang="en-GB" dirty="0" smtClean="0">
                <a:latin typeface="Arial Rounded MT Bold" panose="020F0704030504030204" pitchFamily="34" charset="0"/>
              </a:rPr>
              <a:t> </a:t>
            </a:r>
            <a:r>
              <a:rPr lang="en-GB" dirty="0">
                <a:latin typeface="Arial Rounded MT Bold" panose="020F0704030504030204" pitchFamily="34" charset="0"/>
              </a:rPr>
              <a:t>has the pg2a proposal template that contains a concise ethical clearance application. </a:t>
            </a:r>
            <a:endParaRPr lang="en-GB" dirty="0" smtClean="0">
              <a:latin typeface="Arial Rounded MT Bold" panose="020F0704030504030204" pitchFamily="34" charset="0"/>
            </a:endParaRPr>
          </a:p>
          <a:p>
            <a:pPr lvl="1"/>
            <a:r>
              <a:rPr lang="en-GB" dirty="0" smtClean="0">
                <a:latin typeface="Arial Rounded MT Bold" panose="020F0704030504030204" pitchFamily="34" charset="0"/>
              </a:rPr>
              <a:t>This </a:t>
            </a:r>
            <a:r>
              <a:rPr lang="en-GB" dirty="0">
                <a:latin typeface="Arial Rounded MT Bold" panose="020F0704030504030204" pitchFamily="34" charset="0"/>
              </a:rPr>
              <a:t>is approved at Department, Faculty and Institutional level committees. </a:t>
            </a:r>
            <a:endParaRPr lang="en-GB" dirty="0" smtClean="0">
              <a:latin typeface="Arial Rounded MT Bold" panose="020F0704030504030204" pitchFamily="34" charset="0"/>
            </a:endParaRPr>
          </a:p>
          <a:p>
            <a:pPr lvl="1"/>
            <a:r>
              <a:rPr lang="en-ZA" dirty="0">
                <a:hlinkClick r:id="rId2"/>
              </a:rPr>
              <a:t>https://www.dut.ac.za/research/institutional_research_ethics</a:t>
            </a:r>
            <a:r>
              <a:rPr lang="en-ZA" dirty="0" smtClean="0">
                <a:hlinkClick r:id="rId2"/>
              </a:rPr>
              <a:t>/</a:t>
            </a:r>
            <a:r>
              <a:rPr lang="en-ZA" dirty="0" smtClean="0"/>
              <a:t> </a:t>
            </a:r>
            <a:endParaRPr lang="en-ZA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5</a:t>
            </a:fld>
            <a:endParaRPr lang="en-Z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34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43467"/>
          </a:xfrm>
        </p:spPr>
        <p:txBody>
          <a:bodyPr>
            <a:normAutofit fontScale="90000"/>
          </a:bodyPr>
          <a:lstStyle/>
          <a:p>
            <a:pPr lvl="0"/>
            <a:r>
              <a:rPr lang="en-GB" b="1" dirty="0"/>
              <a:t>Rights of participants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439333"/>
            <a:ext cx="10018713" cy="4351867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Participants are those people directly involved or affected by the research.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r>
              <a:rPr lang="en-US" dirty="0" smtClean="0">
                <a:latin typeface="Arial Rounded MT Bold" panose="020F0704030504030204" pitchFamily="34" charset="0"/>
              </a:rPr>
              <a:t>These </a:t>
            </a:r>
            <a:r>
              <a:rPr lang="en-US" dirty="0">
                <a:latin typeface="Arial Rounded MT Bold" panose="020F0704030504030204" pitchFamily="34" charset="0"/>
              </a:rPr>
              <a:t>may include: 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participants </a:t>
            </a:r>
            <a:r>
              <a:rPr lang="en-US" dirty="0">
                <a:latin typeface="Arial Rounded MT Bold" panose="020F0704030504030204" pitchFamily="34" charset="0"/>
              </a:rPr>
              <a:t>being interviewed, questioned or observed (sometimes these are entire organizations and not just individuals</a:t>
            </a:r>
            <a:r>
              <a:rPr lang="en-US" dirty="0" smtClean="0">
                <a:latin typeface="Arial Rounded MT Bold" panose="020F0704030504030204" pitchFamily="34" charset="0"/>
              </a:rPr>
              <a:t>) 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other </a:t>
            </a:r>
            <a:r>
              <a:rPr lang="en-US" dirty="0">
                <a:latin typeface="Arial Rounded MT Bold" panose="020F0704030504030204" pitchFamily="34" charset="0"/>
              </a:rPr>
              <a:t>researchers in the research </a:t>
            </a:r>
            <a:r>
              <a:rPr lang="en-US" dirty="0" smtClean="0">
                <a:latin typeface="Arial Rounded MT Bold" panose="020F0704030504030204" pitchFamily="34" charset="0"/>
              </a:rPr>
              <a:t>project 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academic </a:t>
            </a:r>
            <a:r>
              <a:rPr lang="en-US" dirty="0">
                <a:latin typeface="Arial Rounded MT Bold" panose="020F0704030504030204" pitchFamily="34" charset="0"/>
              </a:rPr>
              <a:t>community who read, review and cite the </a:t>
            </a:r>
            <a:r>
              <a:rPr lang="en-US" dirty="0" smtClean="0">
                <a:latin typeface="Arial Rounded MT Bold" panose="020F0704030504030204" pitchFamily="34" charset="0"/>
              </a:rPr>
              <a:t>research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those </a:t>
            </a:r>
            <a:r>
              <a:rPr lang="en-US" dirty="0">
                <a:latin typeface="Arial Rounded MT Bold" panose="020F0704030504030204" pitchFamily="34" charset="0"/>
              </a:rPr>
              <a:t>that are directly impacted by the result of the research or its </a:t>
            </a:r>
            <a:r>
              <a:rPr lang="en-US" dirty="0" smtClean="0">
                <a:latin typeface="Arial Rounded MT Bold" panose="020F0704030504030204" pitchFamily="34" charset="0"/>
              </a:rPr>
              <a:t>creations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606" y="4994275"/>
            <a:ext cx="2705100" cy="1685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7106" y="6340475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Optimalworkshop.com</a:t>
            </a:r>
            <a:endParaRPr lang="en-ZA" sz="1200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309" y="5101166"/>
            <a:ext cx="2847975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5356" y="6408236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cnn.com</a:t>
            </a:r>
            <a:endParaRPr lang="en-ZA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60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126"/>
    </mc:Choice>
    <mc:Fallback xmlns="">
      <p:transition spd="slow" advTm="225126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439333"/>
            <a:ext cx="10018713" cy="4351867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“Participants </a:t>
            </a:r>
            <a:r>
              <a:rPr lang="en-US" dirty="0">
                <a:latin typeface="Arial Rounded MT Bold" panose="020F0704030504030204" pitchFamily="34" charset="0"/>
              </a:rPr>
              <a:t>should not be used simply for the </a:t>
            </a:r>
            <a:r>
              <a:rPr lang="en-US" dirty="0" smtClean="0">
                <a:latin typeface="Arial Rounded MT Bold" panose="020F0704030504030204" pitchFamily="34" charset="0"/>
              </a:rPr>
              <a:t>researcher’s </a:t>
            </a:r>
            <a:r>
              <a:rPr lang="en-US" dirty="0">
                <a:latin typeface="Arial Rounded MT Bold" panose="020F0704030504030204" pitchFamily="34" charset="0"/>
              </a:rPr>
              <a:t>own </a:t>
            </a:r>
            <a:r>
              <a:rPr lang="en-US" dirty="0" smtClean="0">
                <a:latin typeface="Arial Rounded MT Bold" panose="020F0704030504030204" pitchFamily="34" charset="0"/>
              </a:rPr>
              <a:t>end”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They </a:t>
            </a:r>
            <a:r>
              <a:rPr lang="en-US" dirty="0">
                <a:latin typeface="Arial Rounded MT Bold" panose="020F0704030504030204" pitchFamily="34" charset="0"/>
              </a:rPr>
              <a:t>should not be manipulated, deceived,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blackmailed </a:t>
            </a:r>
            <a:r>
              <a:rPr lang="en-US" dirty="0">
                <a:latin typeface="Arial Rounded MT Bold" panose="020F0704030504030204" pitchFamily="34" charset="0"/>
              </a:rPr>
              <a:t>or coerced into participation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(</a:t>
            </a:r>
            <a:r>
              <a:rPr lang="en-US" dirty="0">
                <a:latin typeface="Arial Rounded MT Bold" panose="020F0704030504030204" pitchFamily="34" charset="0"/>
              </a:rPr>
              <a:t>for example consider the </a:t>
            </a:r>
            <a:r>
              <a:rPr lang="en-US" dirty="0" smtClean="0">
                <a:latin typeface="Arial Rounded MT Bold" panose="020F0704030504030204" pitchFamily="34" charset="0"/>
              </a:rPr>
              <a:t>ethical circumstances when a </a:t>
            </a:r>
            <a:r>
              <a:rPr lang="en-US" dirty="0">
                <a:latin typeface="Arial Rounded MT Bold" panose="020F0704030504030204" pitchFamily="34" charset="0"/>
              </a:rPr>
              <a:t>software developer </a:t>
            </a:r>
            <a:r>
              <a:rPr lang="en-US" dirty="0" smtClean="0">
                <a:latin typeface="Arial Rounded MT Bold" panose="020F0704030504030204" pitchFamily="34" charset="0"/>
              </a:rPr>
              <a:t>manager is conducting </a:t>
            </a:r>
            <a:r>
              <a:rPr lang="en-US" dirty="0">
                <a:latin typeface="Arial Rounded MT Bold" panose="020F0704030504030204" pitchFamily="34" charset="0"/>
              </a:rPr>
              <a:t>research in his/her place of employment). </a:t>
            </a:r>
            <a:endParaRPr lang="en-ZA" sz="28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7</a:t>
            </a:fld>
            <a:endParaRPr lang="en-Z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 err="1" smtClean="0"/>
              <a:t>resk401</a:t>
            </a:r>
            <a:endParaRPr lang="en-Z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898" y="2035219"/>
            <a:ext cx="2143125" cy="2143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74210" y="4254275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theconversation.com</a:t>
            </a:r>
            <a:endParaRPr lang="en-ZA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39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126"/>
    </mc:Choice>
    <mc:Fallback xmlns="">
      <p:transition spd="slow" advTm="225126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52551"/>
            <a:ext cx="10018713" cy="4438650"/>
          </a:xfrm>
        </p:spPr>
        <p:txBody>
          <a:bodyPr anchor="t">
            <a:normAutofit/>
          </a:bodyPr>
          <a:lstStyle/>
          <a:p>
            <a:r>
              <a:rPr lang="en-US" sz="2000" dirty="0" smtClean="0">
                <a:latin typeface="Arial Rounded MT Bold" panose="020F0704030504030204" pitchFamily="34" charset="0"/>
              </a:rPr>
              <a:t>The </a:t>
            </a:r>
            <a:r>
              <a:rPr lang="en-US" sz="2000" dirty="0">
                <a:latin typeface="Arial Rounded MT Bold" panose="020F0704030504030204" pitchFamily="34" charset="0"/>
              </a:rPr>
              <a:t>right not to participate</a:t>
            </a: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The </a:t>
            </a:r>
            <a:r>
              <a:rPr lang="en-US" sz="2000" dirty="0">
                <a:latin typeface="Arial Rounded MT Bold" panose="020F0704030504030204" pitchFamily="34" charset="0"/>
              </a:rPr>
              <a:t>right to withdraw</a:t>
            </a: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The </a:t>
            </a:r>
            <a:r>
              <a:rPr lang="en-US" sz="2000" dirty="0">
                <a:latin typeface="Arial Rounded MT Bold" panose="020F0704030504030204" pitchFamily="34" charset="0"/>
              </a:rPr>
              <a:t>right to give informed consent </a:t>
            </a:r>
            <a:endParaRPr lang="en-US" sz="2000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 Rounded MT Bold" panose="020F0704030504030204" pitchFamily="34" charset="0"/>
              </a:rPr>
              <a:t>(</a:t>
            </a:r>
            <a:r>
              <a:rPr lang="en-US" sz="2000" dirty="0">
                <a:latin typeface="Arial Rounded MT Bold" panose="020F0704030504030204" pitchFamily="34" charset="0"/>
              </a:rPr>
              <a:t>i.e. their consent is given only when they are fully </a:t>
            </a:r>
            <a:r>
              <a:rPr lang="en-US" sz="2000" dirty="0" smtClean="0">
                <a:latin typeface="Arial Rounded MT Bold" panose="020F0704030504030204" pitchFamily="34" charset="0"/>
              </a:rPr>
              <a:t>aware </a:t>
            </a:r>
            <a:r>
              <a:rPr lang="en-US" sz="2000" dirty="0">
                <a:latin typeface="Arial Rounded MT Bold" panose="020F0704030504030204" pitchFamily="34" charset="0"/>
              </a:rPr>
              <a:t>of their </a:t>
            </a:r>
            <a:endParaRPr lang="en-US" sz="2000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 Rounded MT Bold" panose="020F0704030504030204" pitchFamily="34" charset="0"/>
              </a:rPr>
              <a:t>involvement </a:t>
            </a:r>
            <a:r>
              <a:rPr lang="en-US" sz="2000" dirty="0">
                <a:latin typeface="Arial Rounded MT Bold" panose="020F0704030504030204" pitchFamily="34" charset="0"/>
              </a:rPr>
              <a:t>and the nature of the research)</a:t>
            </a: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The </a:t>
            </a:r>
            <a:r>
              <a:rPr lang="en-US" sz="2000" dirty="0">
                <a:latin typeface="Arial Rounded MT Bold" panose="020F0704030504030204" pitchFamily="34" charset="0"/>
              </a:rPr>
              <a:t>right to anonymity</a:t>
            </a: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The </a:t>
            </a:r>
            <a:r>
              <a:rPr lang="en-US" sz="2000" dirty="0">
                <a:latin typeface="Arial Rounded MT Bold" panose="020F0704030504030204" pitchFamily="34" charset="0"/>
              </a:rPr>
              <a:t>right to confidentiality (NDA signed with a participating company)</a:t>
            </a:r>
          </a:p>
          <a:p>
            <a:endParaRPr lang="en-US" dirty="0" smtClean="0">
              <a:latin typeface="Arial Rounded MT Bold" panose="020F0704030504030204" pitchFamily="34" charset="0"/>
            </a:endParaRPr>
          </a:p>
          <a:p>
            <a:pPr lvl="1"/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8</a:t>
            </a:fld>
            <a:endParaRPr lang="en-ZA"/>
          </a:p>
        </p:txBody>
      </p:sp>
      <p:sp>
        <p:nvSpPr>
          <p:cNvPr id="16" name="TextBox 15"/>
          <p:cNvSpPr txBox="1"/>
          <p:nvPr/>
        </p:nvSpPr>
        <p:spPr>
          <a:xfrm>
            <a:off x="1852204" y="5138057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Oates, 2006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456" y="228872"/>
            <a:ext cx="2051191" cy="32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9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94"/>
    </mc:Choice>
    <mc:Fallback xmlns="">
      <p:transition spd="slow" advTm="54294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9</a:t>
            </a:fld>
            <a:endParaRPr lang="en-ZA"/>
          </a:p>
        </p:txBody>
      </p:sp>
      <p:pic>
        <p:nvPicPr>
          <p:cNvPr id="13314" name="Picture 2" descr="https://images.slideplayer.com/32/9816125/slides/slide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447675"/>
            <a:ext cx="7490882" cy="561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82932" y="5698609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u="sng" dirty="0">
                <a:solidFill>
                  <a:srgbClr val="0070C0"/>
                </a:solidFill>
                <a:hlinkClick r:id="rId3"/>
              </a:rPr>
              <a:t>Washington</a:t>
            </a:r>
            <a:r>
              <a:rPr lang="en-US" dirty="0" smtClean="0">
                <a:solidFill>
                  <a:srgbClr val="0070C0"/>
                </a:solidFill>
              </a:rPr>
              <a:t>, 2006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571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5334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Ethical behaviour of the researcher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62076"/>
            <a:ext cx="10018713" cy="4162423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 Rounded MT Bold" panose="020F0704030504030204" pitchFamily="34" charset="0"/>
              </a:rPr>
              <a:t>Good </a:t>
            </a:r>
            <a:r>
              <a:rPr lang="en-US" sz="1800" dirty="0">
                <a:latin typeface="Arial Rounded MT Bold" panose="020F0704030504030204" pitchFamily="34" charset="0"/>
              </a:rPr>
              <a:t>researchers strive to ensure that they uphold and become custodians of sound ethical </a:t>
            </a:r>
            <a:r>
              <a:rPr lang="en-US" sz="1800" dirty="0" err="1">
                <a:latin typeface="Arial Rounded MT Bold" panose="020F0704030504030204" pitchFamily="34" charset="0"/>
              </a:rPr>
              <a:t>behaviour</a:t>
            </a:r>
            <a:r>
              <a:rPr lang="en-US" sz="1800" dirty="0">
                <a:latin typeface="Arial Rounded MT Bold" panose="020F0704030504030204" pitchFamily="34" charset="0"/>
              </a:rPr>
              <a:t>. </a:t>
            </a:r>
            <a:endParaRPr lang="en-US" sz="1800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endParaRPr lang="en-US" sz="1800" dirty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 Rounded MT Bold" panose="020F0704030504030204" pitchFamily="34" charset="0"/>
              </a:rPr>
              <a:t>The </a:t>
            </a:r>
            <a:r>
              <a:rPr lang="en-US" sz="1800" dirty="0">
                <a:latin typeface="Arial Rounded MT Bold" panose="020F0704030504030204" pitchFamily="34" charset="0"/>
              </a:rPr>
              <a:t>reputation of the researcher and the affiliate institution could be severely tarnished if research practice is otherwise</a:t>
            </a:r>
            <a:r>
              <a:rPr lang="en-US" sz="1800" dirty="0" smtClean="0">
                <a:latin typeface="Arial Rounded MT Bold" panose="020F07040305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sz="1800" dirty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 Rounded MT Bold" panose="020F0704030504030204" pitchFamily="34" charset="0"/>
              </a:rPr>
              <a:t>Good practices from Oates (2006):</a:t>
            </a:r>
            <a:endParaRPr lang="en-ZA" sz="1800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 err="1" smtClean="0"/>
              <a:t>resk401</a:t>
            </a:r>
            <a:endParaRPr lang="en-Z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20" y="3597274"/>
            <a:ext cx="3476636" cy="26074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9130" y="6299399"/>
            <a:ext cx="2419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ncvps</a:t>
            </a:r>
            <a:r>
              <a:rPr lang="en-US" sz="1400" dirty="0" smtClean="0">
                <a:solidFill>
                  <a:srgbClr val="FF0000"/>
                </a:solidFill>
              </a:rPr>
              <a:t>, small business, 2010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5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073"/>
    </mc:Choice>
    <mc:Fallback xmlns="">
      <p:transition spd="slow" advTm="157073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92777"/>
            <a:ext cx="10018713" cy="4798423"/>
          </a:xfrm>
        </p:spPr>
        <p:txBody>
          <a:bodyPr anchor="t"/>
          <a:lstStyle/>
          <a:p>
            <a:pPr marL="0" indent="0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 Rounded MT Bold" panose="020F0704030504030204" pitchFamily="34" charset="0"/>
              </a:rPr>
              <a:t>Intrusion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the </a:t>
            </a:r>
            <a:r>
              <a:rPr lang="en-US" dirty="0">
                <a:latin typeface="Arial Rounded MT Bold" panose="020F0704030504030204" pitchFamily="34" charset="0"/>
              </a:rPr>
              <a:t>researcher must be mindful of the </a:t>
            </a:r>
            <a:r>
              <a:rPr lang="en-US" i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type</a:t>
            </a:r>
            <a:r>
              <a:rPr lang="en-US" dirty="0">
                <a:latin typeface="Arial Rounded MT Bold" panose="020F0704030504030204" pitchFamily="34" charset="0"/>
              </a:rPr>
              <a:t> of data being collected.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E.g. asking </a:t>
            </a:r>
            <a:r>
              <a:rPr lang="en-US" dirty="0">
                <a:latin typeface="Arial Rounded MT Bold" panose="020F0704030504030204" pitchFamily="34" charset="0"/>
              </a:rPr>
              <a:t>the respondent about salary.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457200" lvl="1" indent="0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r>
              <a:rPr lang="en-US" dirty="0" smtClean="0">
                <a:latin typeface="Arial Rounded MT Bold" panose="020F0704030504030204" pitchFamily="34" charset="0"/>
              </a:rPr>
              <a:t>Only </a:t>
            </a:r>
            <a:r>
              <a:rPr lang="en-US" dirty="0">
                <a:latin typeface="Arial Rounded MT Bold" panose="020F0704030504030204" pitchFamily="34" charset="0"/>
              </a:rPr>
              <a:t>necessary questions should be included and the researcher must be certain that the information that they are looking for is </a:t>
            </a:r>
            <a:r>
              <a:rPr lang="en-US" i="1" dirty="0" smtClean="0">
                <a:solidFill>
                  <a:srgbClr val="7030A0"/>
                </a:solidFill>
                <a:latin typeface="Arial Rounded MT Bold" panose="020F0704030504030204" pitchFamily="34" charset="0"/>
              </a:rPr>
              <a:t>available</a:t>
            </a:r>
            <a:r>
              <a:rPr lang="en-US" dirty="0" smtClean="0">
                <a:solidFill>
                  <a:srgbClr val="7030A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</a:rPr>
              <a:t>and </a:t>
            </a:r>
            <a:r>
              <a:rPr lang="en-US" i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can be collected</a:t>
            </a:r>
            <a:r>
              <a:rPr lang="en-US" dirty="0">
                <a:latin typeface="Arial Rounded MT Bold" panose="020F0704030504030204" pitchFamily="34" charset="0"/>
              </a:rPr>
              <a:t>.</a:t>
            </a:r>
          </a:p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11</a:t>
            </a:fld>
            <a:endParaRPr lang="en-Z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052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12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49" y="114300"/>
            <a:ext cx="5503513" cy="313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36431" y="5755758"/>
            <a:ext cx="21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u="sng" dirty="0" err="1">
                <a:solidFill>
                  <a:srgbClr val="FF0000"/>
                </a:solidFill>
                <a:hlinkClick r:id="rId3" tooltip="Posts by Matthew Swanborough"/>
              </a:rPr>
              <a:t>Swanborough</a:t>
            </a:r>
            <a:r>
              <a:rPr lang="en-ZA" b="1" dirty="0" smtClean="0">
                <a:solidFill>
                  <a:srgbClr val="FF0000"/>
                </a:solidFill>
              </a:rPr>
              <a:t>, 2017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549" y="3248540"/>
            <a:ext cx="7877301" cy="32856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98962" y="476765"/>
            <a:ext cx="21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Gledisch</a:t>
            </a:r>
            <a:r>
              <a:rPr lang="en-ZA" b="1" dirty="0" smtClean="0">
                <a:solidFill>
                  <a:srgbClr val="FF0000"/>
                </a:solidFill>
              </a:rPr>
              <a:t>, 2017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64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92777"/>
            <a:ext cx="10018713" cy="4798423"/>
          </a:xfrm>
        </p:spPr>
        <p:txBody>
          <a:bodyPr anchor="t"/>
          <a:lstStyle/>
          <a:p>
            <a:pPr marL="0" indent="0" algn="just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Integrity</a:t>
            </a:r>
          </a:p>
          <a:p>
            <a:pPr marL="0" indent="0" algn="just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The </a:t>
            </a:r>
            <a:r>
              <a:rPr lang="en-US" dirty="0">
                <a:latin typeface="Arial Rounded MT Bold" panose="020F0704030504030204" pitchFamily="34" charset="0"/>
              </a:rPr>
              <a:t>data being collected must be accurately reported and not manipulated or falsified to fit the research.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solidFill>
                  <a:srgbClr val="00B0F0"/>
                </a:solidFill>
                <a:latin typeface="Arial Rounded MT Bold" panose="020F0704030504030204" pitchFamily="34" charset="0"/>
              </a:rPr>
              <a:t>Data 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security </a:t>
            </a:r>
            <a:r>
              <a:rPr lang="en-US" dirty="0">
                <a:latin typeface="Arial Rounded MT Bold" panose="020F0704030504030204" pitchFamily="34" charset="0"/>
              </a:rPr>
              <a:t>and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backup</a:t>
            </a:r>
            <a:r>
              <a:rPr lang="en-US" dirty="0">
                <a:latin typeface="Arial Rounded MT Bold" panose="020F0704030504030204" pitchFamily="34" charset="0"/>
              </a:rPr>
              <a:t> is the responsibility of the researcher.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13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189" y="3987284"/>
            <a:ext cx="8096250" cy="2343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1798" y="6428074"/>
            <a:ext cx="21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Steneck</a:t>
            </a:r>
            <a:r>
              <a:rPr lang="en-ZA" b="1" dirty="0" smtClean="0">
                <a:solidFill>
                  <a:srgbClr val="FF0000"/>
                </a:solidFill>
              </a:rPr>
              <a:t>, 2006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75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92777"/>
            <a:ext cx="10018713" cy="4798423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Feedback</a:t>
            </a:r>
          </a:p>
          <a:p>
            <a:pPr marL="0" indent="0" algn="just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Participants </a:t>
            </a:r>
            <a:r>
              <a:rPr lang="en-US" dirty="0">
                <a:latin typeface="Arial Rounded MT Bold" panose="020F0704030504030204" pitchFamily="34" charset="0"/>
              </a:rPr>
              <a:t>must be given a full debriefing and access to results post research.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This </a:t>
            </a:r>
            <a:r>
              <a:rPr lang="en-US" dirty="0">
                <a:latin typeface="Arial Rounded MT Bold" panose="020F0704030504030204" pitchFamily="34" charset="0"/>
              </a:rPr>
              <a:t>will allow them to benefit from the </a:t>
            </a:r>
            <a:r>
              <a:rPr lang="en-US" dirty="0" smtClean="0">
                <a:latin typeface="Arial Rounded MT Bold" panose="020F0704030504030204" pitchFamily="34" charset="0"/>
              </a:rPr>
              <a:t>research</a:t>
            </a:r>
          </a:p>
          <a:p>
            <a:pPr lvl="1" algn="just"/>
            <a:r>
              <a:rPr lang="en-US" dirty="0" smtClean="0">
                <a:latin typeface="Arial Rounded MT Bold" panose="020F0704030504030204" pitchFamily="34" charset="0"/>
              </a:rPr>
              <a:t>Direct or indirect  </a:t>
            </a: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The </a:t>
            </a:r>
            <a:r>
              <a:rPr lang="en-US" dirty="0">
                <a:latin typeface="Arial Rounded MT Bold" panose="020F0704030504030204" pitchFamily="34" charset="0"/>
              </a:rPr>
              <a:t>researcher should consider how the research findings will be </a:t>
            </a:r>
            <a:r>
              <a:rPr lang="en-US" dirty="0" smtClean="0">
                <a:latin typeface="Arial Rounded MT Bold" panose="020F0704030504030204" pitchFamily="34" charset="0"/>
              </a:rPr>
              <a:t>used by society. </a:t>
            </a: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14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9680"/>
          <a:stretch/>
        </p:blipFill>
        <p:spPr>
          <a:xfrm>
            <a:off x="6791325" y="1062446"/>
            <a:ext cx="4876800" cy="1795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17149" y="2857500"/>
            <a:ext cx="1879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Waaijers</a:t>
            </a:r>
            <a:r>
              <a:rPr lang="en-ZA" b="1" dirty="0" smtClean="0">
                <a:solidFill>
                  <a:srgbClr val="FF0000"/>
                </a:solidFill>
              </a:rPr>
              <a:t>, 2007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5" y="371475"/>
            <a:ext cx="3810000" cy="2209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65649" y="2626281"/>
            <a:ext cx="222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smtClean="0">
                <a:solidFill>
                  <a:srgbClr val="FF0000"/>
                </a:solidFill>
              </a:rPr>
              <a:t>KS3Learning, 2010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357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92777"/>
            <a:ext cx="10018713" cy="4798423"/>
          </a:xfrm>
        </p:spPr>
        <p:txBody>
          <a:bodyPr anchor="t"/>
          <a:lstStyle/>
          <a:p>
            <a:pPr marL="0" indent="0" algn="just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Adhere </a:t>
            </a:r>
            <a:r>
              <a:rPr lang="en-US" dirty="0">
                <a:latin typeface="Arial Rounded MT Bold" panose="020F0704030504030204" pitchFamily="34" charset="0"/>
              </a:rPr>
              <a:t>to professional bodies code of </a:t>
            </a:r>
            <a:r>
              <a:rPr lang="en-US" dirty="0" smtClean="0">
                <a:latin typeface="Arial Rounded MT Bold" panose="020F0704030504030204" pitchFamily="34" charset="0"/>
              </a:rPr>
              <a:t>conduct</a:t>
            </a:r>
          </a:p>
          <a:p>
            <a:pPr marL="0" indent="0" algn="just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there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are several professional bodies in IT </a:t>
            </a:r>
            <a:endParaRPr lang="en-US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ACM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and </a:t>
            </a: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IEEE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provide guidelines for professional conduct.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15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262" y="3876675"/>
            <a:ext cx="2847975" cy="16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841" y="3729038"/>
            <a:ext cx="3933825" cy="29557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46144" y="6315478"/>
            <a:ext cx="1879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Ergin</a:t>
            </a:r>
            <a:r>
              <a:rPr lang="en-ZA" b="1" dirty="0" smtClean="0">
                <a:solidFill>
                  <a:srgbClr val="FF0000"/>
                </a:solidFill>
              </a:rPr>
              <a:t>, 2012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661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46202"/>
            <a:ext cx="10018713" cy="2682874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Reviewing research </a:t>
            </a:r>
            <a:r>
              <a:rPr 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work of others</a:t>
            </a:r>
            <a:endParaRPr lang="en-US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maintain </a:t>
            </a:r>
            <a:r>
              <a:rPr lang="en-US" dirty="0">
                <a:latin typeface="Arial Rounded MT Bold" panose="020F0704030504030204" pitchFamily="34" charset="0"/>
              </a:rPr>
              <a:t>confidentiality of the content of the research being </a:t>
            </a:r>
            <a:r>
              <a:rPr lang="en-US" dirty="0" smtClean="0">
                <a:latin typeface="Arial Rounded MT Bold" panose="020F0704030504030204" pitchFamily="34" charset="0"/>
              </a:rPr>
              <a:t>reviewed </a:t>
            </a: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Complete </a:t>
            </a:r>
            <a:r>
              <a:rPr lang="en-US" dirty="0">
                <a:latin typeface="Arial Rounded MT Bold" panose="020F0704030504030204" pitchFamily="34" charset="0"/>
              </a:rPr>
              <a:t>the review </a:t>
            </a:r>
            <a:r>
              <a:rPr lang="en-US" dirty="0" smtClean="0">
                <a:latin typeface="Arial Rounded MT Bold" panose="020F0704030504030204" pitchFamily="34" charset="0"/>
              </a:rPr>
              <a:t>timeously </a:t>
            </a: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Provide </a:t>
            </a:r>
            <a:r>
              <a:rPr lang="en-US" dirty="0">
                <a:latin typeface="Arial Rounded MT Bold" panose="020F0704030504030204" pitchFamily="34" charset="0"/>
              </a:rPr>
              <a:t>eloquent criticisms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and </a:t>
            </a:r>
            <a:r>
              <a:rPr lang="en-US" dirty="0">
                <a:latin typeface="Arial Rounded MT Bold" panose="020F0704030504030204" pitchFamily="34" charset="0"/>
              </a:rPr>
              <a:t>praise for the </a:t>
            </a:r>
            <a:r>
              <a:rPr lang="en-US" dirty="0" smtClean="0">
                <a:latin typeface="Arial Rounded MT Bold" panose="020F0704030504030204" pitchFamily="34" charset="0"/>
              </a:rPr>
              <a:t>work   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16</a:t>
            </a:fld>
            <a:endParaRPr lang="en-Z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86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477"/>
    </mc:Choice>
    <mc:Fallback xmlns="">
      <p:transition spd="slow" advTm="185477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17</a:t>
            </a:fld>
            <a:endParaRPr lang="en-ZA"/>
          </a:p>
        </p:txBody>
      </p:sp>
      <p:pic>
        <p:nvPicPr>
          <p:cNvPr id="3074" name="Picture 2" descr="https://back.ww-cdn.com/resizeapi/172c08caa55d482187f572c744465db821a8d824b5488a9a3a05a25e344da7d4/750/-1/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184"/>
          <a:stretch/>
        </p:blipFill>
        <p:spPr bwMode="auto">
          <a:xfrm>
            <a:off x="1774142" y="1515836"/>
            <a:ext cx="8680450" cy="307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448300" y="5102781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Enago</a:t>
            </a:r>
            <a:r>
              <a:rPr lang="en-ZA" b="1" dirty="0" smtClean="0">
                <a:solidFill>
                  <a:srgbClr val="FF0000"/>
                </a:solidFill>
              </a:rPr>
              <a:t> academy, 2020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470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0985" y="667294"/>
            <a:ext cx="10018713" cy="5085807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Ethical </a:t>
            </a:r>
            <a:r>
              <a:rPr lang="en-US" dirty="0">
                <a:latin typeface="Arial Rounded MT Bold" panose="020F0704030504030204" pitchFamily="34" charset="0"/>
              </a:rPr>
              <a:t>data analysis and </a:t>
            </a:r>
            <a:r>
              <a:rPr lang="en-US" dirty="0" smtClean="0">
                <a:latin typeface="Arial Rounded MT Bold" panose="020F0704030504030204" pitchFamily="34" charset="0"/>
              </a:rPr>
              <a:t>publication</a:t>
            </a:r>
          </a:p>
          <a:p>
            <a:pPr marL="0" indent="0" algn="ctr">
              <a:buNone/>
            </a:pPr>
            <a:endParaRPr lang="en-US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Fabrication </a:t>
            </a:r>
            <a:r>
              <a:rPr lang="en-US" dirty="0">
                <a:latin typeface="Arial Rounded MT Bold" panose="020F0704030504030204" pitchFamily="34" charset="0"/>
              </a:rPr>
              <a:t>of </a:t>
            </a:r>
            <a:r>
              <a:rPr lang="en-US" dirty="0" smtClean="0">
                <a:latin typeface="Arial Rounded MT Bold" panose="020F0704030504030204" pitchFamily="34" charset="0"/>
              </a:rPr>
              <a:t>data</a:t>
            </a:r>
          </a:p>
          <a:p>
            <a:pPr lvl="1" algn="just"/>
            <a:r>
              <a:rPr lang="en-US" dirty="0" smtClean="0">
                <a:latin typeface="Arial Rounded MT Bold" panose="020F0704030504030204" pitchFamily="34" charset="0"/>
              </a:rPr>
              <a:t>making </a:t>
            </a:r>
            <a:r>
              <a:rPr lang="en-US" dirty="0">
                <a:latin typeface="Arial Rounded MT Bold" panose="020F0704030504030204" pitchFamily="34" charset="0"/>
              </a:rPr>
              <a:t>adjustments to data or filling in missing data.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Eliminating </a:t>
            </a:r>
            <a:r>
              <a:rPr lang="en-US" dirty="0">
                <a:latin typeface="Arial Rounded MT Bold" panose="020F0704030504030204" pitchFamily="34" charset="0"/>
              </a:rPr>
              <a:t>an </a:t>
            </a:r>
            <a:r>
              <a:rPr lang="en-US" dirty="0" smtClean="0">
                <a:latin typeface="Arial Rounded MT Bold" panose="020F0704030504030204" pitchFamily="34" charset="0"/>
              </a:rPr>
              <a:t>outlier</a:t>
            </a:r>
          </a:p>
          <a:p>
            <a:pPr lvl="1" algn="just"/>
            <a:r>
              <a:rPr lang="en-US" dirty="0" smtClean="0">
                <a:latin typeface="Arial Rounded MT Bold" panose="020F0704030504030204" pitchFamily="34" charset="0"/>
              </a:rPr>
              <a:t>an </a:t>
            </a:r>
            <a:r>
              <a:rPr lang="en-US" dirty="0">
                <a:latin typeface="Arial Rounded MT Bold" panose="020F0704030504030204" pitchFamily="34" charset="0"/>
              </a:rPr>
              <a:t>outlier is </a:t>
            </a:r>
            <a:r>
              <a:rPr lang="en-US" dirty="0" smtClean="0">
                <a:latin typeface="Arial Rounded MT Bold" panose="020F0704030504030204" pitchFamily="34" charset="0"/>
              </a:rPr>
              <a:t>data point very </a:t>
            </a:r>
            <a:r>
              <a:rPr lang="en-US" dirty="0">
                <a:latin typeface="Arial Rounded MT Bold" panose="020F0704030504030204" pitchFamily="34" charset="0"/>
              </a:rPr>
              <a:t>far or drastically different from the rest of the sample. This outlier may influence the results and lead to incorrect conclusions about the population. The researcher may eliminate the outlier </a:t>
            </a:r>
            <a:r>
              <a:rPr lang="en-US" dirty="0" smtClean="0">
                <a:latin typeface="Arial Rounded MT Bold" panose="020F0704030504030204" pitchFamily="34" charset="0"/>
              </a:rPr>
              <a:t>but, </a:t>
            </a:r>
            <a:r>
              <a:rPr lang="en-US" dirty="0">
                <a:latin typeface="Arial Rounded MT Bold" panose="020F0704030504030204" pitchFamily="34" charset="0"/>
              </a:rPr>
              <a:t>this must be stated in the </a:t>
            </a:r>
            <a:r>
              <a:rPr lang="en-US" dirty="0" smtClean="0">
                <a:latin typeface="Arial Rounded MT Bold" panose="020F0704030504030204" pitchFamily="34" charset="0"/>
              </a:rPr>
              <a:t>publication.</a:t>
            </a: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Exploitation </a:t>
            </a:r>
            <a:r>
              <a:rPr lang="en-US" dirty="0">
                <a:latin typeface="Arial Rounded MT Bold" panose="020F0704030504030204" pitchFamily="34" charset="0"/>
              </a:rPr>
              <a:t>of </a:t>
            </a:r>
            <a:r>
              <a:rPr lang="en-US" dirty="0" smtClean="0">
                <a:latin typeface="Arial Rounded MT Bold" panose="020F0704030504030204" pitchFamily="34" charset="0"/>
              </a:rPr>
              <a:t>data</a:t>
            </a:r>
          </a:p>
          <a:p>
            <a:pPr lvl="1" algn="just"/>
            <a:r>
              <a:rPr lang="en-US" dirty="0" smtClean="0">
                <a:latin typeface="Arial Rounded MT Bold" panose="020F0704030504030204" pitchFamily="34" charset="0"/>
              </a:rPr>
              <a:t>occurs </a:t>
            </a:r>
            <a:r>
              <a:rPr lang="en-US" dirty="0">
                <a:latin typeface="Arial Rounded MT Bold" panose="020F0704030504030204" pitchFamily="34" charset="0"/>
              </a:rPr>
              <a:t>when researchers make undue claims or overemphasis the significance of a finding.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18</a:t>
            </a:fld>
            <a:endParaRPr lang="en-ZA"/>
          </a:p>
        </p:txBody>
      </p:sp>
      <p:sp>
        <p:nvSpPr>
          <p:cNvPr id="6" name="TextBox 5"/>
          <p:cNvSpPr txBox="1"/>
          <p:nvPr/>
        </p:nvSpPr>
        <p:spPr>
          <a:xfrm>
            <a:off x="8192202" y="5568435"/>
            <a:ext cx="337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Lapan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and </a:t>
            </a:r>
            <a:r>
              <a:rPr lang="en-US" dirty="0" err="1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Quartaroli</a:t>
            </a:r>
            <a:r>
              <a:rPr lang="en-US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, 2009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28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202"/>
    </mc:Choice>
    <mc:Fallback xmlns="">
      <p:transition spd="slow" advTm="95202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19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957263"/>
            <a:ext cx="3849784" cy="28908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3275" y="3931206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smtClean="0">
                <a:solidFill>
                  <a:srgbClr val="FF0000"/>
                </a:solidFill>
              </a:rPr>
              <a:t>Wessel, 2020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822" y="719137"/>
            <a:ext cx="4092366" cy="2052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80331" y="2883456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Riffat</a:t>
            </a:r>
            <a:r>
              <a:rPr lang="en-ZA" b="1" dirty="0" smtClean="0">
                <a:solidFill>
                  <a:srgbClr val="FF0000"/>
                </a:solidFill>
              </a:rPr>
              <a:t> et Al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900" y="3451010"/>
            <a:ext cx="4743450" cy="26148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2600" y="6079393"/>
            <a:ext cx="4438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smtClean="0">
                <a:solidFill>
                  <a:srgbClr val="FF0000"/>
                </a:solidFill>
              </a:rPr>
              <a:t>St George Anaesthesia Education, 2020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030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4310" y="495301"/>
            <a:ext cx="10018713" cy="529590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Consequences of Scientific misconduct</a:t>
            </a:r>
          </a:p>
          <a:p>
            <a:endParaRPr lang="en-US" dirty="0"/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Could </a:t>
            </a:r>
            <a:r>
              <a:rPr lang="en-US" sz="2000" dirty="0">
                <a:latin typeface="Arial Rounded MT Bold" panose="020F0704030504030204" pitchFamily="34" charset="0"/>
              </a:rPr>
              <a:t>mean the end to career as a </a:t>
            </a:r>
            <a:r>
              <a:rPr lang="en-US" sz="2000" dirty="0" smtClean="0">
                <a:latin typeface="Arial Rounded MT Bold" panose="020F0704030504030204" pitchFamily="34" charset="0"/>
              </a:rPr>
              <a:t>researcher </a:t>
            </a: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Grounds </a:t>
            </a:r>
            <a:r>
              <a:rPr lang="en-US" sz="2000" dirty="0">
                <a:latin typeface="Arial Rounded MT Bold" panose="020F0704030504030204" pitchFamily="34" charset="0"/>
              </a:rPr>
              <a:t>for dismissal </a:t>
            </a:r>
            <a:endParaRPr lang="en-US" sz="2000" dirty="0" smtClean="0">
              <a:latin typeface="Arial Rounded MT Bold" panose="020F0704030504030204" pitchFamily="34" charset="0"/>
            </a:endParaRP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Forfeiture </a:t>
            </a:r>
            <a:r>
              <a:rPr lang="en-US" sz="2000" dirty="0">
                <a:latin typeface="Arial Rounded MT Bold" panose="020F0704030504030204" pitchFamily="34" charset="0"/>
              </a:rPr>
              <a:t>of research </a:t>
            </a:r>
            <a:r>
              <a:rPr lang="en-US" sz="2000" dirty="0" smtClean="0">
                <a:latin typeface="Arial Rounded MT Bold" panose="020F0704030504030204" pitchFamily="34" charset="0"/>
              </a:rPr>
              <a:t>grants</a:t>
            </a:r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Blacklisted </a:t>
            </a:r>
            <a:r>
              <a:rPr lang="en-US" sz="2000" dirty="0">
                <a:latin typeface="Arial Rounded MT Bold" panose="020F0704030504030204" pitchFamily="34" charset="0"/>
              </a:rPr>
              <a:t>(e.g. reputable research organizations and </a:t>
            </a:r>
            <a:r>
              <a:rPr lang="en-US" sz="2000" dirty="0" smtClean="0">
                <a:latin typeface="Arial Rounded MT Bold" panose="020F0704030504030204" pitchFamily="34" charset="0"/>
              </a:rPr>
              <a:t>universities refuse </a:t>
            </a:r>
            <a:r>
              <a:rPr lang="en-US" sz="2000" dirty="0">
                <a:latin typeface="Arial Rounded MT Bold" panose="020F0704030504030204" pitchFamily="34" charset="0"/>
              </a:rPr>
              <a:t>to hire; funding sources refuse to sponsor research work</a:t>
            </a:r>
            <a:r>
              <a:rPr lang="en-US" sz="2000" dirty="0" smtClean="0">
                <a:latin typeface="Arial Rounded MT Bold" panose="020F0704030504030204" pitchFamily="34" charset="0"/>
              </a:rPr>
              <a:t>, journals </a:t>
            </a:r>
            <a:r>
              <a:rPr lang="en-US" sz="2000" dirty="0">
                <a:latin typeface="Arial Rounded MT Bold" panose="020F0704030504030204" pitchFamily="34" charset="0"/>
              </a:rPr>
              <a:t>refuse to consider any articles for </a:t>
            </a:r>
            <a:r>
              <a:rPr lang="en-US" sz="2000" dirty="0" smtClean="0">
                <a:latin typeface="Arial Rounded MT Bold" panose="020F0704030504030204" pitchFamily="34" charset="0"/>
              </a:rPr>
              <a:t>publication)</a:t>
            </a:r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dirty="0" smtClean="0">
                <a:latin typeface="Arial Rounded MT Bold" panose="020F0704030504030204" pitchFamily="34" charset="0"/>
              </a:rPr>
              <a:t>Previously </a:t>
            </a:r>
            <a:r>
              <a:rPr lang="en-US" sz="2000" dirty="0">
                <a:latin typeface="Arial Rounded MT Bold" panose="020F0704030504030204" pitchFamily="34" charset="0"/>
              </a:rPr>
              <a:t>earned academic credentials taken </a:t>
            </a:r>
            <a:r>
              <a:rPr lang="en-US" sz="2000" dirty="0" smtClean="0">
                <a:latin typeface="Arial Rounded MT Bold" panose="020F0704030504030204" pitchFamily="34" charset="0"/>
              </a:rPr>
              <a:t>away</a:t>
            </a:r>
            <a:endParaRPr lang="en-ZA" sz="2000" dirty="0">
              <a:latin typeface="Arial Rounded MT Bold" panose="020F07040305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20</a:t>
            </a:fld>
            <a:endParaRPr lang="en-ZA"/>
          </a:p>
        </p:txBody>
      </p:sp>
      <p:sp>
        <p:nvSpPr>
          <p:cNvPr id="6" name="TextBox 5"/>
          <p:cNvSpPr txBox="1"/>
          <p:nvPr/>
        </p:nvSpPr>
        <p:spPr>
          <a:xfrm>
            <a:off x="9846956" y="50456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Riffat</a:t>
            </a:r>
            <a:r>
              <a:rPr lang="en-ZA" b="1" dirty="0" smtClean="0">
                <a:solidFill>
                  <a:srgbClr val="FF0000"/>
                </a:solidFill>
              </a:rPr>
              <a:t> et Al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5" y="4857750"/>
            <a:ext cx="2857500" cy="16002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117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23900"/>
          </a:xfrm>
        </p:spPr>
        <p:txBody>
          <a:bodyPr/>
          <a:lstStyle/>
          <a:p>
            <a:pPr lvl="0"/>
            <a:r>
              <a:rPr lang="en-GB" b="1" dirty="0"/>
              <a:t>Plagiarism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676401"/>
            <a:ext cx="10018713" cy="4114800"/>
          </a:xfrm>
        </p:spPr>
        <p:txBody>
          <a:bodyPr anchor="t">
            <a:normAutofit/>
          </a:bodyPr>
          <a:lstStyle/>
          <a:p>
            <a:pPr algn="just"/>
            <a:r>
              <a:rPr lang="en-US" dirty="0">
                <a:latin typeface="Arial Rounded MT Bold" panose="020F0704030504030204" pitchFamily="34" charset="0"/>
              </a:rPr>
              <a:t>Plagiarism is the act of copying the work of others and passing it of as the researcher’s own.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algn="just"/>
            <a:endParaRPr lang="en-US" dirty="0">
              <a:latin typeface="Arial Rounded MT Bold" panose="020F0704030504030204" pitchFamily="34" charset="0"/>
            </a:endParaRPr>
          </a:p>
          <a:p>
            <a:pPr algn="just"/>
            <a:endParaRPr lang="en-US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Plagiarism </a:t>
            </a:r>
            <a:r>
              <a:rPr lang="en-US" dirty="0">
                <a:latin typeface="Arial Rounded MT Bold" panose="020F0704030504030204" pitchFamily="34" charset="0"/>
              </a:rPr>
              <a:t>also includes the act of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copying </a:t>
            </a:r>
            <a:r>
              <a:rPr lang="en-US" dirty="0">
                <a:latin typeface="Arial Rounded MT Bold" panose="020F0704030504030204" pitchFamily="34" charset="0"/>
              </a:rPr>
              <a:t>the work of others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without </a:t>
            </a:r>
            <a:r>
              <a:rPr lang="en-US" dirty="0">
                <a:latin typeface="Arial Rounded MT Bold" panose="020F0704030504030204" pitchFamily="34" charset="0"/>
              </a:rPr>
              <a:t>correct referencing to acknowledge 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the </a:t>
            </a:r>
            <a:r>
              <a:rPr lang="en-US" dirty="0">
                <a:latin typeface="Arial Rounded MT Bold" panose="020F0704030504030204" pitchFamily="34" charset="0"/>
              </a:rPr>
              <a:t>original authors. 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21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00" y="2233612"/>
            <a:ext cx="4176712" cy="2317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15916" y="436625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Riffat</a:t>
            </a:r>
            <a:r>
              <a:rPr lang="en-ZA" b="1" dirty="0" smtClean="0">
                <a:solidFill>
                  <a:srgbClr val="FF0000"/>
                </a:solidFill>
              </a:rPr>
              <a:t> et Al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786" y="5009742"/>
            <a:ext cx="3324225" cy="17470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9011" y="6226673"/>
            <a:ext cx="211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 smtClean="0">
                <a:solidFill>
                  <a:srgbClr val="FF0000"/>
                </a:solidFill>
              </a:rPr>
              <a:t>Grammarly</a:t>
            </a:r>
            <a:r>
              <a:rPr lang="en-ZA" b="1" dirty="0" smtClean="0">
                <a:solidFill>
                  <a:srgbClr val="FF0000"/>
                </a:solidFill>
              </a:rPr>
              <a:t>, 2015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07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1045029"/>
            <a:ext cx="4895055" cy="3603171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GB" sz="2000" dirty="0">
                <a:latin typeface="Arial Rounded MT Bold" panose="020F0704030504030204" pitchFamily="34" charset="0"/>
              </a:rPr>
              <a:t>There are numerous software tools to assist in identifying plagiarism</a:t>
            </a:r>
            <a:r>
              <a:rPr lang="en-GB" sz="2000" dirty="0" smtClean="0">
                <a:latin typeface="Arial Rounded MT Bold" panose="020F0704030504030204" pitchFamily="34" charset="0"/>
              </a:rPr>
              <a:t>:</a:t>
            </a:r>
          </a:p>
          <a:p>
            <a:pPr marL="0" indent="0">
              <a:buNone/>
            </a:pPr>
            <a:endParaRPr lang="en-ZA" dirty="0"/>
          </a:p>
          <a:p>
            <a:pPr lvl="0"/>
            <a:r>
              <a:rPr lang="en-GB" dirty="0" err="1"/>
              <a:t>Turnitin</a:t>
            </a:r>
            <a:r>
              <a:rPr lang="en-GB" dirty="0"/>
              <a:t>,</a:t>
            </a:r>
            <a:endParaRPr lang="en-ZA" dirty="0"/>
          </a:p>
          <a:p>
            <a:pPr lvl="0"/>
            <a:r>
              <a:rPr lang="en-GB" dirty="0" err="1"/>
              <a:t>Unicheck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Plagscan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Grammarly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Plagramme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Plagtracker</a:t>
            </a:r>
            <a:r>
              <a:rPr lang="en-GB" dirty="0"/>
              <a:t>, </a:t>
            </a:r>
            <a:endParaRPr lang="en-ZA" dirty="0"/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607967" y="1045029"/>
            <a:ext cx="4895056" cy="4746171"/>
          </a:xfrm>
        </p:spPr>
        <p:txBody>
          <a:bodyPr>
            <a:normAutofit lnSpcReduction="10000"/>
          </a:bodyPr>
          <a:lstStyle/>
          <a:p>
            <a:pPr lvl="0"/>
            <a:r>
              <a:rPr lang="en-GB" dirty="0" err="1"/>
              <a:t>Dupli</a:t>
            </a:r>
            <a:r>
              <a:rPr lang="en-GB" dirty="0"/>
              <a:t> Checker, </a:t>
            </a:r>
            <a:endParaRPr lang="en-ZA" dirty="0"/>
          </a:p>
          <a:p>
            <a:pPr lvl="0"/>
            <a:r>
              <a:rPr lang="en-GB" dirty="0" err="1"/>
              <a:t>Copyleaks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PaperRater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Plagiarisma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Plagium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 err="1"/>
              <a:t>Quetext</a:t>
            </a:r>
            <a:r>
              <a:rPr lang="en-GB" dirty="0"/>
              <a:t>, </a:t>
            </a:r>
            <a:endParaRPr lang="en-ZA" dirty="0"/>
          </a:p>
          <a:p>
            <a:pPr lvl="0"/>
            <a:r>
              <a:rPr lang="en-GB" dirty="0"/>
              <a:t>Viper </a:t>
            </a: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22</a:t>
            </a:fld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4596174"/>
            <a:ext cx="4262437" cy="21057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58037" y="6200775"/>
            <a:ext cx="235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Duplichecker.com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728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blogs.jwatch.org/hiv-id-observations/wp-content/uploads/sites/2/2018/05/DeLnNRuWAAA0oq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712" y="4819034"/>
            <a:ext cx="4830444" cy="202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</p:spPr>
        <p:txBody>
          <a:bodyPr/>
          <a:lstStyle/>
          <a:p>
            <a:pPr lvl="0"/>
            <a:r>
              <a:rPr lang="en-GB" b="1" dirty="0"/>
              <a:t>Publications (predatory versus </a:t>
            </a:r>
            <a:r>
              <a:rPr lang="en-GB" b="1" dirty="0" smtClean="0"/>
              <a:t>accredited)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495426"/>
            <a:ext cx="10018713" cy="3619500"/>
          </a:xfrm>
        </p:spPr>
        <p:txBody>
          <a:bodyPr anchor="t">
            <a:no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Predatory publishing is a business model that exploits researchers by charging them publication fees for publishing in a very poor quality journal. </a:t>
            </a:r>
            <a:endParaRPr lang="en-US" sz="1800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endParaRPr lang="en-US" sz="18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r>
              <a:rPr lang="en-US" sz="18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Predatory </a:t>
            </a:r>
            <a:r>
              <a:rPr lang="en-US" sz="1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journals often do not check the quality and legitimacy, lack a credible board of reviewers, do not have an editing service and publish poor quality research. </a:t>
            </a:r>
            <a:endParaRPr lang="en-US" sz="1800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endParaRPr lang="en-US" sz="18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r>
              <a:rPr lang="en-US" sz="18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Hence</a:t>
            </a:r>
            <a:r>
              <a:rPr lang="en-US" sz="1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there are no funding awards nor credits for publishing in a predatory journal. </a:t>
            </a:r>
            <a:endParaRPr lang="en-US" sz="1800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endParaRPr lang="en-US" sz="18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r>
              <a:rPr lang="en-US" sz="1800" dirty="0" smtClean="0">
                <a:solidFill>
                  <a:srgbClr val="C00000"/>
                </a:solidFill>
                <a:latin typeface="Arial Rounded MT Bold" panose="020F0704030504030204" pitchFamily="34" charset="0"/>
              </a:rPr>
              <a:t>New </a:t>
            </a:r>
            <a:r>
              <a:rPr lang="en-US" sz="18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scholars including students, are especially at risk of falling for predatory publishing. </a:t>
            </a:r>
            <a:endParaRPr lang="en-ZA" sz="18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23</a:t>
            </a:fld>
            <a:endParaRPr lang="en-ZA"/>
          </a:p>
        </p:txBody>
      </p:sp>
      <p:sp>
        <p:nvSpPr>
          <p:cNvPr id="7" name="TextBox 6"/>
          <p:cNvSpPr txBox="1"/>
          <p:nvPr/>
        </p:nvSpPr>
        <p:spPr>
          <a:xfrm>
            <a:off x="3447744" y="6248400"/>
            <a:ext cx="202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FF0000"/>
                </a:solidFill>
              </a:rPr>
              <a:t>Sax, 2020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660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818606"/>
            <a:ext cx="10018713" cy="5572670"/>
          </a:xfrm>
        </p:spPr>
        <p:txBody>
          <a:bodyPr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predatory </a:t>
            </a:r>
            <a:r>
              <a:rPr lang="en-US" dirty="0">
                <a:latin typeface="Arial Rounded MT Bold" panose="020F0704030504030204" pitchFamily="34" charset="0"/>
              </a:rPr>
              <a:t>journals engage in unfair and deceptive practices in the following </a:t>
            </a:r>
            <a:r>
              <a:rPr lang="en-US" dirty="0" smtClean="0">
                <a:latin typeface="Arial Rounded MT Bold" panose="020F0704030504030204" pitchFamily="34" charset="0"/>
              </a:rPr>
              <a:t>ways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Falsely </a:t>
            </a:r>
            <a:r>
              <a:rPr lang="en-US" dirty="0">
                <a:latin typeface="Arial Rounded MT Bold" panose="020F0704030504030204" pitchFamily="34" charset="0"/>
              </a:rPr>
              <a:t>claim rigorous peer review.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Claim </a:t>
            </a:r>
            <a:r>
              <a:rPr lang="en-US" dirty="0">
                <a:latin typeface="Arial Rounded MT Bold" panose="020F0704030504030204" pitchFamily="34" charset="0"/>
              </a:rPr>
              <a:t>individuals as editors when those individuals never agreed to become editors.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Send </a:t>
            </a:r>
            <a:r>
              <a:rPr lang="en-US" dirty="0">
                <a:latin typeface="Arial Rounded MT Bold" panose="020F0704030504030204" pitchFamily="34" charset="0"/>
              </a:rPr>
              <a:t>solicitations to potential authors on behalf of other academics, without permission from those academics.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Give </a:t>
            </a:r>
            <a:r>
              <a:rPr lang="en-US" dirty="0">
                <a:latin typeface="Arial Rounded MT Bold" panose="020F0704030504030204" pitchFamily="34" charset="0"/>
              </a:rPr>
              <a:t>their journals a nearly identical name as another respected journal.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Fail </a:t>
            </a:r>
            <a:r>
              <a:rPr lang="en-US" dirty="0">
                <a:latin typeface="Arial Rounded MT Bold" panose="020F0704030504030204" pitchFamily="34" charset="0"/>
              </a:rPr>
              <a:t>to disclose publication fees until after authors submit articles, and demand payment to withdraw the article.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Misrepresent </a:t>
            </a:r>
            <a:r>
              <a:rPr lang="en-US" dirty="0">
                <a:latin typeface="Arial Rounded MT Bold" panose="020F0704030504030204" pitchFamily="34" charset="0"/>
              </a:rPr>
              <a:t>the Impact Factor of their journals.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Falsely </a:t>
            </a:r>
            <a:r>
              <a:rPr lang="en-US" dirty="0">
                <a:latin typeface="Arial Rounded MT Bold" panose="020F0704030504030204" pitchFamily="34" charset="0"/>
              </a:rPr>
              <a:t>claim that their journals are included in academic indexes such as, the ISI.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Falsely </a:t>
            </a:r>
            <a:r>
              <a:rPr lang="en-US" dirty="0">
                <a:latin typeface="Arial Rounded MT Bold" panose="020F0704030504030204" pitchFamily="34" charset="0"/>
              </a:rPr>
              <a:t>claim that respected individuals will participate in conferences to increase </a:t>
            </a:r>
            <a:r>
              <a:rPr lang="en-US" dirty="0" smtClean="0">
                <a:latin typeface="Arial Rounded MT Bold" panose="020F0704030504030204" pitchFamily="34" charset="0"/>
              </a:rPr>
              <a:t>attendance</a:t>
            </a:r>
          </a:p>
          <a:p>
            <a:pPr marL="457200" lvl="1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													</a:t>
            </a:r>
            <a:r>
              <a:rPr lang="en-US" dirty="0" smtClean="0">
                <a:solidFill>
                  <a:srgbClr val="C00000"/>
                </a:solidFill>
                <a:latin typeface="Arial Rounded MT Bold" panose="020F0704030504030204" pitchFamily="34" charset="0"/>
              </a:rPr>
              <a:t>Anderson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(2017)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24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0" y="904875"/>
            <a:ext cx="1724430" cy="12096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95556" y="2114550"/>
            <a:ext cx="202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FF0000"/>
                </a:solidFill>
              </a:rPr>
              <a:t>Getty images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514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8571"/>
            <a:ext cx="10018713" cy="4702629"/>
          </a:xfrm>
        </p:spPr>
        <p:txBody>
          <a:bodyPr>
            <a:normAutofit/>
          </a:bodyPr>
          <a:lstStyle/>
          <a:p>
            <a:pPr algn="just"/>
            <a:r>
              <a:rPr lang="en-GB" dirty="0" smtClean="0">
                <a:latin typeface="Arial Rounded MT Bold" panose="020F0704030504030204" pitchFamily="34" charset="0"/>
              </a:rPr>
              <a:t>University </a:t>
            </a:r>
            <a:r>
              <a:rPr lang="en-GB" dirty="0">
                <a:latin typeface="Arial Rounded MT Bold" panose="020F0704030504030204" pitchFamily="34" charset="0"/>
              </a:rPr>
              <a:t>libraries maintain a list of </a:t>
            </a:r>
            <a:r>
              <a:rPr lang="en-GB" dirty="0" smtClean="0">
                <a:latin typeface="Arial Rounded MT Bold" panose="020F0704030504030204" pitchFamily="34" charset="0"/>
              </a:rPr>
              <a:t>accredited </a:t>
            </a:r>
            <a:r>
              <a:rPr lang="en-GB" dirty="0">
                <a:latin typeface="Arial Rounded MT Bold" panose="020F0704030504030204" pitchFamily="34" charset="0"/>
              </a:rPr>
              <a:t>publishers. </a:t>
            </a:r>
            <a:endParaRPr lang="en-GB" dirty="0" smtClean="0">
              <a:latin typeface="Arial Rounded MT Bold" panose="020F0704030504030204" pitchFamily="34" charset="0"/>
            </a:endParaRPr>
          </a:p>
          <a:p>
            <a:pPr lvl="1" algn="just"/>
            <a:r>
              <a:rPr lang="en-GB" dirty="0" smtClean="0">
                <a:latin typeface="Arial Rounded MT Bold" panose="020F0704030504030204" pitchFamily="34" charset="0"/>
              </a:rPr>
              <a:t>And a list of predatory publishers see, </a:t>
            </a:r>
            <a:r>
              <a:rPr lang="en-GB" dirty="0" err="1" smtClean="0">
                <a:solidFill>
                  <a:srgbClr val="C00000"/>
                </a:solidFill>
                <a:latin typeface="Arial Rounded MT Bold" panose="020F0704030504030204" pitchFamily="34" charset="0"/>
              </a:rPr>
              <a:t>Cabells</a:t>
            </a:r>
            <a:r>
              <a:rPr lang="en-GB" dirty="0" smtClean="0">
                <a:solidFill>
                  <a:srgbClr val="C00000"/>
                </a:solidFill>
                <a:latin typeface="Arial Rounded MT Bold" panose="020F0704030504030204" pitchFamily="34" charset="0"/>
              </a:rPr>
              <a:t> database</a:t>
            </a:r>
            <a:endParaRPr lang="en-GB" dirty="0" smtClean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GB" dirty="0" smtClean="0">
                <a:latin typeface="Arial Rounded MT Bold" panose="020F0704030504030204" pitchFamily="34" charset="0"/>
              </a:rPr>
              <a:t>Students </a:t>
            </a:r>
            <a:r>
              <a:rPr lang="en-GB" dirty="0">
                <a:latin typeface="Arial Rounded MT Bold" panose="020F0704030504030204" pitchFamily="34" charset="0"/>
              </a:rPr>
              <a:t>and researchers must consult these lists before committing to </a:t>
            </a:r>
            <a:r>
              <a:rPr lang="en-GB" dirty="0" smtClean="0">
                <a:latin typeface="Arial Rounded MT Bold" panose="020F0704030504030204" pitchFamily="34" charset="0"/>
              </a:rPr>
              <a:t>a publisher.</a:t>
            </a:r>
            <a:endParaRPr lang="en-GB" dirty="0" smtClean="0">
              <a:latin typeface="Arial Rounded MT Bold" panose="020F0704030504030204" pitchFamily="34" charset="0"/>
            </a:endParaRPr>
          </a:p>
          <a:p>
            <a:pPr algn="just"/>
            <a:endParaRPr lang="en-ZA" dirty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endParaRPr lang="en-ZA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25</a:t>
            </a:fld>
            <a:endParaRPr lang="en-Z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640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514350"/>
            <a:ext cx="10018713" cy="5368925"/>
          </a:xfrm>
        </p:spPr>
        <p:txBody>
          <a:bodyPr anchor="t">
            <a:normAutofit/>
          </a:bodyPr>
          <a:lstStyle/>
          <a:p>
            <a:pPr algn="just"/>
            <a:endParaRPr lang="en-GB" sz="1800" dirty="0" smtClean="0">
              <a:latin typeface="Arial Rounded MT Bold" panose="020F0704030504030204" pitchFamily="34" charset="0"/>
            </a:endParaRPr>
          </a:p>
          <a:p>
            <a:pPr algn="just"/>
            <a:endParaRPr lang="en-GB" sz="1800" dirty="0">
              <a:latin typeface="Arial Rounded MT Bold" panose="020F0704030504030204" pitchFamily="34" charset="0"/>
            </a:endParaRPr>
          </a:p>
          <a:p>
            <a:pPr algn="just"/>
            <a:r>
              <a:rPr lang="en-GB" sz="1800" dirty="0" smtClean="0">
                <a:latin typeface="Arial Rounded MT Bold" panose="020F0704030504030204" pitchFamily="34" charset="0"/>
              </a:rPr>
              <a:t>In </a:t>
            </a:r>
            <a:r>
              <a:rPr lang="en-GB" sz="1800" dirty="0">
                <a:latin typeface="Arial Rounded MT Bold" panose="020F0704030504030204" pitchFamily="34" charset="0"/>
              </a:rPr>
              <a:t>contrast, </a:t>
            </a:r>
            <a:r>
              <a:rPr lang="en-GB" sz="1800" dirty="0" smtClean="0">
                <a:latin typeface="Arial Rounded MT Bold" panose="020F0704030504030204" pitchFamily="34" charset="0"/>
              </a:rPr>
              <a:t>accredited </a:t>
            </a:r>
            <a:r>
              <a:rPr lang="en-GB" sz="1800" dirty="0">
                <a:latin typeface="Arial Rounded MT Bold" panose="020F0704030504030204" pitchFamily="34" charset="0"/>
              </a:rPr>
              <a:t>publishers maintain high quality and standards in academic publications. </a:t>
            </a:r>
            <a:endParaRPr lang="en-GB" sz="1800" dirty="0" smtClean="0">
              <a:latin typeface="Arial Rounded MT Bold" panose="020F0704030504030204" pitchFamily="34" charset="0"/>
            </a:endParaRPr>
          </a:p>
          <a:p>
            <a:pPr algn="just"/>
            <a:endParaRPr lang="en-GB" sz="1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GB" sz="1800" dirty="0" smtClean="0">
                <a:latin typeface="Arial Rounded MT Bold" panose="020F0704030504030204" pitchFamily="34" charset="0"/>
              </a:rPr>
              <a:t>Researchers </a:t>
            </a:r>
            <a:r>
              <a:rPr lang="en-GB" sz="1800" dirty="0">
                <a:latin typeface="Arial Rounded MT Bold" panose="020F0704030504030204" pitchFamily="34" charset="0"/>
              </a:rPr>
              <a:t>often receive credit and acclaim from publishing in these ranked journals. </a:t>
            </a:r>
            <a:endParaRPr lang="en-GB" sz="1800" dirty="0" smtClean="0">
              <a:latin typeface="Arial Rounded MT Bold" panose="020F0704030504030204" pitchFamily="34" charset="0"/>
            </a:endParaRPr>
          </a:p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26</a:t>
            </a:fld>
            <a:endParaRPr lang="en-Z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41" y="4103688"/>
            <a:ext cx="2333625" cy="1962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17" y="4266248"/>
            <a:ext cx="1454467" cy="14544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348" y="4383679"/>
            <a:ext cx="2096861" cy="12196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101" y="4266248"/>
            <a:ext cx="1289639" cy="142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6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33949</TotalTime>
  <Words>1117</Words>
  <Application>Microsoft Office PowerPoint</Application>
  <PresentationFormat>Widescreen</PresentationFormat>
  <Paragraphs>223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Rounded MT Bold</vt:lpstr>
      <vt:lpstr>Calibri</vt:lpstr>
      <vt:lpstr>Corbel</vt:lpstr>
      <vt:lpstr>Parallax</vt:lpstr>
      <vt:lpstr>Research ethics</vt:lpstr>
      <vt:lpstr>Content</vt:lpstr>
      <vt:lpstr>PowerPoint Presentation</vt:lpstr>
      <vt:lpstr>Introduction</vt:lpstr>
      <vt:lpstr>PowerPoint Presentation</vt:lpstr>
      <vt:lpstr>Rights of participants</vt:lpstr>
      <vt:lpstr>PowerPoint Presentation</vt:lpstr>
      <vt:lpstr>PowerPoint Presentation</vt:lpstr>
      <vt:lpstr>PowerPoint Presentation</vt:lpstr>
      <vt:lpstr>Ethical behaviour of the researcher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Plagiarism</vt:lpstr>
      <vt:lpstr>PowerPoint Presentation</vt:lpstr>
      <vt:lpstr>Publications (predatory versus accredited)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creator>Alveen Singh</dc:creator>
  <cp:lastModifiedBy>Alveen Singh</cp:lastModifiedBy>
  <cp:revision>180</cp:revision>
  <dcterms:created xsi:type="dcterms:W3CDTF">2020-05-29T07:02:27Z</dcterms:created>
  <dcterms:modified xsi:type="dcterms:W3CDTF">2022-05-10T08:57:21Z</dcterms:modified>
</cp:coreProperties>
</file>