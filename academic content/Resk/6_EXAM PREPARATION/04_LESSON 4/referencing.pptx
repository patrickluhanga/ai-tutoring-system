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22"/>
  </p:notesMasterIdLst>
  <p:sldIdLst>
    <p:sldId id="256" r:id="rId2"/>
    <p:sldId id="258" r:id="rId3"/>
    <p:sldId id="259" r:id="rId4"/>
    <p:sldId id="260" r:id="rId5"/>
    <p:sldId id="269" r:id="rId6"/>
    <p:sldId id="261" r:id="rId7"/>
    <p:sldId id="262" r:id="rId8"/>
    <p:sldId id="271" r:id="rId9"/>
    <p:sldId id="263" r:id="rId10"/>
    <p:sldId id="265" r:id="rId11"/>
    <p:sldId id="273" r:id="rId12"/>
    <p:sldId id="266" r:id="rId13"/>
    <p:sldId id="264" r:id="rId14"/>
    <p:sldId id="272" r:id="rId15"/>
    <p:sldId id="267" r:id="rId16"/>
    <p:sldId id="274" r:id="rId17"/>
    <p:sldId id="268" r:id="rId18"/>
    <p:sldId id="275" r:id="rId19"/>
    <p:sldId id="270" r:id="rId20"/>
    <p:sldId id="257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7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veen Singh" userId="6daf11db-8a8e-4669-8f9d-4d2596173bbf" providerId="ADAL" clId="{58FD908E-8F39-4073-B138-16A3B6E7E8E8}"/>
    <pc:docChg chg="custSel addSld delSld modSld">
      <pc:chgData name="Alveen Singh" userId="6daf11db-8a8e-4669-8f9d-4d2596173bbf" providerId="ADAL" clId="{58FD908E-8F39-4073-B138-16A3B6E7E8E8}" dt="2023-03-27T13:03:05.038" v="683" actId="20577"/>
      <pc:docMkLst>
        <pc:docMk/>
      </pc:docMkLst>
      <pc:sldChg chg="modSp">
        <pc:chgData name="Alveen Singh" userId="6daf11db-8a8e-4669-8f9d-4d2596173bbf" providerId="ADAL" clId="{58FD908E-8F39-4073-B138-16A3B6E7E8E8}" dt="2023-03-27T12:33:37.321" v="29" actId="20577"/>
        <pc:sldMkLst>
          <pc:docMk/>
          <pc:sldMk cId="2334617872" sldId="256"/>
        </pc:sldMkLst>
        <pc:spChg chg="mod">
          <ac:chgData name="Alveen Singh" userId="6daf11db-8a8e-4669-8f9d-4d2596173bbf" providerId="ADAL" clId="{58FD908E-8F39-4073-B138-16A3B6E7E8E8}" dt="2023-03-27T12:33:37.321" v="29" actId="20577"/>
          <ac:spMkLst>
            <pc:docMk/>
            <pc:sldMk cId="2334617872" sldId="256"/>
            <ac:spMk id="2" creationId="{00000000-0000-0000-0000-000000000000}"/>
          </ac:spMkLst>
        </pc:spChg>
        <pc:spChg chg="mod">
          <ac:chgData name="Alveen Singh" userId="6daf11db-8a8e-4669-8f9d-4d2596173bbf" providerId="ADAL" clId="{58FD908E-8F39-4073-B138-16A3B6E7E8E8}" dt="2023-03-27T12:33:26.425" v="18" actId="20577"/>
          <ac:spMkLst>
            <pc:docMk/>
            <pc:sldMk cId="2334617872" sldId="256"/>
            <ac:spMk id="3" creationId="{00000000-0000-0000-0000-000000000000}"/>
          </ac:spMkLst>
        </pc:spChg>
      </pc:sldChg>
      <pc:sldChg chg="modSp">
        <pc:chgData name="Alveen Singh" userId="6daf11db-8a8e-4669-8f9d-4d2596173bbf" providerId="ADAL" clId="{58FD908E-8F39-4073-B138-16A3B6E7E8E8}" dt="2023-03-27T12:34:50.223" v="30" actId="6549"/>
        <pc:sldMkLst>
          <pc:docMk/>
          <pc:sldMk cId="583542044" sldId="263"/>
        </pc:sldMkLst>
        <pc:spChg chg="mod">
          <ac:chgData name="Alveen Singh" userId="6daf11db-8a8e-4669-8f9d-4d2596173bbf" providerId="ADAL" clId="{58FD908E-8F39-4073-B138-16A3B6E7E8E8}" dt="2023-03-27T12:34:50.223" v="30" actId="6549"/>
          <ac:spMkLst>
            <pc:docMk/>
            <pc:sldMk cId="583542044" sldId="263"/>
            <ac:spMk id="3" creationId="{00000000-0000-0000-0000-000000000000}"/>
          </ac:spMkLst>
        </pc:spChg>
      </pc:sldChg>
      <pc:sldChg chg="delSp modSp add">
        <pc:chgData name="Alveen Singh" userId="6daf11db-8a8e-4669-8f9d-4d2596173bbf" providerId="ADAL" clId="{58FD908E-8F39-4073-B138-16A3B6E7E8E8}" dt="2023-03-27T12:42:35.281" v="250" actId="20577"/>
        <pc:sldMkLst>
          <pc:docMk/>
          <pc:sldMk cId="2898984389" sldId="271"/>
        </pc:sldMkLst>
        <pc:spChg chg="del">
          <ac:chgData name="Alveen Singh" userId="6daf11db-8a8e-4669-8f9d-4d2596173bbf" providerId="ADAL" clId="{58FD908E-8F39-4073-B138-16A3B6E7E8E8}" dt="2023-03-27T12:40:58.812" v="161" actId="478"/>
          <ac:spMkLst>
            <pc:docMk/>
            <pc:sldMk cId="2898984389" sldId="271"/>
            <ac:spMk id="2" creationId="{D5D518A9-40AC-477F-8089-060AF4897709}"/>
          </ac:spMkLst>
        </pc:spChg>
        <pc:spChg chg="mod">
          <ac:chgData name="Alveen Singh" userId="6daf11db-8a8e-4669-8f9d-4d2596173bbf" providerId="ADAL" clId="{58FD908E-8F39-4073-B138-16A3B6E7E8E8}" dt="2023-03-27T12:42:35.281" v="250" actId="20577"/>
          <ac:spMkLst>
            <pc:docMk/>
            <pc:sldMk cId="2898984389" sldId="271"/>
            <ac:spMk id="3" creationId="{F5BD7B48-994F-49CE-A7AE-077A1D2E08B6}"/>
          </ac:spMkLst>
        </pc:spChg>
      </pc:sldChg>
      <pc:sldChg chg="delSp modSp add">
        <pc:chgData name="Alveen Singh" userId="6daf11db-8a8e-4669-8f9d-4d2596173bbf" providerId="ADAL" clId="{58FD908E-8F39-4073-B138-16A3B6E7E8E8}" dt="2023-03-27T12:56:50.583" v="563" actId="20577"/>
        <pc:sldMkLst>
          <pc:docMk/>
          <pc:sldMk cId="1658780020" sldId="272"/>
        </pc:sldMkLst>
        <pc:spChg chg="del">
          <ac:chgData name="Alveen Singh" userId="6daf11db-8a8e-4669-8f9d-4d2596173bbf" providerId="ADAL" clId="{58FD908E-8F39-4073-B138-16A3B6E7E8E8}" dt="2023-03-27T12:44:57.870" v="330" actId="478"/>
          <ac:spMkLst>
            <pc:docMk/>
            <pc:sldMk cId="1658780020" sldId="272"/>
            <ac:spMk id="2" creationId="{B02C7AE2-6570-423C-8674-E7F66108B011}"/>
          </ac:spMkLst>
        </pc:spChg>
        <pc:spChg chg="mod">
          <ac:chgData name="Alveen Singh" userId="6daf11db-8a8e-4669-8f9d-4d2596173bbf" providerId="ADAL" clId="{58FD908E-8F39-4073-B138-16A3B6E7E8E8}" dt="2023-03-27T12:56:50.583" v="563" actId="20577"/>
          <ac:spMkLst>
            <pc:docMk/>
            <pc:sldMk cId="1658780020" sldId="272"/>
            <ac:spMk id="3" creationId="{201CF2D2-E2E2-4544-B609-0F790B1E862E}"/>
          </ac:spMkLst>
        </pc:spChg>
      </pc:sldChg>
      <pc:sldChg chg="modSp add del">
        <pc:chgData name="Alveen Singh" userId="6daf11db-8a8e-4669-8f9d-4d2596173bbf" providerId="ADAL" clId="{58FD908E-8F39-4073-B138-16A3B6E7E8E8}" dt="2023-03-27T12:46:26.921" v="401" actId="2696"/>
        <pc:sldMkLst>
          <pc:docMk/>
          <pc:sldMk cId="2369532511" sldId="273"/>
        </pc:sldMkLst>
        <pc:spChg chg="mod">
          <ac:chgData name="Alveen Singh" userId="6daf11db-8a8e-4669-8f9d-4d2596173bbf" providerId="ADAL" clId="{58FD908E-8F39-4073-B138-16A3B6E7E8E8}" dt="2023-03-27T12:45:51.553" v="359" actId="20577"/>
          <ac:spMkLst>
            <pc:docMk/>
            <pc:sldMk cId="2369532511" sldId="273"/>
            <ac:spMk id="3" creationId="{201CF2D2-E2E2-4544-B609-0F790B1E862E}"/>
          </ac:spMkLst>
        </pc:spChg>
      </pc:sldChg>
      <pc:sldChg chg="delSp modSp add">
        <pc:chgData name="Alveen Singh" userId="6daf11db-8a8e-4669-8f9d-4d2596173bbf" providerId="ADAL" clId="{58FD908E-8F39-4073-B138-16A3B6E7E8E8}" dt="2023-03-27T12:55:17.635" v="508" actId="20577"/>
        <pc:sldMkLst>
          <pc:docMk/>
          <pc:sldMk cId="3757016753" sldId="273"/>
        </pc:sldMkLst>
        <pc:spChg chg="del">
          <ac:chgData name="Alveen Singh" userId="6daf11db-8a8e-4669-8f9d-4d2596173bbf" providerId="ADAL" clId="{58FD908E-8F39-4073-B138-16A3B6E7E8E8}" dt="2023-03-27T12:51:25.666" v="456" actId="478"/>
          <ac:spMkLst>
            <pc:docMk/>
            <pc:sldMk cId="3757016753" sldId="273"/>
            <ac:spMk id="2" creationId="{3CC757A4-2530-48C4-BB87-D8A6ACD5FF59}"/>
          </ac:spMkLst>
        </pc:spChg>
        <pc:spChg chg="mod">
          <ac:chgData name="Alveen Singh" userId="6daf11db-8a8e-4669-8f9d-4d2596173bbf" providerId="ADAL" clId="{58FD908E-8F39-4073-B138-16A3B6E7E8E8}" dt="2023-03-27T12:55:17.635" v="508" actId="20577"/>
          <ac:spMkLst>
            <pc:docMk/>
            <pc:sldMk cId="3757016753" sldId="273"/>
            <ac:spMk id="3" creationId="{ABC29A9C-A583-43A9-BA30-7AB835321D8C}"/>
          </ac:spMkLst>
        </pc:spChg>
      </pc:sldChg>
      <pc:sldChg chg="delSp modSp add">
        <pc:chgData name="Alveen Singh" userId="6daf11db-8a8e-4669-8f9d-4d2596173bbf" providerId="ADAL" clId="{58FD908E-8F39-4073-B138-16A3B6E7E8E8}" dt="2023-03-27T12:56:39.424" v="562" actId="14100"/>
        <pc:sldMkLst>
          <pc:docMk/>
          <pc:sldMk cId="1317469269" sldId="274"/>
        </pc:sldMkLst>
        <pc:spChg chg="del">
          <ac:chgData name="Alveen Singh" userId="6daf11db-8a8e-4669-8f9d-4d2596173bbf" providerId="ADAL" clId="{58FD908E-8F39-4073-B138-16A3B6E7E8E8}" dt="2023-03-27T12:56:37.130" v="561" actId="478"/>
          <ac:spMkLst>
            <pc:docMk/>
            <pc:sldMk cId="1317469269" sldId="274"/>
            <ac:spMk id="2" creationId="{F54F3FF2-F7C5-47E5-87ED-194EA7FFAA5A}"/>
          </ac:spMkLst>
        </pc:spChg>
        <pc:spChg chg="mod">
          <ac:chgData name="Alveen Singh" userId="6daf11db-8a8e-4669-8f9d-4d2596173bbf" providerId="ADAL" clId="{58FD908E-8F39-4073-B138-16A3B6E7E8E8}" dt="2023-03-27T12:56:39.424" v="562" actId="14100"/>
          <ac:spMkLst>
            <pc:docMk/>
            <pc:sldMk cId="1317469269" sldId="274"/>
            <ac:spMk id="3" creationId="{5B4F07BD-4495-4430-9F2F-CFE4E121716C}"/>
          </ac:spMkLst>
        </pc:spChg>
      </pc:sldChg>
      <pc:sldChg chg="delSp modSp add">
        <pc:chgData name="Alveen Singh" userId="6daf11db-8a8e-4669-8f9d-4d2596173bbf" providerId="ADAL" clId="{58FD908E-8F39-4073-B138-16A3B6E7E8E8}" dt="2023-03-27T13:03:05.038" v="683" actId="20577"/>
        <pc:sldMkLst>
          <pc:docMk/>
          <pc:sldMk cId="3860516936" sldId="275"/>
        </pc:sldMkLst>
        <pc:spChg chg="del">
          <ac:chgData name="Alveen Singh" userId="6daf11db-8a8e-4669-8f9d-4d2596173bbf" providerId="ADAL" clId="{58FD908E-8F39-4073-B138-16A3B6E7E8E8}" dt="2023-03-27T12:57:22.824" v="565" actId="478"/>
          <ac:spMkLst>
            <pc:docMk/>
            <pc:sldMk cId="3860516936" sldId="275"/>
            <ac:spMk id="2" creationId="{6BC0D5FF-3BAA-4F7A-8C8B-1DEB96B9249B}"/>
          </ac:spMkLst>
        </pc:spChg>
        <pc:spChg chg="mod">
          <ac:chgData name="Alveen Singh" userId="6daf11db-8a8e-4669-8f9d-4d2596173bbf" providerId="ADAL" clId="{58FD908E-8F39-4073-B138-16A3B6E7E8E8}" dt="2023-03-27T13:03:05.038" v="683" actId="20577"/>
          <ac:spMkLst>
            <pc:docMk/>
            <pc:sldMk cId="3860516936" sldId="275"/>
            <ac:spMk id="3" creationId="{039D3332-2487-4BD1-A6BD-5B67479691B1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8E06D69-4D7E-454C-8715-D1E9B935779D}" type="datetimeFigureOut">
              <a:rPr lang="en-ZA" smtClean="0"/>
              <a:t>2023/03/27</a:t>
            </a:fld>
            <a:endParaRPr lang="en-Z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Z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2777D9D-5099-4EF6-A77E-9F2158A2F346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9825926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3C87FE-4A9C-40EB-BA44-F6AD839680D5}" type="datetime1">
              <a:rPr lang="en-ZA" smtClean="0"/>
              <a:t>2023/03/27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r>
              <a:rPr lang="en-ZA"/>
              <a:t>Dr Alveen Singh - RESK401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8934E-928E-4C38-807A-CB32A0A7C43F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5086625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E46E6-BC94-4BA6-B348-37B26A67C4D0}" type="datetime1">
              <a:rPr lang="en-ZA" smtClean="0"/>
              <a:t>2023/03/27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ZA"/>
              <a:t>Dr Alveen Singh - RESK401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F9D8934E-928E-4C38-807A-CB32A0A7C43F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1931412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B33E7F-CF71-4E7E-ABD6-8BE927AB23CE}" type="datetime1">
              <a:rPr lang="en-ZA" smtClean="0"/>
              <a:t>2023/03/27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ZA"/>
              <a:t>Dr Alveen Singh - RESK401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8934E-928E-4C38-807A-CB32A0A7C43F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363351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D42E52-4296-4B13-95E6-E8804727B2C2}" type="datetime1">
              <a:rPr lang="en-ZA" smtClean="0"/>
              <a:t>2023/03/27</a:t>
            </a:fld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ZA"/>
              <a:t>Dr Alveen Singh - RESK401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8934E-928E-4C38-807A-CB32A0A7C43F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5681412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389A5-4423-4C4F-B997-3ED99B50F18B}" type="datetime1">
              <a:rPr lang="en-ZA" smtClean="0"/>
              <a:t>2023/03/27</a:t>
            </a:fld>
            <a:endParaRPr lang="en-Z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ZA"/>
              <a:t>Dr Alveen Singh - RESK401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8934E-928E-4C38-807A-CB32A0A7C43F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6572428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9A5C6C-BC6F-4B4B-A66F-5589DCCE0E56}" type="datetime1">
              <a:rPr lang="en-ZA" smtClean="0"/>
              <a:t>2023/03/27</a:t>
            </a:fld>
            <a:endParaRPr lang="en-Z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ZA"/>
              <a:t>Dr Alveen Singh - RESK401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8934E-928E-4C38-807A-CB32A0A7C43F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0978607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5E7D23-49C3-4520-8408-9A7BAFCE9F11}" type="datetime1">
              <a:rPr lang="en-ZA" smtClean="0"/>
              <a:t>2023/03/27</a:t>
            </a:fld>
            <a:endParaRPr lang="en-Z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ZA"/>
              <a:t>Dr Alveen Singh - RESK401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8934E-928E-4C38-807A-CB32A0A7C43F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2990113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39644-F77F-4B44-8CE4-038F5D226868}" type="datetime1">
              <a:rPr lang="en-ZA" smtClean="0"/>
              <a:t>2023/03/27</a:t>
            </a:fld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ZA"/>
              <a:t>Dr Alveen Singh - RESK401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8934E-928E-4C38-807A-CB32A0A7C43F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6007480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603D0-5B28-4BD0-A8A5-086F58DCC854}" type="datetime1">
              <a:rPr lang="en-ZA" smtClean="0"/>
              <a:t>2023/03/27</a:t>
            </a:fld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ZA"/>
              <a:t>Dr Alveen Singh - RESK401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8934E-928E-4C38-807A-CB32A0A7C43F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7262971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DF4EE-D7AF-4EAC-9F67-9581B1FF8C4E}" type="datetime1">
              <a:rPr lang="en-ZA" smtClean="0"/>
              <a:t>2023/03/27</a:t>
            </a:fld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ZA"/>
              <a:t>Dr Alveen Singh - RESK401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8934E-928E-4C38-807A-CB32A0A7C43F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3803695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03D710-0C95-47AE-BBFE-58FE5E2A1300}" type="datetime1">
              <a:rPr lang="en-ZA" smtClean="0"/>
              <a:t>2023/03/27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ZA"/>
              <a:t>Dr Alveen Singh - RESK401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8934E-928E-4C38-807A-CB32A0A7C43F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58235153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219670-395D-482E-A64D-79A4C338AEB9}" type="datetime1">
              <a:rPr lang="en-ZA" smtClean="0"/>
              <a:t>2023/03/27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ZA"/>
              <a:t>Dr Alveen Singh - RESK401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8934E-928E-4C38-807A-CB32A0A7C43F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91302097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CCA121-E76F-459B-9D08-32AAC58C44F7}" type="datetime1">
              <a:rPr lang="en-ZA" smtClean="0"/>
              <a:t>2023/03/27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ZA"/>
              <a:t>Dr Alveen Singh - RESK401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8934E-928E-4C38-807A-CB32A0A7C43F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33278806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6A476D-D49B-4570-AB22-1AD1C6C2DEDC}" type="datetime1">
              <a:rPr lang="en-ZA" smtClean="0"/>
              <a:t>2023/03/27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ZA"/>
              <a:t>Dr Alveen Singh - RESK401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8934E-928E-4C38-807A-CB32A0A7C43F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75725169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90F195-EF73-426C-867B-ED7E35FC30F4}" type="datetime1">
              <a:rPr lang="en-ZA" smtClean="0"/>
              <a:t>2023/03/27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ZA"/>
              <a:t>Dr Alveen Singh - RESK401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8934E-928E-4C38-807A-CB32A0A7C43F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85675589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96FCAF-8044-4DC3-9C8B-573903E17296}" type="datetime1">
              <a:rPr lang="en-ZA" smtClean="0"/>
              <a:t>2023/03/27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ZA"/>
              <a:t>Dr Alveen Singh - RESK401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8934E-928E-4C38-807A-CB32A0A7C43F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84683721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D1BB61-1176-4215-A55C-813C31F7EAA9}" type="datetime1">
              <a:rPr lang="en-ZA" smtClean="0"/>
              <a:t>2023/03/27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ZA"/>
              <a:t>Dr Alveen Singh - RESK401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8934E-928E-4C38-807A-CB32A0A7C43F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9754767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708C0C50-B161-4534-8E5C-84594C400F0C}" type="datetime1">
              <a:rPr lang="en-ZA" smtClean="0"/>
              <a:t>2023/03/27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r>
              <a:rPr lang="en-ZA"/>
              <a:t>Dr Alveen Singh - RESK401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F9D8934E-928E-4C38-807A-CB32A0A7C43F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5926191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#_ENREF_121"/><Relationship Id="rId2" Type="http://schemas.openxmlformats.org/officeDocument/2006/relationships/hyperlink" Target="#_ENREF_142"/><Relationship Id="rId1" Type="http://schemas.openxmlformats.org/officeDocument/2006/relationships/slideLayout" Target="../slideLayouts/slideLayout2.xml"/><Relationship Id="rId5" Type="http://schemas.openxmlformats.org/officeDocument/2006/relationships/hyperlink" Target="#_ENREF_14"/><Relationship Id="rId4" Type="http://schemas.openxmlformats.org/officeDocument/2006/relationships/hyperlink" Target="#_ENREF_50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#_ENREF_5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http://www.aiontheedge.com/article/onlinefraud/mkize21" TargetMode="Externa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hyperlink" Target="http://www.aiontheedge.com/article/onlinefraud/mkize21" TargetMode="Externa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hyperlink" Target="mailto:alveens@dut.ac.za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Academic referencing</a:t>
            </a:r>
            <a:endParaRPr lang="en-ZA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639202" y="4314825"/>
            <a:ext cx="6987645" cy="1822451"/>
          </a:xfrm>
        </p:spPr>
        <p:txBody>
          <a:bodyPr>
            <a:normAutofit fontScale="85000" lnSpcReduction="20000"/>
          </a:bodyPr>
          <a:lstStyle/>
          <a:p>
            <a:r>
              <a:rPr lang="en-US" b="1" dirty="0" err="1">
                <a:solidFill>
                  <a:srgbClr val="0070C0"/>
                </a:solidFill>
              </a:rPr>
              <a:t>Dr</a:t>
            </a:r>
            <a:r>
              <a:rPr lang="en-US" b="1" dirty="0">
                <a:solidFill>
                  <a:srgbClr val="0070C0"/>
                </a:solidFill>
              </a:rPr>
              <a:t> Alveen Singh</a:t>
            </a:r>
          </a:p>
          <a:p>
            <a:r>
              <a:rPr lang="en-US" b="1" dirty="0">
                <a:solidFill>
                  <a:srgbClr val="0070C0"/>
                </a:solidFill>
              </a:rPr>
              <a:t>Department of Information Technology</a:t>
            </a:r>
          </a:p>
          <a:p>
            <a:r>
              <a:rPr lang="en-US" b="1" dirty="0">
                <a:solidFill>
                  <a:srgbClr val="0070C0"/>
                </a:solidFill>
              </a:rPr>
              <a:t>Research skills\Project 3A</a:t>
            </a:r>
          </a:p>
          <a:p>
            <a:r>
              <a:rPr lang="en-US" b="1" dirty="0">
                <a:solidFill>
                  <a:srgbClr val="0070C0"/>
                </a:solidFill>
              </a:rPr>
              <a:t>Advanced Diploma in ICT\B.ICT</a:t>
            </a:r>
          </a:p>
          <a:p>
            <a:r>
              <a:rPr lang="en-US" b="1" dirty="0">
                <a:solidFill>
                  <a:srgbClr val="0070C0"/>
                </a:solidFill>
              </a:rPr>
              <a:t>Semester 1 2023</a:t>
            </a:r>
            <a:endParaRPr lang="en-ZA" b="1" dirty="0">
              <a:solidFill>
                <a:srgbClr val="0070C0"/>
              </a:solidFill>
            </a:endParaRPr>
          </a:p>
        </p:txBody>
      </p:sp>
      <p:pic>
        <p:nvPicPr>
          <p:cNvPr id="5" name="Picture 4" descr="A close up of a sign&#10;&#10;Description automatically generated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10450" y="318611"/>
            <a:ext cx="4503829" cy="14054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46178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Content</a:t>
            </a:r>
            <a:endParaRPr lang="en-Z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ZA" b="1" dirty="0">
                <a:latin typeface="Arial" panose="020B0604020202020204" pitchFamily="34" charset="0"/>
                <a:cs typeface="Arial" panose="020B0604020202020204" pitchFamily="34" charset="0"/>
              </a:rPr>
              <a:t>The importance of referencing</a:t>
            </a:r>
            <a:endParaRPr lang="en-ZA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/>
            <a:r>
              <a:rPr lang="en-ZA" b="1" dirty="0">
                <a:latin typeface="Arial" panose="020B0604020202020204" pitchFamily="34" charset="0"/>
                <a:cs typeface="Arial" panose="020B0604020202020204" pitchFamily="34" charset="0"/>
              </a:rPr>
              <a:t>In text citations and bibliography</a:t>
            </a:r>
            <a:endParaRPr lang="en-ZA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/>
            <a:r>
              <a:rPr lang="en-ZA" b="1" dirty="0" err="1">
                <a:latin typeface="Arial" panose="020B0604020202020204" pitchFamily="34" charset="0"/>
                <a:cs typeface="Arial" panose="020B0604020202020204" pitchFamily="34" charset="0"/>
              </a:rPr>
              <a:t>DUT</a:t>
            </a:r>
            <a:r>
              <a:rPr lang="en-ZA" b="1" dirty="0">
                <a:latin typeface="Arial" panose="020B0604020202020204" pitchFamily="34" charset="0"/>
                <a:cs typeface="Arial" panose="020B0604020202020204" pitchFamily="34" charset="0"/>
              </a:rPr>
              <a:t>/Harvard referencing style</a:t>
            </a:r>
            <a:endParaRPr lang="en-ZA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/>
            <a:r>
              <a:rPr lang="en-ZA" b="1" dirty="0">
                <a:latin typeface="Arial" panose="020B0604020202020204" pitchFamily="34" charset="0"/>
                <a:cs typeface="Arial" panose="020B0604020202020204" pitchFamily="34" charset="0"/>
              </a:rPr>
              <a:t>Software tools </a:t>
            </a:r>
            <a:endParaRPr lang="en-ZA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ZA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8934E-928E-4C38-807A-CB32A0A7C43F}" type="slidenum">
              <a:rPr lang="en-ZA" smtClean="0"/>
              <a:t>2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1659190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  <a:endParaRPr lang="en-Z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r>
              <a:rPr lang="en-US" dirty="0">
                <a:latin typeface="Arial Rounded MT Bold" panose="020F0704030504030204" pitchFamily="34" charset="0"/>
              </a:rPr>
              <a:t>Referencing is acknowledging the work of other authors</a:t>
            </a:r>
          </a:p>
          <a:p>
            <a:r>
              <a:rPr lang="en-US" dirty="0">
                <a:latin typeface="Arial Rounded MT Bold" panose="020F0704030504030204" pitchFamily="34" charset="0"/>
              </a:rPr>
              <a:t>One cannot produce a high quality research work without </a:t>
            </a:r>
            <a:r>
              <a:rPr lang="en-US" i="1" dirty="0">
                <a:latin typeface="Arial Rounded MT Bold" panose="020F0704030504030204" pitchFamily="34" charset="0"/>
              </a:rPr>
              <a:t>citing</a:t>
            </a:r>
            <a:r>
              <a:rPr lang="en-US" dirty="0">
                <a:latin typeface="Arial Rounded MT Bold" panose="020F0704030504030204" pitchFamily="34" charset="0"/>
              </a:rPr>
              <a:t> the work of others</a:t>
            </a:r>
          </a:p>
          <a:p>
            <a:endParaRPr lang="en-ZA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8934E-928E-4C38-807A-CB32A0A7C43F}" type="slidenum">
              <a:rPr lang="en-ZA" smtClean="0"/>
              <a:t>3</a:t>
            </a:fld>
            <a:endParaRPr lang="en-ZA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0483" y="4489181"/>
            <a:ext cx="2619375" cy="1743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63901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84310" y="961698"/>
            <a:ext cx="10018713" cy="3540634"/>
          </a:xfrm>
        </p:spPr>
        <p:txBody>
          <a:bodyPr anchor="t"/>
          <a:lstStyle/>
          <a:p>
            <a:r>
              <a:rPr lang="en-US" dirty="0">
                <a:latin typeface="Arial Rounded MT Bold" panose="020F0704030504030204" pitchFamily="34" charset="0"/>
              </a:rPr>
              <a:t>Various fields of science are advanced by first acknowledging and then building on the research of others</a:t>
            </a:r>
          </a:p>
          <a:p>
            <a:endParaRPr lang="en-US" dirty="0">
              <a:latin typeface="Arial Rounded MT Bold" panose="020F0704030504030204" pitchFamily="34" charset="0"/>
            </a:endParaRPr>
          </a:p>
          <a:p>
            <a:r>
              <a:rPr lang="en-US" dirty="0">
                <a:latin typeface="Arial Rounded MT Bold" panose="020F0704030504030204" pitchFamily="34" charset="0"/>
              </a:rPr>
              <a:t>Not acknowledging the work of others is </a:t>
            </a:r>
            <a:r>
              <a:rPr lang="en-US" i="1" dirty="0">
                <a:latin typeface="Arial Rounded MT Bold" panose="020F0704030504030204" pitchFamily="34" charset="0"/>
              </a:rPr>
              <a:t>stealing</a:t>
            </a:r>
          </a:p>
          <a:p>
            <a:endParaRPr lang="en-US" dirty="0">
              <a:latin typeface="Arial Rounded MT Bold" panose="020F0704030504030204" pitchFamily="34" charset="0"/>
            </a:endParaRPr>
          </a:p>
          <a:p>
            <a:r>
              <a:rPr lang="en-US" dirty="0">
                <a:latin typeface="Arial Rounded MT Bold" panose="020F0704030504030204" pitchFamily="34" charset="0"/>
              </a:rPr>
              <a:t>Plagiarism is not tolerated in any scientific community and there are dire consequences for its practice </a:t>
            </a:r>
          </a:p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8934E-928E-4C38-807A-CB32A0A7C43F}" type="slidenum">
              <a:rPr lang="en-ZA" smtClean="0"/>
              <a:t>4</a:t>
            </a:fld>
            <a:endParaRPr lang="en-ZA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86812" y="4066906"/>
            <a:ext cx="2543175" cy="180022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743406" y="6049693"/>
            <a:ext cx="13411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err="1">
                <a:solidFill>
                  <a:srgbClr val="FF0000"/>
                </a:solidFill>
              </a:rPr>
              <a:t>Quora.com</a:t>
            </a:r>
            <a:endParaRPr lang="en-ZA" sz="1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498678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Referencing - Virtual Library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18829" y="1120831"/>
            <a:ext cx="4791075" cy="4219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7902529" y="5609737"/>
            <a:ext cx="20987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Virtual </a:t>
            </a:r>
            <a:r>
              <a:rPr lang="en-US" dirty="0" err="1">
                <a:solidFill>
                  <a:srgbClr val="FF0000"/>
                </a:solidFill>
              </a:rPr>
              <a:t>library.info</a:t>
            </a:r>
            <a:endParaRPr lang="en-ZA" dirty="0">
              <a:solidFill>
                <a:srgbClr val="FF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8934E-928E-4C38-807A-CB32A0A7C43F}" type="slidenum">
              <a:rPr lang="en-ZA" smtClean="0"/>
              <a:t>5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3261411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0" y="359980"/>
            <a:ext cx="10018713" cy="1752599"/>
          </a:xfrm>
        </p:spPr>
        <p:txBody>
          <a:bodyPr/>
          <a:lstStyle/>
          <a:p>
            <a:r>
              <a:rPr lang="en-US" dirty="0"/>
              <a:t>The importance of referencing</a:t>
            </a:r>
            <a:endParaRPr lang="en-Z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84310" y="2112579"/>
            <a:ext cx="10018713" cy="3678621"/>
          </a:xfrm>
        </p:spPr>
        <p:txBody>
          <a:bodyPr anchor="t">
            <a:normAutofit/>
          </a:bodyPr>
          <a:lstStyle/>
          <a:p>
            <a:r>
              <a:rPr lang="en-ZA" sz="2000" dirty="0">
                <a:latin typeface="Arial Rounded MT Bold" panose="020F0704030504030204" pitchFamily="34" charset="0"/>
              </a:rPr>
              <a:t>To acknowledge the finished work and/or ideas of other researchers </a:t>
            </a:r>
          </a:p>
          <a:p>
            <a:r>
              <a:rPr lang="en-ZA" sz="2000" dirty="0">
                <a:latin typeface="Arial Rounded MT Bold" panose="020F0704030504030204" pitchFamily="34" charset="0"/>
              </a:rPr>
              <a:t>To show engagement and sound understanding of the field of research</a:t>
            </a:r>
          </a:p>
          <a:p>
            <a:r>
              <a:rPr lang="en-US" sz="2000" dirty="0">
                <a:latin typeface="Arial Rounded MT Bold" panose="020F0704030504030204" pitchFamily="34" charset="0"/>
              </a:rPr>
              <a:t>To demonstrate a </a:t>
            </a:r>
            <a:r>
              <a:rPr lang="en-ZA" sz="2000" dirty="0">
                <a:latin typeface="Arial Rounded MT Bold" panose="020F0704030504030204" pitchFamily="34" charset="0"/>
              </a:rPr>
              <a:t>clear understanding of recent and relevant literature</a:t>
            </a:r>
          </a:p>
          <a:p>
            <a:r>
              <a:rPr lang="en-US" sz="2000" dirty="0">
                <a:latin typeface="Arial Rounded MT Bold" panose="020F0704030504030204" pitchFamily="34" charset="0"/>
              </a:rPr>
              <a:t>To add scientific credibility to the research</a:t>
            </a:r>
          </a:p>
          <a:p>
            <a:pPr lvl="1"/>
            <a:r>
              <a:rPr lang="en-US" sz="1800" dirty="0">
                <a:latin typeface="Arial Rounded MT Bold" panose="020F0704030504030204" pitchFamily="34" charset="0"/>
              </a:rPr>
              <a:t>Otherwise, no one will believe your hearsay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8934E-928E-4C38-807A-CB32A0A7C43F}" type="slidenum">
              <a:rPr lang="en-ZA" smtClean="0"/>
              <a:t>6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872322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12529" y="1736649"/>
            <a:ext cx="2918448" cy="2160418"/>
          </a:xfrm>
        </p:spPr>
        <p:txBody>
          <a:bodyPr anchor="t"/>
          <a:lstStyle/>
          <a:p>
            <a:pPr marL="0" indent="0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US" dirty="0">
                <a:solidFill>
                  <a:srgbClr val="0070C0"/>
                </a:solidFill>
                <a:latin typeface="Arial Rounded MT Bold" panose="020F0704030504030204" pitchFamily="34" charset="0"/>
              </a:rPr>
              <a:t>Statements and claims must be supported by references</a:t>
            </a:r>
          </a:p>
          <a:p>
            <a:endParaRPr lang="en-ZA" dirty="0"/>
          </a:p>
        </p:txBody>
      </p:sp>
      <p:pic>
        <p:nvPicPr>
          <p:cNvPr id="2050" name="Picture 2" descr="PERSUASION TECHNIQUES and the Media. Media A means for sending information  to large numbers of people (mass media) - ppt downloa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42632" y="1736649"/>
            <a:ext cx="4271735" cy="32038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5176746" y="4940451"/>
            <a:ext cx="20987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Fletcher</a:t>
            </a:r>
            <a:endParaRPr lang="en-ZA" dirty="0">
              <a:solidFill>
                <a:srgbClr val="FF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8934E-928E-4C38-807A-CB32A0A7C43F}" type="slidenum">
              <a:rPr lang="en-ZA" smtClean="0"/>
              <a:t>7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3724469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BD7B48-994F-49CE-A7AE-077A1D2E08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771787"/>
            <a:ext cx="10018713" cy="5019413"/>
          </a:xfrm>
        </p:spPr>
        <p:txBody>
          <a:bodyPr/>
          <a:lstStyle/>
          <a:p>
            <a:pPr marL="0" indent="0">
              <a:buNone/>
            </a:pPr>
            <a:r>
              <a:rPr lang="en-ZA" dirty="0"/>
              <a:t>Which is a good reason to reference?</a:t>
            </a:r>
          </a:p>
          <a:p>
            <a:pPr marL="457200" indent="-457200">
              <a:buFont typeface="+mj-lt"/>
              <a:buAutoNum type="arabicPeriod"/>
            </a:pPr>
            <a:r>
              <a:rPr lang="en-ZA" dirty="0"/>
              <a:t>To bulk up the document</a:t>
            </a:r>
          </a:p>
          <a:p>
            <a:pPr marL="457200" indent="-457200">
              <a:buFont typeface="+mj-lt"/>
              <a:buAutoNum type="arabicPeriod"/>
            </a:pPr>
            <a:r>
              <a:rPr lang="en-ZA" dirty="0"/>
              <a:t>To achieve a large number reference list</a:t>
            </a:r>
          </a:p>
          <a:p>
            <a:pPr marL="457200" indent="-457200">
              <a:buFont typeface="+mj-lt"/>
              <a:buAutoNum type="arabicPeriod"/>
            </a:pPr>
            <a:r>
              <a:rPr lang="en-ZA" dirty="0"/>
              <a:t>To support statements made in the writeup</a:t>
            </a:r>
          </a:p>
          <a:p>
            <a:pPr marL="457200" indent="-457200">
              <a:buFont typeface="+mj-lt"/>
              <a:buAutoNum type="arabicPeriod"/>
            </a:pPr>
            <a:r>
              <a:rPr lang="en-ZA" dirty="0"/>
              <a:t>To make the writeup look scientific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F3A938-633C-4CB9-824A-C3EAA536D3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8934E-928E-4C38-807A-CB32A0A7C43F}" type="slidenum">
              <a:rPr lang="en-ZA" smtClean="0"/>
              <a:t>8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8989843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733097"/>
          </a:xfrm>
        </p:spPr>
        <p:txBody>
          <a:bodyPr/>
          <a:lstStyle/>
          <a:p>
            <a:r>
              <a:rPr lang="en-ZA" b="1" dirty="0"/>
              <a:t>In-text referencing (citations)</a:t>
            </a:r>
            <a:endParaRPr lang="en-Z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84310" y="1545021"/>
            <a:ext cx="10018713" cy="4246179"/>
          </a:xfrm>
        </p:spPr>
        <p:txBody>
          <a:bodyPr anchor="t"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/>
              <a:t>Allows the reader to identify the source of the statement or claim</a:t>
            </a:r>
          </a:p>
          <a:p>
            <a:pPr marL="0" indent="0">
              <a:buNone/>
            </a:pPr>
            <a:r>
              <a:rPr lang="en-US" dirty="0"/>
              <a:t>E.g. 	</a:t>
            </a:r>
          </a:p>
          <a:p>
            <a:pPr marL="457200" lvl="1" indent="0">
              <a:buNone/>
            </a:pPr>
            <a:r>
              <a:rPr lang="en-ZA" u="sng" dirty="0"/>
              <a:t>In</a:t>
            </a:r>
            <a:r>
              <a:rPr lang="en-ZA" dirty="0"/>
              <a:t>  this globalized 4IR era, emerging technology is incessantly used to provide efficient access to services and products and increase production levels by organisations across economic sectors (</a:t>
            </a:r>
            <a:r>
              <a:rPr lang="en-ZA" dirty="0" err="1">
                <a:hlinkClick r:id="rId2" action="ppaction://hlinkfile" tooltip="Zaied, 2012 #144"/>
              </a:rPr>
              <a:t>Zaied</a:t>
            </a:r>
            <a:r>
              <a:rPr lang="en-ZA" dirty="0">
                <a:hlinkClick r:id="rId2" action="ppaction://hlinkfile" tooltip="Zaied, 2012 #144"/>
              </a:rPr>
              <a:t>, 2012</a:t>
            </a:r>
            <a:r>
              <a:rPr lang="en-ZA" dirty="0"/>
              <a:t>, </a:t>
            </a:r>
            <a:r>
              <a:rPr lang="en-ZA" dirty="0" err="1">
                <a:hlinkClick r:id="rId3" action="ppaction://hlinkfile" tooltip="Stančić, 2017 #16"/>
              </a:rPr>
              <a:t>Stančić,Ivanjko</a:t>
            </a:r>
            <a:r>
              <a:rPr lang="en-ZA" dirty="0">
                <a:hlinkClick r:id="rId3" action="ppaction://hlinkfile" tooltip="Stančić, 2017 #16"/>
              </a:rPr>
              <a:t> and </a:t>
            </a:r>
            <a:r>
              <a:rPr lang="en-ZA" dirty="0" err="1">
                <a:hlinkClick r:id="rId3" action="ppaction://hlinkfile" tooltip="Stančić, 2017 #16"/>
              </a:rPr>
              <a:t>Garic</a:t>
            </a:r>
            <a:r>
              <a:rPr lang="en-ZA" dirty="0">
                <a:hlinkClick r:id="rId3" action="ppaction://hlinkfile" tooltip="Stančić, 2017 #16"/>
              </a:rPr>
              <a:t>, 2017</a:t>
            </a:r>
            <a:r>
              <a:rPr lang="en-ZA" dirty="0"/>
              <a:t>). </a:t>
            </a:r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r>
              <a:rPr lang="en-ZA" dirty="0">
                <a:hlinkClick r:id="rId4" action="ppaction://hlinkfile" tooltip="Hass, 2015 #146"/>
              </a:rPr>
              <a:t>Hass (2015</a:t>
            </a:r>
            <a:r>
              <a:rPr lang="en-ZA" dirty="0"/>
              <a:t>) states that time and again the practice of business analysis eludes to a highly regarded discipline within organizations. </a:t>
            </a:r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r>
              <a:rPr lang="en-ZA" dirty="0" err="1"/>
              <a:t>BABOK</a:t>
            </a:r>
            <a:r>
              <a:rPr lang="en-ZA" dirty="0"/>
              <a:t> Guide (2015) defines business analysis as: </a:t>
            </a:r>
            <a:r>
              <a:rPr lang="en-ZA" i="1" dirty="0"/>
              <a:t>“the practice of enabling change in an enterprise by defining needs and recommending solutions that deliver value to stakeholders” (</a:t>
            </a:r>
            <a:r>
              <a:rPr lang="en-ZA" i="1" dirty="0" err="1">
                <a:hlinkClick r:id="rId5" action="ppaction://hlinkfile" tooltip="BABOK, 2015 #212"/>
              </a:rPr>
              <a:t>BABOK</a:t>
            </a:r>
            <a:r>
              <a:rPr lang="en-ZA" i="1" dirty="0">
                <a:hlinkClick r:id="rId5" action="ppaction://hlinkfile" tooltip="BABOK, 2015 #212"/>
              </a:rPr>
              <a:t>, 2015: 2</a:t>
            </a:r>
            <a:r>
              <a:rPr lang="en-ZA" i="1" dirty="0"/>
              <a:t>)</a:t>
            </a:r>
            <a:endParaRPr lang="en-ZA" dirty="0"/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8934E-928E-4C38-807A-CB32A0A7C43F}" type="slidenum">
              <a:rPr lang="en-ZA" smtClean="0"/>
              <a:t>9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5835420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733097"/>
          </a:xfrm>
        </p:spPr>
        <p:txBody>
          <a:bodyPr/>
          <a:lstStyle/>
          <a:p>
            <a:r>
              <a:rPr lang="en-ZA" b="1" dirty="0"/>
              <a:t>Direct quotations</a:t>
            </a:r>
            <a:endParaRPr lang="en-Z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84310" y="1545021"/>
            <a:ext cx="10018713" cy="4246179"/>
          </a:xfrm>
        </p:spPr>
        <p:txBody>
          <a:bodyPr anchor="t">
            <a:normAutofit fontScale="85000" lnSpcReduction="20000"/>
          </a:bodyPr>
          <a:lstStyle/>
          <a:p>
            <a:r>
              <a:rPr lang="en-US" sz="18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This is part of the original work that has been repeated verbatim.</a:t>
            </a:r>
          </a:p>
          <a:p>
            <a:r>
              <a:rPr lang="en-US" sz="18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It is a statement that adds value or supports your own write-up</a:t>
            </a:r>
          </a:p>
          <a:p>
            <a:r>
              <a:rPr lang="en-US" sz="18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Placed within quotation marks “ ” and contains the page number of 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      the original work</a:t>
            </a:r>
          </a:p>
          <a:p>
            <a:pPr marL="457200" lvl="1" indent="0" algn="ctr">
              <a:buNone/>
            </a:pPr>
            <a:endParaRPr lang="en-US" dirty="0"/>
          </a:p>
          <a:p>
            <a:pPr marL="0" indent="0">
              <a:buNone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These failures more often than not relate to insufficient planning and design and gaps between project design and actual reality. This is elaborated below:</a:t>
            </a:r>
          </a:p>
          <a:p>
            <a:pPr marL="457200" lvl="1" indent="0">
              <a:buNone/>
            </a:pPr>
            <a:r>
              <a:rPr lang="en-ZA" sz="1600" i="1" dirty="0">
                <a:latin typeface="Arial" panose="020B0604020202020204" pitchFamily="34" charset="0"/>
                <a:cs typeface="Arial" panose="020B0604020202020204" pitchFamily="34" charset="0"/>
              </a:rPr>
              <a:t>“Although requirements practices are of critical importance for public organizations and their ability to meet the changing needs of their constituents, the state-of-the-art is that practitioners dedicate very little attention to their methodical application, and researchers focus insufficiently on the unique challenges and demands posed by the public and governmental context” (</a:t>
            </a:r>
            <a:r>
              <a:rPr lang="en-ZA" sz="1600" i="1" dirty="0" err="1">
                <a:latin typeface="Arial" panose="020B0604020202020204" pitchFamily="34" charset="0"/>
                <a:cs typeface="Arial" panose="020B0604020202020204" pitchFamily="34" charset="0"/>
                <a:hlinkClick r:id="rId2" action="ppaction://hlinkfile" tooltip="Alexandrova, 2012 #35"/>
              </a:rPr>
              <a:t>Alexandrova</a:t>
            </a:r>
            <a:r>
              <a:rPr lang="en-ZA" sz="1600" i="1" dirty="0">
                <a:latin typeface="Arial" panose="020B0604020202020204" pitchFamily="34" charset="0"/>
                <a:cs typeface="Arial" panose="020B0604020202020204" pitchFamily="34" charset="0"/>
                <a:hlinkClick r:id="rId2" action="ppaction://hlinkfile" tooltip="Alexandrova, 2012 #35"/>
              </a:rPr>
              <a:t>, 2012</a:t>
            </a:r>
            <a:r>
              <a:rPr lang="en-ZA" sz="1600" i="1" dirty="0">
                <a:latin typeface="Arial" panose="020B0604020202020204" pitchFamily="34" charset="0"/>
                <a:cs typeface="Arial" panose="020B0604020202020204" pitchFamily="34" charset="0"/>
              </a:rPr>
              <a:t>, p. 339).</a:t>
            </a:r>
            <a:r>
              <a:rPr lang="en-ZA" sz="1400" dirty="0"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r>
              <a:rPr lang="en-US" b="1" dirty="0">
                <a:solidFill>
                  <a:srgbClr val="FF0000"/>
                </a:solidFill>
                <a:latin typeface="Arial Black" panose="020B0A04020102020204" pitchFamily="34" charset="0"/>
              </a:rPr>
              <a:t>Beware of </a:t>
            </a:r>
            <a:r>
              <a:rPr lang="en-US" sz="2800" b="1" dirty="0">
                <a:solidFill>
                  <a:srgbClr val="FF0000"/>
                </a:solidFill>
                <a:latin typeface="Arial Black" panose="020B0A04020102020204" pitchFamily="34" charset="0"/>
              </a:rPr>
              <a:t>overuse </a:t>
            </a:r>
            <a:r>
              <a:rPr lang="en-US" b="1" dirty="0">
                <a:solidFill>
                  <a:srgbClr val="FF0000"/>
                </a:solidFill>
                <a:latin typeface="Arial Black" panose="020B0A04020102020204" pitchFamily="34" charset="0"/>
              </a:rPr>
              <a:t>of direct quotations. </a:t>
            </a:r>
          </a:p>
          <a:p>
            <a:pPr marL="457200" lvl="1" indent="0">
              <a:buNone/>
            </a:pPr>
            <a:r>
              <a:rPr lang="en-US" b="1" dirty="0">
                <a:solidFill>
                  <a:srgbClr val="FF0000"/>
                </a:solidFill>
                <a:latin typeface="Arial Black" panose="020B0A04020102020204" pitchFamily="34" charset="0"/>
              </a:rPr>
              <a:t>Instead, paraphrase.</a:t>
            </a:r>
          </a:p>
          <a:p>
            <a:pPr marL="457200" lvl="1" indent="0">
              <a:buNone/>
            </a:pP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8934E-928E-4C38-807A-CB32A0A7C43F}" type="slidenum">
              <a:rPr lang="en-ZA" smtClean="0"/>
              <a:t>10</a:t>
            </a:fld>
            <a:endParaRPr lang="en-ZA"/>
          </a:p>
        </p:txBody>
      </p:sp>
      <p:sp>
        <p:nvSpPr>
          <p:cNvPr id="4" name="Line Callout 1 3"/>
          <p:cNvSpPr/>
          <p:nvPr/>
        </p:nvSpPr>
        <p:spPr>
          <a:xfrm>
            <a:off x="8752115" y="2231196"/>
            <a:ext cx="1593668" cy="792480"/>
          </a:xfrm>
          <a:prstGeom prst="borderCallout1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Student’s statement</a:t>
            </a:r>
            <a:endParaRPr lang="en-ZA" dirty="0"/>
          </a:p>
        </p:txBody>
      </p:sp>
      <p:sp>
        <p:nvSpPr>
          <p:cNvPr id="6" name="Line Callout 2 (Accent Bar) 5"/>
          <p:cNvSpPr/>
          <p:nvPr/>
        </p:nvSpPr>
        <p:spPr>
          <a:xfrm>
            <a:off x="9613263" y="4502330"/>
            <a:ext cx="2133600" cy="1088572"/>
          </a:xfrm>
          <a:prstGeom prst="accent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-31500"/>
              <a:gd name="adj6" fmla="val -44218"/>
            </a:avLst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 direct quote to support the student’s statements</a:t>
            </a: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25873544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C29A9C-A583-43A9-BA30-7AB835321D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914401"/>
            <a:ext cx="10018713" cy="48768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ZA" dirty="0"/>
              <a:t>What is the error in the reference?</a:t>
            </a:r>
          </a:p>
          <a:p>
            <a:pPr marL="0" indent="0">
              <a:buNone/>
            </a:pPr>
            <a:endParaRPr lang="en-ZA" dirty="0"/>
          </a:p>
          <a:p>
            <a:pPr marL="0" indent="0">
              <a:buNone/>
            </a:pPr>
            <a:r>
              <a:rPr lang="en-ZA" sz="2000" dirty="0" err="1"/>
              <a:t>Tamburri</a:t>
            </a:r>
            <a:r>
              <a:rPr lang="en-ZA" sz="2000" dirty="0"/>
              <a:t>, D.A. 2020. Sustainable </a:t>
            </a:r>
            <a:r>
              <a:rPr lang="en-ZA" sz="2000" dirty="0" err="1"/>
              <a:t>mlops</a:t>
            </a:r>
            <a:r>
              <a:rPr lang="en-ZA" sz="2000" dirty="0"/>
              <a:t>: Trends and challenges. In </a:t>
            </a:r>
            <a:r>
              <a:rPr lang="en-ZA" sz="2000" i="1" dirty="0"/>
              <a:t>2020 22nd international symposium on symbolic and numeric algorithms for scientific computing (SYNASC),</a:t>
            </a:r>
            <a:r>
              <a:rPr lang="en-ZA" sz="2000" dirty="0"/>
              <a:t> pp. 17-23. IEEE.</a:t>
            </a:r>
          </a:p>
          <a:p>
            <a:pPr marL="0" indent="0">
              <a:buNone/>
            </a:pPr>
            <a:endParaRPr lang="en-ZA" sz="2000" dirty="0"/>
          </a:p>
          <a:p>
            <a:pPr marL="0" indent="0">
              <a:buNone/>
            </a:pPr>
            <a:r>
              <a:rPr lang="en-ZA" sz="2000" dirty="0"/>
              <a:t>T.Y. </a:t>
            </a:r>
            <a:r>
              <a:rPr lang="en-ZA" sz="2000" dirty="0" err="1"/>
              <a:t>Fujii</a:t>
            </a:r>
            <a:r>
              <a:rPr lang="en-ZA" sz="2000" dirty="0"/>
              <a:t>. 2021. A digital twin architecture model applied with </a:t>
            </a:r>
            <a:r>
              <a:rPr lang="en-ZA" sz="2000" dirty="0" err="1"/>
              <a:t>MLOps</a:t>
            </a:r>
            <a:r>
              <a:rPr lang="en-ZA" sz="2000" dirty="0"/>
              <a:t> techniques to improve short-term energy consumption prediction. </a:t>
            </a:r>
            <a:r>
              <a:rPr lang="en-ZA" sz="2000" i="1" dirty="0"/>
              <a:t>Machines</a:t>
            </a:r>
            <a:r>
              <a:rPr lang="en-ZA" sz="2000" dirty="0"/>
              <a:t>, </a:t>
            </a:r>
            <a:r>
              <a:rPr lang="en-ZA" sz="2000" i="1" dirty="0"/>
              <a:t>10</a:t>
            </a:r>
            <a:r>
              <a:rPr lang="en-ZA" sz="2000" dirty="0"/>
              <a:t>(1), pp.23.</a:t>
            </a:r>
          </a:p>
          <a:p>
            <a:pPr marL="0" indent="0">
              <a:buNone/>
            </a:pPr>
            <a:endParaRPr lang="en-ZA" sz="2000" dirty="0"/>
          </a:p>
          <a:p>
            <a:pPr marL="0" indent="0">
              <a:buNone/>
            </a:pPr>
            <a:r>
              <a:rPr lang="en-US" sz="2000" dirty="0" err="1"/>
              <a:t>Hanzelik</a:t>
            </a:r>
            <a:r>
              <a:rPr lang="en-US" sz="2000" dirty="0"/>
              <a:t>, P.P., </a:t>
            </a:r>
            <a:r>
              <a:rPr lang="en-US" sz="2000" dirty="0" err="1"/>
              <a:t>Kummer</a:t>
            </a:r>
            <a:r>
              <a:rPr lang="en-US" sz="2000" dirty="0"/>
              <a:t>, A. and </a:t>
            </a:r>
            <a:r>
              <a:rPr lang="en-US" sz="2000" dirty="0" err="1"/>
              <a:t>Abonyi</a:t>
            </a:r>
            <a:r>
              <a:rPr lang="en-US" sz="2000" dirty="0"/>
              <a:t>, J. </a:t>
            </a:r>
            <a:r>
              <a:rPr lang="en-US" sz="2000" i="1" dirty="0"/>
              <a:t>Sensors. </a:t>
            </a:r>
            <a:r>
              <a:rPr lang="en-US" sz="2000" dirty="0"/>
              <a:t>Edge-computing and machine-learning-based framework for software sensor development. </a:t>
            </a:r>
            <a:r>
              <a:rPr lang="en-US" sz="2000" i="1" dirty="0"/>
              <a:t>22</a:t>
            </a:r>
            <a:r>
              <a:rPr lang="en-US" sz="2000" dirty="0"/>
              <a:t>(11), pp.4268.</a:t>
            </a:r>
            <a:endParaRPr lang="en-ZA" sz="1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0F7359-9941-4340-8E74-210B83D174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8934E-928E-4C38-807A-CB32A0A7C43F}" type="slidenum">
              <a:rPr lang="en-ZA" smtClean="0"/>
              <a:t>11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7570167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733097"/>
          </a:xfrm>
        </p:spPr>
        <p:txBody>
          <a:bodyPr/>
          <a:lstStyle/>
          <a:p>
            <a:r>
              <a:rPr lang="en-ZA" b="1" dirty="0"/>
              <a:t>3. </a:t>
            </a:r>
            <a:r>
              <a:rPr lang="en-ZA" b="1" dirty="0" err="1"/>
              <a:t>DUT</a:t>
            </a:r>
            <a:r>
              <a:rPr lang="en-ZA" b="1" dirty="0"/>
              <a:t>/Harvard referencing style</a:t>
            </a:r>
            <a:endParaRPr lang="en-Z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84310" y="1545021"/>
            <a:ext cx="10018713" cy="4871545"/>
          </a:xfrm>
        </p:spPr>
        <p:txBody>
          <a:bodyPr anchor="t"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C00000"/>
                </a:solidFill>
              </a:rPr>
              <a:t>In-text examples</a:t>
            </a:r>
          </a:p>
          <a:p>
            <a:r>
              <a:rPr lang="en-US" b="1" dirty="0"/>
              <a:t>Single author </a:t>
            </a:r>
            <a:r>
              <a:rPr lang="en-US" dirty="0"/>
              <a:t>– </a:t>
            </a:r>
          </a:p>
          <a:p>
            <a:pPr marL="457200" lvl="1" indent="0">
              <a:buNone/>
            </a:pPr>
            <a:r>
              <a:rPr lang="en-US" dirty="0"/>
              <a:t>According to </a:t>
            </a:r>
            <a:r>
              <a:rPr lang="en-US" dirty="0" err="1"/>
              <a:t>Mkhize</a:t>
            </a:r>
            <a:r>
              <a:rPr lang="en-US" dirty="0"/>
              <a:t> (2021), convolutional neural network algorithm is a popular choice for credit card fraud detection. </a:t>
            </a:r>
          </a:p>
          <a:p>
            <a:r>
              <a:rPr lang="en-US" b="1" dirty="0"/>
              <a:t>Two or three authors </a:t>
            </a:r>
            <a:r>
              <a:rPr lang="en-US" dirty="0"/>
              <a:t>– </a:t>
            </a:r>
          </a:p>
          <a:p>
            <a:pPr marL="457200" lvl="1" indent="0">
              <a:buNone/>
            </a:pPr>
            <a:r>
              <a:rPr lang="en-US" dirty="0"/>
              <a:t>Gama, Singh and Zulu (2018) highlight the shortcomings of </a:t>
            </a:r>
            <a:r>
              <a:rPr lang="en-US" dirty="0" err="1"/>
              <a:t>UX</a:t>
            </a:r>
            <a:r>
              <a:rPr lang="en-US" dirty="0"/>
              <a:t> designs in e-Learning management systems. </a:t>
            </a:r>
          </a:p>
          <a:p>
            <a:r>
              <a:rPr lang="en-US" b="1" dirty="0"/>
              <a:t>Four of more authors </a:t>
            </a:r>
            <a:r>
              <a:rPr lang="en-US" dirty="0"/>
              <a:t>– </a:t>
            </a:r>
          </a:p>
          <a:p>
            <a:pPr marL="457200" lvl="1" indent="0">
              <a:buNone/>
            </a:pPr>
            <a:r>
              <a:rPr lang="en-US" dirty="0" err="1"/>
              <a:t>Dlamini</a:t>
            </a:r>
            <a:r>
              <a:rPr lang="en-US" dirty="0"/>
              <a:t> et al. (2020) stress the increasing usage of bitcoin in the SME sector.</a:t>
            </a:r>
          </a:p>
          <a:p>
            <a:r>
              <a:rPr lang="en-US" b="1" dirty="0"/>
              <a:t>Direct quotation </a:t>
            </a:r>
            <a:r>
              <a:rPr lang="en-US" dirty="0"/>
              <a:t>– </a:t>
            </a:r>
          </a:p>
          <a:p>
            <a:pPr marL="457200" lvl="1" indent="0">
              <a:buNone/>
            </a:pPr>
            <a:r>
              <a:rPr lang="en-US" dirty="0"/>
              <a:t>“Despite the boom, advances in ICT are seemingly almost always slightly behind developments in cyber-crime” (Garvin, 2019: 21). </a:t>
            </a:r>
          </a:p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8934E-928E-4C38-807A-CB32A0A7C43F}" type="slidenum">
              <a:rPr lang="en-ZA" smtClean="0"/>
              <a:t>12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892387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733097"/>
          </a:xfrm>
        </p:spPr>
        <p:txBody>
          <a:bodyPr/>
          <a:lstStyle/>
          <a:p>
            <a:r>
              <a:rPr lang="en-ZA" b="1" dirty="0"/>
              <a:t>Reference list/Bibliography </a:t>
            </a:r>
            <a:endParaRPr lang="en-Z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84310" y="1545021"/>
            <a:ext cx="10018713" cy="4246179"/>
          </a:xfrm>
        </p:spPr>
        <p:txBody>
          <a:bodyPr anchor="t">
            <a:normAutofit/>
          </a:bodyPr>
          <a:lstStyle/>
          <a:p>
            <a:r>
              <a:rPr lang="en-US" dirty="0"/>
              <a:t>At the end of the write-up include a list of utilized references</a:t>
            </a:r>
          </a:p>
          <a:p>
            <a:r>
              <a:rPr lang="en-US" dirty="0"/>
              <a:t>This includes the full details of the cited work</a:t>
            </a:r>
          </a:p>
          <a:p>
            <a:r>
              <a:rPr lang="en-US" dirty="0"/>
              <a:t>Arranged in alphabetical order 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8934E-928E-4C38-807A-CB32A0A7C43F}" type="slidenum">
              <a:rPr lang="en-ZA" smtClean="0"/>
              <a:t>13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8057519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1CF2D2-E2E2-4544-B609-0F790B1E86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939567"/>
            <a:ext cx="10018713" cy="485163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ZA" dirty="0"/>
              <a:t>Which is the correct reference for a journal article, conference proceeding, website and book?</a:t>
            </a:r>
          </a:p>
          <a:p>
            <a:pPr marL="0" indent="0">
              <a:buNone/>
            </a:pPr>
            <a:endParaRPr lang="en-ZA" dirty="0"/>
          </a:p>
          <a:p>
            <a:pPr marL="800100" lvl="1" indent="-342900">
              <a:buFont typeface="+mj-lt"/>
              <a:buAutoNum type="arabicPeriod"/>
            </a:pPr>
            <a:r>
              <a:rPr lang="en-ZA" sz="1400" dirty="0">
                <a:latin typeface="Arial Rounded MT Bold" panose="020F0704030504030204" pitchFamily="34" charset="0"/>
              </a:rPr>
              <a:t>Mkhize, LMP. 2021. </a:t>
            </a:r>
            <a:r>
              <a:rPr lang="en-ZA" sz="1400" i="1" dirty="0">
                <a:latin typeface="Arial Rounded MT Bold" panose="020F0704030504030204" pitchFamily="34" charset="0"/>
              </a:rPr>
              <a:t>Credit card fraud detection: a deep learning alternative</a:t>
            </a:r>
            <a:r>
              <a:rPr lang="en-ZA" sz="1400" dirty="0">
                <a:latin typeface="Arial Rounded MT Bold" panose="020F0704030504030204" pitchFamily="34" charset="0"/>
              </a:rPr>
              <a:t>. Available: </a:t>
            </a:r>
            <a:r>
              <a:rPr lang="en-ZA" sz="1400" u="sng" dirty="0">
                <a:latin typeface="Arial Rounded MT Bold" panose="020F0704030504030204" pitchFamily="34" charset="0"/>
                <a:hlinkClick r:id="rId2"/>
              </a:rPr>
              <a:t>http://www.aiontheedge.com/article/onlinefraud/mkize21</a:t>
            </a:r>
            <a:r>
              <a:rPr lang="en-ZA" sz="1400" dirty="0">
                <a:latin typeface="Arial Rounded MT Bold" panose="020F0704030504030204" pitchFamily="34" charset="0"/>
              </a:rPr>
              <a:t> (accessed 10 January 2021). 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ZA" sz="1400" dirty="0">
                <a:latin typeface="Arial Rounded MT Bold" panose="020F0704030504030204" pitchFamily="34" charset="0"/>
              </a:rPr>
              <a:t>Dlamini, X. M., Martin, A., Naidoo, P. and </a:t>
            </a:r>
            <a:r>
              <a:rPr lang="en-ZA" sz="1400" dirty="0" err="1">
                <a:latin typeface="Arial Rounded MT Bold" panose="020F0704030504030204" pitchFamily="34" charset="0"/>
              </a:rPr>
              <a:t>Pallad</a:t>
            </a:r>
            <a:r>
              <a:rPr lang="en-ZA" sz="1400" dirty="0">
                <a:latin typeface="Arial Rounded MT Bold" panose="020F0704030504030204" pitchFamily="34" charset="0"/>
              </a:rPr>
              <a:t>, S. 2020. The new currency trends. </a:t>
            </a:r>
            <a:r>
              <a:rPr lang="en-ZA" sz="1400" i="1" dirty="0">
                <a:latin typeface="Arial Rounded MT Bold" panose="020F0704030504030204" pitchFamily="34" charset="0"/>
              </a:rPr>
              <a:t>ICT for Development and Finance</a:t>
            </a:r>
            <a:r>
              <a:rPr lang="en-ZA" sz="1400" dirty="0">
                <a:latin typeface="Arial Rounded MT Bold" panose="020F0704030504030204" pitchFamily="34" charset="0"/>
              </a:rPr>
              <a:t>, 65(5): 166-186. 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ZA" sz="1400" dirty="0">
                <a:latin typeface="Arial Rounded MT Bold" panose="020F0704030504030204" pitchFamily="34" charset="0"/>
              </a:rPr>
              <a:t>Gama, T. Q. P., Singh, V. and Zulu, X. P. 2018. Improving UX for university 4.0: A case study. In: </a:t>
            </a:r>
            <a:r>
              <a:rPr lang="en-ZA" sz="1400" i="1" dirty="0">
                <a:latin typeface="Arial Rounded MT Bold" panose="020F0704030504030204" pitchFamily="34" charset="0"/>
              </a:rPr>
              <a:t>ICTAS 2018</a:t>
            </a:r>
            <a:r>
              <a:rPr lang="en-ZA" sz="1400" dirty="0">
                <a:latin typeface="Arial Rounded MT Bold" panose="020F0704030504030204" pitchFamily="34" charset="0"/>
              </a:rPr>
              <a:t>. Durban, South Africa, 14-16 March 2018. IEEE Computer Society. 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ZA" sz="1400" dirty="0">
                <a:latin typeface="Arial Rounded MT Bold" panose="020F0704030504030204" pitchFamily="34" charset="0"/>
              </a:rPr>
              <a:t>Garvin, J. 2019. </a:t>
            </a:r>
            <a:r>
              <a:rPr lang="en-ZA" sz="1400" i="1" dirty="0">
                <a:latin typeface="Arial Rounded MT Bold" panose="020F0704030504030204" pitchFamily="34" charset="0"/>
              </a:rPr>
              <a:t>The great escape: how Africa is losing to cybercrime</a:t>
            </a:r>
            <a:r>
              <a:rPr lang="en-ZA" sz="1400" dirty="0">
                <a:latin typeface="Arial Rounded MT Bold" panose="020F0704030504030204" pitchFamily="34" charset="0"/>
              </a:rPr>
              <a:t>. London. Wiley. </a:t>
            </a:r>
          </a:p>
          <a:p>
            <a:pPr marL="0" indent="0">
              <a:buNone/>
            </a:pPr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E356DA-1C1C-47AD-B48E-A282114B19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8934E-928E-4C38-807A-CB32A0A7C43F}" type="slidenum">
              <a:rPr lang="en-ZA" smtClean="0"/>
              <a:t>14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6587800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84310" y="804041"/>
            <a:ext cx="10018713" cy="4987159"/>
          </a:xfrm>
        </p:spPr>
        <p:txBody>
          <a:bodyPr anchor="t">
            <a:normAutofit fontScale="92500" lnSpcReduction="10000"/>
          </a:bodyPr>
          <a:lstStyle/>
          <a:p>
            <a:pPr marL="0" indent="0">
              <a:buNone/>
            </a:pPr>
            <a:r>
              <a:rPr lang="en-ZA" b="1" dirty="0">
                <a:solidFill>
                  <a:srgbClr val="C00000"/>
                </a:solidFill>
              </a:rPr>
              <a:t>Reference list examples:</a:t>
            </a:r>
            <a:endParaRPr lang="en-ZA" dirty="0">
              <a:solidFill>
                <a:srgbClr val="C00000"/>
              </a:solidFill>
            </a:endParaRPr>
          </a:p>
          <a:p>
            <a:r>
              <a:rPr lang="en-ZA" dirty="0"/>
              <a:t> </a:t>
            </a:r>
            <a:r>
              <a:rPr lang="en-ZA" sz="1800" b="1" dirty="0">
                <a:latin typeface="Arial Rounded MT Bold" panose="020F0704030504030204" pitchFamily="34" charset="0"/>
              </a:rPr>
              <a:t>Website –</a:t>
            </a:r>
            <a:r>
              <a:rPr lang="en-ZA" sz="1800" dirty="0">
                <a:latin typeface="Arial Rounded MT Bold" panose="020F0704030504030204" pitchFamily="34" charset="0"/>
              </a:rPr>
              <a:t> </a:t>
            </a:r>
          </a:p>
          <a:p>
            <a:pPr lvl="1"/>
            <a:r>
              <a:rPr lang="en-ZA" sz="1400" dirty="0" err="1">
                <a:latin typeface="Arial Rounded MT Bold" panose="020F0704030504030204" pitchFamily="34" charset="0"/>
              </a:rPr>
              <a:t>Mkhize</a:t>
            </a:r>
            <a:r>
              <a:rPr lang="en-ZA" sz="1400" dirty="0">
                <a:latin typeface="Arial Rounded MT Bold" panose="020F0704030504030204" pitchFamily="34" charset="0"/>
              </a:rPr>
              <a:t>, </a:t>
            </a:r>
            <a:r>
              <a:rPr lang="en-ZA" sz="1400" dirty="0" err="1">
                <a:latin typeface="Arial Rounded MT Bold" panose="020F0704030504030204" pitchFamily="34" charset="0"/>
              </a:rPr>
              <a:t>LMP</a:t>
            </a:r>
            <a:r>
              <a:rPr lang="en-ZA" sz="1400" dirty="0">
                <a:latin typeface="Arial Rounded MT Bold" panose="020F0704030504030204" pitchFamily="34" charset="0"/>
              </a:rPr>
              <a:t>. 2021. </a:t>
            </a:r>
            <a:r>
              <a:rPr lang="en-ZA" sz="1400" i="1" dirty="0">
                <a:latin typeface="Arial Rounded MT Bold" panose="020F0704030504030204" pitchFamily="34" charset="0"/>
              </a:rPr>
              <a:t>Credit card fraud detection: a deep learning alternative</a:t>
            </a:r>
            <a:r>
              <a:rPr lang="en-ZA" sz="1400" dirty="0">
                <a:latin typeface="Arial Rounded MT Bold" panose="020F0704030504030204" pitchFamily="34" charset="0"/>
              </a:rPr>
              <a:t>. Available: </a:t>
            </a:r>
            <a:r>
              <a:rPr lang="en-ZA" sz="1400" u="sng" dirty="0">
                <a:latin typeface="Arial Rounded MT Bold" panose="020F0704030504030204" pitchFamily="34" charset="0"/>
                <a:hlinkClick r:id="rId2"/>
              </a:rPr>
              <a:t>http://</a:t>
            </a:r>
            <a:r>
              <a:rPr lang="en-ZA" sz="1400" u="sng" dirty="0" err="1">
                <a:latin typeface="Arial Rounded MT Bold" panose="020F0704030504030204" pitchFamily="34" charset="0"/>
                <a:hlinkClick r:id="rId2"/>
              </a:rPr>
              <a:t>www.aiontheedge.com</a:t>
            </a:r>
            <a:r>
              <a:rPr lang="en-ZA" sz="1400" u="sng" dirty="0">
                <a:latin typeface="Arial Rounded MT Bold" panose="020F0704030504030204" pitchFamily="34" charset="0"/>
                <a:hlinkClick r:id="rId2"/>
              </a:rPr>
              <a:t>/article/</a:t>
            </a:r>
            <a:r>
              <a:rPr lang="en-ZA" sz="1400" u="sng" dirty="0" err="1">
                <a:latin typeface="Arial Rounded MT Bold" panose="020F0704030504030204" pitchFamily="34" charset="0"/>
                <a:hlinkClick r:id="rId2"/>
              </a:rPr>
              <a:t>onlinefraud</a:t>
            </a:r>
            <a:r>
              <a:rPr lang="en-ZA" sz="1400" u="sng" dirty="0">
                <a:latin typeface="Arial Rounded MT Bold" panose="020F0704030504030204" pitchFamily="34" charset="0"/>
                <a:hlinkClick r:id="rId2"/>
              </a:rPr>
              <a:t>/</a:t>
            </a:r>
            <a:r>
              <a:rPr lang="en-ZA" sz="1400" u="sng" dirty="0" err="1">
                <a:latin typeface="Arial Rounded MT Bold" panose="020F0704030504030204" pitchFamily="34" charset="0"/>
                <a:hlinkClick r:id="rId2"/>
              </a:rPr>
              <a:t>mkize21</a:t>
            </a:r>
            <a:r>
              <a:rPr lang="en-ZA" sz="1400" dirty="0">
                <a:latin typeface="Arial Rounded MT Bold" panose="020F0704030504030204" pitchFamily="34" charset="0"/>
              </a:rPr>
              <a:t> (accessed 10 January 2021). </a:t>
            </a:r>
          </a:p>
          <a:p>
            <a:endParaRPr lang="en-ZA" sz="1800" dirty="0">
              <a:latin typeface="Arial Rounded MT Bold" panose="020F0704030504030204" pitchFamily="34" charset="0"/>
            </a:endParaRPr>
          </a:p>
          <a:p>
            <a:r>
              <a:rPr lang="en-ZA" sz="1800" b="1" dirty="0">
                <a:latin typeface="Arial Rounded MT Bold" panose="020F0704030504030204" pitchFamily="34" charset="0"/>
              </a:rPr>
              <a:t>Journal article – </a:t>
            </a:r>
          </a:p>
          <a:p>
            <a:pPr lvl="1"/>
            <a:r>
              <a:rPr lang="en-ZA" sz="1400" dirty="0" err="1">
                <a:latin typeface="Arial Rounded MT Bold" panose="020F0704030504030204" pitchFamily="34" charset="0"/>
              </a:rPr>
              <a:t>Dlamini</a:t>
            </a:r>
            <a:r>
              <a:rPr lang="en-ZA" sz="1400" dirty="0">
                <a:latin typeface="Arial Rounded MT Bold" panose="020F0704030504030204" pitchFamily="34" charset="0"/>
              </a:rPr>
              <a:t>, X. M., Martin, A., Naidoo, P. and </a:t>
            </a:r>
            <a:r>
              <a:rPr lang="en-ZA" sz="1400" dirty="0" err="1">
                <a:latin typeface="Arial Rounded MT Bold" panose="020F0704030504030204" pitchFamily="34" charset="0"/>
              </a:rPr>
              <a:t>Pallad</a:t>
            </a:r>
            <a:r>
              <a:rPr lang="en-ZA" sz="1400" dirty="0">
                <a:latin typeface="Arial Rounded MT Bold" panose="020F0704030504030204" pitchFamily="34" charset="0"/>
              </a:rPr>
              <a:t>, S. 2020. The new currency trends. </a:t>
            </a:r>
            <a:r>
              <a:rPr lang="en-ZA" sz="1400" i="1" dirty="0">
                <a:latin typeface="Arial Rounded MT Bold" panose="020F0704030504030204" pitchFamily="34" charset="0"/>
              </a:rPr>
              <a:t>ICT for Development and Finance</a:t>
            </a:r>
            <a:r>
              <a:rPr lang="en-ZA" sz="1400" dirty="0">
                <a:latin typeface="Arial Rounded MT Bold" panose="020F0704030504030204" pitchFamily="34" charset="0"/>
              </a:rPr>
              <a:t>, 65(5): 166-186. </a:t>
            </a:r>
          </a:p>
          <a:p>
            <a:endParaRPr lang="en-ZA" sz="1800" dirty="0">
              <a:latin typeface="Arial Rounded MT Bold" panose="020F0704030504030204" pitchFamily="34" charset="0"/>
            </a:endParaRPr>
          </a:p>
          <a:p>
            <a:r>
              <a:rPr lang="en-ZA" sz="1800" b="1" dirty="0">
                <a:latin typeface="Arial Rounded MT Bold" panose="020F0704030504030204" pitchFamily="34" charset="0"/>
              </a:rPr>
              <a:t>Conference proceeding </a:t>
            </a:r>
            <a:r>
              <a:rPr lang="en-ZA" sz="1800" dirty="0">
                <a:latin typeface="Arial Rounded MT Bold" panose="020F0704030504030204" pitchFamily="34" charset="0"/>
              </a:rPr>
              <a:t>– </a:t>
            </a:r>
          </a:p>
          <a:p>
            <a:pPr lvl="1"/>
            <a:r>
              <a:rPr lang="en-ZA" sz="1400" dirty="0">
                <a:latin typeface="Arial Rounded MT Bold" panose="020F0704030504030204" pitchFamily="34" charset="0"/>
              </a:rPr>
              <a:t>Gama, T. Q. P., Singh, V. and Zulu, X. P. 2018. Improving </a:t>
            </a:r>
            <a:r>
              <a:rPr lang="en-ZA" sz="1400" dirty="0" err="1">
                <a:latin typeface="Arial Rounded MT Bold" panose="020F0704030504030204" pitchFamily="34" charset="0"/>
              </a:rPr>
              <a:t>UX</a:t>
            </a:r>
            <a:r>
              <a:rPr lang="en-ZA" sz="1400" dirty="0">
                <a:latin typeface="Arial Rounded MT Bold" panose="020F0704030504030204" pitchFamily="34" charset="0"/>
              </a:rPr>
              <a:t> for university 4.0: A case study. In: </a:t>
            </a:r>
            <a:r>
              <a:rPr lang="en-ZA" sz="1400" i="1" dirty="0" err="1">
                <a:latin typeface="Arial Rounded MT Bold" panose="020F0704030504030204" pitchFamily="34" charset="0"/>
              </a:rPr>
              <a:t>ICTAS</a:t>
            </a:r>
            <a:r>
              <a:rPr lang="en-ZA" sz="1400" i="1" dirty="0">
                <a:latin typeface="Arial Rounded MT Bold" panose="020F0704030504030204" pitchFamily="34" charset="0"/>
              </a:rPr>
              <a:t> 2018</a:t>
            </a:r>
            <a:r>
              <a:rPr lang="en-ZA" sz="1400" dirty="0">
                <a:latin typeface="Arial Rounded MT Bold" panose="020F0704030504030204" pitchFamily="34" charset="0"/>
              </a:rPr>
              <a:t>. Durban, South Africa, 14-16 March 2018. IEEE Computer Society. </a:t>
            </a:r>
          </a:p>
          <a:p>
            <a:endParaRPr lang="en-ZA" sz="1800" dirty="0">
              <a:latin typeface="Arial Rounded MT Bold" panose="020F0704030504030204" pitchFamily="34" charset="0"/>
            </a:endParaRPr>
          </a:p>
          <a:p>
            <a:r>
              <a:rPr lang="en-ZA" sz="1800" b="1" dirty="0">
                <a:latin typeface="Arial Rounded MT Bold" panose="020F0704030504030204" pitchFamily="34" charset="0"/>
              </a:rPr>
              <a:t>Book – </a:t>
            </a:r>
          </a:p>
          <a:p>
            <a:pPr lvl="1"/>
            <a:r>
              <a:rPr lang="en-ZA" sz="1400" dirty="0">
                <a:latin typeface="Arial Rounded MT Bold" panose="020F0704030504030204" pitchFamily="34" charset="0"/>
              </a:rPr>
              <a:t>Garvin, J. 2019. </a:t>
            </a:r>
            <a:r>
              <a:rPr lang="en-ZA" sz="1400" i="1" dirty="0">
                <a:latin typeface="Arial Rounded MT Bold" panose="020F0704030504030204" pitchFamily="34" charset="0"/>
              </a:rPr>
              <a:t>The great escape: how Africa is losing to cybercrime</a:t>
            </a:r>
            <a:r>
              <a:rPr lang="en-ZA" sz="1400" dirty="0">
                <a:latin typeface="Arial Rounded MT Bold" panose="020F0704030504030204" pitchFamily="34" charset="0"/>
              </a:rPr>
              <a:t>. London. Wiley. </a:t>
            </a:r>
          </a:p>
          <a:p>
            <a:pPr marL="457200" lvl="1" indent="0">
              <a:buNone/>
            </a:pP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8934E-928E-4C38-807A-CB32A0A7C43F}" type="slidenum">
              <a:rPr lang="en-ZA" smtClean="0"/>
              <a:t>15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61681894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4F07BD-4495-4430-9F2F-CFE4E12171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998291"/>
            <a:ext cx="10018713" cy="4792910"/>
          </a:xfrm>
        </p:spPr>
        <p:txBody>
          <a:bodyPr/>
          <a:lstStyle/>
          <a:p>
            <a:pPr marL="0" indent="0">
              <a:buNone/>
            </a:pPr>
            <a:r>
              <a:rPr lang="en-ZA" dirty="0"/>
              <a:t>What type of reference is this?</a:t>
            </a:r>
          </a:p>
          <a:p>
            <a:pPr marL="0" indent="0">
              <a:buNone/>
            </a:pPr>
            <a:endParaRPr lang="en-ZA" dirty="0"/>
          </a:p>
          <a:p>
            <a:pPr marL="0" indent="0">
              <a:buNone/>
            </a:pPr>
            <a:r>
              <a:rPr lang="en-US" sz="2000" dirty="0"/>
              <a:t>Heck, P., Schouten, G. and Cruz, L., 2021. A software engineering perspective on building production-ready machine learning systems. In </a:t>
            </a:r>
            <a:r>
              <a:rPr lang="en-US" sz="2000" i="1" dirty="0"/>
              <a:t>Handbook of research on applied data science and artificial intelligence in business and industry</a:t>
            </a:r>
            <a:r>
              <a:rPr lang="en-US" sz="2000" dirty="0"/>
              <a:t> (pp. 23-54). IGI Global.</a:t>
            </a:r>
            <a:endParaRPr lang="en-ZA" sz="2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3195BB-593C-40EE-90A6-53387CC7F0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8934E-928E-4C38-807A-CB32A0A7C43F}" type="slidenum">
              <a:rPr lang="en-ZA" smtClean="0"/>
              <a:t>16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31746926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84310" y="788277"/>
            <a:ext cx="10018713" cy="5002924"/>
          </a:xfrm>
        </p:spPr>
        <p:txBody>
          <a:bodyPr anchor="t">
            <a:normAutofit/>
          </a:bodyPr>
          <a:lstStyle/>
          <a:p>
            <a:r>
              <a:rPr lang="en-US" sz="1800" dirty="0" err="1">
                <a:latin typeface="Arial Rounded MT Bold" panose="020F0704030504030204" pitchFamily="34" charset="0"/>
              </a:rPr>
              <a:t>Matavire</a:t>
            </a:r>
            <a:r>
              <a:rPr lang="en-US" sz="1800" dirty="0">
                <a:latin typeface="Arial Rounded MT Bold" panose="020F0704030504030204" pitchFamily="34" charset="0"/>
              </a:rPr>
              <a:t>, R., </a:t>
            </a:r>
            <a:r>
              <a:rPr lang="en-US" sz="1800" dirty="0" err="1">
                <a:latin typeface="Arial Rounded MT Bold" panose="020F0704030504030204" pitchFamily="34" charset="0"/>
              </a:rPr>
              <a:t>Chigona</a:t>
            </a:r>
            <a:r>
              <a:rPr lang="en-US" sz="1800" dirty="0">
                <a:latin typeface="Arial Rounded MT Bold" panose="020F0704030504030204" pitchFamily="34" charset="0"/>
              </a:rPr>
              <a:t>, W., </a:t>
            </a:r>
            <a:r>
              <a:rPr lang="en-US" sz="1800" dirty="0" err="1">
                <a:latin typeface="Arial Rounded MT Bold" panose="020F0704030504030204" pitchFamily="34" charset="0"/>
              </a:rPr>
              <a:t>Roode</a:t>
            </a:r>
            <a:r>
              <a:rPr lang="en-US" sz="1800" dirty="0">
                <a:latin typeface="Arial Rounded MT Bold" panose="020F0704030504030204" pitchFamily="34" charset="0"/>
              </a:rPr>
              <a:t>, D., </a:t>
            </a:r>
            <a:r>
              <a:rPr lang="en-US" sz="1800" dirty="0" err="1">
                <a:latin typeface="Arial Rounded MT Bold" panose="020F0704030504030204" pitchFamily="34" charset="0"/>
              </a:rPr>
              <a:t>Sewchurran</a:t>
            </a:r>
            <a:r>
              <a:rPr lang="en-US" sz="1800" dirty="0">
                <a:latin typeface="Arial Rounded MT Bold" panose="020F0704030504030204" pitchFamily="34" charset="0"/>
              </a:rPr>
              <a:t>, K., </a:t>
            </a:r>
            <a:r>
              <a:rPr lang="en-US" sz="1800" dirty="0" err="1">
                <a:latin typeface="Arial Rounded MT Bold" panose="020F0704030504030204" pitchFamily="34" charset="0"/>
              </a:rPr>
              <a:t>Davids</a:t>
            </a:r>
            <a:r>
              <a:rPr lang="en-US" sz="1800" dirty="0">
                <a:latin typeface="Arial Rounded MT Bold" panose="020F0704030504030204" pitchFamily="34" charset="0"/>
              </a:rPr>
              <a:t>, Z., </a:t>
            </a:r>
            <a:r>
              <a:rPr lang="en-US" sz="1800" dirty="0" err="1">
                <a:latin typeface="Arial Rounded MT Bold" panose="020F0704030504030204" pitchFamily="34" charset="0"/>
              </a:rPr>
              <a:t>Mukudu</a:t>
            </a:r>
            <a:r>
              <a:rPr lang="en-US" sz="1800" dirty="0">
                <a:latin typeface="Arial Rounded MT Bold" panose="020F0704030504030204" pitchFamily="34" charset="0"/>
              </a:rPr>
              <a:t>, A. &amp; </a:t>
            </a:r>
            <a:r>
              <a:rPr lang="en-US" sz="1800" dirty="0" err="1">
                <a:latin typeface="Arial Rounded MT Bold" panose="020F0704030504030204" pitchFamily="34" charset="0"/>
              </a:rPr>
              <a:t>Boamah</a:t>
            </a:r>
            <a:r>
              <a:rPr lang="en-US" sz="1800" dirty="0">
                <a:latin typeface="Arial Rounded MT Bold" panose="020F0704030504030204" pitchFamily="34" charset="0"/>
              </a:rPr>
              <a:t>-Abu, C. 2010. Challenges of </a:t>
            </a:r>
            <a:r>
              <a:rPr lang="en-US" sz="1800" dirty="0" err="1">
                <a:latin typeface="Arial Rounded MT Bold" panose="020F0704030504030204" pitchFamily="34" charset="0"/>
              </a:rPr>
              <a:t>egovernment</a:t>
            </a:r>
            <a:r>
              <a:rPr lang="en-US" sz="1800" dirty="0">
                <a:latin typeface="Arial Rounded MT Bold" panose="020F0704030504030204" pitchFamily="34" charset="0"/>
              </a:rPr>
              <a:t> project implementation in a South African context. </a:t>
            </a:r>
            <a:r>
              <a:rPr lang="en-US" sz="1800" i="1" dirty="0">
                <a:latin typeface="Arial Rounded MT Bold" panose="020F0704030504030204" pitchFamily="34" charset="0"/>
              </a:rPr>
              <a:t>Electronic Journal of Information Systems Evaluation,</a:t>
            </a:r>
            <a:r>
              <a:rPr lang="en-US" sz="1800" dirty="0">
                <a:latin typeface="Arial Rounded MT Bold" panose="020F0704030504030204" pitchFamily="34" charset="0"/>
              </a:rPr>
              <a:t> 13</a:t>
            </a:r>
            <a:r>
              <a:rPr lang="en-US" sz="1800" b="1" dirty="0">
                <a:latin typeface="Arial Rounded MT Bold" panose="020F0704030504030204" pitchFamily="34" charset="0"/>
              </a:rPr>
              <a:t>,</a:t>
            </a:r>
            <a:r>
              <a:rPr lang="en-US" sz="1800" dirty="0">
                <a:latin typeface="Arial Rounded MT Bold" panose="020F0704030504030204" pitchFamily="34" charset="0"/>
              </a:rPr>
              <a:t> 153.</a:t>
            </a:r>
          </a:p>
          <a:p>
            <a:endParaRPr lang="en-ZA" sz="1800" dirty="0">
              <a:latin typeface="Arial Rounded MT Bold" panose="020F0704030504030204" pitchFamily="34" charset="0"/>
            </a:endParaRPr>
          </a:p>
          <a:p>
            <a:r>
              <a:rPr lang="en-US" sz="1800" dirty="0" err="1">
                <a:latin typeface="Arial Rounded MT Bold" panose="020F0704030504030204" pitchFamily="34" charset="0"/>
              </a:rPr>
              <a:t>Mathiesen</a:t>
            </a:r>
            <a:r>
              <a:rPr lang="en-US" sz="1800" dirty="0">
                <a:latin typeface="Arial Rounded MT Bold" panose="020F0704030504030204" pitchFamily="34" charset="0"/>
              </a:rPr>
              <a:t>, P., </a:t>
            </a:r>
            <a:r>
              <a:rPr lang="en-US" sz="1800" dirty="0" err="1">
                <a:latin typeface="Arial Rounded MT Bold" panose="020F0704030504030204" pitchFamily="34" charset="0"/>
              </a:rPr>
              <a:t>Bandara</a:t>
            </a:r>
            <a:r>
              <a:rPr lang="en-US" sz="1800" dirty="0">
                <a:latin typeface="Arial Rounded MT Bold" panose="020F0704030504030204" pitchFamily="34" charset="0"/>
              </a:rPr>
              <a:t>, W., </a:t>
            </a:r>
            <a:r>
              <a:rPr lang="en-US" sz="1800" dirty="0" err="1">
                <a:latin typeface="Arial Rounded MT Bold" panose="020F0704030504030204" pitchFamily="34" charset="0"/>
              </a:rPr>
              <a:t>Delavari</a:t>
            </a:r>
            <a:r>
              <a:rPr lang="en-US" sz="1800" dirty="0">
                <a:latin typeface="Arial Rounded MT Bold" panose="020F0704030504030204" pitchFamily="34" charset="0"/>
              </a:rPr>
              <a:t>, H., Harmon, P. &amp; Brennan, K. 2011. A comparative analysis of business analysis (BA) and business process management (BPM) capabilities. </a:t>
            </a:r>
            <a:r>
              <a:rPr lang="en-US" sz="1800" i="1" dirty="0" err="1">
                <a:latin typeface="Arial Rounded MT Bold" panose="020F0704030504030204" pitchFamily="34" charset="0"/>
              </a:rPr>
              <a:t>ECIS</a:t>
            </a:r>
            <a:r>
              <a:rPr lang="en-US" sz="1800" i="1" dirty="0">
                <a:latin typeface="Arial Rounded MT Bold" panose="020F0704030504030204" pitchFamily="34" charset="0"/>
              </a:rPr>
              <a:t> 2011 Proceedings</a:t>
            </a:r>
            <a:r>
              <a:rPr lang="en-US" sz="1800" dirty="0">
                <a:latin typeface="Arial Rounded MT Bold" panose="020F0704030504030204" pitchFamily="34" charset="0"/>
              </a:rPr>
              <a:t>. Barcelona, Spain.</a:t>
            </a:r>
          </a:p>
          <a:p>
            <a:endParaRPr lang="en-ZA" sz="1800" dirty="0">
              <a:latin typeface="Arial Rounded MT Bold" panose="020F0704030504030204" pitchFamily="34" charset="0"/>
            </a:endParaRPr>
          </a:p>
          <a:p>
            <a:r>
              <a:rPr lang="en-US" sz="1800" dirty="0" err="1">
                <a:latin typeface="Arial Rounded MT Bold" panose="020F0704030504030204" pitchFamily="34" charset="0"/>
              </a:rPr>
              <a:t>Mawela</a:t>
            </a:r>
            <a:r>
              <a:rPr lang="en-US" sz="1800" dirty="0">
                <a:latin typeface="Arial Rounded MT Bold" panose="020F0704030504030204" pitchFamily="34" charset="0"/>
              </a:rPr>
              <a:t>, T. 2017. Exploring the role of social media in the </a:t>
            </a:r>
            <a:r>
              <a:rPr lang="en-US" sz="1800" dirty="0" err="1">
                <a:latin typeface="Arial Rounded MT Bold" panose="020F0704030504030204" pitchFamily="34" charset="0"/>
              </a:rPr>
              <a:t>G2C</a:t>
            </a:r>
            <a:r>
              <a:rPr lang="en-US" sz="1800" dirty="0">
                <a:latin typeface="Arial Rounded MT Bold" panose="020F0704030504030204" pitchFamily="34" charset="0"/>
              </a:rPr>
              <a:t> relationship: a South African perspective. </a:t>
            </a:r>
            <a:r>
              <a:rPr lang="en-US" sz="1800" i="1" dirty="0">
                <a:latin typeface="Arial Rounded MT Bold" panose="020F0704030504030204" pitchFamily="34" charset="0"/>
              </a:rPr>
              <a:t>Information Development,</a:t>
            </a:r>
            <a:r>
              <a:rPr lang="en-US" sz="1800" dirty="0">
                <a:latin typeface="Arial Rounded MT Bold" panose="020F0704030504030204" pitchFamily="34" charset="0"/>
              </a:rPr>
              <a:t> 33</a:t>
            </a:r>
            <a:r>
              <a:rPr lang="en-US" sz="1800" b="1" dirty="0">
                <a:latin typeface="Arial Rounded MT Bold" panose="020F0704030504030204" pitchFamily="34" charset="0"/>
              </a:rPr>
              <a:t>,</a:t>
            </a:r>
            <a:r>
              <a:rPr lang="en-US" sz="1800" dirty="0">
                <a:latin typeface="Arial Rounded MT Bold" panose="020F0704030504030204" pitchFamily="34" charset="0"/>
              </a:rPr>
              <a:t> 117-132.</a:t>
            </a:r>
            <a:endParaRPr lang="en-ZA" sz="1800" dirty="0">
              <a:latin typeface="Arial Rounded MT Bold" panose="020F070403050403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8934E-928E-4C38-807A-CB32A0A7C43F}" type="slidenum">
              <a:rPr lang="en-ZA" smtClean="0"/>
              <a:t>17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83934522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9D3332-2487-4BD1-A6BD-5B67479691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1132515"/>
            <a:ext cx="10018713" cy="4658686"/>
          </a:xfrm>
        </p:spPr>
        <p:txBody>
          <a:bodyPr anchor="t"/>
          <a:lstStyle/>
          <a:p>
            <a:pPr marL="0" indent="0">
              <a:buNone/>
            </a:pPr>
            <a:r>
              <a:rPr lang="en-ZA" dirty="0"/>
              <a:t>What is the referencing </a:t>
            </a:r>
            <a:r>
              <a:rPr lang="en-ZA"/>
              <a:t>style?</a:t>
            </a:r>
          </a:p>
          <a:p>
            <a:pPr marL="0" indent="0">
              <a:buNone/>
            </a:pPr>
            <a:endParaRPr lang="en-ZA" dirty="0"/>
          </a:p>
          <a:p>
            <a:pPr marL="457200" indent="-457200" algn="just">
              <a:buFont typeface="+mj-lt"/>
              <a:buAutoNum type="arabicPeriod"/>
            </a:pPr>
            <a:r>
              <a:rPr lang="en-US" sz="2000" dirty="0"/>
              <a:t>The BBC asked in its title whether, with GPT-3, we have seen our AI future (</a:t>
            </a:r>
            <a:r>
              <a:rPr lang="en-US" sz="2000" dirty="0" err="1"/>
              <a:t>Cellan</a:t>
            </a:r>
            <a:r>
              <a:rPr lang="en-US" sz="2000" dirty="0"/>
              <a:t>-Jones, 2020). The New York Times wrote that machines “are getting terrifyingly good” at writing (</a:t>
            </a:r>
            <a:r>
              <a:rPr lang="en-US" sz="2000" dirty="0" err="1"/>
              <a:t>Manjoo</a:t>
            </a:r>
            <a:r>
              <a:rPr lang="en-US" sz="2000" dirty="0"/>
              <a:t>, 2020:5). The Telegraph opined that “we should be very worried about AI-generated text” (</a:t>
            </a:r>
            <a:r>
              <a:rPr lang="en-US" sz="2000" dirty="0" err="1"/>
              <a:t>Pagnamenta</a:t>
            </a:r>
            <a:r>
              <a:rPr lang="en-US" sz="2000" dirty="0"/>
              <a:t>, 2020:12).</a:t>
            </a:r>
          </a:p>
          <a:p>
            <a:pPr marL="457200" indent="-457200" algn="just">
              <a:buFont typeface="+mj-lt"/>
              <a:buAutoNum type="arabicPeriod"/>
            </a:pPr>
            <a:endParaRPr lang="en-US" sz="2000" dirty="0"/>
          </a:p>
          <a:p>
            <a:pPr marL="457200" indent="-457200" algn="just">
              <a:buFont typeface="+mj-lt"/>
              <a:buAutoNum type="arabicPeriod"/>
            </a:pPr>
            <a:r>
              <a:rPr lang="en-US" sz="2000" dirty="0"/>
              <a:t>The BBC asked in its title whether, with GPT-3, we have seen our AI future [3]. The New York Times wrote that machines “are getting terrifyingly good” at writing [7]. [12] noted that “GPT-3 can be eerily human-like – for better and for worse”. The Telegraph opined that “we should be very worried about AI-generated text” [14].</a:t>
            </a:r>
            <a:endParaRPr lang="en-ZA" sz="2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BF605D-C52A-4E66-A7B4-2024BA513F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8934E-928E-4C38-807A-CB32A0A7C43F}" type="slidenum">
              <a:rPr lang="en-ZA" smtClean="0"/>
              <a:t>18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86051693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8934E-928E-4C38-807A-CB32A0A7C43F}" type="slidenum">
              <a:rPr lang="en-ZA" smtClean="0"/>
              <a:t>19</a:t>
            </a:fld>
            <a:endParaRPr lang="en-ZA"/>
          </a:p>
        </p:txBody>
      </p:sp>
      <p:pic>
        <p:nvPicPr>
          <p:cNvPr id="3076" name="Picture 4" descr="Using Reference Management Tools: EndNote and Zotero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37181" y="712155"/>
            <a:ext cx="6076950" cy="45624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7356598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84310" y="1581151"/>
            <a:ext cx="10018713" cy="4210050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US" dirty="0">
                <a:latin typeface="Arial Rounded MT Bold" panose="020F0704030504030204" pitchFamily="34" charset="0"/>
              </a:rPr>
              <a:t>Please read the lecture note for this section.</a:t>
            </a:r>
          </a:p>
          <a:p>
            <a:pPr marL="0" indent="0">
              <a:buNone/>
            </a:pPr>
            <a:r>
              <a:rPr lang="en-US" dirty="0">
                <a:latin typeface="Arial Rounded MT Bold" panose="020F0704030504030204" pitchFamily="34" charset="0"/>
              </a:rPr>
              <a:t>Available on Moodle.</a:t>
            </a:r>
          </a:p>
          <a:p>
            <a:pPr marL="0" indent="0">
              <a:buNone/>
            </a:pPr>
            <a:r>
              <a:rPr lang="en-US" dirty="0">
                <a:latin typeface="Arial Rounded MT Bold" panose="020F0704030504030204" pitchFamily="34" charset="0"/>
              </a:rPr>
              <a:t>Questions and comments are welcome: </a:t>
            </a:r>
            <a:r>
              <a:rPr lang="en-US" dirty="0" err="1">
                <a:latin typeface="Arial Rounded MT Bold" panose="020F0704030504030204" pitchFamily="34" charset="0"/>
                <a:hlinkClick r:id="rId2"/>
              </a:rPr>
              <a:t>alveens@dut.ac.za</a:t>
            </a:r>
            <a:r>
              <a:rPr lang="en-US" dirty="0">
                <a:latin typeface="Arial Rounded MT Bold" panose="020F0704030504030204" pitchFamily="34" charset="0"/>
              </a:rPr>
              <a:t>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8934E-928E-4C38-807A-CB32A0A7C43F}" type="slidenum">
              <a:rPr lang="en-ZA" smtClean="0"/>
              <a:t>20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8947129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Parallax</Template>
  <TotalTime>14313</TotalTime>
  <Words>1430</Words>
  <Application>Microsoft Office PowerPoint</Application>
  <PresentationFormat>Widescreen</PresentationFormat>
  <Paragraphs>132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Arial</vt:lpstr>
      <vt:lpstr>Arial Black</vt:lpstr>
      <vt:lpstr>Arial Rounded MT Bold</vt:lpstr>
      <vt:lpstr>Calibri</vt:lpstr>
      <vt:lpstr>Corbel</vt:lpstr>
      <vt:lpstr>Parallax</vt:lpstr>
      <vt:lpstr>Academic referencing</vt:lpstr>
      <vt:lpstr>Content</vt:lpstr>
      <vt:lpstr>Introduction</vt:lpstr>
      <vt:lpstr>PowerPoint Presentation</vt:lpstr>
      <vt:lpstr>PowerPoint Presentation</vt:lpstr>
      <vt:lpstr>The importance of referencing</vt:lpstr>
      <vt:lpstr>PowerPoint Presentation</vt:lpstr>
      <vt:lpstr>PowerPoint Presentation</vt:lpstr>
      <vt:lpstr>In-text referencing (citations)</vt:lpstr>
      <vt:lpstr>Direct quotations</vt:lpstr>
      <vt:lpstr>PowerPoint Presentation</vt:lpstr>
      <vt:lpstr>3. DUT/Harvard referencing style</vt:lpstr>
      <vt:lpstr>Reference list/Bibliography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</dc:title>
  <dc:creator>Alveen Singh</dc:creator>
  <cp:lastModifiedBy>Alveen Singh</cp:lastModifiedBy>
  <cp:revision>28</cp:revision>
  <dcterms:created xsi:type="dcterms:W3CDTF">2021-03-04T08:54:00Z</dcterms:created>
  <dcterms:modified xsi:type="dcterms:W3CDTF">2023-03-27T13:03:07Z</dcterms:modified>
</cp:coreProperties>
</file>