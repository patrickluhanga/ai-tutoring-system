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49"/>
  </p:notesMasterIdLst>
  <p:sldIdLst>
    <p:sldId id="256" r:id="rId2"/>
    <p:sldId id="258" r:id="rId3"/>
    <p:sldId id="259" r:id="rId4"/>
    <p:sldId id="260" r:id="rId5"/>
    <p:sldId id="272" r:id="rId6"/>
    <p:sldId id="261" r:id="rId7"/>
    <p:sldId id="262" r:id="rId8"/>
    <p:sldId id="263" r:id="rId9"/>
    <p:sldId id="264" r:id="rId10"/>
    <p:sldId id="265" r:id="rId11"/>
    <p:sldId id="273" r:id="rId12"/>
    <p:sldId id="266" r:id="rId13"/>
    <p:sldId id="267" r:id="rId14"/>
    <p:sldId id="268" r:id="rId15"/>
    <p:sldId id="269" r:id="rId16"/>
    <p:sldId id="270" r:id="rId17"/>
    <p:sldId id="274" r:id="rId18"/>
    <p:sldId id="300" r:id="rId19"/>
    <p:sldId id="271" r:id="rId20"/>
    <p:sldId id="275" r:id="rId21"/>
    <p:sldId id="276" r:id="rId22"/>
    <p:sldId id="277" r:id="rId23"/>
    <p:sldId id="301" r:id="rId24"/>
    <p:sldId id="278" r:id="rId25"/>
    <p:sldId id="279" r:id="rId26"/>
    <p:sldId id="280" r:id="rId27"/>
    <p:sldId id="281" r:id="rId28"/>
    <p:sldId id="282" r:id="rId29"/>
    <p:sldId id="283" r:id="rId30"/>
    <p:sldId id="284" r:id="rId31"/>
    <p:sldId id="285" r:id="rId32"/>
    <p:sldId id="286" r:id="rId33"/>
    <p:sldId id="287" r:id="rId34"/>
    <p:sldId id="302" r:id="rId35"/>
    <p:sldId id="288" r:id="rId36"/>
    <p:sldId id="289" r:id="rId37"/>
    <p:sldId id="290" r:id="rId38"/>
    <p:sldId id="291" r:id="rId39"/>
    <p:sldId id="292" r:id="rId40"/>
    <p:sldId id="293" r:id="rId41"/>
    <p:sldId id="299" r:id="rId42"/>
    <p:sldId id="295" r:id="rId43"/>
    <p:sldId id="296" r:id="rId44"/>
    <p:sldId id="297" r:id="rId45"/>
    <p:sldId id="298" r:id="rId46"/>
    <p:sldId id="303" r:id="rId47"/>
    <p:sldId id="257"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veen Singh" userId="6daf11db-8a8e-4669-8f9d-4d2596173bbf" providerId="ADAL" clId="{3F877377-1FDF-4EE1-B36A-3F3F4C4294C1}"/>
    <pc:docChg chg="undo custSel addSld modSld">
      <pc:chgData name="Alveen Singh" userId="6daf11db-8a8e-4669-8f9d-4d2596173bbf" providerId="ADAL" clId="{3F877377-1FDF-4EE1-B36A-3F3F4C4294C1}" dt="2023-03-22T18:28:14.461" v="1667" actId="20577"/>
      <pc:docMkLst>
        <pc:docMk/>
      </pc:docMkLst>
      <pc:sldChg chg="modSp">
        <pc:chgData name="Alveen Singh" userId="6daf11db-8a8e-4669-8f9d-4d2596173bbf" providerId="ADAL" clId="{3F877377-1FDF-4EE1-B36A-3F3F4C4294C1}" dt="2023-03-22T17:25:25.115" v="18" actId="20577"/>
        <pc:sldMkLst>
          <pc:docMk/>
          <pc:sldMk cId="2334617872" sldId="256"/>
        </pc:sldMkLst>
        <pc:spChg chg="mod">
          <ac:chgData name="Alveen Singh" userId="6daf11db-8a8e-4669-8f9d-4d2596173bbf" providerId="ADAL" clId="{3F877377-1FDF-4EE1-B36A-3F3F4C4294C1}" dt="2023-03-22T17:25:25.115" v="18" actId="20577"/>
          <ac:spMkLst>
            <pc:docMk/>
            <pc:sldMk cId="2334617872" sldId="256"/>
            <ac:spMk id="3" creationId="{00000000-0000-0000-0000-000000000000}"/>
          </ac:spMkLst>
        </pc:spChg>
      </pc:sldChg>
      <pc:sldChg chg="modSp">
        <pc:chgData name="Alveen Singh" userId="6daf11db-8a8e-4669-8f9d-4d2596173bbf" providerId="ADAL" clId="{3F877377-1FDF-4EE1-B36A-3F3F4C4294C1}" dt="2023-03-22T17:25:39.318" v="26" actId="20577"/>
        <pc:sldMkLst>
          <pc:docMk/>
          <pc:sldMk cId="3029039078" sldId="258"/>
        </pc:sldMkLst>
        <pc:spChg chg="mod">
          <ac:chgData name="Alveen Singh" userId="6daf11db-8a8e-4669-8f9d-4d2596173bbf" providerId="ADAL" clId="{3F877377-1FDF-4EE1-B36A-3F3F4C4294C1}" dt="2023-03-22T17:25:39.318" v="26" actId="20577"/>
          <ac:spMkLst>
            <pc:docMk/>
            <pc:sldMk cId="3029039078" sldId="258"/>
            <ac:spMk id="2" creationId="{00000000-0000-0000-0000-000000000000}"/>
          </ac:spMkLst>
        </pc:spChg>
      </pc:sldChg>
      <pc:sldChg chg="modSp">
        <pc:chgData name="Alveen Singh" userId="6daf11db-8a8e-4669-8f9d-4d2596173bbf" providerId="ADAL" clId="{3F877377-1FDF-4EE1-B36A-3F3F4C4294C1}" dt="2023-03-22T17:26:33.559" v="35" actId="207"/>
        <pc:sldMkLst>
          <pc:docMk/>
          <pc:sldMk cId="459163818" sldId="260"/>
        </pc:sldMkLst>
        <pc:spChg chg="mod">
          <ac:chgData name="Alveen Singh" userId="6daf11db-8a8e-4669-8f9d-4d2596173bbf" providerId="ADAL" clId="{3F877377-1FDF-4EE1-B36A-3F3F4C4294C1}" dt="2023-03-22T17:26:33.559" v="35" actId="207"/>
          <ac:spMkLst>
            <pc:docMk/>
            <pc:sldMk cId="459163818" sldId="260"/>
            <ac:spMk id="3" creationId="{00000000-0000-0000-0000-000000000000}"/>
          </ac:spMkLst>
        </pc:spChg>
      </pc:sldChg>
      <pc:sldChg chg="modSp">
        <pc:chgData name="Alveen Singh" userId="6daf11db-8a8e-4669-8f9d-4d2596173bbf" providerId="ADAL" clId="{3F877377-1FDF-4EE1-B36A-3F3F4C4294C1}" dt="2023-03-22T17:27:55.042" v="41" actId="207"/>
        <pc:sldMkLst>
          <pc:docMk/>
          <pc:sldMk cId="482467100" sldId="262"/>
        </pc:sldMkLst>
        <pc:spChg chg="mod">
          <ac:chgData name="Alveen Singh" userId="6daf11db-8a8e-4669-8f9d-4d2596173bbf" providerId="ADAL" clId="{3F877377-1FDF-4EE1-B36A-3F3F4C4294C1}" dt="2023-03-22T17:27:55.042" v="41" actId="207"/>
          <ac:spMkLst>
            <pc:docMk/>
            <pc:sldMk cId="482467100" sldId="262"/>
            <ac:spMk id="3" creationId="{00000000-0000-0000-0000-000000000000}"/>
          </ac:spMkLst>
        </pc:spChg>
      </pc:sldChg>
      <pc:sldChg chg="modSp">
        <pc:chgData name="Alveen Singh" userId="6daf11db-8a8e-4669-8f9d-4d2596173bbf" providerId="ADAL" clId="{3F877377-1FDF-4EE1-B36A-3F3F4C4294C1}" dt="2023-03-22T17:46:58.317" v="350" actId="403"/>
        <pc:sldMkLst>
          <pc:docMk/>
          <pc:sldMk cId="743408921" sldId="264"/>
        </pc:sldMkLst>
        <pc:spChg chg="mod">
          <ac:chgData name="Alveen Singh" userId="6daf11db-8a8e-4669-8f9d-4d2596173bbf" providerId="ADAL" clId="{3F877377-1FDF-4EE1-B36A-3F3F4C4294C1}" dt="2023-03-22T17:46:58.317" v="350" actId="403"/>
          <ac:spMkLst>
            <pc:docMk/>
            <pc:sldMk cId="743408921" sldId="264"/>
            <ac:spMk id="3" creationId="{00000000-0000-0000-0000-000000000000}"/>
          </ac:spMkLst>
        </pc:spChg>
      </pc:sldChg>
      <pc:sldChg chg="modSp">
        <pc:chgData name="Alveen Singh" userId="6daf11db-8a8e-4669-8f9d-4d2596173bbf" providerId="ADAL" clId="{3F877377-1FDF-4EE1-B36A-3F3F4C4294C1}" dt="2023-03-22T17:29:41.873" v="48" actId="20577"/>
        <pc:sldMkLst>
          <pc:docMk/>
          <pc:sldMk cId="1566011364" sldId="265"/>
        </pc:sldMkLst>
        <pc:spChg chg="mod">
          <ac:chgData name="Alveen Singh" userId="6daf11db-8a8e-4669-8f9d-4d2596173bbf" providerId="ADAL" clId="{3F877377-1FDF-4EE1-B36A-3F3F4C4294C1}" dt="2023-03-22T17:29:41.873" v="48" actId="20577"/>
          <ac:spMkLst>
            <pc:docMk/>
            <pc:sldMk cId="1566011364" sldId="265"/>
            <ac:spMk id="6" creationId="{00000000-0000-0000-0000-000000000000}"/>
          </ac:spMkLst>
        </pc:spChg>
      </pc:sldChg>
      <pc:sldChg chg="modSp">
        <pc:chgData name="Alveen Singh" userId="6daf11db-8a8e-4669-8f9d-4d2596173bbf" providerId="ADAL" clId="{3F877377-1FDF-4EE1-B36A-3F3F4C4294C1}" dt="2023-03-22T17:30:26.088" v="56" actId="6549"/>
        <pc:sldMkLst>
          <pc:docMk/>
          <pc:sldMk cId="1194380953" sldId="266"/>
        </pc:sldMkLst>
        <pc:spChg chg="mod">
          <ac:chgData name="Alveen Singh" userId="6daf11db-8a8e-4669-8f9d-4d2596173bbf" providerId="ADAL" clId="{3F877377-1FDF-4EE1-B36A-3F3F4C4294C1}" dt="2023-03-22T17:30:26.088" v="56" actId="6549"/>
          <ac:spMkLst>
            <pc:docMk/>
            <pc:sldMk cId="1194380953" sldId="266"/>
            <ac:spMk id="3" creationId="{00000000-0000-0000-0000-000000000000}"/>
          </ac:spMkLst>
        </pc:spChg>
      </pc:sldChg>
      <pc:sldChg chg="modSp">
        <pc:chgData name="Alveen Singh" userId="6daf11db-8a8e-4669-8f9d-4d2596173bbf" providerId="ADAL" clId="{3F877377-1FDF-4EE1-B36A-3F3F4C4294C1}" dt="2023-03-22T17:56:27.943" v="437" actId="207"/>
        <pc:sldMkLst>
          <pc:docMk/>
          <pc:sldMk cId="4279203780" sldId="271"/>
        </pc:sldMkLst>
        <pc:spChg chg="mod">
          <ac:chgData name="Alveen Singh" userId="6daf11db-8a8e-4669-8f9d-4d2596173bbf" providerId="ADAL" clId="{3F877377-1FDF-4EE1-B36A-3F3F4C4294C1}" dt="2023-03-22T17:56:27.943" v="437" actId="207"/>
          <ac:spMkLst>
            <pc:docMk/>
            <pc:sldMk cId="4279203780" sldId="271"/>
            <ac:spMk id="3" creationId="{00000000-0000-0000-0000-000000000000}"/>
          </ac:spMkLst>
        </pc:spChg>
      </pc:sldChg>
      <pc:sldChg chg="modSp">
        <pc:chgData name="Alveen Singh" userId="6daf11db-8a8e-4669-8f9d-4d2596173bbf" providerId="ADAL" clId="{3F877377-1FDF-4EE1-B36A-3F3F4C4294C1}" dt="2023-03-22T17:26:53.399" v="38" actId="6549"/>
        <pc:sldMkLst>
          <pc:docMk/>
          <pc:sldMk cId="1137598" sldId="272"/>
        </pc:sldMkLst>
        <pc:spChg chg="mod">
          <ac:chgData name="Alveen Singh" userId="6daf11db-8a8e-4669-8f9d-4d2596173bbf" providerId="ADAL" clId="{3F877377-1FDF-4EE1-B36A-3F3F4C4294C1}" dt="2023-03-22T17:26:53.399" v="38" actId="6549"/>
          <ac:spMkLst>
            <pc:docMk/>
            <pc:sldMk cId="1137598" sldId="272"/>
            <ac:spMk id="3" creationId="{00000000-0000-0000-0000-000000000000}"/>
          </ac:spMkLst>
        </pc:spChg>
      </pc:sldChg>
      <pc:sldChg chg="modSp">
        <pc:chgData name="Alveen Singh" userId="6daf11db-8a8e-4669-8f9d-4d2596173bbf" providerId="ADAL" clId="{3F877377-1FDF-4EE1-B36A-3F3F4C4294C1}" dt="2023-03-22T17:34:03.846" v="66" actId="20577"/>
        <pc:sldMkLst>
          <pc:docMk/>
          <pc:sldMk cId="505467786" sldId="275"/>
        </pc:sldMkLst>
        <pc:spChg chg="mod">
          <ac:chgData name="Alveen Singh" userId="6daf11db-8a8e-4669-8f9d-4d2596173bbf" providerId="ADAL" clId="{3F877377-1FDF-4EE1-B36A-3F3F4C4294C1}" dt="2023-03-22T17:34:03.846" v="66" actId="20577"/>
          <ac:spMkLst>
            <pc:docMk/>
            <pc:sldMk cId="505467786" sldId="275"/>
            <ac:spMk id="7" creationId="{00000000-0000-0000-0000-000000000000}"/>
          </ac:spMkLst>
        </pc:spChg>
      </pc:sldChg>
      <pc:sldChg chg="modSp">
        <pc:chgData name="Alveen Singh" userId="6daf11db-8a8e-4669-8f9d-4d2596173bbf" providerId="ADAL" clId="{3F877377-1FDF-4EE1-B36A-3F3F4C4294C1}" dt="2023-03-22T17:34:46.878" v="71" actId="27636"/>
        <pc:sldMkLst>
          <pc:docMk/>
          <pc:sldMk cId="817698427" sldId="277"/>
        </pc:sldMkLst>
        <pc:spChg chg="mod">
          <ac:chgData name="Alveen Singh" userId="6daf11db-8a8e-4669-8f9d-4d2596173bbf" providerId="ADAL" clId="{3F877377-1FDF-4EE1-B36A-3F3F4C4294C1}" dt="2023-03-22T17:34:46.878" v="71" actId="27636"/>
          <ac:spMkLst>
            <pc:docMk/>
            <pc:sldMk cId="817698427" sldId="277"/>
            <ac:spMk id="3" creationId="{00000000-0000-0000-0000-000000000000}"/>
          </ac:spMkLst>
        </pc:spChg>
      </pc:sldChg>
      <pc:sldChg chg="modSp">
        <pc:chgData name="Alveen Singh" userId="6daf11db-8a8e-4669-8f9d-4d2596173bbf" providerId="ADAL" clId="{3F877377-1FDF-4EE1-B36A-3F3F4C4294C1}" dt="2023-03-22T17:35:13.766" v="83" actId="20577"/>
        <pc:sldMkLst>
          <pc:docMk/>
          <pc:sldMk cId="3470448099" sldId="278"/>
        </pc:sldMkLst>
        <pc:spChg chg="mod">
          <ac:chgData name="Alveen Singh" userId="6daf11db-8a8e-4669-8f9d-4d2596173bbf" providerId="ADAL" clId="{3F877377-1FDF-4EE1-B36A-3F3F4C4294C1}" dt="2023-03-22T17:35:13.766" v="83" actId="20577"/>
          <ac:spMkLst>
            <pc:docMk/>
            <pc:sldMk cId="3470448099" sldId="278"/>
            <ac:spMk id="7" creationId="{00000000-0000-0000-0000-000000000000}"/>
          </ac:spMkLst>
        </pc:spChg>
      </pc:sldChg>
      <pc:sldChg chg="modSp">
        <pc:chgData name="Alveen Singh" userId="6daf11db-8a8e-4669-8f9d-4d2596173bbf" providerId="ADAL" clId="{3F877377-1FDF-4EE1-B36A-3F3F4C4294C1}" dt="2023-03-22T18:04:01.305" v="932" actId="207"/>
        <pc:sldMkLst>
          <pc:docMk/>
          <pc:sldMk cId="2977247500" sldId="279"/>
        </pc:sldMkLst>
        <pc:spChg chg="mod">
          <ac:chgData name="Alveen Singh" userId="6daf11db-8a8e-4669-8f9d-4d2596173bbf" providerId="ADAL" clId="{3F877377-1FDF-4EE1-B36A-3F3F4C4294C1}" dt="2023-03-22T18:04:01.305" v="932" actId="207"/>
          <ac:spMkLst>
            <pc:docMk/>
            <pc:sldMk cId="2977247500" sldId="279"/>
            <ac:spMk id="3" creationId="{00000000-0000-0000-0000-000000000000}"/>
          </ac:spMkLst>
        </pc:spChg>
      </pc:sldChg>
      <pc:sldChg chg="modSp">
        <pc:chgData name="Alveen Singh" userId="6daf11db-8a8e-4669-8f9d-4d2596173bbf" providerId="ADAL" clId="{3F877377-1FDF-4EE1-B36A-3F3F4C4294C1}" dt="2023-03-22T18:07:46.339" v="1264" actId="20577"/>
        <pc:sldMkLst>
          <pc:docMk/>
          <pc:sldMk cId="313494581" sldId="281"/>
        </pc:sldMkLst>
        <pc:spChg chg="mod">
          <ac:chgData name="Alveen Singh" userId="6daf11db-8a8e-4669-8f9d-4d2596173bbf" providerId="ADAL" clId="{3F877377-1FDF-4EE1-B36A-3F3F4C4294C1}" dt="2023-03-22T18:07:46.339" v="1264" actId="20577"/>
          <ac:spMkLst>
            <pc:docMk/>
            <pc:sldMk cId="313494581" sldId="281"/>
            <ac:spMk id="3" creationId="{00000000-0000-0000-0000-000000000000}"/>
          </ac:spMkLst>
        </pc:spChg>
      </pc:sldChg>
      <pc:sldChg chg="modSp">
        <pc:chgData name="Alveen Singh" userId="6daf11db-8a8e-4669-8f9d-4d2596173bbf" providerId="ADAL" clId="{3F877377-1FDF-4EE1-B36A-3F3F4C4294C1}" dt="2023-03-22T17:37:17.864" v="103" actId="207"/>
        <pc:sldMkLst>
          <pc:docMk/>
          <pc:sldMk cId="84978051" sldId="288"/>
        </pc:sldMkLst>
        <pc:spChg chg="mod">
          <ac:chgData name="Alveen Singh" userId="6daf11db-8a8e-4669-8f9d-4d2596173bbf" providerId="ADAL" clId="{3F877377-1FDF-4EE1-B36A-3F3F4C4294C1}" dt="2023-03-22T17:37:17.864" v="103" actId="207"/>
          <ac:spMkLst>
            <pc:docMk/>
            <pc:sldMk cId="84978051" sldId="288"/>
            <ac:spMk id="3" creationId="{00000000-0000-0000-0000-000000000000}"/>
          </ac:spMkLst>
        </pc:spChg>
      </pc:sldChg>
      <pc:sldChg chg="modSp">
        <pc:chgData name="Alveen Singh" userId="6daf11db-8a8e-4669-8f9d-4d2596173bbf" providerId="ADAL" clId="{3F877377-1FDF-4EE1-B36A-3F3F4C4294C1}" dt="2023-03-22T18:23:44.427" v="1431" actId="1076"/>
        <pc:sldMkLst>
          <pc:docMk/>
          <pc:sldMk cId="3031477154" sldId="298"/>
        </pc:sldMkLst>
        <pc:spChg chg="mod">
          <ac:chgData name="Alveen Singh" userId="6daf11db-8a8e-4669-8f9d-4d2596173bbf" providerId="ADAL" clId="{3F877377-1FDF-4EE1-B36A-3F3F4C4294C1}" dt="2023-03-22T18:23:42.272" v="1430" actId="6549"/>
          <ac:spMkLst>
            <pc:docMk/>
            <pc:sldMk cId="3031477154" sldId="298"/>
            <ac:spMk id="3" creationId="{00000000-0000-0000-0000-000000000000}"/>
          </ac:spMkLst>
        </pc:spChg>
        <pc:picChg chg="mod">
          <ac:chgData name="Alveen Singh" userId="6daf11db-8a8e-4669-8f9d-4d2596173bbf" providerId="ADAL" clId="{3F877377-1FDF-4EE1-B36A-3F3F4C4294C1}" dt="2023-03-22T18:23:44.427" v="1431" actId="1076"/>
          <ac:picMkLst>
            <pc:docMk/>
            <pc:sldMk cId="3031477154" sldId="298"/>
            <ac:picMk id="7" creationId="{00000000-0000-0000-0000-000000000000}"/>
          </ac:picMkLst>
        </pc:picChg>
      </pc:sldChg>
      <pc:sldChg chg="modSp">
        <pc:chgData name="Alveen Singh" userId="6daf11db-8a8e-4669-8f9d-4d2596173bbf" providerId="ADAL" clId="{3F877377-1FDF-4EE1-B36A-3F3F4C4294C1}" dt="2023-03-22T18:22:15.903" v="1427" actId="20577"/>
        <pc:sldMkLst>
          <pc:docMk/>
          <pc:sldMk cId="1205544967" sldId="299"/>
        </pc:sldMkLst>
        <pc:spChg chg="mod">
          <ac:chgData name="Alveen Singh" userId="6daf11db-8a8e-4669-8f9d-4d2596173bbf" providerId="ADAL" clId="{3F877377-1FDF-4EE1-B36A-3F3F4C4294C1}" dt="2023-03-22T18:22:15.903" v="1427" actId="20577"/>
          <ac:spMkLst>
            <pc:docMk/>
            <pc:sldMk cId="1205544967" sldId="299"/>
            <ac:spMk id="3" creationId="{00000000-0000-0000-0000-000000000000}"/>
          </ac:spMkLst>
        </pc:spChg>
      </pc:sldChg>
      <pc:sldChg chg="addSp delSp modSp add">
        <pc:chgData name="Alveen Singh" userId="6daf11db-8a8e-4669-8f9d-4d2596173bbf" providerId="ADAL" clId="{3F877377-1FDF-4EE1-B36A-3F3F4C4294C1}" dt="2023-03-22T17:55:45.573" v="436" actId="1076"/>
        <pc:sldMkLst>
          <pc:docMk/>
          <pc:sldMk cId="1112308287" sldId="300"/>
        </pc:sldMkLst>
        <pc:spChg chg="add mod">
          <ac:chgData name="Alveen Singh" userId="6daf11db-8a8e-4669-8f9d-4d2596173bbf" providerId="ADAL" clId="{3F877377-1FDF-4EE1-B36A-3F3F4C4294C1}" dt="2023-03-22T17:48:36.079" v="414" actId="14100"/>
          <ac:spMkLst>
            <pc:docMk/>
            <pc:sldMk cId="1112308287" sldId="300"/>
            <ac:spMk id="4" creationId="{0822213C-2D03-4A90-8251-D7518A0FD7C2}"/>
          </ac:spMkLst>
        </pc:spChg>
        <pc:spChg chg="add del mod">
          <ac:chgData name="Alveen Singh" userId="6daf11db-8a8e-4669-8f9d-4d2596173bbf" providerId="ADAL" clId="{3F877377-1FDF-4EE1-B36A-3F3F4C4294C1}" dt="2023-03-22T17:48:39.795" v="415" actId="478"/>
          <ac:spMkLst>
            <pc:docMk/>
            <pc:sldMk cId="1112308287" sldId="300"/>
            <ac:spMk id="5" creationId="{85C2DF3F-433E-4F8C-AE73-653E8C482210}"/>
          </ac:spMkLst>
        </pc:spChg>
        <pc:picChg chg="add mod">
          <ac:chgData name="Alveen Singh" userId="6daf11db-8a8e-4669-8f9d-4d2596173bbf" providerId="ADAL" clId="{3F877377-1FDF-4EE1-B36A-3F3F4C4294C1}" dt="2023-03-22T17:53:31.349" v="429" actId="1076"/>
          <ac:picMkLst>
            <pc:docMk/>
            <pc:sldMk cId="1112308287" sldId="300"/>
            <ac:picMk id="6" creationId="{E512DBC8-FF61-4C85-9A80-2F23D1D77E73}"/>
          </ac:picMkLst>
        </pc:picChg>
        <pc:picChg chg="add mod modCrop">
          <ac:chgData name="Alveen Singh" userId="6daf11db-8a8e-4669-8f9d-4d2596173bbf" providerId="ADAL" clId="{3F877377-1FDF-4EE1-B36A-3F3F4C4294C1}" dt="2023-03-22T17:52:13.506" v="425" actId="732"/>
          <ac:picMkLst>
            <pc:docMk/>
            <pc:sldMk cId="1112308287" sldId="300"/>
            <ac:picMk id="7" creationId="{B8C31F3D-9297-44F2-BDD7-D312CA16BEFF}"/>
          </ac:picMkLst>
        </pc:picChg>
        <pc:picChg chg="add mod">
          <ac:chgData name="Alveen Singh" userId="6daf11db-8a8e-4669-8f9d-4d2596173bbf" providerId="ADAL" clId="{3F877377-1FDF-4EE1-B36A-3F3F4C4294C1}" dt="2023-03-22T17:49:21.393" v="417" actId="1076"/>
          <ac:picMkLst>
            <pc:docMk/>
            <pc:sldMk cId="1112308287" sldId="300"/>
            <ac:picMk id="1026" creationId="{AB8A649E-BAD9-474F-AD7D-4CAD7342C950}"/>
          </ac:picMkLst>
        </pc:picChg>
        <pc:picChg chg="add mod">
          <ac:chgData name="Alveen Singh" userId="6daf11db-8a8e-4669-8f9d-4d2596173bbf" providerId="ADAL" clId="{3F877377-1FDF-4EE1-B36A-3F3F4C4294C1}" dt="2023-03-22T17:51:52.842" v="423" actId="1076"/>
          <ac:picMkLst>
            <pc:docMk/>
            <pc:sldMk cId="1112308287" sldId="300"/>
            <ac:picMk id="1028" creationId="{2FFDAF53-9755-4BA9-91BD-01F0F8981C5B}"/>
          </ac:picMkLst>
        </pc:picChg>
        <pc:picChg chg="add del mod">
          <ac:chgData name="Alveen Singh" userId="6daf11db-8a8e-4669-8f9d-4d2596173bbf" providerId="ADAL" clId="{3F877377-1FDF-4EE1-B36A-3F3F4C4294C1}" dt="2023-03-22T17:53:48.242" v="432" actId="478"/>
          <ac:picMkLst>
            <pc:docMk/>
            <pc:sldMk cId="1112308287" sldId="300"/>
            <ac:picMk id="1030" creationId="{A1BF6E57-0EC5-4CF9-BC81-C2587CD1F606}"/>
          </ac:picMkLst>
        </pc:picChg>
        <pc:picChg chg="add mod">
          <ac:chgData name="Alveen Singh" userId="6daf11db-8a8e-4669-8f9d-4d2596173bbf" providerId="ADAL" clId="{3F877377-1FDF-4EE1-B36A-3F3F4C4294C1}" dt="2023-03-22T17:54:26.350" v="434" actId="1076"/>
          <ac:picMkLst>
            <pc:docMk/>
            <pc:sldMk cId="1112308287" sldId="300"/>
            <ac:picMk id="1032" creationId="{80ABBE2F-6FE8-4901-B0E5-88693CB58CFC}"/>
          </ac:picMkLst>
        </pc:picChg>
        <pc:picChg chg="add mod">
          <ac:chgData name="Alveen Singh" userId="6daf11db-8a8e-4669-8f9d-4d2596173bbf" providerId="ADAL" clId="{3F877377-1FDF-4EE1-B36A-3F3F4C4294C1}" dt="2023-03-22T17:55:45.573" v="436" actId="1076"/>
          <ac:picMkLst>
            <pc:docMk/>
            <pc:sldMk cId="1112308287" sldId="300"/>
            <ac:picMk id="1034" creationId="{8BDEF008-95FC-4D84-8B88-A7BE8261FE42}"/>
          </ac:picMkLst>
        </pc:picChg>
      </pc:sldChg>
      <pc:sldChg chg="delSp modSp add">
        <pc:chgData name="Alveen Singh" userId="6daf11db-8a8e-4669-8f9d-4d2596173bbf" providerId="ADAL" clId="{3F877377-1FDF-4EE1-B36A-3F3F4C4294C1}" dt="2023-03-22T18:03:21.715" v="930" actId="20577"/>
        <pc:sldMkLst>
          <pc:docMk/>
          <pc:sldMk cId="1123000235" sldId="301"/>
        </pc:sldMkLst>
        <pc:spChg chg="del">
          <ac:chgData name="Alveen Singh" userId="6daf11db-8a8e-4669-8f9d-4d2596173bbf" providerId="ADAL" clId="{3F877377-1FDF-4EE1-B36A-3F3F4C4294C1}" dt="2023-03-22T17:57:33.515" v="472" actId="478"/>
          <ac:spMkLst>
            <pc:docMk/>
            <pc:sldMk cId="1123000235" sldId="301"/>
            <ac:spMk id="2" creationId="{EDD14A96-C0CB-4E68-90DF-856990001870}"/>
          </ac:spMkLst>
        </pc:spChg>
        <pc:spChg chg="mod">
          <ac:chgData name="Alveen Singh" userId="6daf11db-8a8e-4669-8f9d-4d2596173bbf" providerId="ADAL" clId="{3F877377-1FDF-4EE1-B36A-3F3F4C4294C1}" dt="2023-03-22T18:03:21.715" v="930" actId="20577"/>
          <ac:spMkLst>
            <pc:docMk/>
            <pc:sldMk cId="1123000235" sldId="301"/>
            <ac:spMk id="3" creationId="{C9D923D0-D0FF-4A52-830C-A58EE95C8CB6}"/>
          </ac:spMkLst>
        </pc:spChg>
      </pc:sldChg>
      <pc:sldChg chg="addSp delSp modSp add">
        <pc:chgData name="Alveen Singh" userId="6daf11db-8a8e-4669-8f9d-4d2596173bbf" providerId="ADAL" clId="{3F877377-1FDF-4EE1-B36A-3F3F4C4294C1}" dt="2023-03-22T18:19:32.655" v="1389" actId="1076"/>
        <pc:sldMkLst>
          <pc:docMk/>
          <pc:sldMk cId="1627876461" sldId="302"/>
        </pc:sldMkLst>
        <pc:spChg chg="del">
          <ac:chgData name="Alveen Singh" userId="6daf11db-8a8e-4669-8f9d-4d2596173bbf" providerId="ADAL" clId="{3F877377-1FDF-4EE1-B36A-3F3F4C4294C1}" dt="2023-03-22T18:09:11.858" v="1266"/>
          <ac:spMkLst>
            <pc:docMk/>
            <pc:sldMk cId="1627876461" sldId="302"/>
            <ac:spMk id="2" creationId="{379F6996-1D1C-4A4F-8B12-E58A0F4D9DE9}"/>
          </ac:spMkLst>
        </pc:spChg>
        <pc:spChg chg="del">
          <ac:chgData name="Alveen Singh" userId="6daf11db-8a8e-4669-8f9d-4d2596173bbf" providerId="ADAL" clId="{3F877377-1FDF-4EE1-B36A-3F3F4C4294C1}" dt="2023-03-22T18:09:11.858" v="1266"/>
          <ac:spMkLst>
            <pc:docMk/>
            <pc:sldMk cId="1627876461" sldId="302"/>
            <ac:spMk id="3" creationId="{DEEC8A93-62D4-4975-9849-B9C3A8907703}"/>
          </ac:spMkLst>
        </pc:spChg>
        <pc:spChg chg="mod">
          <ac:chgData name="Alveen Singh" userId="6daf11db-8a8e-4669-8f9d-4d2596173bbf" providerId="ADAL" clId="{3F877377-1FDF-4EE1-B36A-3F3F4C4294C1}" dt="2023-03-22T18:10:40.977" v="1333" actId="20577"/>
          <ac:spMkLst>
            <pc:docMk/>
            <pc:sldMk cId="1627876461" sldId="302"/>
            <ac:spMk id="4" creationId="{5F444704-E1A8-4C29-B6B3-68AB59108EF0}"/>
          </ac:spMkLst>
        </pc:spChg>
        <pc:spChg chg="add mod">
          <ac:chgData name="Alveen Singh" userId="6daf11db-8a8e-4669-8f9d-4d2596173bbf" providerId="ADAL" clId="{3F877377-1FDF-4EE1-B36A-3F3F4C4294C1}" dt="2023-03-22T18:17:59.334" v="1374" actId="1076"/>
          <ac:spMkLst>
            <pc:docMk/>
            <pc:sldMk cId="1627876461" sldId="302"/>
            <ac:spMk id="6" creationId="{F5662199-AB27-4326-ACBD-55A241D70571}"/>
          </ac:spMkLst>
        </pc:spChg>
        <pc:spChg chg="add del mod">
          <ac:chgData name="Alveen Singh" userId="6daf11db-8a8e-4669-8f9d-4d2596173bbf" providerId="ADAL" clId="{3F877377-1FDF-4EE1-B36A-3F3F4C4294C1}" dt="2023-03-22T18:11:00.059" v="1336" actId="478"/>
          <ac:spMkLst>
            <pc:docMk/>
            <pc:sldMk cId="1627876461" sldId="302"/>
            <ac:spMk id="7" creationId="{20CE80B0-D205-4753-8F39-3DD628231768}"/>
          </ac:spMkLst>
        </pc:spChg>
        <pc:picChg chg="add mod">
          <ac:chgData name="Alveen Singh" userId="6daf11db-8a8e-4669-8f9d-4d2596173bbf" providerId="ADAL" clId="{3F877377-1FDF-4EE1-B36A-3F3F4C4294C1}" dt="2023-03-22T18:15:11.098" v="1357" actId="1076"/>
          <ac:picMkLst>
            <pc:docMk/>
            <pc:sldMk cId="1627876461" sldId="302"/>
            <ac:picMk id="8" creationId="{D2D8258E-5D80-4C9D-9D74-6ADFB25742B2}"/>
          </ac:picMkLst>
        </pc:picChg>
        <pc:picChg chg="add mod">
          <ac:chgData name="Alveen Singh" userId="6daf11db-8a8e-4669-8f9d-4d2596173bbf" providerId="ADAL" clId="{3F877377-1FDF-4EE1-B36A-3F3F4C4294C1}" dt="2023-03-22T18:19:32.655" v="1389" actId="1076"/>
          <ac:picMkLst>
            <pc:docMk/>
            <pc:sldMk cId="1627876461" sldId="302"/>
            <ac:picMk id="9" creationId="{C2297756-E7C7-4E4A-B5BD-3B5DD9C2674D}"/>
          </ac:picMkLst>
        </pc:picChg>
        <pc:picChg chg="add mod">
          <ac:chgData name="Alveen Singh" userId="6daf11db-8a8e-4669-8f9d-4d2596173bbf" providerId="ADAL" clId="{3F877377-1FDF-4EE1-B36A-3F3F4C4294C1}" dt="2023-03-22T18:15:09.508" v="1356" actId="1076"/>
          <ac:picMkLst>
            <pc:docMk/>
            <pc:sldMk cId="1627876461" sldId="302"/>
            <ac:picMk id="2050" creationId="{F1DB1E4C-8208-4C67-8C1B-211F32BB210F}"/>
          </ac:picMkLst>
        </pc:picChg>
        <pc:picChg chg="add mod">
          <ac:chgData name="Alveen Singh" userId="6daf11db-8a8e-4669-8f9d-4d2596173bbf" providerId="ADAL" clId="{3F877377-1FDF-4EE1-B36A-3F3F4C4294C1}" dt="2023-03-22T18:13:48.733" v="1351" actId="1076"/>
          <ac:picMkLst>
            <pc:docMk/>
            <pc:sldMk cId="1627876461" sldId="302"/>
            <ac:picMk id="2052" creationId="{3ED30851-EC92-41F2-BE84-F9F319DDB7F0}"/>
          </ac:picMkLst>
        </pc:picChg>
        <pc:picChg chg="add mod">
          <ac:chgData name="Alveen Singh" userId="6daf11db-8a8e-4669-8f9d-4d2596173bbf" providerId="ADAL" clId="{3F877377-1FDF-4EE1-B36A-3F3F4C4294C1}" dt="2023-03-22T18:12:47.568" v="1346" actId="1076"/>
          <ac:picMkLst>
            <pc:docMk/>
            <pc:sldMk cId="1627876461" sldId="302"/>
            <ac:picMk id="2054" creationId="{C1D86C76-9D33-4188-8976-C401EB004E7F}"/>
          </ac:picMkLst>
        </pc:picChg>
        <pc:picChg chg="add mod">
          <ac:chgData name="Alveen Singh" userId="6daf11db-8a8e-4669-8f9d-4d2596173bbf" providerId="ADAL" clId="{3F877377-1FDF-4EE1-B36A-3F3F4C4294C1}" dt="2023-03-22T18:15:13.511" v="1358" actId="1076"/>
          <ac:picMkLst>
            <pc:docMk/>
            <pc:sldMk cId="1627876461" sldId="302"/>
            <ac:picMk id="2056" creationId="{EC2B2922-AAFC-485C-A54E-D3A98AAAD835}"/>
          </ac:picMkLst>
        </pc:picChg>
        <pc:picChg chg="add mod">
          <ac:chgData name="Alveen Singh" userId="6daf11db-8a8e-4669-8f9d-4d2596173bbf" providerId="ADAL" clId="{3F877377-1FDF-4EE1-B36A-3F3F4C4294C1}" dt="2023-03-22T18:16:22.616" v="1360" actId="1076"/>
          <ac:picMkLst>
            <pc:docMk/>
            <pc:sldMk cId="1627876461" sldId="302"/>
            <ac:picMk id="2058" creationId="{BA0B52D8-B7BC-40F7-B741-CD77672466CF}"/>
          </ac:picMkLst>
        </pc:picChg>
        <pc:picChg chg="add mod">
          <ac:chgData name="Alveen Singh" userId="6daf11db-8a8e-4669-8f9d-4d2596173bbf" providerId="ADAL" clId="{3F877377-1FDF-4EE1-B36A-3F3F4C4294C1}" dt="2023-03-22T18:17:07.447" v="1364" actId="1076"/>
          <ac:picMkLst>
            <pc:docMk/>
            <pc:sldMk cId="1627876461" sldId="302"/>
            <ac:picMk id="2060" creationId="{65AEA315-DAA8-412D-90C7-BA386857F503}"/>
          </ac:picMkLst>
        </pc:picChg>
        <pc:picChg chg="add mod">
          <ac:chgData name="Alveen Singh" userId="6daf11db-8a8e-4669-8f9d-4d2596173bbf" providerId="ADAL" clId="{3F877377-1FDF-4EE1-B36A-3F3F4C4294C1}" dt="2023-03-22T18:17:24.421" v="1367" actId="1076"/>
          <ac:picMkLst>
            <pc:docMk/>
            <pc:sldMk cId="1627876461" sldId="302"/>
            <ac:picMk id="2062" creationId="{AF09879B-D087-482C-8AFC-5F7D8640F234}"/>
          </ac:picMkLst>
        </pc:picChg>
        <pc:picChg chg="add mod">
          <ac:chgData name="Alveen Singh" userId="6daf11db-8a8e-4669-8f9d-4d2596173bbf" providerId="ADAL" clId="{3F877377-1FDF-4EE1-B36A-3F3F4C4294C1}" dt="2023-03-22T18:17:47.117" v="1371" actId="1076"/>
          <ac:picMkLst>
            <pc:docMk/>
            <pc:sldMk cId="1627876461" sldId="302"/>
            <ac:picMk id="2064" creationId="{73A1F998-2781-4B16-A85B-EDF76917CB1C}"/>
          </ac:picMkLst>
        </pc:picChg>
        <pc:picChg chg="add mod">
          <ac:chgData name="Alveen Singh" userId="6daf11db-8a8e-4669-8f9d-4d2596173bbf" providerId="ADAL" clId="{3F877377-1FDF-4EE1-B36A-3F3F4C4294C1}" dt="2023-03-22T18:18:23.892" v="1378" actId="14100"/>
          <ac:picMkLst>
            <pc:docMk/>
            <pc:sldMk cId="1627876461" sldId="302"/>
            <ac:picMk id="2066" creationId="{983F6FC7-5CDF-46E4-ACAB-01A3A9C58493}"/>
          </ac:picMkLst>
        </pc:picChg>
        <pc:picChg chg="add mod">
          <ac:chgData name="Alveen Singh" userId="6daf11db-8a8e-4669-8f9d-4d2596173bbf" providerId="ADAL" clId="{3F877377-1FDF-4EE1-B36A-3F3F4C4294C1}" dt="2023-03-22T18:18:51.856" v="1384" actId="14100"/>
          <ac:picMkLst>
            <pc:docMk/>
            <pc:sldMk cId="1627876461" sldId="302"/>
            <ac:picMk id="2068" creationId="{1674D460-AB6C-4E4A-82B2-641084E15A72}"/>
          </ac:picMkLst>
        </pc:picChg>
      </pc:sldChg>
      <pc:sldChg chg="delSp modSp add">
        <pc:chgData name="Alveen Singh" userId="6daf11db-8a8e-4669-8f9d-4d2596173bbf" providerId="ADAL" clId="{3F877377-1FDF-4EE1-B36A-3F3F4C4294C1}" dt="2023-03-22T18:28:14.461" v="1667" actId="20577"/>
        <pc:sldMkLst>
          <pc:docMk/>
          <pc:sldMk cId="2677260179" sldId="303"/>
        </pc:sldMkLst>
        <pc:spChg chg="del">
          <ac:chgData name="Alveen Singh" userId="6daf11db-8a8e-4669-8f9d-4d2596173bbf" providerId="ADAL" clId="{3F877377-1FDF-4EE1-B36A-3F3F4C4294C1}" dt="2023-03-22T18:23:56.538" v="1434" actId="478"/>
          <ac:spMkLst>
            <pc:docMk/>
            <pc:sldMk cId="2677260179" sldId="303"/>
            <ac:spMk id="2" creationId="{DEB37B22-2660-4D35-BBE6-8A6AA32AFEEF}"/>
          </ac:spMkLst>
        </pc:spChg>
        <pc:spChg chg="mod">
          <ac:chgData name="Alveen Singh" userId="6daf11db-8a8e-4669-8f9d-4d2596173bbf" providerId="ADAL" clId="{3F877377-1FDF-4EE1-B36A-3F3F4C4294C1}" dt="2023-03-22T18:28:14.461" v="1667" actId="20577"/>
          <ac:spMkLst>
            <pc:docMk/>
            <pc:sldMk cId="2677260179" sldId="303"/>
            <ac:spMk id="3" creationId="{00BD1017-44B2-47D3-8F75-7C3F3AF7D25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07CC2A-7CE6-4A6F-8B5B-A30F76C4977A}" type="datetimeFigureOut">
              <a:rPr lang="en-ZA" smtClean="0"/>
              <a:t>2023/03/22</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8715D2-E1C5-4B72-871C-991FE4C21131}" type="slidenum">
              <a:rPr lang="en-ZA" smtClean="0"/>
              <a:t>‹#›</a:t>
            </a:fld>
            <a:endParaRPr lang="en-ZA"/>
          </a:p>
        </p:txBody>
      </p:sp>
    </p:spTree>
    <p:extLst>
      <p:ext uri="{BB962C8B-B14F-4D97-AF65-F5344CB8AC3E}">
        <p14:creationId xmlns:p14="http://schemas.microsoft.com/office/powerpoint/2010/main" val="20542078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65A9271-AE06-4BF5-8105-E9184C995DA5}" type="datetime1">
              <a:rPr lang="en-ZA" smtClean="0"/>
              <a:t>2023/03/22</a:t>
            </a:fld>
            <a:endParaRPr lang="en-ZA"/>
          </a:p>
        </p:txBody>
      </p:sp>
      <p:sp>
        <p:nvSpPr>
          <p:cNvPr id="5" name="Footer Placeholder 4"/>
          <p:cNvSpPr>
            <a:spLocks noGrp="1"/>
          </p:cNvSpPr>
          <p:nvPr>
            <p:ph type="ftr" sz="quarter" idx="11"/>
          </p:nvPr>
        </p:nvSpPr>
        <p:spPr>
          <a:xfrm>
            <a:off x="5332412" y="5883275"/>
            <a:ext cx="4324044" cy="365125"/>
          </a:xfrm>
        </p:spPr>
        <p:txBody>
          <a:bodyPr/>
          <a:lstStyle/>
          <a:p>
            <a:r>
              <a:rPr lang="en-ZA"/>
              <a:t>Dr Alveen Singh - RESK401</a:t>
            </a:r>
          </a:p>
        </p:txBody>
      </p:sp>
      <p:sp>
        <p:nvSpPr>
          <p:cNvPr id="6" name="Slide Number Placeholder 5"/>
          <p:cNvSpPr>
            <a:spLocks noGrp="1"/>
          </p:cNvSpPr>
          <p:nvPr>
            <p:ph type="sldNum" sz="quarter" idx="12"/>
          </p:nvPr>
        </p:nvSpPr>
        <p:spPr/>
        <p:txBody>
          <a:bodyPr/>
          <a:lstStyle/>
          <a:p>
            <a:fld id="{F9D8934E-928E-4C38-807A-CB32A0A7C43F}" type="slidenum">
              <a:rPr lang="en-ZA" smtClean="0"/>
              <a:t>‹#›</a:t>
            </a:fld>
            <a:endParaRPr lang="en-ZA"/>
          </a:p>
        </p:txBody>
      </p:sp>
    </p:spTree>
    <p:extLst>
      <p:ext uri="{BB962C8B-B14F-4D97-AF65-F5344CB8AC3E}">
        <p14:creationId xmlns:p14="http://schemas.microsoft.com/office/powerpoint/2010/main" val="25086625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20CBD88-3A5D-49F1-A2A8-712BF620EBC9}" type="datetime1">
              <a:rPr lang="en-ZA" smtClean="0"/>
              <a:t>2023/03/22</a:t>
            </a:fld>
            <a:endParaRPr lang="en-ZA"/>
          </a:p>
        </p:txBody>
      </p:sp>
      <p:sp>
        <p:nvSpPr>
          <p:cNvPr id="5" name="Footer Placeholder 4"/>
          <p:cNvSpPr>
            <a:spLocks noGrp="1"/>
          </p:cNvSpPr>
          <p:nvPr>
            <p:ph type="ftr" sz="quarter" idx="11"/>
          </p:nvPr>
        </p:nvSpPr>
        <p:spPr/>
        <p:txBody>
          <a:bodyPr/>
          <a:lstStyle/>
          <a:p>
            <a:r>
              <a:rPr lang="en-ZA"/>
              <a:t>Dr Alveen Singh - RESK401</a:t>
            </a:r>
          </a:p>
        </p:txBody>
      </p:sp>
      <p:sp>
        <p:nvSpPr>
          <p:cNvPr id="6" name="Slide Number Placeholder 5"/>
          <p:cNvSpPr>
            <a:spLocks noGrp="1"/>
          </p:cNvSpPr>
          <p:nvPr>
            <p:ph type="sldNum" sz="quarter" idx="12"/>
          </p:nvPr>
        </p:nvSpPr>
        <p:spPr>
          <a:xfrm>
            <a:off x="10951856" y="5867131"/>
            <a:ext cx="551167" cy="365125"/>
          </a:xfrm>
        </p:spPr>
        <p:txBody>
          <a:bodyPr/>
          <a:lstStyle/>
          <a:p>
            <a:fld id="{F9D8934E-928E-4C38-807A-CB32A0A7C43F}" type="slidenum">
              <a:rPr lang="en-ZA" smtClean="0"/>
              <a:t>‹#›</a:t>
            </a:fld>
            <a:endParaRPr lang="en-ZA"/>
          </a:p>
        </p:txBody>
      </p:sp>
    </p:spTree>
    <p:extLst>
      <p:ext uri="{BB962C8B-B14F-4D97-AF65-F5344CB8AC3E}">
        <p14:creationId xmlns:p14="http://schemas.microsoft.com/office/powerpoint/2010/main" val="41931412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DA161C4-96D0-4078-8D3E-A7E96F8F9A04}" type="datetime1">
              <a:rPr lang="en-ZA" smtClean="0"/>
              <a:t>2023/03/22</a:t>
            </a:fld>
            <a:endParaRPr lang="en-ZA"/>
          </a:p>
        </p:txBody>
      </p:sp>
      <p:sp>
        <p:nvSpPr>
          <p:cNvPr id="5" name="Footer Placeholder 4"/>
          <p:cNvSpPr>
            <a:spLocks noGrp="1"/>
          </p:cNvSpPr>
          <p:nvPr>
            <p:ph type="ftr" sz="quarter" idx="11"/>
          </p:nvPr>
        </p:nvSpPr>
        <p:spPr/>
        <p:txBody>
          <a:bodyPr/>
          <a:lstStyle/>
          <a:p>
            <a:r>
              <a:rPr lang="en-ZA"/>
              <a:t>Dr Alveen Singh - RESK401</a:t>
            </a:r>
          </a:p>
        </p:txBody>
      </p:sp>
      <p:sp>
        <p:nvSpPr>
          <p:cNvPr id="6" name="Slide Number Placeholder 5"/>
          <p:cNvSpPr>
            <a:spLocks noGrp="1"/>
          </p:cNvSpPr>
          <p:nvPr>
            <p:ph type="sldNum" sz="quarter" idx="12"/>
          </p:nvPr>
        </p:nvSpPr>
        <p:spPr/>
        <p:txBody>
          <a:bodyPr/>
          <a:lstStyle/>
          <a:p>
            <a:fld id="{F9D8934E-928E-4C38-807A-CB32A0A7C43F}" type="slidenum">
              <a:rPr lang="en-ZA" smtClean="0"/>
              <a:t>‹#›</a:t>
            </a:fld>
            <a:endParaRPr lang="en-ZA"/>
          </a:p>
        </p:txBody>
      </p:sp>
    </p:spTree>
    <p:extLst>
      <p:ext uri="{BB962C8B-B14F-4D97-AF65-F5344CB8AC3E}">
        <p14:creationId xmlns:p14="http://schemas.microsoft.com/office/powerpoint/2010/main" val="4363351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06F7242-AB26-40E5-82FF-140729A6B0C9}" type="datetime1">
              <a:rPr lang="en-ZA" smtClean="0"/>
              <a:t>2023/03/22</a:t>
            </a:fld>
            <a:endParaRPr lang="en-ZA"/>
          </a:p>
        </p:txBody>
      </p:sp>
      <p:sp>
        <p:nvSpPr>
          <p:cNvPr id="6" name="Footer Placeholder 5"/>
          <p:cNvSpPr>
            <a:spLocks noGrp="1"/>
          </p:cNvSpPr>
          <p:nvPr>
            <p:ph type="ftr" sz="quarter" idx="11"/>
          </p:nvPr>
        </p:nvSpPr>
        <p:spPr/>
        <p:txBody>
          <a:bodyPr/>
          <a:lstStyle/>
          <a:p>
            <a:r>
              <a:rPr lang="en-ZA"/>
              <a:t>Dr Alveen Singh - RESK401</a:t>
            </a:r>
          </a:p>
        </p:txBody>
      </p:sp>
      <p:sp>
        <p:nvSpPr>
          <p:cNvPr id="7" name="Slide Number Placeholder 6"/>
          <p:cNvSpPr>
            <a:spLocks noGrp="1"/>
          </p:cNvSpPr>
          <p:nvPr>
            <p:ph type="sldNum" sz="quarter" idx="12"/>
          </p:nvPr>
        </p:nvSpPr>
        <p:spPr/>
        <p:txBody>
          <a:bodyPr/>
          <a:lstStyle/>
          <a:p>
            <a:fld id="{F9D8934E-928E-4C38-807A-CB32A0A7C43F}" type="slidenum">
              <a:rPr lang="en-ZA" smtClean="0"/>
              <a:t>‹#›</a:t>
            </a:fld>
            <a:endParaRPr lang="en-ZA"/>
          </a:p>
        </p:txBody>
      </p:sp>
    </p:spTree>
    <p:extLst>
      <p:ext uri="{BB962C8B-B14F-4D97-AF65-F5344CB8AC3E}">
        <p14:creationId xmlns:p14="http://schemas.microsoft.com/office/powerpoint/2010/main" val="25681412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C94CD54-C202-4E10-9632-EE367232B674}" type="datetime1">
              <a:rPr lang="en-ZA" smtClean="0"/>
              <a:t>2023/03/22</a:t>
            </a:fld>
            <a:endParaRPr lang="en-ZA"/>
          </a:p>
        </p:txBody>
      </p:sp>
      <p:sp>
        <p:nvSpPr>
          <p:cNvPr id="8" name="Footer Placeholder 7"/>
          <p:cNvSpPr>
            <a:spLocks noGrp="1"/>
          </p:cNvSpPr>
          <p:nvPr>
            <p:ph type="ftr" sz="quarter" idx="11"/>
          </p:nvPr>
        </p:nvSpPr>
        <p:spPr/>
        <p:txBody>
          <a:bodyPr/>
          <a:lstStyle/>
          <a:p>
            <a:r>
              <a:rPr lang="en-ZA"/>
              <a:t>Dr Alveen Singh - RESK401</a:t>
            </a:r>
          </a:p>
        </p:txBody>
      </p:sp>
      <p:sp>
        <p:nvSpPr>
          <p:cNvPr id="9" name="Slide Number Placeholder 8"/>
          <p:cNvSpPr>
            <a:spLocks noGrp="1"/>
          </p:cNvSpPr>
          <p:nvPr>
            <p:ph type="sldNum" sz="quarter" idx="12"/>
          </p:nvPr>
        </p:nvSpPr>
        <p:spPr/>
        <p:txBody>
          <a:bodyPr/>
          <a:lstStyle/>
          <a:p>
            <a:fld id="{F9D8934E-928E-4C38-807A-CB32A0A7C43F}" type="slidenum">
              <a:rPr lang="en-ZA" smtClean="0"/>
              <a:t>‹#›</a:t>
            </a:fld>
            <a:endParaRPr lang="en-ZA"/>
          </a:p>
        </p:txBody>
      </p:sp>
    </p:spTree>
    <p:extLst>
      <p:ext uri="{BB962C8B-B14F-4D97-AF65-F5344CB8AC3E}">
        <p14:creationId xmlns:p14="http://schemas.microsoft.com/office/powerpoint/2010/main" val="26572428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74098AD-6A00-4BF4-9F09-1F02FC00E10D}" type="datetime1">
              <a:rPr lang="en-ZA" smtClean="0"/>
              <a:t>2023/03/22</a:t>
            </a:fld>
            <a:endParaRPr lang="en-ZA"/>
          </a:p>
        </p:txBody>
      </p:sp>
      <p:sp>
        <p:nvSpPr>
          <p:cNvPr id="4" name="Footer Placeholder 3"/>
          <p:cNvSpPr>
            <a:spLocks noGrp="1"/>
          </p:cNvSpPr>
          <p:nvPr>
            <p:ph type="ftr" sz="quarter" idx="11"/>
          </p:nvPr>
        </p:nvSpPr>
        <p:spPr/>
        <p:txBody>
          <a:bodyPr/>
          <a:lstStyle/>
          <a:p>
            <a:r>
              <a:rPr lang="en-ZA"/>
              <a:t>Dr Alveen Singh - RESK401</a:t>
            </a:r>
          </a:p>
        </p:txBody>
      </p:sp>
      <p:sp>
        <p:nvSpPr>
          <p:cNvPr id="5" name="Slide Number Placeholder 4"/>
          <p:cNvSpPr>
            <a:spLocks noGrp="1"/>
          </p:cNvSpPr>
          <p:nvPr>
            <p:ph type="sldNum" sz="quarter" idx="12"/>
          </p:nvPr>
        </p:nvSpPr>
        <p:spPr/>
        <p:txBody>
          <a:bodyPr/>
          <a:lstStyle/>
          <a:p>
            <a:fld id="{F9D8934E-928E-4C38-807A-CB32A0A7C43F}" type="slidenum">
              <a:rPr lang="en-ZA" smtClean="0"/>
              <a:t>‹#›</a:t>
            </a:fld>
            <a:endParaRPr lang="en-ZA"/>
          </a:p>
        </p:txBody>
      </p:sp>
    </p:spTree>
    <p:extLst>
      <p:ext uri="{BB962C8B-B14F-4D97-AF65-F5344CB8AC3E}">
        <p14:creationId xmlns:p14="http://schemas.microsoft.com/office/powerpoint/2010/main" val="30978607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1177CFC-F8DF-442E-98BC-C3B96B653B4C}" type="datetime1">
              <a:rPr lang="en-ZA" smtClean="0"/>
              <a:t>2023/03/22</a:t>
            </a:fld>
            <a:endParaRPr lang="en-ZA"/>
          </a:p>
        </p:txBody>
      </p:sp>
      <p:sp>
        <p:nvSpPr>
          <p:cNvPr id="3" name="Footer Placeholder 2"/>
          <p:cNvSpPr>
            <a:spLocks noGrp="1"/>
          </p:cNvSpPr>
          <p:nvPr>
            <p:ph type="ftr" sz="quarter" idx="11"/>
          </p:nvPr>
        </p:nvSpPr>
        <p:spPr/>
        <p:txBody>
          <a:bodyPr/>
          <a:lstStyle/>
          <a:p>
            <a:r>
              <a:rPr lang="en-ZA"/>
              <a:t>Dr Alveen Singh - RESK401</a:t>
            </a:r>
          </a:p>
        </p:txBody>
      </p:sp>
      <p:sp>
        <p:nvSpPr>
          <p:cNvPr id="4" name="Slide Number Placeholder 3"/>
          <p:cNvSpPr>
            <a:spLocks noGrp="1"/>
          </p:cNvSpPr>
          <p:nvPr>
            <p:ph type="sldNum" sz="quarter" idx="12"/>
          </p:nvPr>
        </p:nvSpPr>
        <p:spPr/>
        <p:txBody>
          <a:bodyPr/>
          <a:lstStyle/>
          <a:p>
            <a:fld id="{F9D8934E-928E-4C38-807A-CB32A0A7C43F}" type="slidenum">
              <a:rPr lang="en-ZA" smtClean="0"/>
              <a:t>‹#›</a:t>
            </a:fld>
            <a:endParaRPr lang="en-ZA"/>
          </a:p>
        </p:txBody>
      </p:sp>
    </p:spTree>
    <p:extLst>
      <p:ext uri="{BB962C8B-B14F-4D97-AF65-F5344CB8AC3E}">
        <p14:creationId xmlns:p14="http://schemas.microsoft.com/office/powerpoint/2010/main" val="22990113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C6418AC0-373E-4BAC-A36F-E4E795319C93}" type="datetime1">
              <a:rPr lang="en-ZA" smtClean="0"/>
              <a:t>2023/03/22</a:t>
            </a:fld>
            <a:endParaRPr lang="en-ZA"/>
          </a:p>
        </p:txBody>
      </p:sp>
      <p:sp>
        <p:nvSpPr>
          <p:cNvPr id="6" name="Footer Placeholder 5"/>
          <p:cNvSpPr>
            <a:spLocks noGrp="1"/>
          </p:cNvSpPr>
          <p:nvPr>
            <p:ph type="ftr" sz="quarter" idx="11"/>
          </p:nvPr>
        </p:nvSpPr>
        <p:spPr/>
        <p:txBody>
          <a:bodyPr/>
          <a:lstStyle/>
          <a:p>
            <a:r>
              <a:rPr lang="en-ZA"/>
              <a:t>Dr Alveen Singh - RESK401</a:t>
            </a:r>
          </a:p>
        </p:txBody>
      </p:sp>
      <p:sp>
        <p:nvSpPr>
          <p:cNvPr id="7" name="Slide Number Placeholder 6"/>
          <p:cNvSpPr>
            <a:spLocks noGrp="1"/>
          </p:cNvSpPr>
          <p:nvPr>
            <p:ph type="sldNum" sz="quarter" idx="12"/>
          </p:nvPr>
        </p:nvSpPr>
        <p:spPr/>
        <p:txBody>
          <a:bodyPr/>
          <a:lstStyle/>
          <a:p>
            <a:fld id="{F9D8934E-928E-4C38-807A-CB32A0A7C43F}" type="slidenum">
              <a:rPr lang="en-ZA" smtClean="0"/>
              <a:t>‹#›</a:t>
            </a:fld>
            <a:endParaRPr lang="en-ZA"/>
          </a:p>
        </p:txBody>
      </p:sp>
    </p:spTree>
    <p:extLst>
      <p:ext uri="{BB962C8B-B14F-4D97-AF65-F5344CB8AC3E}">
        <p14:creationId xmlns:p14="http://schemas.microsoft.com/office/powerpoint/2010/main" val="6007480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E190C7A3-CFC2-4391-AF14-4F324194227F}" type="datetime1">
              <a:rPr lang="en-ZA" smtClean="0"/>
              <a:t>2023/03/22</a:t>
            </a:fld>
            <a:endParaRPr lang="en-ZA"/>
          </a:p>
        </p:txBody>
      </p:sp>
      <p:sp>
        <p:nvSpPr>
          <p:cNvPr id="6" name="Footer Placeholder 5"/>
          <p:cNvSpPr>
            <a:spLocks noGrp="1"/>
          </p:cNvSpPr>
          <p:nvPr>
            <p:ph type="ftr" sz="quarter" idx="11"/>
          </p:nvPr>
        </p:nvSpPr>
        <p:spPr/>
        <p:txBody>
          <a:bodyPr/>
          <a:lstStyle/>
          <a:p>
            <a:r>
              <a:rPr lang="en-ZA"/>
              <a:t>Dr Alveen Singh - RESK401</a:t>
            </a:r>
          </a:p>
        </p:txBody>
      </p:sp>
      <p:sp>
        <p:nvSpPr>
          <p:cNvPr id="7" name="Slide Number Placeholder 6"/>
          <p:cNvSpPr>
            <a:spLocks noGrp="1"/>
          </p:cNvSpPr>
          <p:nvPr>
            <p:ph type="sldNum" sz="quarter" idx="12"/>
          </p:nvPr>
        </p:nvSpPr>
        <p:spPr/>
        <p:txBody>
          <a:bodyPr/>
          <a:lstStyle/>
          <a:p>
            <a:fld id="{F9D8934E-928E-4C38-807A-CB32A0A7C43F}" type="slidenum">
              <a:rPr lang="en-ZA" smtClean="0"/>
              <a:t>‹#›</a:t>
            </a:fld>
            <a:endParaRPr lang="en-ZA"/>
          </a:p>
        </p:txBody>
      </p:sp>
    </p:spTree>
    <p:extLst>
      <p:ext uri="{BB962C8B-B14F-4D97-AF65-F5344CB8AC3E}">
        <p14:creationId xmlns:p14="http://schemas.microsoft.com/office/powerpoint/2010/main" val="3726297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C2860D5C-2217-4FAB-8398-FE5D7DD30469}" type="datetime1">
              <a:rPr lang="en-ZA" smtClean="0"/>
              <a:t>2023/03/22</a:t>
            </a:fld>
            <a:endParaRPr lang="en-ZA"/>
          </a:p>
        </p:txBody>
      </p:sp>
      <p:sp>
        <p:nvSpPr>
          <p:cNvPr id="6" name="Footer Placeholder 5"/>
          <p:cNvSpPr>
            <a:spLocks noGrp="1"/>
          </p:cNvSpPr>
          <p:nvPr>
            <p:ph type="ftr" sz="quarter" idx="11"/>
          </p:nvPr>
        </p:nvSpPr>
        <p:spPr/>
        <p:txBody>
          <a:bodyPr/>
          <a:lstStyle/>
          <a:p>
            <a:r>
              <a:rPr lang="en-ZA"/>
              <a:t>Dr Alveen Singh - RESK401</a:t>
            </a:r>
          </a:p>
        </p:txBody>
      </p:sp>
      <p:sp>
        <p:nvSpPr>
          <p:cNvPr id="7" name="Slide Number Placeholder 6"/>
          <p:cNvSpPr>
            <a:spLocks noGrp="1"/>
          </p:cNvSpPr>
          <p:nvPr>
            <p:ph type="sldNum" sz="quarter" idx="12"/>
          </p:nvPr>
        </p:nvSpPr>
        <p:spPr/>
        <p:txBody>
          <a:bodyPr/>
          <a:lstStyle/>
          <a:p>
            <a:fld id="{F9D8934E-928E-4C38-807A-CB32A0A7C43F}" type="slidenum">
              <a:rPr lang="en-ZA" smtClean="0"/>
              <a:t>‹#›</a:t>
            </a:fld>
            <a:endParaRPr lang="en-ZA"/>
          </a:p>
        </p:txBody>
      </p:sp>
    </p:spTree>
    <p:extLst>
      <p:ext uri="{BB962C8B-B14F-4D97-AF65-F5344CB8AC3E}">
        <p14:creationId xmlns:p14="http://schemas.microsoft.com/office/powerpoint/2010/main" val="23803695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D886ED3-3441-4D02-848C-DE94BFF8E30F}" type="datetime1">
              <a:rPr lang="en-ZA" smtClean="0"/>
              <a:t>2023/03/22</a:t>
            </a:fld>
            <a:endParaRPr lang="en-ZA"/>
          </a:p>
        </p:txBody>
      </p:sp>
      <p:sp>
        <p:nvSpPr>
          <p:cNvPr id="5" name="Footer Placeholder 4"/>
          <p:cNvSpPr>
            <a:spLocks noGrp="1"/>
          </p:cNvSpPr>
          <p:nvPr>
            <p:ph type="ftr" sz="quarter" idx="11"/>
          </p:nvPr>
        </p:nvSpPr>
        <p:spPr/>
        <p:txBody>
          <a:bodyPr/>
          <a:lstStyle/>
          <a:p>
            <a:r>
              <a:rPr lang="en-ZA"/>
              <a:t>Dr Alveen Singh - RESK401</a:t>
            </a:r>
          </a:p>
        </p:txBody>
      </p:sp>
      <p:sp>
        <p:nvSpPr>
          <p:cNvPr id="6" name="Slide Number Placeholder 5"/>
          <p:cNvSpPr>
            <a:spLocks noGrp="1"/>
          </p:cNvSpPr>
          <p:nvPr>
            <p:ph type="sldNum" sz="quarter" idx="12"/>
          </p:nvPr>
        </p:nvSpPr>
        <p:spPr/>
        <p:txBody>
          <a:bodyPr/>
          <a:lstStyle/>
          <a:p>
            <a:fld id="{F9D8934E-928E-4C38-807A-CB32A0A7C43F}" type="slidenum">
              <a:rPr lang="en-ZA" smtClean="0"/>
              <a:t>‹#›</a:t>
            </a:fld>
            <a:endParaRPr lang="en-ZA"/>
          </a:p>
        </p:txBody>
      </p:sp>
    </p:spTree>
    <p:extLst>
      <p:ext uri="{BB962C8B-B14F-4D97-AF65-F5344CB8AC3E}">
        <p14:creationId xmlns:p14="http://schemas.microsoft.com/office/powerpoint/2010/main" val="15823515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9C7E6D3-5419-44E6-9E8A-103A113CB10E}" type="datetime1">
              <a:rPr lang="en-ZA" smtClean="0"/>
              <a:t>2023/03/22</a:t>
            </a:fld>
            <a:endParaRPr lang="en-ZA"/>
          </a:p>
        </p:txBody>
      </p:sp>
      <p:sp>
        <p:nvSpPr>
          <p:cNvPr id="5" name="Footer Placeholder 4"/>
          <p:cNvSpPr>
            <a:spLocks noGrp="1"/>
          </p:cNvSpPr>
          <p:nvPr>
            <p:ph type="ftr" sz="quarter" idx="11"/>
          </p:nvPr>
        </p:nvSpPr>
        <p:spPr/>
        <p:txBody>
          <a:bodyPr/>
          <a:lstStyle/>
          <a:p>
            <a:r>
              <a:rPr lang="en-ZA"/>
              <a:t>Dr Alveen Singh - RESK401</a:t>
            </a:r>
          </a:p>
        </p:txBody>
      </p:sp>
      <p:sp>
        <p:nvSpPr>
          <p:cNvPr id="6" name="Slide Number Placeholder 5"/>
          <p:cNvSpPr>
            <a:spLocks noGrp="1"/>
          </p:cNvSpPr>
          <p:nvPr>
            <p:ph type="sldNum" sz="quarter" idx="12"/>
          </p:nvPr>
        </p:nvSpPr>
        <p:spPr/>
        <p:txBody>
          <a:bodyPr/>
          <a:lstStyle/>
          <a:p>
            <a:fld id="{F9D8934E-928E-4C38-807A-CB32A0A7C43F}" type="slidenum">
              <a:rPr lang="en-ZA" smtClean="0"/>
              <a:t>‹#›</a:t>
            </a:fld>
            <a:endParaRPr lang="en-ZA"/>
          </a:p>
        </p:txBody>
      </p:sp>
    </p:spTree>
    <p:extLst>
      <p:ext uri="{BB962C8B-B14F-4D97-AF65-F5344CB8AC3E}">
        <p14:creationId xmlns:p14="http://schemas.microsoft.com/office/powerpoint/2010/main" val="39130209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25EDA11-5E50-4458-9296-C75928ECEA86}" type="datetime1">
              <a:rPr lang="en-ZA" smtClean="0"/>
              <a:t>2023/03/22</a:t>
            </a:fld>
            <a:endParaRPr lang="en-ZA"/>
          </a:p>
        </p:txBody>
      </p:sp>
      <p:sp>
        <p:nvSpPr>
          <p:cNvPr id="5" name="Footer Placeholder 4"/>
          <p:cNvSpPr>
            <a:spLocks noGrp="1"/>
          </p:cNvSpPr>
          <p:nvPr>
            <p:ph type="ftr" sz="quarter" idx="11"/>
          </p:nvPr>
        </p:nvSpPr>
        <p:spPr/>
        <p:txBody>
          <a:bodyPr/>
          <a:lstStyle/>
          <a:p>
            <a:r>
              <a:rPr lang="en-ZA"/>
              <a:t>Dr Alveen Singh - RESK401</a:t>
            </a:r>
          </a:p>
        </p:txBody>
      </p:sp>
      <p:sp>
        <p:nvSpPr>
          <p:cNvPr id="6" name="Slide Number Placeholder 5"/>
          <p:cNvSpPr>
            <a:spLocks noGrp="1"/>
          </p:cNvSpPr>
          <p:nvPr>
            <p:ph type="sldNum" sz="quarter" idx="12"/>
          </p:nvPr>
        </p:nvSpPr>
        <p:spPr/>
        <p:txBody>
          <a:bodyPr/>
          <a:lstStyle/>
          <a:p>
            <a:fld id="{F9D8934E-928E-4C38-807A-CB32A0A7C43F}" type="slidenum">
              <a:rPr lang="en-ZA" smtClean="0"/>
              <a:t>‹#›</a:t>
            </a:fld>
            <a:endParaRPr lang="en-ZA"/>
          </a:p>
        </p:txBody>
      </p:sp>
    </p:spTree>
    <p:extLst>
      <p:ext uri="{BB962C8B-B14F-4D97-AF65-F5344CB8AC3E}">
        <p14:creationId xmlns:p14="http://schemas.microsoft.com/office/powerpoint/2010/main" val="33327880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44AC932-A401-43F3-BB40-AACC3A714392}" type="datetime1">
              <a:rPr lang="en-ZA" smtClean="0"/>
              <a:t>2023/03/22</a:t>
            </a:fld>
            <a:endParaRPr lang="en-ZA"/>
          </a:p>
        </p:txBody>
      </p:sp>
      <p:sp>
        <p:nvSpPr>
          <p:cNvPr id="5" name="Footer Placeholder 4"/>
          <p:cNvSpPr>
            <a:spLocks noGrp="1"/>
          </p:cNvSpPr>
          <p:nvPr>
            <p:ph type="ftr" sz="quarter" idx="11"/>
          </p:nvPr>
        </p:nvSpPr>
        <p:spPr/>
        <p:txBody>
          <a:bodyPr/>
          <a:lstStyle/>
          <a:p>
            <a:r>
              <a:rPr lang="en-ZA"/>
              <a:t>Dr Alveen Singh - RESK401</a:t>
            </a:r>
          </a:p>
        </p:txBody>
      </p:sp>
      <p:sp>
        <p:nvSpPr>
          <p:cNvPr id="6" name="Slide Number Placeholder 5"/>
          <p:cNvSpPr>
            <a:spLocks noGrp="1"/>
          </p:cNvSpPr>
          <p:nvPr>
            <p:ph type="sldNum" sz="quarter" idx="12"/>
          </p:nvPr>
        </p:nvSpPr>
        <p:spPr/>
        <p:txBody>
          <a:bodyPr/>
          <a:lstStyle/>
          <a:p>
            <a:fld id="{F9D8934E-928E-4C38-807A-CB32A0A7C43F}" type="slidenum">
              <a:rPr lang="en-ZA" smtClean="0"/>
              <a:t>‹#›</a:t>
            </a:fld>
            <a:endParaRPr lang="en-ZA"/>
          </a:p>
        </p:txBody>
      </p:sp>
    </p:spTree>
    <p:extLst>
      <p:ext uri="{BB962C8B-B14F-4D97-AF65-F5344CB8AC3E}">
        <p14:creationId xmlns:p14="http://schemas.microsoft.com/office/powerpoint/2010/main" val="17572516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88913BB-BF34-49D2-84B3-E0507B11F7B6}" type="datetime1">
              <a:rPr lang="en-ZA" smtClean="0"/>
              <a:t>2023/03/22</a:t>
            </a:fld>
            <a:endParaRPr lang="en-ZA"/>
          </a:p>
        </p:txBody>
      </p:sp>
      <p:sp>
        <p:nvSpPr>
          <p:cNvPr id="5" name="Footer Placeholder 4"/>
          <p:cNvSpPr>
            <a:spLocks noGrp="1"/>
          </p:cNvSpPr>
          <p:nvPr>
            <p:ph type="ftr" sz="quarter" idx="11"/>
          </p:nvPr>
        </p:nvSpPr>
        <p:spPr/>
        <p:txBody>
          <a:bodyPr/>
          <a:lstStyle/>
          <a:p>
            <a:r>
              <a:rPr lang="en-ZA"/>
              <a:t>Dr Alveen Singh - RESK401</a:t>
            </a:r>
          </a:p>
        </p:txBody>
      </p:sp>
      <p:sp>
        <p:nvSpPr>
          <p:cNvPr id="6" name="Slide Number Placeholder 5"/>
          <p:cNvSpPr>
            <a:spLocks noGrp="1"/>
          </p:cNvSpPr>
          <p:nvPr>
            <p:ph type="sldNum" sz="quarter" idx="12"/>
          </p:nvPr>
        </p:nvSpPr>
        <p:spPr/>
        <p:txBody>
          <a:bodyPr/>
          <a:lstStyle/>
          <a:p>
            <a:fld id="{F9D8934E-928E-4C38-807A-CB32A0A7C43F}" type="slidenum">
              <a:rPr lang="en-ZA" smtClean="0"/>
              <a:t>‹#›</a:t>
            </a:fld>
            <a:endParaRPr lang="en-ZA"/>
          </a:p>
        </p:txBody>
      </p:sp>
    </p:spTree>
    <p:extLst>
      <p:ext uri="{BB962C8B-B14F-4D97-AF65-F5344CB8AC3E}">
        <p14:creationId xmlns:p14="http://schemas.microsoft.com/office/powerpoint/2010/main" val="8567558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F921C14-82A8-4F43-86B6-D75933C939B0}" type="datetime1">
              <a:rPr lang="en-ZA" smtClean="0"/>
              <a:t>2023/03/22</a:t>
            </a:fld>
            <a:endParaRPr lang="en-ZA"/>
          </a:p>
        </p:txBody>
      </p:sp>
      <p:sp>
        <p:nvSpPr>
          <p:cNvPr id="5" name="Footer Placeholder 4"/>
          <p:cNvSpPr>
            <a:spLocks noGrp="1"/>
          </p:cNvSpPr>
          <p:nvPr>
            <p:ph type="ftr" sz="quarter" idx="11"/>
          </p:nvPr>
        </p:nvSpPr>
        <p:spPr/>
        <p:txBody>
          <a:bodyPr/>
          <a:lstStyle/>
          <a:p>
            <a:r>
              <a:rPr lang="en-ZA"/>
              <a:t>Dr Alveen Singh - RESK401</a:t>
            </a:r>
          </a:p>
        </p:txBody>
      </p:sp>
      <p:sp>
        <p:nvSpPr>
          <p:cNvPr id="6" name="Slide Number Placeholder 5"/>
          <p:cNvSpPr>
            <a:spLocks noGrp="1"/>
          </p:cNvSpPr>
          <p:nvPr>
            <p:ph type="sldNum" sz="quarter" idx="12"/>
          </p:nvPr>
        </p:nvSpPr>
        <p:spPr/>
        <p:txBody>
          <a:bodyPr/>
          <a:lstStyle/>
          <a:p>
            <a:fld id="{F9D8934E-928E-4C38-807A-CB32A0A7C43F}" type="slidenum">
              <a:rPr lang="en-ZA" smtClean="0"/>
              <a:t>‹#›</a:t>
            </a:fld>
            <a:endParaRPr lang="en-ZA"/>
          </a:p>
        </p:txBody>
      </p:sp>
    </p:spTree>
    <p:extLst>
      <p:ext uri="{BB962C8B-B14F-4D97-AF65-F5344CB8AC3E}">
        <p14:creationId xmlns:p14="http://schemas.microsoft.com/office/powerpoint/2010/main" val="18468372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E708CD3-F4E3-4C04-B5D9-FA4AC2671E39}" type="datetime1">
              <a:rPr lang="en-ZA" smtClean="0"/>
              <a:t>2023/03/22</a:t>
            </a:fld>
            <a:endParaRPr lang="en-ZA"/>
          </a:p>
        </p:txBody>
      </p:sp>
      <p:sp>
        <p:nvSpPr>
          <p:cNvPr id="5" name="Footer Placeholder 4"/>
          <p:cNvSpPr>
            <a:spLocks noGrp="1"/>
          </p:cNvSpPr>
          <p:nvPr>
            <p:ph type="ftr" sz="quarter" idx="11"/>
          </p:nvPr>
        </p:nvSpPr>
        <p:spPr/>
        <p:txBody>
          <a:bodyPr/>
          <a:lstStyle/>
          <a:p>
            <a:r>
              <a:rPr lang="en-ZA"/>
              <a:t>Dr Alveen Singh - RESK401</a:t>
            </a:r>
          </a:p>
        </p:txBody>
      </p:sp>
      <p:sp>
        <p:nvSpPr>
          <p:cNvPr id="6" name="Slide Number Placeholder 5"/>
          <p:cNvSpPr>
            <a:spLocks noGrp="1"/>
          </p:cNvSpPr>
          <p:nvPr>
            <p:ph type="sldNum" sz="quarter" idx="12"/>
          </p:nvPr>
        </p:nvSpPr>
        <p:spPr/>
        <p:txBody>
          <a:bodyPr/>
          <a:lstStyle/>
          <a:p>
            <a:fld id="{F9D8934E-928E-4C38-807A-CB32A0A7C43F}" type="slidenum">
              <a:rPr lang="en-ZA" smtClean="0"/>
              <a:t>‹#›</a:t>
            </a:fld>
            <a:endParaRPr lang="en-ZA"/>
          </a:p>
        </p:txBody>
      </p:sp>
    </p:spTree>
    <p:extLst>
      <p:ext uri="{BB962C8B-B14F-4D97-AF65-F5344CB8AC3E}">
        <p14:creationId xmlns:p14="http://schemas.microsoft.com/office/powerpoint/2010/main" val="19754767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947FBA03-4EA9-4F32-9BCC-3541D6367CD2}" type="datetime1">
              <a:rPr lang="en-ZA" smtClean="0"/>
              <a:t>2023/03/22</a:t>
            </a:fld>
            <a:endParaRPr lang="en-ZA"/>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r>
              <a:rPr lang="en-ZA"/>
              <a:t>Dr Alveen Singh - RESK401</a:t>
            </a:r>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F9D8934E-928E-4C38-807A-CB32A0A7C43F}" type="slidenum">
              <a:rPr lang="en-ZA" smtClean="0"/>
              <a:t>‹#›</a:t>
            </a:fld>
            <a:endParaRPr lang="en-ZA"/>
          </a:p>
        </p:txBody>
      </p:sp>
    </p:spTree>
    <p:extLst>
      <p:ext uri="{BB962C8B-B14F-4D97-AF65-F5344CB8AC3E}">
        <p14:creationId xmlns:p14="http://schemas.microsoft.com/office/powerpoint/2010/main" val="15926191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hf hdr="0" dt="0"/>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jpeg"/><Relationship Id="rId2" Type="http://schemas.openxmlformats.org/officeDocument/2006/relationships/image" Target="../media/image13.jpeg"/><Relationship Id="rId1" Type="http://schemas.openxmlformats.org/officeDocument/2006/relationships/slideLayout" Target="../slideLayouts/slideLayout2.xml"/><Relationship Id="rId6" Type="http://schemas.openxmlformats.org/officeDocument/2006/relationships/image" Target="../media/image17.jpeg"/><Relationship Id="rId5" Type="http://schemas.openxmlformats.org/officeDocument/2006/relationships/image" Target="../media/image16.jpeg"/><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worldwidescience.org/topicpages/d/design+science+research.html" TargetMode="External"/><Relationship Id="rId2" Type="http://schemas.openxmlformats.org/officeDocument/2006/relationships/hyperlink" Target="https://researchspace.csir.co.za/dspace/handle/10204/7927"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3.png"/><Relationship Id="rId3" Type="http://schemas.openxmlformats.org/officeDocument/2006/relationships/image" Target="../media/image33.jpeg"/><Relationship Id="rId7" Type="http://schemas.openxmlformats.org/officeDocument/2006/relationships/image" Target="../media/image37.jpeg"/><Relationship Id="rId12" Type="http://schemas.openxmlformats.org/officeDocument/2006/relationships/image" Target="../media/image42.png"/><Relationship Id="rId2" Type="http://schemas.openxmlformats.org/officeDocument/2006/relationships/image" Target="../media/image18.jpeg"/><Relationship Id="rId1" Type="http://schemas.openxmlformats.org/officeDocument/2006/relationships/slideLayout" Target="../slideLayouts/slideLayout2.xml"/><Relationship Id="rId6" Type="http://schemas.openxmlformats.org/officeDocument/2006/relationships/image" Target="../media/image36.png"/><Relationship Id="rId11" Type="http://schemas.openxmlformats.org/officeDocument/2006/relationships/image" Target="../media/image41.png"/><Relationship Id="rId5" Type="http://schemas.openxmlformats.org/officeDocument/2006/relationships/image" Target="../media/image35.jpeg"/><Relationship Id="rId10" Type="http://schemas.openxmlformats.org/officeDocument/2006/relationships/image" Target="../media/image40.png"/><Relationship Id="rId4" Type="http://schemas.openxmlformats.org/officeDocument/2006/relationships/image" Target="../media/image34.jpeg"/><Relationship Id="rId9" Type="http://schemas.openxmlformats.org/officeDocument/2006/relationships/image" Target="../media/image3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hyperlink" Target="mailto:alveens@dut.ac.za"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Research strategy</a:t>
            </a:r>
            <a:endParaRPr lang="en-ZA" sz="3200" dirty="0"/>
          </a:p>
        </p:txBody>
      </p:sp>
      <p:sp>
        <p:nvSpPr>
          <p:cNvPr id="3" name="Subtitle 2"/>
          <p:cNvSpPr>
            <a:spLocks noGrp="1"/>
          </p:cNvSpPr>
          <p:nvPr>
            <p:ph type="subTitle" idx="1"/>
          </p:nvPr>
        </p:nvSpPr>
        <p:spPr>
          <a:xfrm>
            <a:off x="4639202" y="4314825"/>
            <a:ext cx="6987645" cy="1822451"/>
          </a:xfrm>
        </p:spPr>
        <p:txBody>
          <a:bodyPr>
            <a:normAutofit fontScale="85000" lnSpcReduction="20000"/>
          </a:bodyPr>
          <a:lstStyle/>
          <a:p>
            <a:r>
              <a:rPr lang="en-US" b="1" dirty="0" err="1">
                <a:solidFill>
                  <a:srgbClr val="0070C0"/>
                </a:solidFill>
              </a:rPr>
              <a:t>Dr</a:t>
            </a:r>
            <a:r>
              <a:rPr lang="en-US" b="1" dirty="0">
                <a:solidFill>
                  <a:srgbClr val="0070C0"/>
                </a:solidFill>
              </a:rPr>
              <a:t> Alveen Singh</a:t>
            </a:r>
          </a:p>
          <a:p>
            <a:r>
              <a:rPr lang="en-US" b="1" dirty="0">
                <a:solidFill>
                  <a:srgbClr val="0070C0"/>
                </a:solidFill>
              </a:rPr>
              <a:t>Department of Information Technology</a:t>
            </a:r>
          </a:p>
          <a:p>
            <a:r>
              <a:rPr lang="en-US" b="1" dirty="0">
                <a:solidFill>
                  <a:srgbClr val="0070C0"/>
                </a:solidFill>
              </a:rPr>
              <a:t>Research Skills/Project 3A</a:t>
            </a:r>
          </a:p>
          <a:p>
            <a:r>
              <a:rPr lang="en-US" b="1" dirty="0">
                <a:solidFill>
                  <a:srgbClr val="0070C0"/>
                </a:solidFill>
              </a:rPr>
              <a:t>Adv Dip ICT/B.ICT</a:t>
            </a:r>
          </a:p>
          <a:p>
            <a:r>
              <a:rPr lang="en-US" b="1" dirty="0">
                <a:solidFill>
                  <a:srgbClr val="0070C0"/>
                </a:solidFill>
              </a:rPr>
              <a:t>Semester 1 2023</a:t>
            </a:r>
            <a:endParaRPr lang="en-ZA" b="1" dirty="0">
              <a:solidFill>
                <a:srgbClr val="0070C0"/>
              </a:solidFill>
            </a:endParaRPr>
          </a:p>
        </p:txBody>
      </p:sp>
      <p:pic>
        <p:nvPicPr>
          <p:cNvPr id="5" name="Picture 4" descr="A close up of a sign&#10;&#10;Description automatically generated"/>
          <p:cNvPicPr/>
          <p:nvPr/>
        </p:nvPicPr>
        <p:blipFill>
          <a:blip r:embed="rId2">
            <a:extLst>
              <a:ext uri="{28A0092B-C50C-407E-A947-70E740481C1C}">
                <a14:useLocalDpi xmlns:a14="http://schemas.microsoft.com/office/drawing/2010/main" val="0"/>
              </a:ext>
            </a:extLst>
          </a:blip>
          <a:stretch>
            <a:fillRect/>
          </a:stretch>
        </p:blipFill>
        <p:spPr>
          <a:xfrm>
            <a:off x="7410450" y="318611"/>
            <a:ext cx="4503829" cy="1405414"/>
          </a:xfrm>
          <a:prstGeom prst="rect">
            <a:avLst/>
          </a:prstGeom>
        </p:spPr>
      </p:pic>
    </p:spTree>
    <p:extLst>
      <p:ext uri="{BB962C8B-B14F-4D97-AF65-F5344CB8AC3E}">
        <p14:creationId xmlns:p14="http://schemas.microsoft.com/office/powerpoint/2010/main" val="23346178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84310" y="1581151"/>
            <a:ext cx="10018713" cy="4210050"/>
          </a:xfrm>
        </p:spPr>
        <p:txBody>
          <a:bodyPr anchor="t">
            <a:normAutofit/>
          </a:bodyPr>
          <a:lstStyle/>
          <a:p>
            <a:pPr marL="0" indent="0">
              <a:buNone/>
            </a:pPr>
            <a:r>
              <a:rPr lang="en-US" dirty="0">
                <a:latin typeface="Arial Rounded MT Bold" panose="020F0704030504030204" pitchFamily="34" charset="0"/>
              </a:rPr>
              <a:t>Content</a:t>
            </a:r>
          </a:p>
          <a:p>
            <a:pPr marL="457200" indent="-457200">
              <a:buFont typeface="+mj-lt"/>
              <a:buAutoNum type="arabicPeriod"/>
            </a:pPr>
            <a:r>
              <a:rPr lang="en-US" dirty="0">
                <a:latin typeface="Arial Narrow" panose="020B0606020202030204" pitchFamily="34" charset="0"/>
                <a:cs typeface="Arial" panose="020B0604020202020204" pitchFamily="34" charset="0"/>
              </a:rPr>
              <a:t>Introduction</a:t>
            </a:r>
          </a:p>
          <a:p>
            <a:pPr marL="457200" indent="-457200">
              <a:buFont typeface="+mj-lt"/>
              <a:buAutoNum type="arabicPeriod"/>
            </a:pPr>
            <a:r>
              <a:rPr lang="en-US" dirty="0">
                <a:latin typeface="Arial Narrow" panose="020B0606020202030204" pitchFamily="34" charset="0"/>
                <a:cs typeface="Arial" panose="020B0604020202020204" pitchFamily="34" charset="0"/>
              </a:rPr>
              <a:t>Case study</a:t>
            </a:r>
          </a:p>
          <a:p>
            <a:pPr marL="457200" indent="-457200">
              <a:buFont typeface="+mj-lt"/>
              <a:buAutoNum type="arabicPeriod"/>
            </a:pPr>
            <a:r>
              <a:rPr lang="en-US" dirty="0">
                <a:latin typeface="Arial Narrow" panose="020B0606020202030204" pitchFamily="34" charset="0"/>
                <a:cs typeface="Arial" panose="020B0604020202020204" pitchFamily="34" charset="0"/>
              </a:rPr>
              <a:t>Survey</a:t>
            </a:r>
          </a:p>
          <a:p>
            <a:pPr marL="457200" indent="-457200">
              <a:buFont typeface="+mj-lt"/>
              <a:buAutoNum type="arabicPeriod"/>
            </a:pPr>
            <a:r>
              <a:rPr lang="en-US" dirty="0">
                <a:latin typeface="Arial Narrow" panose="020B0606020202030204" pitchFamily="34" charset="0"/>
                <a:cs typeface="Arial" panose="020B0604020202020204" pitchFamily="34" charset="0"/>
              </a:rPr>
              <a:t>Design Research</a:t>
            </a:r>
          </a:p>
          <a:p>
            <a:pPr marL="457200" indent="-457200">
              <a:buFont typeface="+mj-lt"/>
              <a:buAutoNum type="arabicPeriod"/>
            </a:pPr>
            <a:r>
              <a:rPr lang="en-US" dirty="0">
                <a:latin typeface="Arial Narrow" panose="020B0606020202030204" pitchFamily="34" charset="0"/>
                <a:cs typeface="Arial" panose="020B0604020202020204" pitchFamily="34" charset="0"/>
              </a:rPr>
              <a:t>Experiment</a:t>
            </a:r>
          </a:p>
          <a:p>
            <a:pPr marL="0" indent="0">
              <a:buNone/>
            </a:pPr>
            <a:endParaRPr lang="en-US" dirty="0">
              <a:latin typeface="Arial Narrow" panose="020B0606020202030204" pitchFamily="34" charset="0"/>
              <a:cs typeface="Arial" panose="020B0604020202020204" pitchFamily="34" charset="0"/>
            </a:endParaRPr>
          </a:p>
        </p:txBody>
      </p:sp>
      <p:sp>
        <p:nvSpPr>
          <p:cNvPr id="2" name="Footer Placeholder 1"/>
          <p:cNvSpPr>
            <a:spLocks noGrp="1"/>
          </p:cNvSpPr>
          <p:nvPr>
            <p:ph type="ftr" sz="quarter" idx="11"/>
          </p:nvPr>
        </p:nvSpPr>
        <p:spPr/>
        <p:txBody>
          <a:bodyPr/>
          <a:lstStyle/>
          <a:p>
            <a:r>
              <a:rPr lang="en-US" dirty="0"/>
              <a:t>Dr Alveen Singh - RESK401/PRJA301</a:t>
            </a:r>
            <a:endParaRPr lang="en-ZA" dirty="0"/>
          </a:p>
        </p:txBody>
      </p:sp>
      <p:sp>
        <p:nvSpPr>
          <p:cNvPr id="4" name="Slide Number Placeholder 3"/>
          <p:cNvSpPr>
            <a:spLocks noGrp="1"/>
          </p:cNvSpPr>
          <p:nvPr>
            <p:ph type="sldNum" sz="quarter" idx="12"/>
          </p:nvPr>
        </p:nvSpPr>
        <p:spPr/>
        <p:txBody>
          <a:bodyPr/>
          <a:lstStyle/>
          <a:p>
            <a:fld id="{F9D8934E-928E-4C38-807A-CB32A0A7C43F}" type="slidenum">
              <a:rPr lang="en-ZA" smtClean="0"/>
              <a:t>2</a:t>
            </a:fld>
            <a:endParaRPr lang="en-ZA"/>
          </a:p>
        </p:txBody>
      </p:sp>
    </p:spTree>
    <p:extLst>
      <p:ext uri="{BB962C8B-B14F-4D97-AF65-F5344CB8AC3E}">
        <p14:creationId xmlns:p14="http://schemas.microsoft.com/office/powerpoint/2010/main" val="30290390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Narrow" panose="020B0606020202030204" pitchFamily="34" charset="0"/>
              </a:rPr>
              <a:t>Introduction</a:t>
            </a:r>
            <a:endParaRPr lang="en-ZA" dirty="0">
              <a:latin typeface="Arial Narrow" panose="020B0606020202030204" pitchFamily="34" charset="0"/>
            </a:endParaRPr>
          </a:p>
        </p:txBody>
      </p:sp>
      <p:sp>
        <p:nvSpPr>
          <p:cNvPr id="3" name="Content Placeholder 2"/>
          <p:cNvSpPr>
            <a:spLocks noGrp="1"/>
          </p:cNvSpPr>
          <p:nvPr>
            <p:ph idx="1"/>
          </p:nvPr>
        </p:nvSpPr>
        <p:spPr>
          <a:xfrm>
            <a:off x="1484310" y="2211977"/>
            <a:ext cx="10018713" cy="3579223"/>
          </a:xfrm>
        </p:spPr>
        <p:txBody>
          <a:bodyPr anchor="t"/>
          <a:lstStyle/>
          <a:p>
            <a:r>
              <a:rPr lang="en-US" dirty="0">
                <a:latin typeface="Arial Narrow" panose="020B0606020202030204" pitchFamily="34" charset="0"/>
              </a:rPr>
              <a:t>The research strategy outlines the plan for the research. </a:t>
            </a:r>
          </a:p>
          <a:p>
            <a:r>
              <a:rPr lang="en-US" dirty="0">
                <a:latin typeface="Arial Narrow" panose="020B0606020202030204" pitchFamily="34" charset="0"/>
              </a:rPr>
              <a:t>The strategy will guide the creation of objectives, data collection and data analysis. </a:t>
            </a:r>
            <a:endParaRPr lang="en-ZA" dirty="0">
              <a:latin typeface="Arial Narrow" panose="020B0606020202030204" pitchFamily="34" charset="0"/>
            </a:endParaRPr>
          </a:p>
        </p:txBody>
      </p:sp>
      <p:sp>
        <p:nvSpPr>
          <p:cNvPr id="4" name="Footer Placeholder 3"/>
          <p:cNvSpPr>
            <a:spLocks noGrp="1"/>
          </p:cNvSpPr>
          <p:nvPr>
            <p:ph type="ftr" sz="quarter" idx="11"/>
          </p:nvPr>
        </p:nvSpPr>
        <p:spPr/>
        <p:txBody>
          <a:bodyPr/>
          <a:lstStyle/>
          <a:p>
            <a:r>
              <a:rPr lang="en-ZA"/>
              <a:t>Dr Alveen Singh - RESK401</a:t>
            </a:r>
          </a:p>
        </p:txBody>
      </p:sp>
      <p:sp>
        <p:nvSpPr>
          <p:cNvPr id="5" name="Slide Number Placeholder 4"/>
          <p:cNvSpPr>
            <a:spLocks noGrp="1"/>
          </p:cNvSpPr>
          <p:nvPr>
            <p:ph type="sldNum" sz="quarter" idx="12"/>
          </p:nvPr>
        </p:nvSpPr>
        <p:spPr/>
        <p:txBody>
          <a:bodyPr/>
          <a:lstStyle/>
          <a:p>
            <a:fld id="{F9D8934E-928E-4C38-807A-CB32A0A7C43F}" type="slidenum">
              <a:rPr lang="en-ZA" smtClean="0"/>
              <a:t>3</a:t>
            </a:fld>
            <a:endParaRPr lang="en-ZA"/>
          </a:p>
        </p:txBody>
      </p:sp>
    </p:spTree>
    <p:extLst>
      <p:ext uri="{BB962C8B-B14F-4D97-AF65-F5344CB8AC3E}">
        <p14:creationId xmlns:p14="http://schemas.microsoft.com/office/powerpoint/2010/main" val="4660608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84310" y="1088571"/>
            <a:ext cx="10018713" cy="4702629"/>
          </a:xfrm>
        </p:spPr>
        <p:txBody>
          <a:bodyPr anchor="t"/>
          <a:lstStyle/>
          <a:p>
            <a:r>
              <a:rPr lang="en-US" dirty="0">
                <a:latin typeface="Arial Narrow" panose="020B0606020202030204" pitchFamily="34" charset="0"/>
              </a:rPr>
              <a:t>The choice of strategy is linked to the aim of the research. </a:t>
            </a:r>
          </a:p>
          <a:p>
            <a:endParaRPr lang="en-US" dirty="0">
              <a:latin typeface="Arial Narrow" panose="020B0606020202030204" pitchFamily="34" charset="0"/>
            </a:endParaRPr>
          </a:p>
          <a:p>
            <a:r>
              <a:rPr lang="en-US" dirty="0">
                <a:latin typeface="Arial Narrow" panose="020B0606020202030204" pitchFamily="34" charset="0"/>
              </a:rPr>
              <a:t>For example, should the research aim to develop a new or improved AI algorithm, then </a:t>
            </a:r>
            <a:r>
              <a:rPr lang="en-US" dirty="0">
                <a:solidFill>
                  <a:srgbClr val="FF0000"/>
                </a:solidFill>
                <a:latin typeface="Arial Narrow" panose="020B0606020202030204" pitchFamily="34" charset="0"/>
              </a:rPr>
              <a:t>Design</a:t>
            </a:r>
            <a:r>
              <a:rPr lang="en-US" dirty="0">
                <a:latin typeface="Arial Narrow" panose="020B0606020202030204" pitchFamily="34" charset="0"/>
              </a:rPr>
              <a:t> research would be a more suitable choice than </a:t>
            </a:r>
            <a:r>
              <a:rPr lang="en-US" dirty="0">
                <a:solidFill>
                  <a:srgbClr val="FF0000"/>
                </a:solidFill>
                <a:latin typeface="Arial Narrow" panose="020B0606020202030204" pitchFamily="34" charset="0"/>
              </a:rPr>
              <a:t>Survey</a:t>
            </a:r>
            <a:r>
              <a:rPr lang="en-US" dirty="0">
                <a:latin typeface="Arial Narrow" panose="020B0606020202030204" pitchFamily="34" charset="0"/>
              </a:rPr>
              <a:t>. </a:t>
            </a:r>
          </a:p>
          <a:p>
            <a:endParaRPr lang="en-US" dirty="0">
              <a:latin typeface="Arial Narrow" panose="020B0606020202030204" pitchFamily="34" charset="0"/>
            </a:endParaRPr>
          </a:p>
          <a:p>
            <a:r>
              <a:rPr lang="en-US" dirty="0">
                <a:latin typeface="Arial Narrow" panose="020B0606020202030204" pitchFamily="34" charset="0"/>
              </a:rPr>
              <a:t>If the research aims to understand the practices of a unique software engineering team then a </a:t>
            </a:r>
            <a:r>
              <a:rPr lang="en-US" dirty="0">
                <a:solidFill>
                  <a:srgbClr val="FF0000"/>
                </a:solidFill>
                <a:latin typeface="Arial Narrow" panose="020B0606020202030204" pitchFamily="34" charset="0"/>
              </a:rPr>
              <a:t>Case Study </a:t>
            </a:r>
            <a:r>
              <a:rPr lang="en-US" dirty="0">
                <a:latin typeface="Arial Narrow" panose="020B0606020202030204" pitchFamily="34" charset="0"/>
              </a:rPr>
              <a:t>would be more appropriate than an </a:t>
            </a:r>
            <a:r>
              <a:rPr lang="en-US" dirty="0">
                <a:solidFill>
                  <a:srgbClr val="FF0000"/>
                </a:solidFill>
                <a:latin typeface="Arial Narrow" panose="020B0606020202030204" pitchFamily="34" charset="0"/>
              </a:rPr>
              <a:t>Experiment</a:t>
            </a:r>
            <a:r>
              <a:rPr lang="en-US" dirty="0">
                <a:latin typeface="Arial Narrow" panose="020B0606020202030204" pitchFamily="34" charset="0"/>
              </a:rPr>
              <a:t>. A survey is useful for measuring the attitude of an entire population. </a:t>
            </a:r>
            <a:endParaRPr lang="en-ZA" dirty="0">
              <a:latin typeface="Arial Narrow" panose="020B0606020202030204" pitchFamily="34" charset="0"/>
            </a:endParaRPr>
          </a:p>
        </p:txBody>
      </p:sp>
      <p:sp>
        <p:nvSpPr>
          <p:cNvPr id="4" name="Footer Placeholder 3"/>
          <p:cNvSpPr>
            <a:spLocks noGrp="1"/>
          </p:cNvSpPr>
          <p:nvPr>
            <p:ph type="ftr" sz="quarter" idx="11"/>
          </p:nvPr>
        </p:nvSpPr>
        <p:spPr/>
        <p:txBody>
          <a:bodyPr/>
          <a:lstStyle/>
          <a:p>
            <a:r>
              <a:rPr lang="en-ZA"/>
              <a:t>Dr Alveen Singh - RESK401</a:t>
            </a:r>
          </a:p>
        </p:txBody>
      </p:sp>
      <p:sp>
        <p:nvSpPr>
          <p:cNvPr id="5" name="Slide Number Placeholder 4"/>
          <p:cNvSpPr>
            <a:spLocks noGrp="1"/>
          </p:cNvSpPr>
          <p:nvPr>
            <p:ph type="sldNum" sz="quarter" idx="12"/>
          </p:nvPr>
        </p:nvSpPr>
        <p:spPr/>
        <p:txBody>
          <a:bodyPr/>
          <a:lstStyle/>
          <a:p>
            <a:fld id="{F9D8934E-928E-4C38-807A-CB32A0A7C43F}" type="slidenum">
              <a:rPr lang="en-ZA" smtClean="0"/>
              <a:t>4</a:t>
            </a:fld>
            <a:endParaRPr lang="en-ZA"/>
          </a:p>
        </p:txBody>
      </p:sp>
    </p:spTree>
    <p:extLst>
      <p:ext uri="{BB962C8B-B14F-4D97-AF65-F5344CB8AC3E}">
        <p14:creationId xmlns:p14="http://schemas.microsoft.com/office/powerpoint/2010/main" val="4591638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84310" y="1088571"/>
            <a:ext cx="10018713" cy="4702629"/>
          </a:xfrm>
        </p:spPr>
        <p:txBody>
          <a:bodyPr anchor="t"/>
          <a:lstStyle/>
          <a:p>
            <a:r>
              <a:rPr lang="en-US" dirty="0">
                <a:latin typeface="Arial Narrow" panose="020B0606020202030204" pitchFamily="34" charset="0"/>
              </a:rPr>
              <a:t>For this module we will focus on four popular types in research.</a:t>
            </a:r>
          </a:p>
          <a:p>
            <a:pPr lvl="1"/>
            <a:r>
              <a:rPr lang="en-US" dirty="0">
                <a:latin typeface="Arial Narrow" panose="020B0606020202030204" pitchFamily="34" charset="0"/>
              </a:rPr>
              <a:t>Survey</a:t>
            </a:r>
          </a:p>
          <a:p>
            <a:pPr lvl="1"/>
            <a:r>
              <a:rPr lang="en-US" dirty="0">
                <a:latin typeface="Arial Narrow" panose="020B0606020202030204" pitchFamily="34" charset="0"/>
              </a:rPr>
              <a:t>Case study</a:t>
            </a:r>
          </a:p>
          <a:p>
            <a:pPr lvl="1"/>
            <a:r>
              <a:rPr lang="en-US" dirty="0">
                <a:latin typeface="Arial Narrow" panose="020B0606020202030204" pitchFamily="34" charset="0"/>
              </a:rPr>
              <a:t>Experiment</a:t>
            </a:r>
          </a:p>
          <a:p>
            <a:pPr lvl="1"/>
            <a:r>
              <a:rPr lang="en-US" dirty="0">
                <a:latin typeface="Arial Narrow" panose="020B0606020202030204" pitchFamily="34" charset="0"/>
              </a:rPr>
              <a:t>Design research</a:t>
            </a:r>
            <a:endParaRPr lang="en-ZA" dirty="0">
              <a:latin typeface="Arial Narrow" panose="020B0606020202030204" pitchFamily="34" charset="0"/>
            </a:endParaRPr>
          </a:p>
        </p:txBody>
      </p:sp>
      <p:sp>
        <p:nvSpPr>
          <p:cNvPr id="4" name="Footer Placeholder 3"/>
          <p:cNvSpPr>
            <a:spLocks noGrp="1"/>
          </p:cNvSpPr>
          <p:nvPr>
            <p:ph type="ftr" sz="quarter" idx="11"/>
          </p:nvPr>
        </p:nvSpPr>
        <p:spPr/>
        <p:txBody>
          <a:bodyPr/>
          <a:lstStyle/>
          <a:p>
            <a:r>
              <a:rPr lang="en-ZA"/>
              <a:t>Dr Alveen Singh - RESK401</a:t>
            </a:r>
          </a:p>
        </p:txBody>
      </p:sp>
      <p:sp>
        <p:nvSpPr>
          <p:cNvPr id="5" name="Slide Number Placeholder 4"/>
          <p:cNvSpPr>
            <a:spLocks noGrp="1"/>
          </p:cNvSpPr>
          <p:nvPr>
            <p:ph type="sldNum" sz="quarter" idx="12"/>
          </p:nvPr>
        </p:nvSpPr>
        <p:spPr/>
        <p:txBody>
          <a:bodyPr/>
          <a:lstStyle/>
          <a:p>
            <a:fld id="{F9D8934E-928E-4C38-807A-CB32A0A7C43F}" type="slidenum">
              <a:rPr lang="en-ZA" smtClean="0"/>
              <a:t>5</a:t>
            </a:fld>
            <a:endParaRPr lang="en-ZA"/>
          </a:p>
        </p:txBody>
      </p:sp>
    </p:spTree>
    <p:extLst>
      <p:ext uri="{BB962C8B-B14F-4D97-AF65-F5344CB8AC3E}">
        <p14:creationId xmlns:p14="http://schemas.microsoft.com/office/powerpoint/2010/main" val="11375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Study</a:t>
            </a:r>
            <a:endParaRPr lang="en-ZA" dirty="0"/>
          </a:p>
        </p:txBody>
      </p:sp>
      <p:sp>
        <p:nvSpPr>
          <p:cNvPr id="4" name="Footer Placeholder 3"/>
          <p:cNvSpPr>
            <a:spLocks noGrp="1"/>
          </p:cNvSpPr>
          <p:nvPr>
            <p:ph type="ftr" sz="quarter" idx="11"/>
          </p:nvPr>
        </p:nvSpPr>
        <p:spPr/>
        <p:txBody>
          <a:bodyPr/>
          <a:lstStyle/>
          <a:p>
            <a:r>
              <a:rPr lang="en-ZA"/>
              <a:t>Dr Alveen Singh - RESK401</a:t>
            </a:r>
          </a:p>
        </p:txBody>
      </p:sp>
      <p:sp>
        <p:nvSpPr>
          <p:cNvPr id="5" name="Slide Number Placeholder 4"/>
          <p:cNvSpPr>
            <a:spLocks noGrp="1"/>
          </p:cNvSpPr>
          <p:nvPr>
            <p:ph type="sldNum" sz="quarter" idx="12"/>
          </p:nvPr>
        </p:nvSpPr>
        <p:spPr/>
        <p:txBody>
          <a:bodyPr/>
          <a:lstStyle/>
          <a:p>
            <a:fld id="{F9D8934E-928E-4C38-807A-CB32A0A7C43F}" type="slidenum">
              <a:rPr lang="en-ZA" smtClean="0"/>
              <a:t>6</a:t>
            </a:fld>
            <a:endParaRPr lang="en-ZA"/>
          </a:p>
        </p:txBody>
      </p:sp>
      <p:sp>
        <p:nvSpPr>
          <p:cNvPr id="7" name="Content Placeholder 6"/>
          <p:cNvSpPr>
            <a:spLocks noGrp="1"/>
          </p:cNvSpPr>
          <p:nvPr>
            <p:ph idx="1"/>
          </p:nvPr>
        </p:nvSpPr>
        <p:spPr>
          <a:xfrm>
            <a:off x="1484310" y="2351315"/>
            <a:ext cx="10018713" cy="3439886"/>
          </a:xfrm>
        </p:spPr>
        <p:txBody>
          <a:bodyPr anchor="t"/>
          <a:lstStyle/>
          <a:p>
            <a:r>
              <a:rPr lang="en-US" dirty="0"/>
              <a:t>To understand something that is unique</a:t>
            </a:r>
          </a:p>
          <a:p>
            <a:pPr lvl="1"/>
            <a:r>
              <a:rPr lang="en-US" dirty="0"/>
              <a:t>It could be a strange phenomena</a:t>
            </a:r>
          </a:p>
          <a:p>
            <a:pPr lvl="2"/>
            <a:r>
              <a:rPr lang="en-US" dirty="0"/>
              <a:t>Rural village that produces top computer scientists</a:t>
            </a:r>
          </a:p>
          <a:p>
            <a:pPr lvl="1"/>
            <a:r>
              <a:rPr lang="en-US" dirty="0"/>
              <a:t>Unique business processes or practices</a:t>
            </a:r>
          </a:p>
          <a:p>
            <a:pPr lvl="1"/>
            <a:r>
              <a:rPr lang="en-US" dirty="0"/>
              <a:t>Or an individual or team </a:t>
            </a:r>
            <a:endParaRPr lang="en-ZA" dirty="0"/>
          </a:p>
        </p:txBody>
      </p:sp>
      <p:pic>
        <p:nvPicPr>
          <p:cNvPr id="1028" name="Picture 4" descr="What makes your blog uniqu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90570" y="526868"/>
            <a:ext cx="2857500" cy="16002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p:cNvPicPr>
            <a:picLocks noChangeAspect="1"/>
          </p:cNvPicPr>
          <p:nvPr/>
        </p:nvPicPr>
        <p:blipFill>
          <a:blip r:embed="rId3"/>
          <a:stretch>
            <a:fillRect/>
          </a:stretch>
        </p:blipFill>
        <p:spPr>
          <a:xfrm>
            <a:off x="8995320" y="2514329"/>
            <a:ext cx="3048000" cy="1066800"/>
          </a:xfrm>
          <a:prstGeom prst="rect">
            <a:avLst/>
          </a:prstGeom>
        </p:spPr>
      </p:pic>
      <p:pic>
        <p:nvPicPr>
          <p:cNvPr id="11" name="Picture 10"/>
          <p:cNvPicPr>
            <a:picLocks noChangeAspect="1"/>
          </p:cNvPicPr>
          <p:nvPr/>
        </p:nvPicPr>
        <p:blipFill>
          <a:blip r:embed="rId4"/>
          <a:stretch>
            <a:fillRect/>
          </a:stretch>
        </p:blipFill>
        <p:spPr>
          <a:xfrm>
            <a:off x="9656456" y="3968390"/>
            <a:ext cx="2085975" cy="2190750"/>
          </a:xfrm>
          <a:prstGeom prst="rect">
            <a:avLst/>
          </a:prstGeom>
        </p:spPr>
      </p:pic>
      <p:pic>
        <p:nvPicPr>
          <p:cNvPr id="12" name="Picture 11"/>
          <p:cNvPicPr>
            <a:picLocks noChangeAspect="1"/>
          </p:cNvPicPr>
          <p:nvPr/>
        </p:nvPicPr>
        <p:blipFill>
          <a:blip r:embed="rId5"/>
          <a:stretch>
            <a:fillRect/>
          </a:stretch>
        </p:blipFill>
        <p:spPr>
          <a:xfrm>
            <a:off x="7035798" y="4762091"/>
            <a:ext cx="2381250" cy="1914525"/>
          </a:xfrm>
          <a:prstGeom prst="rect">
            <a:avLst/>
          </a:prstGeom>
        </p:spPr>
      </p:pic>
    </p:spTree>
    <p:extLst>
      <p:ext uri="{BB962C8B-B14F-4D97-AF65-F5344CB8AC3E}">
        <p14:creationId xmlns:p14="http://schemas.microsoft.com/office/powerpoint/2010/main" val="30917740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84310" y="1088571"/>
            <a:ext cx="10018713" cy="4702629"/>
          </a:xfrm>
        </p:spPr>
        <p:txBody>
          <a:bodyPr anchor="t">
            <a:normAutofit/>
          </a:bodyPr>
          <a:lstStyle/>
          <a:p>
            <a:r>
              <a:rPr lang="en-ZA" sz="2000" dirty="0">
                <a:latin typeface="Arial Narrow" panose="020B0606020202030204" pitchFamily="34" charset="0"/>
              </a:rPr>
              <a:t>This single case is studied </a:t>
            </a:r>
            <a:r>
              <a:rPr lang="en-ZA" sz="2000" dirty="0">
                <a:solidFill>
                  <a:srgbClr val="FF0000"/>
                </a:solidFill>
                <a:latin typeface="Arial Narrow" panose="020B0606020202030204" pitchFamily="34" charset="0"/>
              </a:rPr>
              <a:t>in-depth</a:t>
            </a:r>
            <a:r>
              <a:rPr lang="en-ZA" sz="2000" dirty="0">
                <a:latin typeface="Arial Narrow" panose="020B0606020202030204" pitchFamily="34" charset="0"/>
              </a:rPr>
              <a:t> to obtain a rich, detailed insight. </a:t>
            </a:r>
          </a:p>
          <a:p>
            <a:r>
              <a:rPr lang="en-ZA" sz="2000" dirty="0">
                <a:latin typeface="Arial Narrow" panose="020B0606020202030204" pitchFamily="34" charset="0"/>
              </a:rPr>
              <a:t>Data collection techniques can include researcher’s field notes, interviews, observation, document analysis and questionnaires.</a:t>
            </a:r>
          </a:p>
          <a:p>
            <a:r>
              <a:rPr lang="en-US" sz="2000" dirty="0">
                <a:latin typeface="Arial Narrow" panose="020B0606020202030204" pitchFamily="34" charset="0"/>
              </a:rPr>
              <a:t> The case is examined in its </a:t>
            </a:r>
            <a:r>
              <a:rPr lang="en-US" sz="2000" dirty="0">
                <a:solidFill>
                  <a:srgbClr val="FF0000"/>
                </a:solidFill>
                <a:latin typeface="Arial Narrow" panose="020B0606020202030204" pitchFamily="34" charset="0"/>
              </a:rPr>
              <a:t>natural setting</a:t>
            </a:r>
            <a:r>
              <a:rPr lang="en-US" sz="2000" dirty="0">
                <a:latin typeface="Arial Narrow" panose="020B0606020202030204" pitchFamily="34" charset="0"/>
              </a:rPr>
              <a:t>. </a:t>
            </a:r>
          </a:p>
          <a:p>
            <a:pPr lvl="1"/>
            <a:r>
              <a:rPr lang="en-US" sz="1600" dirty="0">
                <a:latin typeface="Arial Narrow" panose="020B0606020202030204" pitchFamily="34" charset="0"/>
              </a:rPr>
              <a:t>A simulated environment may not result in accurate data collection</a:t>
            </a:r>
          </a:p>
          <a:p>
            <a:r>
              <a:rPr lang="en-US" sz="2000" dirty="0">
                <a:latin typeface="Arial Narrow" panose="020B0606020202030204" pitchFamily="34" charset="0"/>
              </a:rPr>
              <a:t>The researcher tries to understand interfaces, connections and linkages that lead to the complex relationships and processes. </a:t>
            </a:r>
          </a:p>
          <a:p>
            <a:r>
              <a:rPr lang="en-US" sz="2000" dirty="0">
                <a:latin typeface="Arial Narrow" panose="020B0606020202030204" pitchFamily="34" charset="0"/>
              </a:rPr>
              <a:t>There are multiple sources of data and methods for collection to obtain </a:t>
            </a:r>
            <a:r>
              <a:rPr lang="en-US" sz="2000" dirty="0">
                <a:solidFill>
                  <a:srgbClr val="FF0000"/>
                </a:solidFill>
                <a:latin typeface="Arial Narrow" panose="020B0606020202030204" pitchFamily="34" charset="0"/>
              </a:rPr>
              <a:t>multiple perspectives</a:t>
            </a:r>
            <a:r>
              <a:rPr lang="en-US" sz="2000" dirty="0">
                <a:latin typeface="Arial Narrow" panose="020B0606020202030204" pitchFamily="34" charset="0"/>
              </a:rPr>
              <a:t>.</a:t>
            </a:r>
            <a:endParaRPr lang="en-ZA" sz="2000" dirty="0">
              <a:latin typeface="Arial Narrow" panose="020B0606020202030204" pitchFamily="34" charset="0"/>
            </a:endParaRPr>
          </a:p>
        </p:txBody>
      </p:sp>
      <p:sp>
        <p:nvSpPr>
          <p:cNvPr id="4" name="Footer Placeholder 3"/>
          <p:cNvSpPr>
            <a:spLocks noGrp="1"/>
          </p:cNvSpPr>
          <p:nvPr>
            <p:ph type="ftr" sz="quarter" idx="11"/>
          </p:nvPr>
        </p:nvSpPr>
        <p:spPr/>
        <p:txBody>
          <a:bodyPr/>
          <a:lstStyle/>
          <a:p>
            <a:r>
              <a:rPr lang="en-ZA"/>
              <a:t>Dr Alveen Singh - RESK401</a:t>
            </a:r>
          </a:p>
        </p:txBody>
      </p:sp>
      <p:sp>
        <p:nvSpPr>
          <p:cNvPr id="5" name="Slide Number Placeholder 4"/>
          <p:cNvSpPr>
            <a:spLocks noGrp="1"/>
          </p:cNvSpPr>
          <p:nvPr>
            <p:ph type="sldNum" sz="quarter" idx="12"/>
          </p:nvPr>
        </p:nvSpPr>
        <p:spPr/>
        <p:txBody>
          <a:bodyPr/>
          <a:lstStyle/>
          <a:p>
            <a:fld id="{F9D8934E-928E-4C38-807A-CB32A0A7C43F}" type="slidenum">
              <a:rPr lang="en-ZA" smtClean="0"/>
              <a:t>7</a:t>
            </a:fld>
            <a:endParaRPr lang="en-ZA"/>
          </a:p>
        </p:txBody>
      </p:sp>
    </p:spTree>
    <p:extLst>
      <p:ext uri="{BB962C8B-B14F-4D97-AF65-F5344CB8AC3E}">
        <p14:creationId xmlns:p14="http://schemas.microsoft.com/office/powerpoint/2010/main" val="4824671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84310" y="1088571"/>
            <a:ext cx="10018713" cy="4702629"/>
          </a:xfrm>
        </p:spPr>
        <p:txBody>
          <a:bodyPr anchor="t"/>
          <a:lstStyle/>
          <a:p>
            <a:pPr marL="0" indent="0">
              <a:buNone/>
            </a:pPr>
            <a:r>
              <a:rPr lang="en-US" dirty="0">
                <a:latin typeface="Arial Narrow" panose="020B0606020202030204" pitchFamily="34" charset="0"/>
              </a:rPr>
              <a:t>Types of case study</a:t>
            </a:r>
          </a:p>
          <a:p>
            <a:r>
              <a:rPr lang="en-US" i="1" dirty="0">
                <a:latin typeface="Arial Narrow" panose="020B0606020202030204" pitchFamily="34" charset="0"/>
              </a:rPr>
              <a:t>Exploratory </a:t>
            </a:r>
          </a:p>
          <a:p>
            <a:pPr lvl="1"/>
            <a:r>
              <a:rPr lang="en-US" dirty="0">
                <a:latin typeface="Arial Narrow" panose="020B0606020202030204" pitchFamily="34" charset="0"/>
              </a:rPr>
              <a:t>Results in questions or hypothesis for a later, larger study. It helps the researcher to identify a problem or confirm a “hunch”. </a:t>
            </a:r>
          </a:p>
          <a:p>
            <a:r>
              <a:rPr lang="en-US" i="1" dirty="0">
                <a:latin typeface="Arial Narrow" panose="020B0606020202030204" pitchFamily="34" charset="0"/>
              </a:rPr>
              <a:t>Descriptive </a:t>
            </a:r>
          </a:p>
          <a:p>
            <a:pPr lvl="1"/>
            <a:r>
              <a:rPr lang="en-US" dirty="0">
                <a:latin typeface="Arial Narrow" panose="020B0606020202030204" pitchFamily="34" charset="0"/>
              </a:rPr>
              <a:t>is an in-depth investigation and a detailed analysis of a particular case. </a:t>
            </a:r>
          </a:p>
          <a:p>
            <a:r>
              <a:rPr lang="en-US" i="1" dirty="0">
                <a:latin typeface="Arial Narrow" panose="020B0606020202030204" pitchFamily="34" charset="0"/>
              </a:rPr>
              <a:t>Explanatory</a:t>
            </a:r>
          </a:p>
          <a:p>
            <a:pPr lvl="1"/>
            <a:r>
              <a:rPr lang="en-US" dirty="0">
                <a:latin typeface="Arial Narrow" panose="020B0606020202030204" pitchFamily="34" charset="0"/>
              </a:rPr>
              <a:t>one step further than descriptive study. It attempts to explain </a:t>
            </a:r>
            <a:r>
              <a:rPr lang="en-US" i="1" dirty="0">
                <a:latin typeface="Arial Narrow" panose="020B0606020202030204" pitchFamily="34" charset="0"/>
              </a:rPr>
              <a:t>why</a:t>
            </a:r>
            <a:r>
              <a:rPr lang="en-US" dirty="0">
                <a:latin typeface="Arial Narrow" panose="020B0606020202030204" pitchFamily="34" charset="0"/>
              </a:rPr>
              <a:t> and </a:t>
            </a:r>
            <a:r>
              <a:rPr lang="en-US" i="1" dirty="0">
                <a:latin typeface="Arial Narrow" panose="020B0606020202030204" pitchFamily="34" charset="0"/>
              </a:rPr>
              <a:t>how</a:t>
            </a:r>
            <a:r>
              <a:rPr lang="en-US" dirty="0">
                <a:latin typeface="Arial Narrow" panose="020B0606020202030204" pitchFamily="34" charset="0"/>
              </a:rPr>
              <a:t> events happen. </a:t>
            </a:r>
          </a:p>
          <a:p>
            <a:endParaRPr lang="en-ZA" dirty="0">
              <a:latin typeface="Arial Narrow" panose="020B0606020202030204" pitchFamily="34" charset="0"/>
            </a:endParaRPr>
          </a:p>
        </p:txBody>
      </p:sp>
      <p:sp>
        <p:nvSpPr>
          <p:cNvPr id="4" name="Footer Placeholder 3"/>
          <p:cNvSpPr>
            <a:spLocks noGrp="1"/>
          </p:cNvSpPr>
          <p:nvPr>
            <p:ph type="ftr" sz="quarter" idx="11"/>
          </p:nvPr>
        </p:nvSpPr>
        <p:spPr/>
        <p:txBody>
          <a:bodyPr/>
          <a:lstStyle/>
          <a:p>
            <a:r>
              <a:rPr lang="en-ZA"/>
              <a:t>Dr Alveen Singh - RESK401</a:t>
            </a:r>
          </a:p>
        </p:txBody>
      </p:sp>
      <p:sp>
        <p:nvSpPr>
          <p:cNvPr id="5" name="Slide Number Placeholder 4"/>
          <p:cNvSpPr>
            <a:spLocks noGrp="1"/>
          </p:cNvSpPr>
          <p:nvPr>
            <p:ph type="sldNum" sz="quarter" idx="12"/>
          </p:nvPr>
        </p:nvSpPr>
        <p:spPr/>
        <p:txBody>
          <a:bodyPr/>
          <a:lstStyle/>
          <a:p>
            <a:fld id="{F9D8934E-928E-4C38-807A-CB32A0A7C43F}" type="slidenum">
              <a:rPr lang="en-ZA" smtClean="0"/>
              <a:t>8</a:t>
            </a:fld>
            <a:endParaRPr lang="en-ZA"/>
          </a:p>
        </p:txBody>
      </p:sp>
    </p:spTree>
    <p:extLst>
      <p:ext uri="{BB962C8B-B14F-4D97-AF65-F5344CB8AC3E}">
        <p14:creationId xmlns:p14="http://schemas.microsoft.com/office/powerpoint/2010/main" val="27936789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84310" y="1088571"/>
            <a:ext cx="10018713" cy="4702629"/>
          </a:xfrm>
        </p:spPr>
        <p:txBody>
          <a:bodyPr anchor="t">
            <a:normAutofit/>
          </a:bodyPr>
          <a:lstStyle/>
          <a:p>
            <a:pPr marL="0" indent="0">
              <a:buNone/>
            </a:pPr>
            <a:r>
              <a:rPr lang="en-US" sz="2800" dirty="0">
                <a:solidFill>
                  <a:schemeClr val="accent1">
                    <a:lumMod val="75000"/>
                  </a:schemeClr>
                </a:solidFill>
                <a:latin typeface="Arial Narrow" panose="020B0606020202030204" pitchFamily="34" charset="0"/>
              </a:rPr>
              <a:t>Which are examples of Case Study research?</a:t>
            </a:r>
          </a:p>
          <a:p>
            <a:pPr marL="457200" indent="-457200">
              <a:buFont typeface="+mj-lt"/>
              <a:buAutoNum type="arabicPeriod"/>
            </a:pPr>
            <a:r>
              <a:rPr lang="en-US" dirty="0">
                <a:latin typeface="Arial Narrow" panose="020B0606020202030204" pitchFamily="34" charset="0"/>
              </a:rPr>
              <a:t>A investigation of Information Management Security Policy in Law Firms in Durban South Africa</a:t>
            </a:r>
          </a:p>
          <a:p>
            <a:pPr marL="457200" indent="-457200">
              <a:buFont typeface="+mj-lt"/>
              <a:buAutoNum type="arabicPeriod"/>
            </a:pPr>
            <a:r>
              <a:rPr lang="en-US" dirty="0">
                <a:latin typeface="Arial Narrow" panose="020B0606020202030204" pitchFamily="34" charset="0"/>
              </a:rPr>
              <a:t>A review of Machine Learning techniques used for maize crop detection</a:t>
            </a:r>
          </a:p>
          <a:p>
            <a:pPr marL="457200" indent="-457200">
              <a:buFont typeface="+mj-lt"/>
              <a:buAutoNum type="arabicPeriod"/>
            </a:pPr>
            <a:r>
              <a:rPr lang="en-US" dirty="0">
                <a:latin typeface="Arial Narrow" panose="020B0606020202030204" pitchFamily="34" charset="0"/>
              </a:rPr>
              <a:t>Application of Malaria detection Information Systems in </a:t>
            </a:r>
            <a:r>
              <a:rPr lang="en-US" dirty="0" err="1">
                <a:latin typeface="Arial Narrow" panose="020B0606020202030204" pitchFamily="34" charset="0"/>
              </a:rPr>
              <a:t>Niassa</a:t>
            </a:r>
            <a:r>
              <a:rPr lang="en-US" dirty="0">
                <a:latin typeface="Arial Narrow" panose="020B0606020202030204" pitchFamily="34" charset="0"/>
              </a:rPr>
              <a:t> Province in Mozambique </a:t>
            </a:r>
          </a:p>
          <a:p>
            <a:pPr marL="457200" indent="-457200">
              <a:buFont typeface="+mj-lt"/>
              <a:buAutoNum type="arabicPeriod"/>
            </a:pPr>
            <a:r>
              <a:rPr lang="en-US" dirty="0">
                <a:latin typeface="Arial Narrow" panose="020B0606020202030204" pitchFamily="34" charset="0"/>
              </a:rPr>
              <a:t>Developing a cloud based eHealth document tracking system</a:t>
            </a:r>
          </a:p>
          <a:p>
            <a:pPr marL="457200" indent="-457200">
              <a:buFont typeface="+mj-lt"/>
              <a:buAutoNum type="arabicPeriod"/>
            </a:pPr>
            <a:r>
              <a:rPr lang="en-US" dirty="0">
                <a:latin typeface="Arial Narrow" panose="020B0606020202030204" pitchFamily="34" charset="0"/>
              </a:rPr>
              <a:t>Towards improved understanding of program management practices in Scrum: a comparison of two RSA software development SMEs</a:t>
            </a:r>
          </a:p>
          <a:p>
            <a:endParaRPr lang="en-US" dirty="0">
              <a:latin typeface="Arial Narrow" panose="020B0606020202030204" pitchFamily="34" charset="0"/>
            </a:endParaRPr>
          </a:p>
          <a:p>
            <a:endParaRPr lang="en-ZA" dirty="0">
              <a:latin typeface="Arial Narrow" panose="020B0606020202030204" pitchFamily="34" charset="0"/>
            </a:endParaRPr>
          </a:p>
        </p:txBody>
      </p:sp>
      <p:sp>
        <p:nvSpPr>
          <p:cNvPr id="4" name="Footer Placeholder 3"/>
          <p:cNvSpPr>
            <a:spLocks noGrp="1"/>
          </p:cNvSpPr>
          <p:nvPr>
            <p:ph type="ftr" sz="quarter" idx="11"/>
          </p:nvPr>
        </p:nvSpPr>
        <p:spPr/>
        <p:txBody>
          <a:bodyPr/>
          <a:lstStyle/>
          <a:p>
            <a:r>
              <a:rPr lang="en-ZA"/>
              <a:t>Dr Alveen Singh - RESK401</a:t>
            </a:r>
          </a:p>
        </p:txBody>
      </p:sp>
      <p:sp>
        <p:nvSpPr>
          <p:cNvPr id="5" name="Slide Number Placeholder 4"/>
          <p:cNvSpPr>
            <a:spLocks noGrp="1"/>
          </p:cNvSpPr>
          <p:nvPr>
            <p:ph type="sldNum" sz="quarter" idx="12"/>
          </p:nvPr>
        </p:nvSpPr>
        <p:spPr/>
        <p:txBody>
          <a:bodyPr/>
          <a:lstStyle/>
          <a:p>
            <a:fld id="{F9D8934E-928E-4C38-807A-CB32A0A7C43F}" type="slidenum">
              <a:rPr lang="en-ZA" smtClean="0"/>
              <a:t>9</a:t>
            </a:fld>
            <a:endParaRPr lang="en-ZA"/>
          </a:p>
        </p:txBody>
      </p:sp>
    </p:spTree>
    <p:extLst>
      <p:ext uri="{BB962C8B-B14F-4D97-AF65-F5344CB8AC3E}">
        <p14:creationId xmlns:p14="http://schemas.microsoft.com/office/powerpoint/2010/main" val="7434089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820783"/>
          </a:xfrm>
        </p:spPr>
        <p:txBody>
          <a:bodyPr/>
          <a:lstStyle/>
          <a:p>
            <a:r>
              <a:rPr lang="en-US" dirty="0"/>
              <a:t>Survey</a:t>
            </a:r>
            <a:endParaRPr lang="en-ZA" dirty="0"/>
          </a:p>
        </p:txBody>
      </p:sp>
      <p:sp>
        <p:nvSpPr>
          <p:cNvPr id="6" name="Content Placeholder 5"/>
          <p:cNvSpPr>
            <a:spLocks noGrp="1"/>
          </p:cNvSpPr>
          <p:nvPr>
            <p:ph idx="1"/>
          </p:nvPr>
        </p:nvSpPr>
        <p:spPr>
          <a:xfrm>
            <a:off x="1484310" y="1551401"/>
            <a:ext cx="10018713" cy="4239799"/>
          </a:xfrm>
        </p:spPr>
        <p:txBody>
          <a:bodyPr anchor="t"/>
          <a:lstStyle/>
          <a:p>
            <a:r>
              <a:rPr lang="en-US" dirty="0"/>
              <a:t>Survey allows the researcher to </a:t>
            </a:r>
            <a:r>
              <a:rPr lang="en-US" dirty="0">
                <a:solidFill>
                  <a:srgbClr val="FF0000"/>
                </a:solidFill>
              </a:rPr>
              <a:t>identify patterns and trends </a:t>
            </a:r>
            <a:r>
              <a:rPr lang="en-US" dirty="0"/>
              <a:t>of a population</a:t>
            </a:r>
          </a:p>
          <a:p>
            <a:r>
              <a:rPr lang="en-US" dirty="0"/>
              <a:t>These patterns and trends tell us something about the population</a:t>
            </a:r>
          </a:p>
          <a:p>
            <a:pPr lvl="1"/>
            <a:r>
              <a:rPr lang="en-US" dirty="0"/>
              <a:t>E.g. what are the most problematic features of a VLE?</a:t>
            </a:r>
          </a:p>
          <a:p>
            <a:pPr lvl="1"/>
            <a:r>
              <a:rPr lang="en-US" dirty="0"/>
              <a:t>What are the most frequently utilized tools in a developer platform?</a:t>
            </a:r>
          </a:p>
          <a:p>
            <a:endParaRPr lang="en-US" dirty="0"/>
          </a:p>
          <a:p>
            <a:endParaRPr lang="en-ZA" dirty="0"/>
          </a:p>
        </p:txBody>
      </p:sp>
      <p:sp>
        <p:nvSpPr>
          <p:cNvPr id="4" name="Footer Placeholder 3"/>
          <p:cNvSpPr>
            <a:spLocks noGrp="1"/>
          </p:cNvSpPr>
          <p:nvPr>
            <p:ph type="ftr" sz="quarter" idx="11"/>
          </p:nvPr>
        </p:nvSpPr>
        <p:spPr/>
        <p:txBody>
          <a:bodyPr/>
          <a:lstStyle/>
          <a:p>
            <a:r>
              <a:rPr lang="en-ZA"/>
              <a:t>Dr Alveen Singh - RESK401</a:t>
            </a:r>
          </a:p>
        </p:txBody>
      </p:sp>
      <p:sp>
        <p:nvSpPr>
          <p:cNvPr id="5" name="Slide Number Placeholder 4"/>
          <p:cNvSpPr>
            <a:spLocks noGrp="1"/>
          </p:cNvSpPr>
          <p:nvPr>
            <p:ph type="sldNum" sz="quarter" idx="12"/>
          </p:nvPr>
        </p:nvSpPr>
        <p:spPr/>
        <p:txBody>
          <a:bodyPr/>
          <a:lstStyle/>
          <a:p>
            <a:fld id="{F9D8934E-928E-4C38-807A-CB32A0A7C43F}" type="slidenum">
              <a:rPr lang="en-ZA" smtClean="0"/>
              <a:t>10</a:t>
            </a:fld>
            <a:endParaRPr lang="en-ZA"/>
          </a:p>
        </p:txBody>
      </p:sp>
      <p:pic>
        <p:nvPicPr>
          <p:cNvPr id="7" name="Picture 6"/>
          <p:cNvPicPr>
            <a:picLocks noChangeAspect="1"/>
          </p:cNvPicPr>
          <p:nvPr/>
        </p:nvPicPr>
        <p:blipFill>
          <a:blip r:embed="rId2"/>
          <a:stretch>
            <a:fillRect/>
          </a:stretch>
        </p:blipFill>
        <p:spPr>
          <a:xfrm>
            <a:off x="8695236" y="4506643"/>
            <a:ext cx="2952750" cy="1543050"/>
          </a:xfrm>
          <a:prstGeom prst="rect">
            <a:avLst/>
          </a:prstGeom>
        </p:spPr>
      </p:pic>
      <p:sp>
        <p:nvSpPr>
          <p:cNvPr id="8" name="TextBox 7"/>
          <p:cNvSpPr txBox="1"/>
          <p:nvPr/>
        </p:nvSpPr>
        <p:spPr>
          <a:xfrm>
            <a:off x="9421318" y="6094511"/>
            <a:ext cx="1500585" cy="307777"/>
          </a:xfrm>
          <a:prstGeom prst="rect">
            <a:avLst/>
          </a:prstGeom>
          <a:noFill/>
        </p:spPr>
        <p:txBody>
          <a:bodyPr wrap="square" rtlCol="0">
            <a:spAutoFit/>
          </a:bodyPr>
          <a:lstStyle/>
          <a:p>
            <a:r>
              <a:rPr lang="en-US" sz="1400" dirty="0" err="1">
                <a:solidFill>
                  <a:srgbClr val="FF0000"/>
                </a:solidFill>
              </a:rPr>
              <a:t>Getthematic.com</a:t>
            </a:r>
            <a:endParaRPr lang="en-ZA" dirty="0">
              <a:solidFill>
                <a:srgbClr val="FF0000"/>
              </a:solidFill>
            </a:endParaRPr>
          </a:p>
        </p:txBody>
      </p:sp>
    </p:spTree>
    <p:extLst>
      <p:ext uri="{BB962C8B-B14F-4D97-AF65-F5344CB8AC3E}">
        <p14:creationId xmlns:p14="http://schemas.microsoft.com/office/powerpoint/2010/main" val="15660113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84310" y="447675"/>
            <a:ext cx="10018713" cy="5343525"/>
          </a:xfrm>
        </p:spPr>
        <p:txBody>
          <a:bodyPr anchor="t">
            <a:normAutofit/>
          </a:bodyPr>
          <a:lstStyle/>
          <a:p>
            <a:r>
              <a:rPr lang="en-GB" dirty="0">
                <a:latin typeface="Arial Narrow" panose="020B0606020202030204" pitchFamily="34" charset="0"/>
              </a:rPr>
              <a:t>Surveys are conducted using online tools</a:t>
            </a:r>
          </a:p>
          <a:p>
            <a:r>
              <a:rPr lang="en-GB" dirty="0">
                <a:latin typeface="Arial Narrow" panose="020B0606020202030204" pitchFamily="34" charset="0"/>
              </a:rPr>
              <a:t>Online survey tools are useful because: </a:t>
            </a:r>
          </a:p>
          <a:p>
            <a:pPr lvl="1"/>
            <a:r>
              <a:rPr lang="en-GB" sz="1600" dirty="0">
                <a:latin typeface="Arial" panose="020B0604020202020204" pitchFamily="34" charset="0"/>
                <a:cs typeface="Arial" panose="020B0604020202020204" pitchFamily="34" charset="0"/>
              </a:rPr>
              <a:t>Templates: a library of pre-designed questionnaire templates which can be matched to the type of survey</a:t>
            </a:r>
            <a:endParaRPr lang="en-ZA" sz="1600" dirty="0">
              <a:latin typeface="Arial" panose="020B0604020202020204" pitchFamily="34" charset="0"/>
              <a:cs typeface="Arial" panose="020B0604020202020204" pitchFamily="34" charset="0"/>
            </a:endParaRPr>
          </a:p>
          <a:p>
            <a:pPr lvl="1"/>
            <a:r>
              <a:rPr lang="en-GB" sz="1600" dirty="0">
                <a:latin typeface="Arial" panose="020B0604020202020204" pitchFamily="34" charset="0"/>
                <a:cs typeface="Arial" panose="020B0604020202020204" pitchFamily="34" charset="0"/>
              </a:rPr>
              <a:t>Survey logic: navigates the participant through the survey avoiding unnecessary questions</a:t>
            </a:r>
            <a:endParaRPr lang="en-ZA" sz="1600" dirty="0">
              <a:latin typeface="Arial" panose="020B0604020202020204" pitchFamily="34" charset="0"/>
              <a:cs typeface="Arial" panose="020B0604020202020204" pitchFamily="34" charset="0"/>
            </a:endParaRPr>
          </a:p>
          <a:p>
            <a:pPr lvl="1"/>
            <a:r>
              <a:rPr lang="en-GB" sz="1600" dirty="0">
                <a:latin typeface="Arial" panose="020B0604020202020204" pitchFamily="34" charset="0"/>
                <a:cs typeface="Arial" panose="020B0604020202020204" pitchFamily="34" charset="0"/>
              </a:rPr>
              <a:t>Flexible design: lets the researcher change colours, fonts, images and language </a:t>
            </a:r>
          </a:p>
          <a:p>
            <a:pPr lvl="1"/>
            <a:r>
              <a:rPr lang="en-GB" sz="1600" dirty="0">
                <a:latin typeface="Arial" panose="020B0604020202020204" pitchFamily="34" charset="0"/>
                <a:cs typeface="Arial" panose="020B0604020202020204" pitchFamily="34" charset="0"/>
              </a:rPr>
              <a:t>Data analysis: performs analysis of the collected responses and presents the results in a visual format</a:t>
            </a:r>
            <a:endParaRPr lang="en-ZA" sz="1600" dirty="0">
              <a:latin typeface="Arial" panose="020B0604020202020204" pitchFamily="34" charset="0"/>
              <a:cs typeface="Arial" panose="020B0604020202020204" pitchFamily="34" charset="0"/>
            </a:endParaRPr>
          </a:p>
          <a:p>
            <a:pPr lvl="1"/>
            <a:r>
              <a:rPr lang="en-GB" sz="1600" dirty="0">
                <a:latin typeface="Arial" panose="020B0604020202020204" pitchFamily="34" charset="0"/>
                <a:cs typeface="Arial" panose="020B0604020202020204" pitchFamily="34" charset="0"/>
              </a:rPr>
              <a:t>Multi-language: provides support for switching the language of the questions instead of having to retype them </a:t>
            </a:r>
            <a:endParaRPr lang="en-ZA" sz="1600" dirty="0">
              <a:latin typeface="Arial" panose="020B0604020202020204" pitchFamily="34" charset="0"/>
              <a:cs typeface="Arial" panose="020B0604020202020204" pitchFamily="34" charset="0"/>
            </a:endParaRPr>
          </a:p>
          <a:p>
            <a:endParaRPr lang="en-ZA" dirty="0"/>
          </a:p>
        </p:txBody>
      </p:sp>
      <p:sp>
        <p:nvSpPr>
          <p:cNvPr id="4" name="Footer Placeholder 3"/>
          <p:cNvSpPr>
            <a:spLocks noGrp="1"/>
          </p:cNvSpPr>
          <p:nvPr>
            <p:ph type="ftr" sz="quarter" idx="11"/>
          </p:nvPr>
        </p:nvSpPr>
        <p:spPr/>
        <p:txBody>
          <a:bodyPr/>
          <a:lstStyle/>
          <a:p>
            <a:r>
              <a:rPr lang="en-ZA"/>
              <a:t>Dr Alveen Singh - RESK401</a:t>
            </a:r>
          </a:p>
        </p:txBody>
      </p:sp>
      <p:sp>
        <p:nvSpPr>
          <p:cNvPr id="5" name="Slide Number Placeholder 4"/>
          <p:cNvSpPr>
            <a:spLocks noGrp="1"/>
          </p:cNvSpPr>
          <p:nvPr>
            <p:ph type="sldNum" sz="quarter" idx="12"/>
          </p:nvPr>
        </p:nvSpPr>
        <p:spPr/>
        <p:txBody>
          <a:bodyPr/>
          <a:lstStyle/>
          <a:p>
            <a:fld id="{F9D8934E-928E-4C38-807A-CB32A0A7C43F}" type="slidenum">
              <a:rPr lang="en-ZA" smtClean="0"/>
              <a:t>11</a:t>
            </a:fld>
            <a:endParaRPr lang="en-ZA"/>
          </a:p>
        </p:txBody>
      </p:sp>
      <p:pic>
        <p:nvPicPr>
          <p:cNvPr id="6" name="Picture 5"/>
          <p:cNvPicPr>
            <a:picLocks noChangeAspect="1"/>
          </p:cNvPicPr>
          <p:nvPr/>
        </p:nvPicPr>
        <p:blipFill>
          <a:blip r:embed="rId2"/>
          <a:stretch>
            <a:fillRect/>
          </a:stretch>
        </p:blipFill>
        <p:spPr>
          <a:xfrm>
            <a:off x="7991319" y="4722812"/>
            <a:ext cx="3806979" cy="1909494"/>
          </a:xfrm>
          <a:prstGeom prst="rect">
            <a:avLst/>
          </a:prstGeom>
        </p:spPr>
      </p:pic>
    </p:spTree>
    <p:extLst>
      <p:ext uri="{BB962C8B-B14F-4D97-AF65-F5344CB8AC3E}">
        <p14:creationId xmlns:p14="http://schemas.microsoft.com/office/powerpoint/2010/main" val="41193996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84310" y="1088571"/>
            <a:ext cx="10018713" cy="4702629"/>
          </a:xfrm>
        </p:spPr>
        <p:txBody>
          <a:bodyPr anchor="t"/>
          <a:lstStyle/>
          <a:p>
            <a:pPr marL="0" indent="0">
              <a:buNone/>
            </a:pPr>
            <a:r>
              <a:rPr lang="en-US" b="1" dirty="0">
                <a:latin typeface="Arial Narrow" panose="020B0606020202030204" pitchFamily="34" charset="0"/>
              </a:rPr>
              <a:t>Basic steps</a:t>
            </a:r>
          </a:p>
          <a:p>
            <a:pPr marL="0" indent="0">
              <a:buNone/>
            </a:pPr>
            <a:endParaRPr lang="en-US" dirty="0">
              <a:latin typeface="Arial Narrow" panose="020B0606020202030204" pitchFamily="34" charset="0"/>
            </a:endParaRPr>
          </a:p>
          <a:p>
            <a:r>
              <a:rPr lang="en-US" dirty="0">
                <a:latin typeface="Arial Narrow" panose="020B0606020202030204" pitchFamily="34" charset="0"/>
              </a:rPr>
              <a:t>Researchers design questionnaires based on the findings of literature review</a:t>
            </a:r>
          </a:p>
          <a:p>
            <a:pPr lvl="1"/>
            <a:r>
              <a:rPr lang="en-US" dirty="0">
                <a:latin typeface="Arial Narrow" panose="020B0606020202030204" pitchFamily="34" charset="0"/>
              </a:rPr>
              <a:t>E.g. </a:t>
            </a:r>
          </a:p>
          <a:p>
            <a:pPr lvl="2"/>
            <a:r>
              <a:rPr lang="en-US" dirty="0">
                <a:latin typeface="Arial Narrow" panose="020B0606020202030204" pitchFamily="34" charset="0"/>
              </a:rPr>
              <a:t>1: Literature review identifies a set of useful features for University administration assist chatbots</a:t>
            </a:r>
          </a:p>
          <a:p>
            <a:pPr lvl="2"/>
            <a:r>
              <a:rPr lang="en-US" dirty="0">
                <a:latin typeface="Arial Narrow" panose="020B0606020202030204" pitchFamily="34" charset="0"/>
              </a:rPr>
              <a:t>2: Design a set of questions based on the literature review. Develop the survey.</a:t>
            </a:r>
          </a:p>
          <a:p>
            <a:pPr lvl="2"/>
            <a:r>
              <a:rPr lang="en-US" dirty="0">
                <a:latin typeface="Arial Narrow" panose="020B0606020202030204" pitchFamily="34" charset="0"/>
              </a:rPr>
              <a:t>3: Participants complete the survey and the software analyses the results.</a:t>
            </a:r>
          </a:p>
          <a:p>
            <a:pPr lvl="2"/>
            <a:r>
              <a:rPr lang="en-US" dirty="0">
                <a:latin typeface="Arial Narrow" panose="020B0606020202030204" pitchFamily="34" charset="0"/>
              </a:rPr>
              <a:t>4: The results confirms/does not confirm features. Also, identifies new information. </a:t>
            </a:r>
            <a:endParaRPr lang="en-ZA" dirty="0">
              <a:latin typeface="Arial Narrow" panose="020B0606020202030204" pitchFamily="34" charset="0"/>
            </a:endParaRPr>
          </a:p>
        </p:txBody>
      </p:sp>
      <p:sp>
        <p:nvSpPr>
          <p:cNvPr id="4" name="Footer Placeholder 3"/>
          <p:cNvSpPr>
            <a:spLocks noGrp="1"/>
          </p:cNvSpPr>
          <p:nvPr>
            <p:ph type="ftr" sz="quarter" idx="11"/>
          </p:nvPr>
        </p:nvSpPr>
        <p:spPr/>
        <p:txBody>
          <a:bodyPr/>
          <a:lstStyle/>
          <a:p>
            <a:r>
              <a:rPr lang="en-ZA"/>
              <a:t>Dr Alveen Singh - RESK401</a:t>
            </a:r>
          </a:p>
        </p:txBody>
      </p:sp>
      <p:sp>
        <p:nvSpPr>
          <p:cNvPr id="5" name="Slide Number Placeholder 4"/>
          <p:cNvSpPr>
            <a:spLocks noGrp="1"/>
          </p:cNvSpPr>
          <p:nvPr>
            <p:ph type="sldNum" sz="quarter" idx="12"/>
          </p:nvPr>
        </p:nvSpPr>
        <p:spPr/>
        <p:txBody>
          <a:bodyPr/>
          <a:lstStyle/>
          <a:p>
            <a:fld id="{F9D8934E-928E-4C38-807A-CB32A0A7C43F}" type="slidenum">
              <a:rPr lang="en-ZA" smtClean="0"/>
              <a:t>12</a:t>
            </a:fld>
            <a:endParaRPr lang="en-ZA"/>
          </a:p>
        </p:txBody>
      </p:sp>
    </p:spTree>
    <p:extLst>
      <p:ext uri="{BB962C8B-B14F-4D97-AF65-F5344CB8AC3E}">
        <p14:creationId xmlns:p14="http://schemas.microsoft.com/office/powerpoint/2010/main" val="11943809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84310" y="1088572"/>
            <a:ext cx="10018713" cy="2821578"/>
          </a:xfrm>
        </p:spPr>
        <p:txBody>
          <a:bodyPr anchor="t"/>
          <a:lstStyle/>
          <a:p>
            <a:r>
              <a:rPr lang="en-US" dirty="0">
                <a:latin typeface="Arial Narrow" panose="020B0606020202030204" pitchFamily="34" charset="0"/>
              </a:rPr>
              <a:t>A survey is intended to collect data from a large sample of participants.</a:t>
            </a:r>
          </a:p>
          <a:p>
            <a:pPr lvl="1"/>
            <a:r>
              <a:rPr lang="en-US" dirty="0">
                <a:latin typeface="Arial Narrow" panose="020B0606020202030204" pitchFamily="34" charset="0"/>
              </a:rPr>
              <a:t>More than 80 </a:t>
            </a:r>
          </a:p>
          <a:p>
            <a:r>
              <a:rPr lang="en-US" dirty="0">
                <a:latin typeface="Arial Narrow" panose="020B0606020202030204" pitchFamily="34" charset="0"/>
              </a:rPr>
              <a:t>The findings of the study from the sample is then used to </a:t>
            </a:r>
            <a:r>
              <a:rPr lang="en-US" dirty="0">
                <a:solidFill>
                  <a:srgbClr val="FF0000"/>
                </a:solidFill>
                <a:latin typeface="Arial Narrow" panose="020B0606020202030204" pitchFamily="34" charset="0"/>
              </a:rPr>
              <a:t>generalize</a:t>
            </a:r>
            <a:r>
              <a:rPr lang="en-US" dirty="0">
                <a:latin typeface="Arial Narrow" panose="020B0606020202030204" pitchFamily="34" charset="0"/>
              </a:rPr>
              <a:t> across a larger population. </a:t>
            </a:r>
          </a:p>
          <a:p>
            <a:r>
              <a:rPr lang="en-US" dirty="0">
                <a:latin typeface="Arial Narrow" panose="020B0606020202030204" pitchFamily="34" charset="0"/>
              </a:rPr>
              <a:t>In other words, this information or opinion collected from the sample is more often a </a:t>
            </a:r>
            <a:r>
              <a:rPr lang="en-US" dirty="0">
                <a:solidFill>
                  <a:srgbClr val="FF0000"/>
                </a:solidFill>
                <a:latin typeface="Arial Narrow" panose="020B0606020202030204" pitchFamily="34" charset="0"/>
              </a:rPr>
              <a:t>generalization</a:t>
            </a:r>
            <a:r>
              <a:rPr lang="en-US" dirty="0">
                <a:latin typeface="Arial Narrow" panose="020B0606020202030204" pitchFamily="34" charset="0"/>
              </a:rPr>
              <a:t> of what a large population thinks. </a:t>
            </a:r>
            <a:endParaRPr lang="en-ZA" dirty="0">
              <a:latin typeface="Arial Narrow" panose="020B0606020202030204" pitchFamily="34" charset="0"/>
            </a:endParaRPr>
          </a:p>
        </p:txBody>
      </p:sp>
      <p:sp>
        <p:nvSpPr>
          <p:cNvPr id="4" name="Footer Placeholder 3"/>
          <p:cNvSpPr>
            <a:spLocks noGrp="1"/>
          </p:cNvSpPr>
          <p:nvPr>
            <p:ph type="ftr" sz="quarter" idx="11"/>
          </p:nvPr>
        </p:nvSpPr>
        <p:spPr/>
        <p:txBody>
          <a:bodyPr/>
          <a:lstStyle/>
          <a:p>
            <a:r>
              <a:rPr lang="en-ZA"/>
              <a:t>Dr Alveen Singh - RESK401</a:t>
            </a:r>
          </a:p>
        </p:txBody>
      </p:sp>
      <p:sp>
        <p:nvSpPr>
          <p:cNvPr id="5" name="Slide Number Placeholder 4"/>
          <p:cNvSpPr>
            <a:spLocks noGrp="1"/>
          </p:cNvSpPr>
          <p:nvPr>
            <p:ph type="sldNum" sz="quarter" idx="12"/>
          </p:nvPr>
        </p:nvSpPr>
        <p:spPr/>
        <p:txBody>
          <a:bodyPr/>
          <a:lstStyle/>
          <a:p>
            <a:fld id="{F9D8934E-928E-4C38-807A-CB32A0A7C43F}" type="slidenum">
              <a:rPr lang="en-ZA" smtClean="0"/>
              <a:t>13</a:t>
            </a:fld>
            <a:endParaRPr lang="en-ZA"/>
          </a:p>
        </p:txBody>
      </p:sp>
      <p:sp>
        <p:nvSpPr>
          <p:cNvPr id="6" name="Oval Callout 5"/>
          <p:cNvSpPr/>
          <p:nvPr/>
        </p:nvSpPr>
        <p:spPr>
          <a:xfrm>
            <a:off x="8969829" y="4197531"/>
            <a:ext cx="1750422" cy="992778"/>
          </a:xfrm>
          <a:prstGeom prst="wedgeEllipse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Inference</a:t>
            </a:r>
            <a:endParaRPr lang="en-ZA" b="1" dirty="0"/>
          </a:p>
        </p:txBody>
      </p:sp>
    </p:spTree>
    <p:extLst>
      <p:ext uri="{BB962C8B-B14F-4D97-AF65-F5344CB8AC3E}">
        <p14:creationId xmlns:p14="http://schemas.microsoft.com/office/powerpoint/2010/main" val="29973425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ZA"/>
              <a:t>Dr Alveen Singh - RESK401</a:t>
            </a:r>
          </a:p>
        </p:txBody>
      </p:sp>
      <p:sp>
        <p:nvSpPr>
          <p:cNvPr id="5" name="Slide Number Placeholder 4"/>
          <p:cNvSpPr>
            <a:spLocks noGrp="1"/>
          </p:cNvSpPr>
          <p:nvPr>
            <p:ph type="sldNum" sz="quarter" idx="12"/>
          </p:nvPr>
        </p:nvSpPr>
        <p:spPr/>
        <p:txBody>
          <a:bodyPr/>
          <a:lstStyle/>
          <a:p>
            <a:fld id="{F9D8934E-928E-4C38-807A-CB32A0A7C43F}" type="slidenum">
              <a:rPr lang="en-ZA" smtClean="0"/>
              <a:t>14</a:t>
            </a:fld>
            <a:endParaRPr lang="en-ZA"/>
          </a:p>
        </p:txBody>
      </p:sp>
      <p:pic>
        <p:nvPicPr>
          <p:cNvPr id="6" name="Picture 5"/>
          <p:cNvPicPr>
            <a:picLocks noChangeAspect="1"/>
          </p:cNvPicPr>
          <p:nvPr/>
        </p:nvPicPr>
        <p:blipFill>
          <a:blip r:embed="rId2"/>
          <a:stretch>
            <a:fillRect/>
          </a:stretch>
        </p:blipFill>
        <p:spPr>
          <a:xfrm>
            <a:off x="2127779" y="881333"/>
            <a:ext cx="7956571" cy="3089775"/>
          </a:xfrm>
          <a:prstGeom prst="rect">
            <a:avLst/>
          </a:prstGeom>
        </p:spPr>
      </p:pic>
      <p:sp>
        <p:nvSpPr>
          <p:cNvPr id="7" name="TextBox 6"/>
          <p:cNvSpPr txBox="1"/>
          <p:nvPr/>
        </p:nvSpPr>
        <p:spPr>
          <a:xfrm>
            <a:off x="5355771" y="4465526"/>
            <a:ext cx="1500585" cy="307777"/>
          </a:xfrm>
          <a:prstGeom prst="rect">
            <a:avLst/>
          </a:prstGeom>
          <a:noFill/>
        </p:spPr>
        <p:txBody>
          <a:bodyPr wrap="square" rtlCol="0">
            <a:spAutoFit/>
          </a:bodyPr>
          <a:lstStyle/>
          <a:p>
            <a:r>
              <a:rPr lang="en-US" sz="1400" dirty="0" err="1">
                <a:solidFill>
                  <a:srgbClr val="FF0000"/>
                </a:solidFill>
              </a:rPr>
              <a:t>Explorable.com</a:t>
            </a:r>
            <a:endParaRPr lang="en-ZA" dirty="0">
              <a:solidFill>
                <a:srgbClr val="FF0000"/>
              </a:solidFill>
            </a:endParaRPr>
          </a:p>
        </p:txBody>
      </p:sp>
      <p:pic>
        <p:nvPicPr>
          <p:cNvPr id="8" name="Picture 7"/>
          <p:cNvPicPr>
            <a:picLocks noChangeAspect="1"/>
          </p:cNvPicPr>
          <p:nvPr/>
        </p:nvPicPr>
        <p:blipFill>
          <a:blip r:embed="rId3"/>
          <a:stretch>
            <a:fillRect/>
          </a:stretch>
        </p:blipFill>
        <p:spPr>
          <a:xfrm>
            <a:off x="7827014" y="4722812"/>
            <a:ext cx="3400425" cy="1343025"/>
          </a:xfrm>
          <a:prstGeom prst="rect">
            <a:avLst/>
          </a:prstGeom>
        </p:spPr>
      </p:pic>
    </p:spTree>
    <p:extLst>
      <p:ext uri="{BB962C8B-B14F-4D97-AF65-F5344CB8AC3E}">
        <p14:creationId xmlns:p14="http://schemas.microsoft.com/office/powerpoint/2010/main" val="23038615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84310" y="1088571"/>
            <a:ext cx="10018713" cy="4702629"/>
          </a:xfrm>
        </p:spPr>
        <p:txBody>
          <a:bodyPr anchor="t"/>
          <a:lstStyle/>
          <a:p>
            <a:pPr marL="0" indent="0">
              <a:buNone/>
            </a:pPr>
            <a:r>
              <a:rPr lang="en-US" dirty="0">
                <a:solidFill>
                  <a:srgbClr val="FF0000"/>
                </a:solidFill>
                <a:latin typeface="Arial Narrow" panose="020B0606020202030204" pitchFamily="34" charset="0"/>
              </a:rPr>
              <a:t>Collected data must </a:t>
            </a:r>
          </a:p>
          <a:p>
            <a:pPr marL="0" indent="0">
              <a:buNone/>
            </a:pPr>
            <a:r>
              <a:rPr lang="en-US" dirty="0">
                <a:solidFill>
                  <a:srgbClr val="FF0000"/>
                </a:solidFill>
                <a:latin typeface="Arial Narrow" panose="020B0606020202030204" pitchFamily="34" charset="0"/>
              </a:rPr>
              <a:t>not be manipulated!</a:t>
            </a:r>
            <a:endParaRPr lang="en-ZA" dirty="0">
              <a:solidFill>
                <a:srgbClr val="FF0000"/>
              </a:solidFill>
              <a:latin typeface="Arial Narrow" panose="020B0606020202030204" pitchFamily="34" charset="0"/>
            </a:endParaRPr>
          </a:p>
        </p:txBody>
      </p:sp>
      <p:sp>
        <p:nvSpPr>
          <p:cNvPr id="4" name="Footer Placeholder 3"/>
          <p:cNvSpPr>
            <a:spLocks noGrp="1"/>
          </p:cNvSpPr>
          <p:nvPr>
            <p:ph type="ftr" sz="quarter" idx="11"/>
          </p:nvPr>
        </p:nvSpPr>
        <p:spPr/>
        <p:txBody>
          <a:bodyPr/>
          <a:lstStyle/>
          <a:p>
            <a:r>
              <a:rPr lang="en-ZA"/>
              <a:t>Dr Alveen Singh - RESK401</a:t>
            </a:r>
          </a:p>
        </p:txBody>
      </p:sp>
      <p:sp>
        <p:nvSpPr>
          <p:cNvPr id="5" name="Slide Number Placeholder 4"/>
          <p:cNvSpPr>
            <a:spLocks noGrp="1"/>
          </p:cNvSpPr>
          <p:nvPr>
            <p:ph type="sldNum" sz="quarter" idx="12"/>
          </p:nvPr>
        </p:nvSpPr>
        <p:spPr/>
        <p:txBody>
          <a:bodyPr/>
          <a:lstStyle/>
          <a:p>
            <a:fld id="{F9D8934E-928E-4C38-807A-CB32A0A7C43F}" type="slidenum">
              <a:rPr lang="en-ZA" smtClean="0"/>
              <a:t>15</a:t>
            </a:fld>
            <a:endParaRPr lang="en-ZA"/>
          </a:p>
        </p:txBody>
      </p:sp>
      <p:pic>
        <p:nvPicPr>
          <p:cNvPr id="6" name="Picture 5"/>
          <p:cNvPicPr>
            <a:picLocks noChangeAspect="1"/>
          </p:cNvPicPr>
          <p:nvPr/>
        </p:nvPicPr>
        <p:blipFill>
          <a:blip r:embed="rId2"/>
          <a:stretch>
            <a:fillRect/>
          </a:stretch>
        </p:blipFill>
        <p:spPr>
          <a:xfrm>
            <a:off x="4486275" y="208528"/>
            <a:ext cx="7396162" cy="6464229"/>
          </a:xfrm>
          <a:prstGeom prst="rect">
            <a:avLst/>
          </a:prstGeom>
        </p:spPr>
      </p:pic>
      <p:sp>
        <p:nvSpPr>
          <p:cNvPr id="7" name="TextBox 6"/>
          <p:cNvSpPr txBox="1"/>
          <p:nvPr/>
        </p:nvSpPr>
        <p:spPr>
          <a:xfrm>
            <a:off x="2429140" y="5575498"/>
            <a:ext cx="2200275" cy="307777"/>
          </a:xfrm>
          <a:prstGeom prst="rect">
            <a:avLst/>
          </a:prstGeom>
          <a:noFill/>
        </p:spPr>
        <p:txBody>
          <a:bodyPr wrap="square" rtlCol="0">
            <a:spAutoFit/>
          </a:bodyPr>
          <a:lstStyle/>
          <a:p>
            <a:r>
              <a:rPr lang="en-US" sz="1400" dirty="0" err="1">
                <a:solidFill>
                  <a:srgbClr val="FF0000"/>
                </a:solidFill>
              </a:rPr>
              <a:t>Datasciencecentral.com</a:t>
            </a:r>
            <a:endParaRPr lang="en-ZA" dirty="0">
              <a:solidFill>
                <a:srgbClr val="FF0000"/>
              </a:solidFill>
            </a:endParaRPr>
          </a:p>
        </p:txBody>
      </p:sp>
    </p:spTree>
    <p:extLst>
      <p:ext uri="{BB962C8B-B14F-4D97-AF65-F5344CB8AC3E}">
        <p14:creationId xmlns:p14="http://schemas.microsoft.com/office/powerpoint/2010/main" val="18831530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84310" y="1088571"/>
            <a:ext cx="10018713" cy="4702629"/>
          </a:xfrm>
        </p:spPr>
        <p:txBody>
          <a:bodyPr anchor="t">
            <a:normAutofit/>
          </a:bodyPr>
          <a:lstStyle/>
          <a:p>
            <a:pPr marL="0" indent="0">
              <a:buNone/>
            </a:pPr>
            <a:r>
              <a:rPr lang="en-US" dirty="0">
                <a:latin typeface="Arial Narrow" panose="020B0606020202030204" pitchFamily="34" charset="0"/>
              </a:rPr>
              <a:t>How are surveys conducted?</a:t>
            </a:r>
          </a:p>
          <a:p>
            <a:r>
              <a:rPr lang="en-ZA" sz="2000" dirty="0">
                <a:latin typeface="Arial" panose="020B0604020202020204" pitchFamily="34" charset="0"/>
                <a:cs typeface="Arial" panose="020B0604020202020204" pitchFamily="34" charset="0"/>
              </a:rPr>
              <a:t>There are two main ways of deploying surveys, longitudinal and cross-sectional. </a:t>
            </a:r>
          </a:p>
          <a:p>
            <a:r>
              <a:rPr lang="en-ZA" sz="2000" dirty="0">
                <a:latin typeface="Arial" panose="020B0604020202020204" pitchFamily="34" charset="0"/>
                <a:cs typeface="Arial" panose="020B0604020202020204" pitchFamily="34" charset="0"/>
              </a:rPr>
              <a:t>A </a:t>
            </a:r>
            <a:r>
              <a:rPr lang="en-ZA" sz="2000" dirty="0">
                <a:solidFill>
                  <a:srgbClr val="FF0000"/>
                </a:solidFill>
                <a:latin typeface="Arial" panose="020B0604020202020204" pitchFamily="34" charset="0"/>
                <a:cs typeface="Arial" panose="020B0604020202020204" pitchFamily="34" charset="0"/>
              </a:rPr>
              <a:t>cross-sectional survey </a:t>
            </a:r>
            <a:r>
              <a:rPr lang="en-ZA" sz="2000" dirty="0">
                <a:latin typeface="Arial" panose="020B0604020202020204" pitchFamily="34" charset="0"/>
                <a:cs typeface="Arial" panose="020B0604020202020204" pitchFamily="34" charset="0"/>
              </a:rPr>
              <a:t>is used to collect data relevant to that period in time. It allows for the researcher to determine the state of affairs in that moment in time. These surveys are short and focus on one aspect of research. </a:t>
            </a:r>
          </a:p>
          <a:p>
            <a:endParaRPr lang="en-US" sz="2000" dirty="0">
              <a:latin typeface="Arial" panose="020B0604020202020204" pitchFamily="34" charset="0"/>
              <a:cs typeface="Arial" panose="020B0604020202020204" pitchFamily="34" charset="0"/>
            </a:endParaRPr>
          </a:p>
          <a:p>
            <a:r>
              <a:rPr lang="en-US" sz="2000" dirty="0">
                <a:solidFill>
                  <a:srgbClr val="FF0000"/>
                </a:solidFill>
                <a:latin typeface="Arial" panose="020B0604020202020204" pitchFamily="34" charset="0"/>
                <a:cs typeface="Arial" panose="020B0604020202020204" pitchFamily="34" charset="0"/>
              </a:rPr>
              <a:t>Longitudinal survey </a:t>
            </a:r>
            <a:r>
              <a:rPr lang="en-US" sz="2000" dirty="0">
                <a:latin typeface="Arial" panose="020B0604020202020204" pitchFamily="34" charset="0"/>
                <a:cs typeface="Arial" panose="020B0604020202020204" pitchFamily="34" charset="0"/>
              </a:rPr>
              <a:t>involves the collection of data over a long period of time </a:t>
            </a:r>
          </a:p>
          <a:p>
            <a:r>
              <a:rPr lang="en-US" sz="2000" dirty="0">
                <a:latin typeface="Arial" panose="020B0604020202020204" pitchFamily="34" charset="0"/>
                <a:cs typeface="Arial" panose="020B0604020202020204" pitchFamily="34" charset="0"/>
              </a:rPr>
              <a:t>(5 years to 5 decades). </a:t>
            </a:r>
          </a:p>
          <a:p>
            <a:endParaRPr lang="en-ZA" sz="2000" dirty="0">
              <a:latin typeface="Arial" panose="020B0604020202020204" pitchFamily="34" charset="0"/>
              <a:cs typeface="Arial" panose="020B0604020202020204" pitchFamily="34" charset="0"/>
            </a:endParaRPr>
          </a:p>
          <a:p>
            <a:pPr marL="0" indent="0">
              <a:buNone/>
            </a:pPr>
            <a:endParaRPr lang="en-ZA" dirty="0">
              <a:latin typeface="Arial Narrow" panose="020B0606020202030204" pitchFamily="34" charset="0"/>
            </a:endParaRPr>
          </a:p>
        </p:txBody>
      </p:sp>
      <p:sp>
        <p:nvSpPr>
          <p:cNvPr id="4" name="Footer Placeholder 3"/>
          <p:cNvSpPr>
            <a:spLocks noGrp="1"/>
          </p:cNvSpPr>
          <p:nvPr>
            <p:ph type="ftr" sz="quarter" idx="11"/>
          </p:nvPr>
        </p:nvSpPr>
        <p:spPr/>
        <p:txBody>
          <a:bodyPr/>
          <a:lstStyle/>
          <a:p>
            <a:r>
              <a:rPr lang="en-ZA"/>
              <a:t>Dr Alveen Singh - RESK401</a:t>
            </a:r>
          </a:p>
        </p:txBody>
      </p:sp>
      <p:sp>
        <p:nvSpPr>
          <p:cNvPr id="5" name="Slide Number Placeholder 4"/>
          <p:cNvSpPr>
            <a:spLocks noGrp="1"/>
          </p:cNvSpPr>
          <p:nvPr>
            <p:ph type="sldNum" sz="quarter" idx="12"/>
          </p:nvPr>
        </p:nvSpPr>
        <p:spPr/>
        <p:txBody>
          <a:bodyPr/>
          <a:lstStyle/>
          <a:p>
            <a:fld id="{F9D8934E-928E-4C38-807A-CB32A0A7C43F}" type="slidenum">
              <a:rPr lang="en-ZA" smtClean="0"/>
              <a:t>16</a:t>
            </a:fld>
            <a:endParaRPr lang="en-ZA"/>
          </a:p>
        </p:txBody>
      </p:sp>
    </p:spTree>
    <p:extLst>
      <p:ext uri="{BB962C8B-B14F-4D97-AF65-F5344CB8AC3E}">
        <p14:creationId xmlns:p14="http://schemas.microsoft.com/office/powerpoint/2010/main" val="21426139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ZA"/>
              <a:t>Dr Alveen Singh - RESK401</a:t>
            </a:r>
            <a:endParaRPr lang="en-ZA" dirty="0"/>
          </a:p>
        </p:txBody>
      </p:sp>
      <p:sp>
        <p:nvSpPr>
          <p:cNvPr id="5" name="Slide Number Placeholder 4"/>
          <p:cNvSpPr>
            <a:spLocks noGrp="1"/>
          </p:cNvSpPr>
          <p:nvPr>
            <p:ph type="sldNum" sz="quarter" idx="12"/>
          </p:nvPr>
        </p:nvSpPr>
        <p:spPr/>
        <p:txBody>
          <a:bodyPr/>
          <a:lstStyle/>
          <a:p>
            <a:fld id="{F9D8934E-928E-4C38-807A-CB32A0A7C43F}" type="slidenum">
              <a:rPr lang="en-ZA" smtClean="0"/>
              <a:t>17</a:t>
            </a:fld>
            <a:endParaRPr lang="en-ZA"/>
          </a:p>
        </p:txBody>
      </p:sp>
      <p:pic>
        <p:nvPicPr>
          <p:cNvPr id="6" name="Picture 5"/>
          <p:cNvPicPr>
            <a:picLocks noChangeAspect="1"/>
          </p:cNvPicPr>
          <p:nvPr/>
        </p:nvPicPr>
        <p:blipFill>
          <a:blip r:embed="rId2"/>
          <a:stretch>
            <a:fillRect/>
          </a:stretch>
        </p:blipFill>
        <p:spPr>
          <a:xfrm>
            <a:off x="2572279" y="647700"/>
            <a:ext cx="7807964" cy="4675333"/>
          </a:xfrm>
          <a:prstGeom prst="rect">
            <a:avLst/>
          </a:prstGeom>
        </p:spPr>
      </p:pic>
      <p:sp>
        <p:nvSpPr>
          <p:cNvPr id="7" name="TextBox 6"/>
          <p:cNvSpPr txBox="1"/>
          <p:nvPr/>
        </p:nvSpPr>
        <p:spPr>
          <a:xfrm>
            <a:off x="5734315" y="5449265"/>
            <a:ext cx="2200275" cy="307777"/>
          </a:xfrm>
          <a:prstGeom prst="rect">
            <a:avLst/>
          </a:prstGeom>
          <a:noFill/>
        </p:spPr>
        <p:txBody>
          <a:bodyPr wrap="square" rtlCol="0">
            <a:spAutoFit/>
          </a:bodyPr>
          <a:lstStyle/>
          <a:p>
            <a:r>
              <a:rPr lang="en-US" sz="1400" dirty="0" err="1">
                <a:solidFill>
                  <a:srgbClr val="FF0000"/>
                </a:solidFill>
              </a:rPr>
              <a:t>QuestionPro.com</a:t>
            </a:r>
            <a:endParaRPr lang="en-ZA" dirty="0">
              <a:solidFill>
                <a:srgbClr val="FF0000"/>
              </a:solidFill>
            </a:endParaRPr>
          </a:p>
        </p:txBody>
      </p:sp>
    </p:spTree>
    <p:extLst>
      <p:ext uri="{BB962C8B-B14F-4D97-AF65-F5344CB8AC3E}">
        <p14:creationId xmlns:p14="http://schemas.microsoft.com/office/powerpoint/2010/main" val="29894541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822213C-2D03-4A90-8251-D7518A0FD7C2}"/>
              </a:ext>
            </a:extLst>
          </p:cNvPr>
          <p:cNvSpPr>
            <a:spLocks noGrp="1"/>
          </p:cNvSpPr>
          <p:nvPr>
            <p:ph type="title"/>
          </p:nvPr>
        </p:nvSpPr>
        <p:spPr>
          <a:xfrm>
            <a:off x="1484311" y="685801"/>
            <a:ext cx="10018713" cy="479612"/>
          </a:xfrm>
        </p:spPr>
        <p:txBody>
          <a:bodyPr>
            <a:normAutofit/>
          </a:bodyPr>
          <a:lstStyle/>
          <a:p>
            <a:r>
              <a:rPr lang="en-US" sz="2000" dirty="0"/>
              <a:t>Which is longitudinal? Which is cross sectional?</a:t>
            </a:r>
            <a:endParaRPr lang="en-ZA" sz="2000" dirty="0"/>
          </a:p>
        </p:txBody>
      </p:sp>
      <p:sp>
        <p:nvSpPr>
          <p:cNvPr id="2" name="Footer Placeholder 1">
            <a:extLst>
              <a:ext uri="{FF2B5EF4-FFF2-40B4-BE49-F238E27FC236}">
                <a16:creationId xmlns:a16="http://schemas.microsoft.com/office/drawing/2014/main" id="{40F0FBDC-E008-4AB0-8DD5-851749145274}"/>
              </a:ext>
            </a:extLst>
          </p:cNvPr>
          <p:cNvSpPr>
            <a:spLocks noGrp="1"/>
          </p:cNvSpPr>
          <p:nvPr>
            <p:ph type="ftr" sz="quarter" idx="11"/>
          </p:nvPr>
        </p:nvSpPr>
        <p:spPr/>
        <p:txBody>
          <a:bodyPr/>
          <a:lstStyle/>
          <a:p>
            <a:r>
              <a:rPr lang="en-ZA"/>
              <a:t>Dr Alveen Singh - RESK401</a:t>
            </a:r>
          </a:p>
        </p:txBody>
      </p:sp>
      <p:sp>
        <p:nvSpPr>
          <p:cNvPr id="3" name="Slide Number Placeholder 2">
            <a:extLst>
              <a:ext uri="{FF2B5EF4-FFF2-40B4-BE49-F238E27FC236}">
                <a16:creationId xmlns:a16="http://schemas.microsoft.com/office/drawing/2014/main" id="{61757500-D554-4DE4-9C4B-E03EBC54483E}"/>
              </a:ext>
            </a:extLst>
          </p:cNvPr>
          <p:cNvSpPr>
            <a:spLocks noGrp="1"/>
          </p:cNvSpPr>
          <p:nvPr>
            <p:ph type="sldNum" sz="quarter" idx="12"/>
          </p:nvPr>
        </p:nvSpPr>
        <p:spPr/>
        <p:txBody>
          <a:bodyPr/>
          <a:lstStyle/>
          <a:p>
            <a:fld id="{F9D8934E-928E-4C38-807A-CB32A0A7C43F}" type="slidenum">
              <a:rPr lang="en-ZA" smtClean="0"/>
              <a:t>18</a:t>
            </a:fld>
            <a:endParaRPr lang="en-ZA"/>
          </a:p>
        </p:txBody>
      </p:sp>
      <p:pic>
        <p:nvPicPr>
          <p:cNvPr id="1026" name="Picture 2" descr="Free Vector | Global warming with deforestation on earth">
            <a:extLst>
              <a:ext uri="{FF2B5EF4-FFF2-40B4-BE49-F238E27FC236}">
                <a16:creationId xmlns:a16="http://schemas.microsoft.com/office/drawing/2014/main" id="{AB8A649E-BAD9-474F-AD7D-4CAD7342C9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2629" y="1266918"/>
            <a:ext cx="2019300" cy="225742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E512DBC8-FF61-4C85-9A80-2F23D1D77E73}"/>
              </a:ext>
            </a:extLst>
          </p:cNvPr>
          <p:cNvPicPr>
            <a:picLocks noChangeAspect="1"/>
          </p:cNvPicPr>
          <p:nvPr/>
        </p:nvPicPr>
        <p:blipFill>
          <a:blip r:embed="rId3"/>
          <a:stretch>
            <a:fillRect/>
          </a:stretch>
        </p:blipFill>
        <p:spPr>
          <a:xfrm>
            <a:off x="1813671" y="4169568"/>
            <a:ext cx="2952750" cy="1552575"/>
          </a:xfrm>
          <a:prstGeom prst="rect">
            <a:avLst/>
          </a:prstGeom>
        </p:spPr>
      </p:pic>
      <p:pic>
        <p:nvPicPr>
          <p:cNvPr id="7" name="Picture 6">
            <a:extLst>
              <a:ext uri="{FF2B5EF4-FFF2-40B4-BE49-F238E27FC236}">
                <a16:creationId xmlns:a16="http://schemas.microsoft.com/office/drawing/2014/main" id="{B8C31F3D-9297-44F2-BDD7-D312CA16BEFF}"/>
              </a:ext>
            </a:extLst>
          </p:cNvPr>
          <p:cNvPicPr>
            <a:picLocks noChangeAspect="1"/>
          </p:cNvPicPr>
          <p:nvPr/>
        </p:nvPicPr>
        <p:blipFill rotWithShape="1">
          <a:blip r:embed="rId4"/>
          <a:srcRect r="6020"/>
          <a:stretch/>
        </p:blipFill>
        <p:spPr>
          <a:xfrm>
            <a:off x="5605743" y="1290450"/>
            <a:ext cx="1915645" cy="2238375"/>
          </a:xfrm>
          <a:prstGeom prst="rect">
            <a:avLst/>
          </a:prstGeom>
        </p:spPr>
      </p:pic>
      <p:pic>
        <p:nvPicPr>
          <p:cNvPr id="1028" name="Picture 4" descr="Isuzu D-Max Review, For Sale, Colours, Models, Interior &amp; Specs | CarsGuide">
            <a:extLst>
              <a:ext uri="{FF2B5EF4-FFF2-40B4-BE49-F238E27FC236}">
                <a16:creationId xmlns:a16="http://schemas.microsoft.com/office/drawing/2014/main" id="{2FFDAF53-9755-4BA9-91BD-01F0F8981C5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30784" y="1524092"/>
            <a:ext cx="2619375" cy="174307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A Guideline to ENVISION2030 – The Typing and Writing of ENVISION2030">
            <a:extLst>
              <a:ext uri="{FF2B5EF4-FFF2-40B4-BE49-F238E27FC236}">
                <a16:creationId xmlns:a16="http://schemas.microsoft.com/office/drawing/2014/main" id="{80ABBE2F-6FE8-4901-B0E5-88693CB58CF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53877" y="4059634"/>
            <a:ext cx="2619375" cy="1743075"/>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Latest crop estimates show gains in maize, soya beans">
            <a:extLst>
              <a:ext uri="{FF2B5EF4-FFF2-40B4-BE49-F238E27FC236}">
                <a16:creationId xmlns:a16="http://schemas.microsoft.com/office/drawing/2014/main" id="{8BDEF008-95FC-4D84-8B88-A7BE8261FE4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635534" y="4165844"/>
            <a:ext cx="2714625" cy="1685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23082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84310" y="1088571"/>
            <a:ext cx="10018713" cy="4702629"/>
          </a:xfrm>
        </p:spPr>
        <p:txBody>
          <a:bodyPr anchor="t">
            <a:normAutofit/>
          </a:bodyPr>
          <a:lstStyle/>
          <a:p>
            <a:pPr marL="0" indent="0">
              <a:buNone/>
            </a:pPr>
            <a:r>
              <a:rPr lang="en-ZA" dirty="0"/>
              <a:t>There are </a:t>
            </a:r>
            <a:r>
              <a:rPr lang="en-ZA" dirty="0">
                <a:solidFill>
                  <a:schemeClr val="accent1">
                    <a:lumMod val="75000"/>
                  </a:schemeClr>
                </a:solidFill>
              </a:rPr>
              <a:t>three main types of longitudinal survey </a:t>
            </a:r>
            <a:r>
              <a:rPr lang="en-ZA" dirty="0"/>
              <a:t>trend, panel and cohort. </a:t>
            </a:r>
          </a:p>
          <a:p>
            <a:pPr marL="0" indent="0">
              <a:buNone/>
            </a:pPr>
            <a:endParaRPr lang="en-ZA" dirty="0"/>
          </a:p>
          <a:p>
            <a:pPr lvl="1"/>
            <a:r>
              <a:rPr lang="en-ZA" dirty="0"/>
              <a:t>A </a:t>
            </a:r>
            <a:r>
              <a:rPr lang="en-ZA" i="1" dirty="0">
                <a:solidFill>
                  <a:srgbClr val="FF0000"/>
                </a:solidFill>
              </a:rPr>
              <a:t>cohort survey</a:t>
            </a:r>
            <a:r>
              <a:rPr lang="en-ZA" dirty="0">
                <a:solidFill>
                  <a:srgbClr val="FF0000"/>
                </a:solidFill>
              </a:rPr>
              <a:t> </a:t>
            </a:r>
            <a:r>
              <a:rPr lang="en-ZA" dirty="0"/>
              <a:t>is when the participants are selected for the sample using certain selection criteria. </a:t>
            </a:r>
          </a:p>
          <a:p>
            <a:pPr lvl="2"/>
            <a:r>
              <a:rPr lang="en-ZA" dirty="0" err="1"/>
              <a:t>E.g</a:t>
            </a:r>
            <a:r>
              <a:rPr lang="en-ZA" dirty="0"/>
              <a:t> selecting students that entered the first year from school quintiles 1 to 3. </a:t>
            </a:r>
          </a:p>
          <a:p>
            <a:pPr marL="0" indent="0">
              <a:buNone/>
            </a:pPr>
            <a:endParaRPr lang="en-ZA" dirty="0">
              <a:latin typeface="Arial Narrow" panose="020B0606020202030204" pitchFamily="34" charset="0"/>
            </a:endParaRPr>
          </a:p>
        </p:txBody>
      </p:sp>
      <p:sp>
        <p:nvSpPr>
          <p:cNvPr id="4" name="Footer Placeholder 3"/>
          <p:cNvSpPr>
            <a:spLocks noGrp="1"/>
          </p:cNvSpPr>
          <p:nvPr>
            <p:ph type="ftr" sz="quarter" idx="11"/>
          </p:nvPr>
        </p:nvSpPr>
        <p:spPr/>
        <p:txBody>
          <a:bodyPr/>
          <a:lstStyle/>
          <a:p>
            <a:r>
              <a:rPr lang="en-ZA"/>
              <a:t>Dr Alveen Singh - RESK401</a:t>
            </a:r>
          </a:p>
        </p:txBody>
      </p:sp>
      <p:sp>
        <p:nvSpPr>
          <p:cNvPr id="5" name="Slide Number Placeholder 4"/>
          <p:cNvSpPr>
            <a:spLocks noGrp="1"/>
          </p:cNvSpPr>
          <p:nvPr>
            <p:ph type="sldNum" sz="quarter" idx="12"/>
          </p:nvPr>
        </p:nvSpPr>
        <p:spPr/>
        <p:txBody>
          <a:bodyPr/>
          <a:lstStyle/>
          <a:p>
            <a:fld id="{F9D8934E-928E-4C38-807A-CB32A0A7C43F}" type="slidenum">
              <a:rPr lang="en-ZA" smtClean="0"/>
              <a:t>19</a:t>
            </a:fld>
            <a:endParaRPr lang="en-ZA"/>
          </a:p>
        </p:txBody>
      </p:sp>
      <p:pic>
        <p:nvPicPr>
          <p:cNvPr id="6" name="Picture 5"/>
          <p:cNvPicPr>
            <a:picLocks noChangeAspect="1"/>
          </p:cNvPicPr>
          <p:nvPr/>
        </p:nvPicPr>
        <p:blipFill>
          <a:blip r:embed="rId2"/>
          <a:stretch>
            <a:fillRect/>
          </a:stretch>
        </p:blipFill>
        <p:spPr>
          <a:xfrm>
            <a:off x="4229100" y="3713640"/>
            <a:ext cx="7200900" cy="2787172"/>
          </a:xfrm>
          <a:prstGeom prst="rect">
            <a:avLst/>
          </a:prstGeom>
        </p:spPr>
      </p:pic>
      <p:sp>
        <p:nvSpPr>
          <p:cNvPr id="7" name="TextBox 6"/>
          <p:cNvSpPr txBox="1"/>
          <p:nvPr/>
        </p:nvSpPr>
        <p:spPr>
          <a:xfrm>
            <a:off x="2300552" y="4601540"/>
            <a:ext cx="2200275" cy="307777"/>
          </a:xfrm>
          <a:prstGeom prst="rect">
            <a:avLst/>
          </a:prstGeom>
          <a:noFill/>
        </p:spPr>
        <p:txBody>
          <a:bodyPr wrap="square" rtlCol="0">
            <a:spAutoFit/>
          </a:bodyPr>
          <a:lstStyle/>
          <a:p>
            <a:r>
              <a:rPr lang="en-US" sz="1400" dirty="0" err="1">
                <a:solidFill>
                  <a:srgbClr val="FF0000"/>
                </a:solidFill>
              </a:rPr>
              <a:t>ResearchGate</a:t>
            </a:r>
            <a:endParaRPr lang="en-ZA" dirty="0">
              <a:solidFill>
                <a:srgbClr val="FF0000"/>
              </a:solidFill>
            </a:endParaRPr>
          </a:p>
        </p:txBody>
      </p:sp>
    </p:spTree>
    <p:extLst>
      <p:ext uri="{BB962C8B-B14F-4D97-AF65-F5344CB8AC3E}">
        <p14:creationId xmlns:p14="http://schemas.microsoft.com/office/powerpoint/2010/main" val="42792037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2"/>
          <a:stretch>
            <a:fillRect/>
          </a:stretch>
        </p:blipFill>
        <p:spPr>
          <a:xfrm>
            <a:off x="7041356" y="2855912"/>
            <a:ext cx="4352925" cy="3209925"/>
          </a:xfrm>
          <a:prstGeom prst="rect">
            <a:avLst/>
          </a:prstGeom>
        </p:spPr>
      </p:pic>
      <p:sp>
        <p:nvSpPr>
          <p:cNvPr id="4" name="Footer Placeholder 3"/>
          <p:cNvSpPr>
            <a:spLocks noGrp="1"/>
          </p:cNvSpPr>
          <p:nvPr>
            <p:ph type="ftr" sz="quarter" idx="11"/>
          </p:nvPr>
        </p:nvSpPr>
        <p:spPr/>
        <p:txBody>
          <a:bodyPr/>
          <a:lstStyle/>
          <a:p>
            <a:r>
              <a:rPr lang="en-ZA"/>
              <a:t>Dr Alveen Singh - RESK401</a:t>
            </a:r>
          </a:p>
        </p:txBody>
      </p:sp>
      <p:sp>
        <p:nvSpPr>
          <p:cNvPr id="5" name="Slide Number Placeholder 4"/>
          <p:cNvSpPr>
            <a:spLocks noGrp="1"/>
          </p:cNvSpPr>
          <p:nvPr>
            <p:ph type="sldNum" sz="quarter" idx="12"/>
          </p:nvPr>
        </p:nvSpPr>
        <p:spPr/>
        <p:txBody>
          <a:bodyPr/>
          <a:lstStyle/>
          <a:p>
            <a:fld id="{F9D8934E-928E-4C38-807A-CB32A0A7C43F}" type="slidenum">
              <a:rPr lang="en-ZA" smtClean="0"/>
              <a:t>20</a:t>
            </a:fld>
            <a:endParaRPr lang="en-ZA"/>
          </a:p>
        </p:txBody>
      </p:sp>
      <p:sp>
        <p:nvSpPr>
          <p:cNvPr id="7" name="Rectangle 6"/>
          <p:cNvSpPr/>
          <p:nvPr/>
        </p:nvSpPr>
        <p:spPr>
          <a:xfrm>
            <a:off x="1447799" y="1378584"/>
            <a:ext cx="9946481" cy="1200329"/>
          </a:xfrm>
          <a:prstGeom prst="rect">
            <a:avLst/>
          </a:prstGeom>
        </p:spPr>
        <p:txBody>
          <a:bodyPr wrap="square">
            <a:spAutoFit/>
          </a:bodyPr>
          <a:lstStyle/>
          <a:p>
            <a:pPr lvl="1"/>
            <a:r>
              <a:rPr lang="en-ZA" i="1" dirty="0">
                <a:solidFill>
                  <a:srgbClr val="FF0000"/>
                </a:solidFill>
              </a:rPr>
              <a:t>Trend surveys</a:t>
            </a:r>
            <a:r>
              <a:rPr lang="en-ZA" dirty="0">
                <a:solidFill>
                  <a:srgbClr val="FF0000"/>
                </a:solidFill>
              </a:rPr>
              <a:t> </a:t>
            </a:r>
            <a:r>
              <a:rPr lang="en-ZA" dirty="0"/>
              <a:t>are used to show how participants opinions change over time. </a:t>
            </a:r>
          </a:p>
          <a:p>
            <a:pPr lvl="2"/>
            <a:r>
              <a:rPr lang="en-ZA" dirty="0"/>
              <a:t>E.g. what was the first year IT student’s opinion of online classes in their first year of study compared to now in their fourth year. </a:t>
            </a:r>
          </a:p>
          <a:p>
            <a:pPr lvl="2"/>
            <a:r>
              <a:rPr lang="en-US" dirty="0"/>
              <a:t>E.g. Online shopping trends across regions</a:t>
            </a:r>
            <a:endParaRPr lang="en-ZA" dirty="0"/>
          </a:p>
        </p:txBody>
      </p:sp>
      <p:sp>
        <p:nvSpPr>
          <p:cNvPr id="8" name="TextBox 7"/>
          <p:cNvSpPr txBox="1"/>
          <p:nvPr/>
        </p:nvSpPr>
        <p:spPr>
          <a:xfrm>
            <a:off x="6114367" y="6065837"/>
            <a:ext cx="2200275" cy="307777"/>
          </a:xfrm>
          <a:prstGeom prst="rect">
            <a:avLst/>
          </a:prstGeom>
          <a:noFill/>
        </p:spPr>
        <p:txBody>
          <a:bodyPr wrap="square" rtlCol="0">
            <a:spAutoFit/>
          </a:bodyPr>
          <a:lstStyle/>
          <a:p>
            <a:r>
              <a:rPr lang="en-US" sz="1400" dirty="0" err="1">
                <a:solidFill>
                  <a:srgbClr val="FF0000"/>
                </a:solidFill>
              </a:rPr>
              <a:t>Teh</a:t>
            </a:r>
            <a:r>
              <a:rPr lang="en-US" sz="1400" dirty="0">
                <a:solidFill>
                  <a:srgbClr val="FF0000"/>
                </a:solidFill>
              </a:rPr>
              <a:t>, 2021</a:t>
            </a:r>
            <a:endParaRPr lang="en-ZA" dirty="0">
              <a:solidFill>
                <a:srgbClr val="FF0000"/>
              </a:solidFill>
            </a:endParaRPr>
          </a:p>
        </p:txBody>
      </p:sp>
    </p:spTree>
    <p:extLst>
      <p:ext uri="{BB962C8B-B14F-4D97-AF65-F5344CB8AC3E}">
        <p14:creationId xmlns:p14="http://schemas.microsoft.com/office/powerpoint/2010/main" val="5054677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84310" y="866775"/>
            <a:ext cx="10018713" cy="4924425"/>
          </a:xfrm>
        </p:spPr>
        <p:txBody>
          <a:bodyPr anchor="t"/>
          <a:lstStyle/>
          <a:p>
            <a:pPr marL="457200" lvl="1" indent="0">
              <a:buNone/>
            </a:pPr>
            <a:r>
              <a:rPr lang="en-ZA" i="1" dirty="0">
                <a:solidFill>
                  <a:srgbClr val="FF0000"/>
                </a:solidFill>
              </a:rPr>
              <a:t>Panel survey</a:t>
            </a:r>
            <a:r>
              <a:rPr lang="en-ZA" dirty="0">
                <a:solidFill>
                  <a:srgbClr val="FF0000"/>
                </a:solidFill>
              </a:rPr>
              <a:t> </a:t>
            </a:r>
            <a:r>
              <a:rPr lang="en-ZA" dirty="0"/>
              <a:t>when data is collected from the same sample over time. </a:t>
            </a:r>
          </a:p>
          <a:p>
            <a:pPr lvl="2"/>
            <a:r>
              <a:rPr lang="en-ZA" dirty="0" err="1"/>
              <a:t>E.g</a:t>
            </a:r>
            <a:r>
              <a:rPr lang="en-ZA" dirty="0"/>
              <a:t> the same sample of students from first year to fourth year. This allows for a more accurate telling of the change over time as the same participants are used.</a:t>
            </a:r>
          </a:p>
        </p:txBody>
      </p:sp>
      <p:sp>
        <p:nvSpPr>
          <p:cNvPr id="4" name="Footer Placeholder 3"/>
          <p:cNvSpPr>
            <a:spLocks noGrp="1"/>
          </p:cNvSpPr>
          <p:nvPr>
            <p:ph type="ftr" sz="quarter" idx="11"/>
          </p:nvPr>
        </p:nvSpPr>
        <p:spPr/>
        <p:txBody>
          <a:bodyPr/>
          <a:lstStyle/>
          <a:p>
            <a:r>
              <a:rPr lang="en-ZA"/>
              <a:t>Dr Alveen Singh - RESK401</a:t>
            </a:r>
          </a:p>
        </p:txBody>
      </p:sp>
      <p:sp>
        <p:nvSpPr>
          <p:cNvPr id="5" name="Slide Number Placeholder 4"/>
          <p:cNvSpPr>
            <a:spLocks noGrp="1"/>
          </p:cNvSpPr>
          <p:nvPr>
            <p:ph type="sldNum" sz="quarter" idx="12"/>
          </p:nvPr>
        </p:nvSpPr>
        <p:spPr/>
        <p:txBody>
          <a:bodyPr/>
          <a:lstStyle/>
          <a:p>
            <a:fld id="{F9D8934E-928E-4C38-807A-CB32A0A7C43F}" type="slidenum">
              <a:rPr lang="en-ZA" smtClean="0"/>
              <a:t>21</a:t>
            </a:fld>
            <a:endParaRPr lang="en-ZA"/>
          </a:p>
        </p:txBody>
      </p:sp>
      <p:pic>
        <p:nvPicPr>
          <p:cNvPr id="6" name="Picture 5"/>
          <p:cNvPicPr>
            <a:picLocks noChangeAspect="1"/>
          </p:cNvPicPr>
          <p:nvPr/>
        </p:nvPicPr>
        <p:blipFill>
          <a:blip r:embed="rId2"/>
          <a:stretch>
            <a:fillRect/>
          </a:stretch>
        </p:blipFill>
        <p:spPr>
          <a:xfrm>
            <a:off x="5960756" y="3554143"/>
            <a:ext cx="4991100" cy="2495550"/>
          </a:xfrm>
          <a:prstGeom prst="rect">
            <a:avLst/>
          </a:prstGeom>
        </p:spPr>
      </p:pic>
      <p:sp>
        <p:nvSpPr>
          <p:cNvPr id="7" name="TextBox 6"/>
          <p:cNvSpPr txBox="1"/>
          <p:nvPr/>
        </p:nvSpPr>
        <p:spPr>
          <a:xfrm>
            <a:off x="6114367" y="6065837"/>
            <a:ext cx="2200275" cy="307777"/>
          </a:xfrm>
          <a:prstGeom prst="rect">
            <a:avLst/>
          </a:prstGeom>
          <a:noFill/>
        </p:spPr>
        <p:txBody>
          <a:bodyPr wrap="square" rtlCol="0">
            <a:spAutoFit/>
          </a:bodyPr>
          <a:lstStyle/>
          <a:p>
            <a:r>
              <a:rPr lang="en-US" sz="1400" dirty="0" err="1">
                <a:solidFill>
                  <a:srgbClr val="FF0000"/>
                </a:solidFill>
              </a:rPr>
              <a:t>Aptech</a:t>
            </a:r>
            <a:r>
              <a:rPr lang="en-US" sz="1400" dirty="0">
                <a:solidFill>
                  <a:srgbClr val="FF0000"/>
                </a:solidFill>
              </a:rPr>
              <a:t>, 2021</a:t>
            </a:r>
            <a:endParaRPr lang="en-ZA" dirty="0">
              <a:solidFill>
                <a:srgbClr val="FF0000"/>
              </a:solidFill>
            </a:endParaRPr>
          </a:p>
        </p:txBody>
      </p:sp>
      <p:pic>
        <p:nvPicPr>
          <p:cNvPr id="8" name="Picture 7"/>
          <p:cNvPicPr>
            <a:picLocks noChangeAspect="1"/>
          </p:cNvPicPr>
          <p:nvPr/>
        </p:nvPicPr>
        <p:blipFill>
          <a:blip r:embed="rId3"/>
          <a:stretch>
            <a:fillRect/>
          </a:stretch>
        </p:blipFill>
        <p:spPr>
          <a:xfrm>
            <a:off x="2009775" y="3328987"/>
            <a:ext cx="3076575" cy="1845945"/>
          </a:xfrm>
          <a:prstGeom prst="rect">
            <a:avLst/>
          </a:prstGeom>
        </p:spPr>
      </p:pic>
    </p:spTree>
    <p:extLst>
      <p:ext uri="{BB962C8B-B14F-4D97-AF65-F5344CB8AC3E}">
        <p14:creationId xmlns:p14="http://schemas.microsoft.com/office/powerpoint/2010/main" val="31470526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84310" y="762001"/>
            <a:ext cx="10018713" cy="5029200"/>
          </a:xfrm>
        </p:spPr>
        <p:txBody>
          <a:bodyPr anchor="t">
            <a:normAutofit lnSpcReduction="10000"/>
          </a:bodyPr>
          <a:lstStyle/>
          <a:p>
            <a:pPr marL="0" indent="0">
              <a:buNone/>
            </a:pPr>
            <a:r>
              <a:rPr lang="en-ZA" b="1" dirty="0"/>
              <a:t>Some advantages of using surveys</a:t>
            </a:r>
            <a:endParaRPr lang="en-ZA" dirty="0"/>
          </a:p>
          <a:p>
            <a:pPr lvl="1"/>
            <a:r>
              <a:rPr lang="en-ZA" dirty="0"/>
              <a:t>Online surveys are quick to develop and administer. </a:t>
            </a:r>
          </a:p>
          <a:p>
            <a:pPr lvl="1"/>
            <a:r>
              <a:rPr lang="en-ZA" dirty="0"/>
              <a:t>The analysis of collected data is faster due to built in statistical tools. </a:t>
            </a:r>
          </a:p>
          <a:p>
            <a:pPr lvl="1"/>
            <a:r>
              <a:rPr lang="en-ZA" dirty="0"/>
              <a:t>A wide reach is achievable. </a:t>
            </a:r>
          </a:p>
          <a:p>
            <a:pPr lvl="1"/>
            <a:r>
              <a:rPr lang="en-ZA" dirty="0"/>
              <a:t>Participation can be controlled.</a:t>
            </a:r>
          </a:p>
          <a:p>
            <a:pPr marL="457200" lvl="1" indent="0">
              <a:buNone/>
            </a:pPr>
            <a:endParaRPr lang="en-ZA" dirty="0"/>
          </a:p>
          <a:p>
            <a:pPr marL="0" indent="0">
              <a:buNone/>
            </a:pPr>
            <a:r>
              <a:rPr lang="en-ZA" b="1" dirty="0"/>
              <a:t>Some disadvantages of using surveys</a:t>
            </a:r>
            <a:endParaRPr lang="en-ZA" dirty="0"/>
          </a:p>
          <a:p>
            <a:pPr lvl="1"/>
            <a:r>
              <a:rPr lang="en-ZA" dirty="0"/>
              <a:t>The type of responses can be limited by the design or template used in the questionnaire. </a:t>
            </a:r>
          </a:p>
          <a:p>
            <a:pPr lvl="1"/>
            <a:r>
              <a:rPr lang="en-ZA" dirty="0"/>
              <a:t>The design of the questionnaire has to be correct otherwise the incorrect data will be collected. </a:t>
            </a:r>
          </a:p>
          <a:p>
            <a:pPr lvl="1"/>
            <a:r>
              <a:rPr lang="en-ZA" dirty="0"/>
              <a:t>Certain data can be missed out if there are no questions aimed at collecting that data. </a:t>
            </a:r>
          </a:p>
          <a:p>
            <a:endParaRPr lang="en-ZA" dirty="0"/>
          </a:p>
        </p:txBody>
      </p:sp>
      <p:sp>
        <p:nvSpPr>
          <p:cNvPr id="4" name="Footer Placeholder 3"/>
          <p:cNvSpPr>
            <a:spLocks noGrp="1"/>
          </p:cNvSpPr>
          <p:nvPr>
            <p:ph type="ftr" sz="quarter" idx="11"/>
          </p:nvPr>
        </p:nvSpPr>
        <p:spPr/>
        <p:txBody>
          <a:bodyPr/>
          <a:lstStyle/>
          <a:p>
            <a:r>
              <a:rPr lang="en-ZA"/>
              <a:t>Dr Alveen Singh - RESK401</a:t>
            </a:r>
          </a:p>
        </p:txBody>
      </p:sp>
      <p:sp>
        <p:nvSpPr>
          <p:cNvPr id="5" name="Slide Number Placeholder 4"/>
          <p:cNvSpPr>
            <a:spLocks noGrp="1"/>
          </p:cNvSpPr>
          <p:nvPr>
            <p:ph type="sldNum" sz="quarter" idx="12"/>
          </p:nvPr>
        </p:nvSpPr>
        <p:spPr/>
        <p:txBody>
          <a:bodyPr/>
          <a:lstStyle/>
          <a:p>
            <a:fld id="{F9D8934E-928E-4C38-807A-CB32A0A7C43F}" type="slidenum">
              <a:rPr lang="en-ZA" smtClean="0"/>
              <a:t>22</a:t>
            </a:fld>
            <a:endParaRPr lang="en-ZA"/>
          </a:p>
        </p:txBody>
      </p:sp>
    </p:spTree>
    <p:extLst>
      <p:ext uri="{BB962C8B-B14F-4D97-AF65-F5344CB8AC3E}">
        <p14:creationId xmlns:p14="http://schemas.microsoft.com/office/powerpoint/2010/main" val="8176984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D923D0-D0FF-4A52-830C-A58EE95C8CB6}"/>
              </a:ext>
            </a:extLst>
          </p:cNvPr>
          <p:cNvSpPr>
            <a:spLocks noGrp="1"/>
          </p:cNvSpPr>
          <p:nvPr>
            <p:ph idx="1"/>
          </p:nvPr>
        </p:nvSpPr>
        <p:spPr>
          <a:xfrm>
            <a:off x="1484310" y="762001"/>
            <a:ext cx="10018713" cy="5029200"/>
          </a:xfrm>
        </p:spPr>
        <p:txBody>
          <a:bodyPr/>
          <a:lstStyle/>
          <a:p>
            <a:pPr marL="0" indent="0">
              <a:buNone/>
            </a:pPr>
            <a:r>
              <a:rPr lang="en-US" sz="2800" dirty="0">
                <a:solidFill>
                  <a:schemeClr val="accent1">
                    <a:lumMod val="75000"/>
                  </a:schemeClr>
                </a:solidFill>
              </a:rPr>
              <a:t>When would you use a Survey?</a:t>
            </a:r>
          </a:p>
          <a:p>
            <a:pPr marL="457200" indent="-457200">
              <a:buFont typeface="+mj-lt"/>
              <a:buAutoNum type="arabicPeriod"/>
            </a:pPr>
            <a:r>
              <a:rPr lang="en-US" dirty="0"/>
              <a:t>Four friends need to decide on what beer to buy</a:t>
            </a:r>
          </a:p>
          <a:p>
            <a:pPr marL="457200" indent="-457200">
              <a:buFont typeface="+mj-lt"/>
              <a:buAutoNum type="arabicPeriod"/>
            </a:pPr>
            <a:r>
              <a:rPr lang="en-US" dirty="0"/>
              <a:t>KFC wants to update menu selection</a:t>
            </a:r>
          </a:p>
          <a:p>
            <a:pPr marL="457200" indent="-457200">
              <a:buFont typeface="+mj-lt"/>
              <a:buAutoNum type="arabicPeriod"/>
            </a:pPr>
            <a:r>
              <a:rPr lang="en-US" dirty="0"/>
              <a:t>Find the best ML technique to identify features in VLE implementation</a:t>
            </a:r>
          </a:p>
          <a:p>
            <a:pPr marL="457200" indent="-457200">
              <a:buFont typeface="+mj-lt"/>
              <a:buAutoNum type="arabicPeriod"/>
            </a:pPr>
            <a:r>
              <a:rPr lang="en-US" dirty="0"/>
              <a:t>Census 2050</a:t>
            </a:r>
          </a:p>
          <a:p>
            <a:pPr marL="457200" indent="-457200">
              <a:buFont typeface="+mj-lt"/>
              <a:buAutoNum type="arabicPeriod"/>
            </a:pPr>
            <a:r>
              <a:rPr lang="en-US" dirty="0"/>
              <a:t>To determine reasons for channel zapping</a:t>
            </a:r>
          </a:p>
          <a:p>
            <a:pPr marL="457200" indent="-457200">
              <a:buFont typeface="+mj-lt"/>
              <a:buAutoNum type="arabicPeriod"/>
            </a:pPr>
            <a:r>
              <a:rPr lang="en-US" dirty="0"/>
              <a:t>To test a new IoT-based marine salvage system</a:t>
            </a:r>
          </a:p>
          <a:p>
            <a:pPr marL="457200" indent="-457200">
              <a:buFont typeface="+mj-lt"/>
              <a:buAutoNum type="arabicPeriod"/>
            </a:pPr>
            <a:endParaRPr lang="en-ZA" dirty="0"/>
          </a:p>
        </p:txBody>
      </p:sp>
      <p:sp>
        <p:nvSpPr>
          <p:cNvPr id="4" name="Footer Placeholder 3">
            <a:extLst>
              <a:ext uri="{FF2B5EF4-FFF2-40B4-BE49-F238E27FC236}">
                <a16:creationId xmlns:a16="http://schemas.microsoft.com/office/drawing/2014/main" id="{55568889-6014-4355-8B92-4A5CCD67B131}"/>
              </a:ext>
            </a:extLst>
          </p:cNvPr>
          <p:cNvSpPr>
            <a:spLocks noGrp="1"/>
          </p:cNvSpPr>
          <p:nvPr>
            <p:ph type="ftr" sz="quarter" idx="11"/>
          </p:nvPr>
        </p:nvSpPr>
        <p:spPr/>
        <p:txBody>
          <a:bodyPr/>
          <a:lstStyle/>
          <a:p>
            <a:r>
              <a:rPr lang="en-ZA"/>
              <a:t>Dr Alveen Singh - RESK401</a:t>
            </a:r>
          </a:p>
        </p:txBody>
      </p:sp>
      <p:sp>
        <p:nvSpPr>
          <p:cNvPr id="5" name="Slide Number Placeholder 4">
            <a:extLst>
              <a:ext uri="{FF2B5EF4-FFF2-40B4-BE49-F238E27FC236}">
                <a16:creationId xmlns:a16="http://schemas.microsoft.com/office/drawing/2014/main" id="{F974AA54-33CA-4C00-9899-C339069D1DB7}"/>
              </a:ext>
            </a:extLst>
          </p:cNvPr>
          <p:cNvSpPr>
            <a:spLocks noGrp="1"/>
          </p:cNvSpPr>
          <p:nvPr>
            <p:ph type="sldNum" sz="quarter" idx="12"/>
          </p:nvPr>
        </p:nvSpPr>
        <p:spPr/>
        <p:txBody>
          <a:bodyPr/>
          <a:lstStyle/>
          <a:p>
            <a:fld id="{F9D8934E-928E-4C38-807A-CB32A0A7C43F}" type="slidenum">
              <a:rPr lang="en-ZA" smtClean="0"/>
              <a:t>23</a:t>
            </a:fld>
            <a:endParaRPr lang="en-ZA"/>
          </a:p>
        </p:txBody>
      </p:sp>
    </p:spTree>
    <p:extLst>
      <p:ext uri="{BB962C8B-B14F-4D97-AF65-F5344CB8AC3E}">
        <p14:creationId xmlns:p14="http://schemas.microsoft.com/office/powerpoint/2010/main" val="11230002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69174"/>
            <a:ext cx="10018713" cy="1752599"/>
          </a:xfrm>
        </p:spPr>
        <p:txBody>
          <a:bodyPr/>
          <a:lstStyle/>
          <a:p>
            <a:r>
              <a:rPr lang="en-US" dirty="0"/>
              <a:t>Design Research</a:t>
            </a:r>
            <a:endParaRPr lang="en-ZA" dirty="0"/>
          </a:p>
        </p:txBody>
      </p:sp>
      <p:sp>
        <p:nvSpPr>
          <p:cNvPr id="4" name="Footer Placeholder 3"/>
          <p:cNvSpPr>
            <a:spLocks noGrp="1"/>
          </p:cNvSpPr>
          <p:nvPr>
            <p:ph type="ftr" sz="quarter" idx="11"/>
          </p:nvPr>
        </p:nvSpPr>
        <p:spPr/>
        <p:txBody>
          <a:bodyPr/>
          <a:lstStyle/>
          <a:p>
            <a:r>
              <a:rPr lang="en-ZA"/>
              <a:t>Dr Alveen Singh - RESK401</a:t>
            </a:r>
          </a:p>
        </p:txBody>
      </p:sp>
      <p:sp>
        <p:nvSpPr>
          <p:cNvPr id="5" name="Slide Number Placeholder 4"/>
          <p:cNvSpPr>
            <a:spLocks noGrp="1"/>
          </p:cNvSpPr>
          <p:nvPr>
            <p:ph type="sldNum" sz="quarter" idx="12"/>
          </p:nvPr>
        </p:nvSpPr>
        <p:spPr/>
        <p:txBody>
          <a:bodyPr/>
          <a:lstStyle/>
          <a:p>
            <a:fld id="{F9D8934E-928E-4C38-807A-CB32A0A7C43F}" type="slidenum">
              <a:rPr lang="en-ZA" smtClean="0"/>
              <a:t>24</a:t>
            </a:fld>
            <a:endParaRPr lang="en-ZA"/>
          </a:p>
        </p:txBody>
      </p:sp>
      <p:sp>
        <p:nvSpPr>
          <p:cNvPr id="7" name="Content Placeholder 6"/>
          <p:cNvSpPr>
            <a:spLocks noGrp="1"/>
          </p:cNvSpPr>
          <p:nvPr>
            <p:ph idx="1"/>
          </p:nvPr>
        </p:nvSpPr>
        <p:spPr>
          <a:xfrm>
            <a:off x="1484310" y="2351315"/>
            <a:ext cx="10018713" cy="3439886"/>
          </a:xfrm>
        </p:spPr>
        <p:txBody>
          <a:bodyPr anchor="t"/>
          <a:lstStyle/>
          <a:p>
            <a:r>
              <a:rPr lang="en-US" dirty="0">
                <a:latin typeface="Arial Narrow" panose="020B0606020202030204" pitchFamily="34" charset="0"/>
              </a:rPr>
              <a:t>To solve persistent societal and industry problems</a:t>
            </a:r>
          </a:p>
          <a:p>
            <a:r>
              <a:rPr lang="en-US" dirty="0">
                <a:latin typeface="Arial Narrow" panose="020B0606020202030204" pitchFamily="34" charset="0"/>
              </a:rPr>
              <a:t>Leverage different areas and developments in ICT to </a:t>
            </a:r>
          </a:p>
          <a:p>
            <a:pPr marL="0" indent="0">
              <a:buNone/>
            </a:pPr>
            <a:r>
              <a:rPr lang="en-US" dirty="0">
                <a:latin typeface="Arial Narrow" panose="020B0606020202030204" pitchFamily="34" charset="0"/>
              </a:rPr>
              <a:t>	propose viable, practical solutions</a:t>
            </a:r>
          </a:p>
          <a:p>
            <a:r>
              <a:rPr lang="en-US" dirty="0">
                <a:latin typeface="Arial Narrow" panose="020B0606020202030204" pitchFamily="34" charset="0"/>
              </a:rPr>
              <a:t>Developments in ML, DL, CV, CS, IoT etc.</a:t>
            </a:r>
            <a:endParaRPr lang="en-ZA" dirty="0">
              <a:latin typeface="Arial Narrow" panose="020B0606020202030204" pitchFamily="34" charset="0"/>
            </a:endParaRPr>
          </a:p>
        </p:txBody>
      </p:sp>
      <p:pic>
        <p:nvPicPr>
          <p:cNvPr id="3" name="Picture 2"/>
          <p:cNvPicPr>
            <a:picLocks noChangeAspect="1"/>
          </p:cNvPicPr>
          <p:nvPr/>
        </p:nvPicPr>
        <p:blipFill>
          <a:blip r:embed="rId2"/>
          <a:stretch>
            <a:fillRect/>
          </a:stretch>
        </p:blipFill>
        <p:spPr>
          <a:xfrm>
            <a:off x="8899616" y="469174"/>
            <a:ext cx="2857500" cy="1600200"/>
          </a:xfrm>
          <a:prstGeom prst="rect">
            <a:avLst/>
          </a:prstGeom>
        </p:spPr>
      </p:pic>
      <p:pic>
        <p:nvPicPr>
          <p:cNvPr id="6" name="Picture 5"/>
          <p:cNvPicPr>
            <a:picLocks noChangeAspect="1"/>
          </p:cNvPicPr>
          <p:nvPr/>
        </p:nvPicPr>
        <p:blipFill>
          <a:blip r:embed="rId3"/>
          <a:stretch>
            <a:fillRect/>
          </a:stretch>
        </p:blipFill>
        <p:spPr>
          <a:xfrm>
            <a:off x="9213941" y="2720340"/>
            <a:ext cx="2543175" cy="1800225"/>
          </a:xfrm>
          <a:prstGeom prst="rect">
            <a:avLst/>
          </a:prstGeom>
        </p:spPr>
      </p:pic>
      <p:pic>
        <p:nvPicPr>
          <p:cNvPr id="8" name="Picture 7"/>
          <p:cNvPicPr>
            <a:picLocks noChangeAspect="1"/>
          </p:cNvPicPr>
          <p:nvPr/>
        </p:nvPicPr>
        <p:blipFill>
          <a:blip r:embed="rId4"/>
          <a:stretch>
            <a:fillRect/>
          </a:stretch>
        </p:blipFill>
        <p:spPr>
          <a:xfrm>
            <a:off x="7628028" y="4889590"/>
            <a:ext cx="2857500" cy="1600200"/>
          </a:xfrm>
          <a:prstGeom prst="rect">
            <a:avLst/>
          </a:prstGeom>
        </p:spPr>
      </p:pic>
      <p:pic>
        <p:nvPicPr>
          <p:cNvPr id="10" name="Picture 9"/>
          <p:cNvPicPr>
            <a:picLocks noChangeAspect="1"/>
          </p:cNvPicPr>
          <p:nvPr/>
        </p:nvPicPr>
        <p:blipFill>
          <a:blip r:embed="rId5"/>
          <a:stretch>
            <a:fillRect/>
          </a:stretch>
        </p:blipFill>
        <p:spPr>
          <a:xfrm>
            <a:off x="4179581" y="4818152"/>
            <a:ext cx="2619375" cy="1743075"/>
          </a:xfrm>
          <a:prstGeom prst="rect">
            <a:avLst/>
          </a:prstGeom>
        </p:spPr>
      </p:pic>
    </p:spTree>
    <p:extLst>
      <p:ext uri="{BB962C8B-B14F-4D97-AF65-F5344CB8AC3E}">
        <p14:creationId xmlns:p14="http://schemas.microsoft.com/office/powerpoint/2010/main" val="34704480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84310" y="1088571"/>
            <a:ext cx="10018713" cy="4702629"/>
          </a:xfrm>
        </p:spPr>
        <p:txBody>
          <a:bodyPr anchor="t">
            <a:normAutofit/>
          </a:bodyPr>
          <a:lstStyle/>
          <a:p>
            <a:r>
              <a:rPr lang="en-US" sz="2000" dirty="0">
                <a:latin typeface="Arial Narrow" panose="020B0606020202030204" pitchFamily="34" charset="0"/>
              </a:rPr>
              <a:t>Design science research has two main activities: </a:t>
            </a:r>
          </a:p>
          <a:p>
            <a:pPr lvl="1"/>
            <a:r>
              <a:rPr lang="en-US" sz="1600" dirty="0">
                <a:latin typeface="Arial Narrow" panose="020B0606020202030204" pitchFamily="34" charset="0"/>
              </a:rPr>
              <a:t>The </a:t>
            </a:r>
            <a:r>
              <a:rPr lang="en-US" sz="1600" dirty="0">
                <a:solidFill>
                  <a:srgbClr val="FF0000"/>
                </a:solidFill>
                <a:latin typeface="Arial Narrow" panose="020B0606020202030204" pitchFamily="34" charset="0"/>
              </a:rPr>
              <a:t>creation</a:t>
            </a:r>
            <a:r>
              <a:rPr lang="en-US" sz="1600" dirty="0">
                <a:latin typeface="Arial Narrow" panose="020B0606020202030204" pitchFamily="34" charset="0"/>
              </a:rPr>
              <a:t> of a new knowledge via an </a:t>
            </a:r>
            <a:r>
              <a:rPr lang="en-US" sz="1600" dirty="0" err="1">
                <a:latin typeface="Arial Narrow" panose="020B0606020202030204" pitchFamily="34" charset="0"/>
              </a:rPr>
              <a:t>innovstive</a:t>
            </a:r>
            <a:r>
              <a:rPr lang="en-US" sz="1600" dirty="0">
                <a:latin typeface="Arial Narrow" panose="020B0606020202030204" pitchFamily="34" charset="0"/>
              </a:rPr>
              <a:t> technological artefact </a:t>
            </a:r>
          </a:p>
          <a:p>
            <a:pPr lvl="1"/>
            <a:endParaRPr lang="en-US" sz="1600" dirty="0">
              <a:latin typeface="Arial Narrow" panose="020B0606020202030204" pitchFamily="34" charset="0"/>
            </a:endParaRPr>
          </a:p>
          <a:p>
            <a:pPr marL="457200" lvl="1" indent="0">
              <a:buNone/>
            </a:pPr>
            <a:endParaRPr lang="en-US" sz="1600" dirty="0">
              <a:latin typeface="Arial Narrow" panose="020B0606020202030204" pitchFamily="34" charset="0"/>
            </a:endParaRPr>
          </a:p>
          <a:p>
            <a:pPr marL="457200" lvl="1" indent="0">
              <a:buNone/>
            </a:pPr>
            <a:endParaRPr lang="en-US" sz="1600" dirty="0">
              <a:latin typeface="Arial Narrow" panose="020B0606020202030204" pitchFamily="34" charset="0"/>
            </a:endParaRPr>
          </a:p>
          <a:p>
            <a:pPr lvl="1"/>
            <a:r>
              <a:rPr lang="en-US" sz="1600" dirty="0">
                <a:solidFill>
                  <a:srgbClr val="FF0000"/>
                </a:solidFill>
                <a:latin typeface="Arial Narrow" panose="020B0606020202030204" pitchFamily="34" charset="0"/>
              </a:rPr>
              <a:t>Evaluate</a:t>
            </a:r>
            <a:r>
              <a:rPr lang="en-US" sz="1600" dirty="0">
                <a:latin typeface="Arial Narrow" panose="020B0606020202030204" pitchFamily="34" charset="0"/>
              </a:rPr>
              <a:t> the performance of the new artefact for effectiveness </a:t>
            </a:r>
          </a:p>
        </p:txBody>
      </p:sp>
      <p:sp>
        <p:nvSpPr>
          <p:cNvPr id="4" name="Footer Placeholder 3"/>
          <p:cNvSpPr>
            <a:spLocks noGrp="1"/>
          </p:cNvSpPr>
          <p:nvPr>
            <p:ph type="ftr" sz="quarter" idx="11"/>
          </p:nvPr>
        </p:nvSpPr>
        <p:spPr/>
        <p:txBody>
          <a:bodyPr/>
          <a:lstStyle/>
          <a:p>
            <a:r>
              <a:rPr lang="en-ZA"/>
              <a:t>Dr Alveen Singh - RESK401</a:t>
            </a:r>
          </a:p>
        </p:txBody>
      </p:sp>
      <p:sp>
        <p:nvSpPr>
          <p:cNvPr id="5" name="Slide Number Placeholder 4"/>
          <p:cNvSpPr>
            <a:spLocks noGrp="1"/>
          </p:cNvSpPr>
          <p:nvPr>
            <p:ph type="sldNum" sz="quarter" idx="12"/>
          </p:nvPr>
        </p:nvSpPr>
        <p:spPr/>
        <p:txBody>
          <a:bodyPr/>
          <a:lstStyle/>
          <a:p>
            <a:fld id="{F9D8934E-928E-4C38-807A-CB32A0A7C43F}" type="slidenum">
              <a:rPr lang="en-ZA" smtClean="0"/>
              <a:t>25</a:t>
            </a:fld>
            <a:endParaRPr lang="en-ZA"/>
          </a:p>
        </p:txBody>
      </p:sp>
      <p:pic>
        <p:nvPicPr>
          <p:cNvPr id="2" name="Picture 1"/>
          <p:cNvPicPr>
            <a:picLocks noChangeAspect="1"/>
          </p:cNvPicPr>
          <p:nvPr/>
        </p:nvPicPr>
        <p:blipFill>
          <a:blip r:embed="rId2"/>
          <a:stretch>
            <a:fillRect/>
          </a:stretch>
        </p:blipFill>
        <p:spPr>
          <a:xfrm>
            <a:off x="8637281" y="1929356"/>
            <a:ext cx="2314575" cy="1971675"/>
          </a:xfrm>
          <a:prstGeom prst="rect">
            <a:avLst/>
          </a:prstGeom>
        </p:spPr>
      </p:pic>
      <p:sp>
        <p:nvSpPr>
          <p:cNvPr id="6" name="TextBox 5"/>
          <p:cNvSpPr txBox="1"/>
          <p:nvPr/>
        </p:nvSpPr>
        <p:spPr>
          <a:xfrm>
            <a:off x="9277879" y="3993106"/>
            <a:ext cx="1329161" cy="307777"/>
          </a:xfrm>
          <a:prstGeom prst="rect">
            <a:avLst/>
          </a:prstGeom>
          <a:noFill/>
        </p:spPr>
        <p:txBody>
          <a:bodyPr wrap="square" rtlCol="0">
            <a:spAutoFit/>
          </a:bodyPr>
          <a:lstStyle/>
          <a:p>
            <a:r>
              <a:rPr lang="en-US" sz="1400" dirty="0" err="1">
                <a:solidFill>
                  <a:srgbClr val="FF0000"/>
                </a:solidFill>
              </a:rPr>
              <a:t>Sonda.com</a:t>
            </a:r>
            <a:endParaRPr lang="en-ZA" dirty="0">
              <a:solidFill>
                <a:srgbClr val="FF0000"/>
              </a:solidFill>
            </a:endParaRPr>
          </a:p>
        </p:txBody>
      </p:sp>
      <p:pic>
        <p:nvPicPr>
          <p:cNvPr id="7" name="Picture 6"/>
          <p:cNvPicPr>
            <a:picLocks noChangeAspect="1"/>
          </p:cNvPicPr>
          <p:nvPr/>
        </p:nvPicPr>
        <p:blipFill rotWithShape="1">
          <a:blip r:embed="rId3"/>
          <a:srcRect b="9635"/>
          <a:stretch/>
        </p:blipFill>
        <p:spPr>
          <a:xfrm>
            <a:off x="1484310" y="3748524"/>
            <a:ext cx="6076478" cy="1816253"/>
          </a:xfrm>
          <a:prstGeom prst="rect">
            <a:avLst/>
          </a:prstGeom>
        </p:spPr>
      </p:pic>
      <p:sp>
        <p:nvSpPr>
          <p:cNvPr id="8" name="TextBox 7"/>
          <p:cNvSpPr txBox="1"/>
          <p:nvPr/>
        </p:nvSpPr>
        <p:spPr>
          <a:xfrm>
            <a:off x="3857968" y="5683349"/>
            <a:ext cx="1558763" cy="307777"/>
          </a:xfrm>
          <a:prstGeom prst="rect">
            <a:avLst/>
          </a:prstGeom>
          <a:noFill/>
        </p:spPr>
        <p:txBody>
          <a:bodyPr wrap="square" rtlCol="0">
            <a:spAutoFit/>
          </a:bodyPr>
          <a:lstStyle/>
          <a:p>
            <a:r>
              <a:rPr lang="en-US" sz="1400" dirty="0" err="1">
                <a:solidFill>
                  <a:srgbClr val="FF0000"/>
                </a:solidFill>
              </a:rPr>
              <a:t>Shutterstock.com</a:t>
            </a:r>
            <a:endParaRPr lang="en-ZA" dirty="0">
              <a:solidFill>
                <a:srgbClr val="FF0000"/>
              </a:solidFill>
            </a:endParaRPr>
          </a:p>
        </p:txBody>
      </p:sp>
    </p:spTree>
    <p:extLst>
      <p:ext uri="{BB962C8B-B14F-4D97-AF65-F5344CB8AC3E}">
        <p14:creationId xmlns:p14="http://schemas.microsoft.com/office/powerpoint/2010/main" val="29772475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84310" y="1055913"/>
            <a:ext cx="10018713" cy="3124201"/>
          </a:xfrm>
        </p:spPr>
        <p:txBody>
          <a:bodyPr/>
          <a:lstStyle/>
          <a:p>
            <a:pPr marL="0" indent="0" algn="ctr">
              <a:buNone/>
            </a:pPr>
            <a:r>
              <a:rPr lang="en-US" dirty="0">
                <a:solidFill>
                  <a:srgbClr val="0070C0"/>
                </a:solidFill>
                <a:latin typeface="Arial Rounded MT Bold" panose="020F0704030504030204" pitchFamily="34" charset="0"/>
              </a:rPr>
              <a:t>In design research the development and evaluation of a technological or knowledge artefact is a key contribution</a:t>
            </a:r>
            <a:endParaRPr lang="en-ZA" dirty="0">
              <a:solidFill>
                <a:srgbClr val="0070C0"/>
              </a:solidFill>
              <a:latin typeface="Arial Rounded MT Bold" panose="020F0704030504030204" pitchFamily="34" charset="0"/>
            </a:endParaRPr>
          </a:p>
        </p:txBody>
      </p:sp>
      <p:sp>
        <p:nvSpPr>
          <p:cNvPr id="4" name="Footer Placeholder 3"/>
          <p:cNvSpPr>
            <a:spLocks noGrp="1"/>
          </p:cNvSpPr>
          <p:nvPr>
            <p:ph type="ftr" sz="quarter" idx="11"/>
          </p:nvPr>
        </p:nvSpPr>
        <p:spPr/>
        <p:txBody>
          <a:bodyPr/>
          <a:lstStyle/>
          <a:p>
            <a:r>
              <a:rPr lang="en-ZA"/>
              <a:t>Dr Alveen Singh - RESK401</a:t>
            </a:r>
          </a:p>
        </p:txBody>
      </p:sp>
      <p:sp>
        <p:nvSpPr>
          <p:cNvPr id="5" name="Slide Number Placeholder 4"/>
          <p:cNvSpPr>
            <a:spLocks noGrp="1"/>
          </p:cNvSpPr>
          <p:nvPr>
            <p:ph type="sldNum" sz="quarter" idx="12"/>
          </p:nvPr>
        </p:nvSpPr>
        <p:spPr/>
        <p:txBody>
          <a:bodyPr/>
          <a:lstStyle/>
          <a:p>
            <a:fld id="{F9D8934E-928E-4C38-807A-CB32A0A7C43F}" type="slidenum">
              <a:rPr lang="en-ZA" smtClean="0"/>
              <a:t>26</a:t>
            </a:fld>
            <a:endParaRPr lang="en-ZA"/>
          </a:p>
        </p:txBody>
      </p:sp>
    </p:spTree>
    <p:extLst>
      <p:ext uri="{BB962C8B-B14F-4D97-AF65-F5344CB8AC3E}">
        <p14:creationId xmlns:p14="http://schemas.microsoft.com/office/powerpoint/2010/main" val="4681938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84310" y="1088571"/>
            <a:ext cx="10018713" cy="4702629"/>
          </a:xfrm>
        </p:spPr>
        <p:txBody>
          <a:bodyPr anchor="t">
            <a:normAutofit fontScale="92500" lnSpcReduction="10000"/>
          </a:bodyPr>
          <a:lstStyle/>
          <a:p>
            <a:pPr marL="0" indent="0">
              <a:buNone/>
            </a:pPr>
            <a:r>
              <a:rPr lang="en-US" dirty="0">
                <a:latin typeface="Arial Narrow" panose="020B0606020202030204" pitchFamily="34" charset="0"/>
              </a:rPr>
              <a:t>Which are examples that arise from Design Research?</a:t>
            </a:r>
          </a:p>
          <a:p>
            <a:pPr marL="0" indent="0">
              <a:buNone/>
            </a:pPr>
            <a:endParaRPr lang="en-US" dirty="0">
              <a:latin typeface="Arial Narrow" panose="020B0606020202030204" pitchFamily="34" charset="0"/>
            </a:endParaRPr>
          </a:p>
          <a:p>
            <a:pPr marL="457200" indent="-457200">
              <a:buFont typeface="+mj-lt"/>
              <a:buAutoNum type="arabicPeriod"/>
            </a:pPr>
            <a:r>
              <a:rPr lang="en-US" dirty="0">
                <a:latin typeface="Arial Narrow" panose="020B0606020202030204" pitchFamily="34" charset="0"/>
              </a:rPr>
              <a:t>user interface heuristics </a:t>
            </a:r>
          </a:p>
          <a:p>
            <a:pPr marL="457200" indent="-457200">
              <a:buFont typeface="+mj-lt"/>
              <a:buAutoNum type="arabicPeriod"/>
            </a:pPr>
            <a:r>
              <a:rPr lang="en-US" dirty="0">
                <a:latin typeface="Arial Narrow" panose="020B0606020202030204" pitchFamily="34" charset="0"/>
              </a:rPr>
              <a:t>meta analysis</a:t>
            </a:r>
          </a:p>
          <a:p>
            <a:pPr marL="457200" indent="-457200">
              <a:buFont typeface="+mj-lt"/>
              <a:buAutoNum type="arabicPeriod"/>
            </a:pPr>
            <a:r>
              <a:rPr lang="en-US" dirty="0">
                <a:latin typeface="Arial Narrow" panose="020B0606020202030204" pitchFamily="34" charset="0"/>
              </a:rPr>
              <a:t>algorithms for search engines and cybersecurity</a:t>
            </a:r>
          </a:p>
          <a:p>
            <a:pPr marL="457200" indent="-457200">
              <a:buFont typeface="+mj-lt"/>
              <a:buAutoNum type="arabicPeriod"/>
            </a:pPr>
            <a:r>
              <a:rPr lang="en-US" dirty="0">
                <a:latin typeface="Arial Narrow" panose="020B0606020202030204" pitchFamily="34" charset="0"/>
              </a:rPr>
              <a:t>an understanding of Google software dev practices</a:t>
            </a:r>
          </a:p>
          <a:p>
            <a:pPr marL="457200" indent="-457200">
              <a:buFont typeface="+mj-lt"/>
              <a:buAutoNum type="arabicPeriod"/>
            </a:pPr>
            <a:r>
              <a:rPr lang="en-US" dirty="0">
                <a:latin typeface="Arial Narrow" panose="020B0606020202030204" pitchFamily="34" charset="0"/>
              </a:rPr>
              <a:t>Scrum</a:t>
            </a:r>
          </a:p>
          <a:p>
            <a:pPr marL="457200" indent="-457200">
              <a:buFont typeface="+mj-lt"/>
              <a:buAutoNum type="arabicPeriod"/>
            </a:pPr>
            <a:r>
              <a:rPr lang="en-US" dirty="0">
                <a:latin typeface="Arial Narrow" panose="020B0606020202030204" pitchFamily="34" charset="0"/>
              </a:rPr>
              <a:t>DL or ML models</a:t>
            </a:r>
          </a:p>
          <a:p>
            <a:pPr marL="457200" indent="-457200">
              <a:buFont typeface="+mj-lt"/>
              <a:buAutoNum type="arabicPeriod"/>
            </a:pPr>
            <a:r>
              <a:rPr lang="en-US" dirty="0">
                <a:latin typeface="Arial Narrow" panose="020B0606020202030204" pitchFamily="34" charset="0"/>
              </a:rPr>
              <a:t>Opinion of UX designers</a:t>
            </a:r>
          </a:p>
          <a:p>
            <a:pPr marL="457200" indent="-457200">
              <a:buFont typeface="+mj-lt"/>
              <a:buAutoNum type="arabicPeriod"/>
            </a:pPr>
            <a:r>
              <a:rPr lang="en-US" dirty="0" err="1">
                <a:latin typeface="Arial Narrow" panose="020B0606020202030204" pitchFamily="34" charset="0"/>
              </a:rPr>
              <a:t>ChatGPT</a:t>
            </a:r>
            <a:endParaRPr lang="en-ZA" dirty="0">
              <a:latin typeface="Arial Narrow" panose="020B0606020202030204" pitchFamily="34" charset="0"/>
            </a:endParaRPr>
          </a:p>
        </p:txBody>
      </p:sp>
      <p:sp>
        <p:nvSpPr>
          <p:cNvPr id="4" name="Footer Placeholder 3"/>
          <p:cNvSpPr>
            <a:spLocks noGrp="1"/>
          </p:cNvSpPr>
          <p:nvPr>
            <p:ph type="ftr" sz="quarter" idx="11"/>
          </p:nvPr>
        </p:nvSpPr>
        <p:spPr/>
        <p:txBody>
          <a:bodyPr/>
          <a:lstStyle/>
          <a:p>
            <a:r>
              <a:rPr lang="en-ZA"/>
              <a:t>Dr Alveen Singh - RESK401</a:t>
            </a:r>
          </a:p>
        </p:txBody>
      </p:sp>
      <p:sp>
        <p:nvSpPr>
          <p:cNvPr id="5" name="Slide Number Placeholder 4"/>
          <p:cNvSpPr>
            <a:spLocks noGrp="1"/>
          </p:cNvSpPr>
          <p:nvPr>
            <p:ph type="sldNum" sz="quarter" idx="12"/>
          </p:nvPr>
        </p:nvSpPr>
        <p:spPr/>
        <p:txBody>
          <a:bodyPr/>
          <a:lstStyle/>
          <a:p>
            <a:fld id="{F9D8934E-928E-4C38-807A-CB32A0A7C43F}" type="slidenum">
              <a:rPr lang="en-ZA" smtClean="0"/>
              <a:t>27</a:t>
            </a:fld>
            <a:endParaRPr lang="en-ZA"/>
          </a:p>
        </p:txBody>
      </p:sp>
    </p:spTree>
    <p:extLst>
      <p:ext uri="{BB962C8B-B14F-4D97-AF65-F5344CB8AC3E}">
        <p14:creationId xmlns:p14="http://schemas.microsoft.com/office/powerpoint/2010/main" val="3134945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ZA"/>
              <a:t>Dr Alveen Singh - RESK401</a:t>
            </a:r>
          </a:p>
        </p:txBody>
      </p:sp>
      <p:sp>
        <p:nvSpPr>
          <p:cNvPr id="5" name="Slide Number Placeholder 4"/>
          <p:cNvSpPr>
            <a:spLocks noGrp="1"/>
          </p:cNvSpPr>
          <p:nvPr>
            <p:ph type="sldNum" sz="quarter" idx="12"/>
          </p:nvPr>
        </p:nvSpPr>
        <p:spPr/>
        <p:txBody>
          <a:bodyPr/>
          <a:lstStyle/>
          <a:p>
            <a:fld id="{F9D8934E-928E-4C38-807A-CB32A0A7C43F}" type="slidenum">
              <a:rPr lang="en-ZA" smtClean="0"/>
              <a:t>28</a:t>
            </a:fld>
            <a:endParaRPr lang="en-ZA"/>
          </a:p>
        </p:txBody>
      </p:sp>
      <p:pic>
        <p:nvPicPr>
          <p:cNvPr id="6" name="Picture 5"/>
          <p:cNvPicPr/>
          <p:nvPr/>
        </p:nvPicPr>
        <p:blipFill>
          <a:blip r:embed="rId2">
            <a:extLst>
              <a:ext uri="{28A0092B-C50C-407E-A947-70E740481C1C}">
                <a14:useLocalDpi xmlns:a14="http://schemas.microsoft.com/office/drawing/2010/main" val="0"/>
              </a:ext>
            </a:extLst>
          </a:blip>
          <a:srcRect/>
          <a:stretch>
            <a:fillRect/>
          </a:stretch>
        </p:blipFill>
        <p:spPr bwMode="auto">
          <a:xfrm>
            <a:off x="3178629" y="1227909"/>
            <a:ext cx="6328682" cy="3980089"/>
          </a:xfrm>
          <a:prstGeom prst="rect">
            <a:avLst/>
          </a:prstGeom>
          <a:noFill/>
          <a:ln>
            <a:noFill/>
          </a:ln>
        </p:spPr>
      </p:pic>
      <p:sp>
        <p:nvSpPr>
          <p:cNvPr id="7" name="TextBox 6"/>
          <p:cNvSpPr txBox="1"/>
          <p:nvPr/>
        </p:nvSpPr>
        <p:spPr>
          <a:xfrm>
            <a:off x="5678389" y="5559354"/>
            <a:ext cx="1880651" cy="307777"/>
          </a:xfrm>
          <a:prstGeom prst="rect">
            <a:avLst/>
          </a:prstGeom>
          <a:noFill/>
        </p:spPr>
        <p:txBody>
          <a:bodyPr wrap="square" rtlCol="0">
            <a:spAutoFit/>
          </a:bodyPr>
          <a:lstStyle/>
          <a:p>
            <a:r>
              <a:rPr lang="en-US" sz="1400" dirty="0" err="1">
                <a:solidFill>
                  <a:srgbClr val="FF0000"/>
                </a:solidFill>
              </a:rPr>
              <a:t>Vaishnavi</a:t>
            </a:r>
            <a:r>
              <a:rPr lang="en-US" sz="1400" dirty="0">
                <a:solidFill>
                  <a:srgbClr val="FF0000"/>
                </a:solidFill>
              </a:rPr>
              <a:t> (2019</a:t>
            </a:r>
            <a:endParaRPr lang="en-ZA" dirty="0">
              <a:solidFill>
                <a:srgbClr val="FF0000"/>
              </a:solidFill>
            </a:endParaRPr>
          </a:p>
        </p:txBody>
      </p:sp>
    </p:spTree>
    <p:extLst>
      <p:ext uri="{BB962C8B-B14F-4D97-AF65-F5344CB8AC3E}">
        <p14:creationId xmlns:p14="http://schemas.microsoft.com/office/powerpoint/2010/main" val="15059147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ZA"/>
              <a:t>Dr Alveen Singh - RESK401</a:t>
            </a:r>
          </a:p>
        </p:txBody>
      </p:sp>
      <p:sp>
        <p:nvSpPr>
          <p:cNvPr id="5" name="Slide Number Placeholder 4"/>
          <p:cNvSpPr>
            <a:spLocks noGrp="1"/>
          </p:cNvSpPr>
          <p:nvPr>
            <p:ph type="sldNum" sz="quarter" idx="12"/>
          </p:nvPr>
        </p:nvSpPr>
        <p:spPr/>
        <p:txBody>
          <a:bodyPr/>
          <a:lstStyle/>
          <a:p>
            <a:fld id="{F9D8934E-928E-4C38-807A-CB32A0A7C43F}" type="slidenum">
              <a:rPr lang="en-ZA" smtClean="0"/>
              <a:t>29</a:t>
            </a:fld>
            <a:endParaRPr lang="en-ZA"/>
          </a:p>
        </p:txBody>
      </p:sp>
      <p:sp>
        <p:nvSpPr>
          <p:cNvPr id="8" name="TextBox 7"/>
          <p:cNvSpPr txBox="1"/>
          <p:nvPr/>
        </p:nvSpPr>
        <p:spPr>
          <a:xfrm>
            <a:off x="3404506" y="474421"/>
            <a:ext cx="5419722" cy="369332"/>
          </a:xfrm>
          <a:prstGeom prst="rect">
            <a:avLst/>
          </a:prstGeom>
          <a:noFill/>
        </p:spPr>
        <p:txBody>
          <a:bodyPr wrap="square" rtlCol="0">
            <a:spAutoFit/>
          </a:bodyPr>
          <a:lstStyle/>
          <a:p>
            <a:pPr algn="ctr"/>
            <a:r>
              <a:rPr lang="en-US" b="1" dirty="0">
                <a:solidFill>
                  <a:srgbClr val="0070C0"/>
                </a:solidFill>
              </a:rPr>
              <a:t>An example design research from the field of </a:t>
            </a:r>
            <a:r>
              <a:rPr lang="en-US" b="1" dirty="0" err="1">
                <a:solidFill>
                  <a:srgbClr val="0070C0"/>
                </a:solidFill>
              </a:rPr>
              <a:t>HCI</a:t>
            </a:r>
            <a:endParaRPr lang="en-ZA" sz="2400" b="1" dirty="0">
              <a:solidFill>
                <a:srgbClr val="0070C0"/>
              </a:solidFill>
            </a:endParaRPr>
          </a:p>
        </p:txBody>
      </p:sp>
      <p:pic>
        <p:nvPicPr>
          <p:cNvPr id="10" name="Picture 9"/>
          <p:cNvPicPr>
            <a:picLocks noChangeAspect="1"/>
          </p:cNvPicPr>
          <p:nvPr/>
        </p:nvPicPr>
        <p:blipFill>
          <a:blip r:embed="rId2"/>
          <a:stretch>
            <a:fillRect/>
          </a:stretch>
        </p:blipFill>
        <p:spPr>
          <a:xfrm>
            <a:off x="3224803" y="1299104"/>
            <a:ext cx="6431653" cy="4128819"/>
          </a:xfrm>
          <a:prstGeom prst="rect">
            <a:avLst/>
          </a:prstGeom>
        </p:spPr>
      </p:pic>
      <p:sp>
        <p:nvSpPr>
          <p:cNvPr id="11" name="TextBox 10"/>
          <p:cNvSpPr txBox="1"/>
          <p:nvPr/>
        </p:nvSpPr>
        <p:spPr>
          <a:xfrm>
            <a:off x="5725849" y="5727898"/>
            <a:ext cx="1734360" cy="307777"/>
          </a:xfrm>
          <a:prstGeom prst="rect">
            <a:avLst/>
          </a:prstGeom>
          <a:noFill/>
        </p:spPr>
        <p:txBody>
          <a:bodyPr wrap="square" rtlCol="0">
            <a:spAutoFit/>
          </a:bodyPr>
          <a:lstStyle/>
          <a:p>
            <a:r>
              <a:rPr lang="en-US" sz="1400" dirty="0">
                <a:solidFill>
                  <a:srgbClr val="FF0000"/>
                </a:solidFill>
              </a:rPr>
              <a:t>Zimmerman, 2014</a:t>
            </a:r>
            <a:endParaRPr lang="en-ZA" dirty="0">
              <a:solidFill>
                <a:srgbClr val="FF0000"/>
              </a:solidFill>
            </a:endParaRPr>
          </a:p>
        </p:txBody>
      </p:sp>
    </p:spTree>
    <p:extLst>
      <p:ext uri="{BB962C8B-B14F-4D97-AF65-F5344CB8AC3E}">
        <p14:creationId xmlns:p14="http://schemas.microsoft.com/office/powerpoint/2010/main" val="10502939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84310" y="447675"/>
            <a:ext cx="10018713" cy="5343525"/>
          </a:xfrm>
        </p:spPr>
        <p:txBody>
          <a:bodyPr anchor="t">
            <a:normAutofit/>
          </a:bodyPr>
          <a:lstStyle/>
          <a:p>
            <a:pPr marL="0" indent="0">
              <a:buNone/>
            </a:pPr>
            <a:r>
              <a:rPr lang="en-US" dirty="0">
                <a:latin typeface="Arial Narrow" panose="020B0606020202030204" pitchFamily="34" charset="0"/>
              </a:rPr>
              <a:t>Examples of Design Research</a:t>
            </a:r>
          </a:p>
          <a:p>
            <a:pPr marL="0" indent="0">
              <a:buNone/>
            </a:pPr>
            <a:endParaRPr lang="en-US" dirty="0">
              <a:latin typeface="Arial Narrow" panose="020B0606020202030204" pitchFamily="34" charset="0"/>
            </a:endParaRPr>
          </a:p>
          <a:p>
            <a:pPr marL="0" indent="0">
              <a:buNone/>
            </a:pPr>
            <a:r>
              <a:rPr lang="en-US" dirty="0"/>
              <a:t>Developing a mobile learning framework for the </a:t>
            </a:r>
            <a:r>
              <a:rPr lang="en-US" dirty="0" err="1"/>
              <a:t>ICT4RED</a:t>
            </a:r>
            <a:r>
              <a:rPr lang="en-US" dirty="0"/>
              <a:t> project in Eastern Cape Province of </a:t>
            </a:r>
            <a:r>
              <a:rPr lang="en-US" dirty="0" err="1"/>
              <a:t>RSA</a:t>
            </a:r>
            <a:endParaRPr lang="en-US" dirty="0"/>
          </a:p>
          <a:p>
            <a:pPr marL="0" indent="0">
              <a:buNone/>
            </a:pPr>
            <a:r>
              <a:rPr lang="en-US" dirty="0">
                <a:latin typeface="Arial Narrow" panose="020B0606020202030204" pitchFamily="34" charset="0"/>
              </a:rPr>
              <a:t>	</a:t>
            </a:r>
            <a:r>
              <a:rPr lang="en-US" dirty="0">
                <a:latin typeface="Arial Narrow" panose="020B0606020202030204" pitchFamily="34" charset="0"/>
                <a:hlinkClick r:id="rId2"/>
              </a:rPr>
              <a:t>https://</a:t>
            </a:r>
            <a:r>
              <a:rPr lang="en-US" dirty="0" err="1">
                <a:latin typeface="Arial Narrow" panose="020B0606020202030204" pitchFamily="34" charset="0"/>
                <a:hlinkClick r:id="rId2"/>
              </a:rPr>
              <a:t>researchspace.csir.co.za</a:t>
            </a:r>
            <a:r>
              <a:rPr lang="en-US" dirty="0">
                <a:latin typeface="Arial Narrow" panose="020B0606020202030204" pitchFamily="34" charset="0"/>
                <a:hlinkClick r:id="rId2"/>
              </a:rPr>
              <a:t>/</a:t>
            </a:r>
            <a:r>
              <a:rPr lang="en-US" dirty="0" err="1">
                <a:latin typeface="Arial Narrow" panose="020B0606020202030204" pitchFamily="34" charset="0"/>
                <a:hlinkClick r:id="rId2"/>
              </a:rPr>
              <a:t>dspace</a:t>
            </a:r>
            <a:r>
              <a:rPr lang="en-US" dirty="0">
                <a:latin typeface="Arial Narrow" panose="020B0606020202030204" pitchFamily="34" charset="0"/>
                <a:hlinkClick r:id="rId2"/>
              </a:rPr>
              <a:t>/handle/10204/7927</a:t>
            </a:r>
            <a:r>
              <a:rPr lang="en-US" dirty="0">
                <a:latin typeface="Arial Narrow" panose="020B0606020202030204" pitchFamily="34" charset="0"/>
              </a:rPr>
              <a:t> </a:t>
            </a:r>
          </a:p>
          <a:p>
            <a:pPr marL="0" indent="0">
              <a:buNone/>
            </a:pPr>
            <a:endParaRPr lang="en-US" dirty="0">
              <a:latin typeface="Arial Narrow" panose="020B0606020202030204" pitchFamily="34" charset="0"/>
            </a:endParaRPr>
          </a:p>
          <a:p>
            <a:pPr marL="0" indent="0">
              <a:buNone/>
            </a:pPr>
            <a:r>
              <a:rPr lang="en-US" dirty="0">
                <a:latin typeface="Arial Narrow" panose="020B0606020202030204" pitchFamily="34" charset="0"/>
              </a:rPr>
              <a:t>See: </a:t>
            </a:r>
            <a:r>
              <a:rPr lang="en-US" dirty="0">
                <a:latin typeface="Arial Narrow" panose="020B0606020202030204" pitchFamily="34" charset="0"/>
                <a:hlinkClick r:id="rId3"/>
              </a:rPr>
              <a:t>https://</a:t>
            </a:r>
            <a:r>
              <a:rPr lang="en-US" dirty="0" err="1">
                <a:latin typeface="Arial Narrow" panose="020B0606020202030204" pitchFamily="34" charset="0"/>
                <a:hlinkClick r:id="rId3"/>
              </a:rPr>
              <a:t>worldwidescience.org</a:t>
            </a:r>
            <a:r>
              <a:rPr lang="en-US" dirty="0">
                <a:latin typeface="Arial Narrow" panose="020B0606020202030204" pitchFamily="34" charset="0"/>
                <a:hlinkClick r:id="rId3"/>
              </a:rPr>
              <a:t>/</a:t>
            </a:r>
            <a:r>
              <a:rPr lang="en-US" dirty="0" err="1">
                <a:latin typeface="Arial Narrow" panose="020B0606020202030204" pitchFamily="34" charset="0"/>
                <a:hlinkClick r:id="rId3"/>
              </a:rPr>
              <a:t>topicpages</a:t>
            </a:r>
            <a:r>
              <a:rPr lang="en-US" dirty="0">
                <a:latin typeface="Arial Narrow" panose="020B0606020202030204" pitchFamily="34" charset="0"/>
                <a:hlinkClick r:id="rId3"/>
              </a:rPr>
              <a:t>/d/</a:t>
            </a:r>
            <a:r>
              <a:rPr lang="en-US" dirty="0" err="1">
                <a:latin typeface="Arial Narrow" panose="020B0606020202030204" pitchFamily="34" charset="0"/>
                <a:hlinkClick r:id="rId3"/>
              </a:rPr>
              <a:t>design+science+research.html</a:t>
            </a:r>
            <a:r>
              <a:rPr lang="en-US" dirty="0">
                <a:latin typeface="Arial Narrow" panose="020B0606020202030204" pitchFamily="34" charset="0"/>
              </a:rPr>
              <a:t> </a:t>
            </a:r>
          </a:p>
          <a:p>
            <a:pPr marL="0" indent="0">
              <a:buNone/>
            </a:pPr>
            <a:endParaRPr lang="en-US" sz="1600" dirty="0">
              <a:latin typeface="Arial Narrow" panose="020B0606020202030204" pitchFamily="34" charset="0"/>
              <a:cs typeface="Arial" panose="020B0604020202020204" pitchFamily="34" charset="0"/>
            </a:endParaRPr>
          </a:p>
          <a:p>
            <a:endParaRPr lang="en-ZA" sz="1600" dirty="0">
              <a:latin typeface="Arial" panose="020B0604020202020204" pitchFamily="34" charset="0"/>
              <a:cs typeface="Arial" panose="020B0604020202020204" pitchFamily="34" charset="0"/>
            </a:endParaRPr>
          </a:p>
          <a:p>
            <a:endParaRPr lang="en-ZA" dirty="0"/>
          </a:p>
        </p:txBody>
      </p:sp>
      <p:sp>
        <p:nvSpPr>
          <p:cNvPr id="4" name="Footer Placeholder 3"/>
          <p:cNvSpPr>
            <a:spLocks noGrp="1"/>
          </p:cNvSpPr>
          <p:nvPr>
            <p:ph type="ftr" sz="quarter" idx="11"/>
          </p:nvPr>
        </p:nvSpPr>
        <p:spPr/>
        <p:txBody>
          <a:bodyPr/>
          <a:lstStyle/>
          <a:p>
            <a:r>
              <a:rPr lang="en-ZA"/>
              <a:t>Dr Alveen Singh - RESK401</a:t>
            </a:r>
          </a:p>
        </p:txBody>
      </p:sp>
      <p:sp>
        <p:nvSpPr>
          <p:cNvPr id="5" name="Slide Number Placeholder 4"/>
          <p:cNvSpPr>
            <a:spLocks noGrp="1"/>
          </p:cNvSpPr>
          <p:nvPr>
            <p:ph type="sldNum" sz="quarter" idx="12"/>
          </p:nvPr>
        </p:nvSpPr>
        <p:spPr/>
        <p:txBody>
          <a:bodyPr/>
          <a:lstStyle/>
          <a:p>
            <a:fld id="{F9D8934E-928E-4C38-807A-CB32A0A7C43F}" type="slidenum">
              <a:rPr lang="en-ZA" smtClean="0"/>
              <a:t>30</a:t>
            </a:fld>
            <a:endParaRPr lang="en-ZA"/>
          </a:p>
        </p:txBody>
      </p:sp>
    </p:spTree>
    <p:extLst>
      <p:ext uri="{BB962C8B-B14F-4D97-AF65-F5344CB8AC3E}">
        <p14:creationId xmlns:p14="http://schemas.microsoft.com/office/powerpoint/2010/main" val="27363217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0" y="389710"/>
            <a:ext cx="10018713" cy="1752599"/>
          </a:xfrm>
        </p:spPr>
        <p:txBody>
          <a:bodyPr/>
          <a:lstStyle/>
          <a:p>
            <a:r>
              <a:rPr lang="en-US" dirty="0"/>
              <a:t>Experiments</a:t>
            </a:r>
            <a:endParaRPr lang="en-ZA" dirty="0"/>
          </a:p>
        </p:txBody>
      </p:sp>
      <p:sp>
        <p:nvSpPr>
          <p:cNvPr id="3" name="Content Placeholder 2"/>
          <p:cNvSpPr>
            <a:spLocks noGrp="1"/>
          </p:cNvSpPr>
          <p:nvPr>
            <p:ph idx="1"/>
          </p:nvPr>
        </p:nvSpPr>
        <p:spPr>
          <a:xfrm>
            <a:off x="1484310" y="2142309"/>
            <a:ext cx="10018713" cy="3648891"/>
          </a:xfrm>
        </p:spPr>
        <p:txBody>
          <a:bodyPr anchor="t">
            <a:normAutofit/>
          </a:bodyPr>
          <a:lstStyle/>
          <a:p>
            <a:r>
              <a:rPr lang="en-ZA" b="1" dirty="0"/>
              <a:t>Experiments are set up to understand the relationships between two or more </a:t>
            </a:r>
            <a:r>
              <a:rPr lang="en-ZA" b="1" dirty="0">
                <a:solidFill>
                  <a:srgbClr val="0070C0"/>
                </a:solidFill>
              </a:rPr>
              <a:t>variables</a:t>
            </a:r>
          </a:p>
          <a:p>
            <a:endParaRPr lang="en-US" b="1" dirty="0">
              <a:solidFill>
                <a:srgbClr val="0070C0"/>
              </a:solidFill>
            </a:endParaRPr>
          </a:p>
          <a:p>
            <a:r>
              <a:rPr lang="en-US" b="1" dirty="0"/>
              <a:t>The contribution of this research is an understanding of how one variable effects the other/s</a:t>
            </a:r>
            <a:endParaRPr lang="en-ZA" dirty="0"/>
          </a:p>
          <a:p>
            <a:endParaRPr lang="en-ZA" dirty="0"/>
          </a:p>
        </p:txBody>
      </p:sp>
      <p:sp>
        <p:nvSpPr>
          <p:cNvPr id="4" name="Footer Placeholder 3"/>
          <p:cNvSpPr>
            <a:spLocks noGrp="1"/>
          </p:cNvSpPr>
          <p:nvPr>
            <p:ph type="ftr" sz="quarter" idx="11"/>
          </p:nvPr>
        </p:nvSpPr>
        <p:spPr/>
        <p:txBody>
          <a:bodyPr/>
          <a:lstStyle/>
          <a:p>
            <a:r>
              <a:rPr lang="en-ZA"/>
              <a:t>Dr Alveen Singh - RESK401</a:t>
            </a:r>
          </a:p>
        </p:txBody>
      </p:sp>
      <p:sp>
        <p:nvSpPr>
          <p:cNvPr id="5" name="Slide Number Placeholder 4"/>
          <p:cNvSpPr>
            <a:spLocks noGrp="1"/>
          </p:cNvSpPr>
          <p:nvPr>
            <p:ph type="sldNum" sz="quarter" idx="12"/>
          </p:nvPr>
        </p:nvSpPr>
        <p:spPr/>
        <p:txBody>
          <a:bodyPr/>
          <a:lstStyle/>
          <a:p>
            <a:fld id="{F9D8934E-928E-4C38-807A-CB32A0A7C43F}" type="slidenum">
              <a:rPr lang="en-ZA" smtClean="0"/>
              <a:t>31</a:t>
            </a:fld>
            <a:endParaRPr lang="en-ZA"/>
          </a:p>
        </p:txBody>
      </p:sp>
    </p:spTree>
    <p:extLst>
      <p:ext uri="{BB962C8B-B14F-4D97-AF65-F5344CB8AC3E}">
        <p14:creationId xmlns:p14="http://schemas.microsoft.com/office/powerpoint/2010/main" val="31516768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ZA"/>
              <a:t>Dr Alveen Singh - RESK401</a:t>
            </a:r>
          </a:p>
        </p:txBody>
      </p:sp>
      <p:sp>
        <p:nvSpPr>
          <p:cNvPr id="5" name="Slide Number Placeholder 4"/>
          <p:cNvSpPr>
            <a:spLocks noGrp="1"/>
          </p:cNvSpPr>
          <p:nvPr>
            <p:ph type="sldNum" sz="quarter" idx="12"/>
          </p:nvPr>
        </p:nvSpPr>
        <p:spPr/>
        <p:txBody>
          <a:bodyPr/>
          <a:lstStyle/>
          <a:p>
            <a:fld id="{F9D8934E-928E-4C38-807A-CB32A0A7C43F}" type="slidenum">
              <a:rPr lang="en-ZA" smtClean="0"/>
              <a:t>32</a:t>
            </a:fld>
            <a:endParaRPr lang="en-ZA"/>
          </a:p>
        </p:txBody>
      </p:sp>
      <p:pic>
        <p:nvPicPr>
          <p:cNvPr id="6" name="Picture 5"/>
          <p:cNvPicPr>
            <a:picLocks noChangeAspect="1"/>
          </p:cNvPicPr>
          <p:nvPr/>
        </p:nvPicPr>
        <p:blipFill>
          <a:blip r:embed="rId2"/>
          <a:stretch>
            <a:fillRect/>
          </a:stretch>
        </p:blipFill>
        <p:spPr>
          <a:xfrm>
            <a:off x="1621322" y="295547"/>
            <a:ext cx="4035439" cy="2830830"/>
          </a:xfrm>
          <a:prstGeom prst="rect">
            <a:avLst/>
          </a:prstGeom>
        </p:spPr>
      </p:pic>
      <p:sp>
        <p:nvSpPr>
          <p:cNvPr id="7" name="TextBox 6"/>
          <p:cNvSpPr txBox="1"/>
          <p:nvPr/>
        </p:nvSpPr>
        <p:spPr>
          <a:xfrm>
            <a:off x="2771861" y="3272081"/>
            <a:ext cx="1734360" cy="307777"/>
          </a:xfrm>
          <a:prstGeom prst="rect">
            <a:avLst/>
          </a:prstGeom>
          <a:noFill/>
        </p:spPr>
        <p:txBody>
          <a:bodyPr wrap="square" rtlCol="0">
            <a:spAutoFit/>
          </a:bodyPr>
          <a:lstStyle/>
          <a:p>
            <a:r>
              <a:rPr lang="en-US" sz="1400" dirty="0" err="1">
                <a:solidFill>
                  <a:srgbClr val="FF0000"/>
                </a:solidFill>
              </a:rPr>
              <a:t>Kennedy.sb.school</a:t>
            </a:r>
            <a:endParaRPr lang="en-ZA" dirty="0">
              <a:solidFill>
                <a:srgbClr val="FF0000"/>
              </a:solidFill>
            </a:endParaRPr>
          </a:p>
        </p:txBody>
      </p:sp>
      <p:pic>
        <p:nvPicPr>
          <p:cNvPr id="9" name="Picture 8"/>
          <p:cNvPicPr>
            <a:picLocks noChangeAspect="1"/>
          </p:cNvPicPr>
          <p:nvPr/>
        </p:nvPicPr>
        <p:blipFill rotWithShape="1">
          <a:blip r:embed="rId3"/>
          <a:srcRect l="24348" t="23801" r="18902" b="16518"/>
          <a:stretch/>
        </p:blipFill>
        <p:spPr>
          <a:xfrm>
            <a:off x="5801621" y="3056708"/>
            <a:ext cx="5594223" cy="3309258"/>
          </a:xfrm>
          <a:prstGeom prst="rect">
            <a:avLst/>
          </a:prstGeom>
        </p:spPr>
      </p:pic>
      <p:sp>
        <p:nvSpPr>
          <p:cNvPr id="10" name="TextBox 9"/>
          <p:cNvSpPr txBox="1"/>
          <p:nvPr/>
        </p:nvSpPr>
        <p:spPr>
          <a:xfrm>
            <a:off x="7731552" y="2562333"/>
            <a:ext cx="1734360" cy="307777"/>
          </a:xfrm>
          <a:prstGeom prst="rect">
            <a:avLst/>
          </a:prstGeom>
          <a:noFill/>
        </p:spPr>
        <p:txBody>
          <a:bodyPr wrap="square" rtlCol="0">
            <a:spAutoFit/>
          </a:bodyPr>
          <a:lstStyle/>
          <a:p>
            <a:r>
              <a:rPr lang="en-US" sz="1400" dirty="0" err="1">
                <a:solidFill>
                  <a:srgbClr val="FF0000"/>
                </a:solidFill>
              </a:rPr>
              <a:t>tobbipro</a:t>
            </a:r>
            <a:endParaRPr lang="en-ZA" dirty="0">
              <a:solidFill>
                <a:srgbClr val="FF0000"/>
              </a:solidFill>
            </a:endParaRPr>
          </a:p>
        </p:txBody>
      </p:sp>
    </p:spTree>
    <p:extLst>
      <p:ext uri="{BB962C8B-B14F-4D97-AF65-F5344CB8AC3E}">
        <p14:creationId xmlns:p14="http://schemas.microsoft.com/office/powerpoint/2010/main" val="1360592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84310" y="566057"/>
            <a:ext cx="10018713" cy="5225143"/>
          </a:xfrm>
        </p:spPr>
        <p:txBody>
          <a:bodyPr anchor="t"/>
          <a:lstStyle/>
          <a:p>
            <a:pPr lvl="0"/>
            <a:r>
              <a:rPr lang="en-GB" dirty="0">
                <a:latin typeface="Arial Narrow" panose="020B0606020202030204" pitchFamily="34" charset="0"/>
              </a:rPr>
              <a:t>The </a:t>
            </a:r>
            <a:r>
              <a:rPr lang="en-GB" dirty="0">
                <a:solidFill>
                  <a:srgbClr val="0070C0"/>
                </a:solidFill>
                <a:latin typeface="Arial Narrow" panose="020B0606020202030204" pitchFamily="34" charset="0"/>
              </a:rPr>
              <a:t>independent</a:t>
            </a:r>
            <a:r>
              <a:rPr lang="en-GB" dirty="0">
                <a:latin typeface="Arial Narrow" panose="020B0606020202030204" pitchFamily="34" charset="0"/>
              </a:rPr>
              <a:t> variable effects one or more </a:t>
            </a:r>
            <a:r>
              <a:rPr lang="en-GB" dirty="0">
                <a:solidFill>
                  <a:srgbClr val="C00000"/>
                </a:solidFill>
                <a:latin typeface="Arial Narrow" panose="020B0606020202030204" pitchFamily="34" charset="0"/>
              </a:rPr>
              <a:t>dependent</a:t>
            </a:r>
            <a:r>
              <a:rPr lang="en-GB" dirty="0">
                <a:latin typeface="Arial Narrow" panose="020B0606020202030204" pitchFamily="34" charset="0"/>
              </a:rPr>
              <a:t> variables</a:t>
            </a:r>
            <a:endParaRPr lang="en-ZA" dirty="0">
              <a:latin typeface="Arial Narrow" panose="020B0606020202030204" pitchFamily="34" charset="0"/>
            </a:endParaRPr>
          </a:p>
          <a:p>
            <a:pPr lvl="0"/>
            <a:r>
              <a:rPr lang="en-GB" dirty="0">
                <a:latin typeface="Arial Narrow" panose="020B0606020202030204" pitchFamily="34" charset="0"/>
              </a:rPr>
              <a:t>A </a:t>
            </a:r>
            <a:r>
              <a:rPr lang="en-GB" dirty="0">
                <a:solidFill>
                  <a:srgbClr val="C00000"/>
                </a:solidFill>
                <a:latin typeface="Arial Narrow" panose="020B0606020202030204" pitchFamily="34" charset="0"/>
              </a:rPr>
              <a:t>dependent</a:t>
            </a:r>
            <a:r>
              <a:rPr lang="en-GB" dirty="0">
                <a:latin typeface="Arial Narrow" panose="020B0606020202030204" pitchFamily="34" charset="0"/>
              </a:rPr>
              <a:t> variable changes as a result of changes to the </a:t>
            </a:r>
            <a:r>
              <a:rPr lang="en-GB" dirty="0">
                <a:solidFill>
                  <a:srgbClr val="0070C0"/>
                </a:solidFill>
                <a:latin typeface="Arial Narrow" panose="020B0606020202030204" pitchFamily="34" charset="0"/>
              </a:rPr>
              <a:t>independent</a:t>
            </a:r>
            <a:r>
              <a:rPr lang="en-GB" dirty="0">
                <a:latin typeface="Arial Narrow" panose="020B0606020202030204" pitchFamily="34" charset="0"/>
              </a:rPr>
              <a:t> variable</a:t>
            </a:r>
            <a:endParaRPr lang="en-ZA" dirty="0">
              <a:latin typeface="Arial Narrow" panose="020B0606020202030204" pitchFamily="34" charset="0"/>
            </a:endParaRPr>
          </a:p>
          <a:p>
            <a:pPr lvl="0"/>
            <a:r>
              <a:rPr lang="en-GB" dirty="0">
                <a:latin typeface="Arial Narrow" panose="020B0606020202030204" pitchFamily="34" charset="0"/>
              </a:rPr>
              <a:t>The experiment manipulates the </a:t>
            </a:r>
            <a:r>
              <a:rPr lang="en-GB" dirty="0">
                <a:solidFill>
                  <a:srgbClr val="0070C0"/>
                </a:solidFill>
                <a:latin typeface="Arial Narrow" panose="020B0606020202030204" pitchFamily="34" charset="0"/>
              </a:rPr>
              <a:t>independent</a:t>
            </a:r>
            <a:r>
              <a:rPr lang="en-GB" dirty="0">
                <a:latin typeface="Arial Narrow" panose="020B0606020202030204" pitchFamily="34" charset="0"/>
              </a:rPr>
              <a:t> variable (to observe changes in the dependent variable)</a:t>
            </a:r>
            <a:endParaRPr lang="en-ZA" dirty="0">
              <a:latin typeface="Arial Narrow" panose="020B0606020202030204" pitchFamily="34" charset="0"/>
            </a:endParaRPr>
          </a:p>
          <a:p>
            <a:pPr lvl="0"/>
            <a:r>
              <a:rPr lang="en-GB" dirty="0">
                <a:latin typeface="Arial Narrow" panose="020B0606020202030204" pitchFamily="34" charset="0"/>
              </a:rPr>
              <a:t>It is good practice to have at most, two </a:t>
            </a:r>
            <a:r>
              <a:rPr lang="en-GB" dirty="0">
                <a:solidFill>
                  <a:srgbClr val="0070C0"/>
                </a:solidFill>
                <a:latin typeface="Arial Narrow" panose="020B0606020202030204" pitchFamily="34" charset="0"/>
              </a:rPr>
              <a:t>independent</a:t>
            </a:r>
            <a:r>
              <a:rPr lang="en-GB" dirty="0">
                <a:latin typeface="Arial Narrow" panose="020B0606020202030204" pitchFamily="34" charset="0"/>
              </a:rPr>
              <a:t> variables</a:t>
            </a:r>
            <a:endParaRPr lang="en-ZA" dirty="0">
              <a:latin typeface="Arial Narrow" panose="020B0606020202030204" pitchFamily="34" charset="0"/>
            </a:endParaRPr>
          </a:p>
          <a:p>
            <a:endParaRPr lang="en-ZA" dirty="0"/>
          </a:p>
        </p:txBody>
      </p:sp>
      <p:sp>
        <p:nvSpPr>
          <p:cNvPr id="4" name="Footer Placeholder 3"/>
          <p:cNvSpPr>
            <a:spLocks noGrp="1"/>
          </p:cNvSpPr>
          <p:nvPr>
            <p:ph type="ftr" sz="quarter" idx="11"/>
          </p:nvPr>
        </p:nvSpPr>
        <p:spPr/>
        <p:txBody>
          <a:bodyPr/>
          <a:lstStyle/>
          <a:p>
            <a:r>
              <a:rPr lang="en-ZA"/>
              <a:t>Dr Alveen Singh - RESK401</a:t>
            </a:r>
          </a:p>
        </p:txBody>
      </p:sp>
      <p:sp>
        <p:nvSpPr>
          <p:cNvPr id="5" name="Slide Number Placeholder 4"/>
          <p:cNvSpPr>
            <a:spLocks noGrp="1"/>
          </p:cNvSpPr>
          <p:nvPr>
            <p:ph type="sldNum" sz="quarter" idx="12"/>
          </p:nvPr>
        </p:nvSpPr>
        <p:spPr/>
        <p:txBody>
          <a:bodyPr/>
          <a:lstStyle/>
          <a:p>
            <a:fld id="{F9D8934E-928E-4C38-807A-CB32A0A7C43F}" type="slidenum">
              <a:rPr lang="en-ZA" smtClean="0"/>
              <a:t>33</a:t>
            </a:fld>
            <a:endParaRPr lang="en-ZA"/>
          </a:p>
        </p:txBody>
      </p:sp>
      <p:pic>
        <p:nvPicPr>
          <p:cNvPr id="6" name="Picture 5"/>
          <p:cNvPicPr>
            <a:picLocks noChangeAspect="1"/>
          </p:cNvPicPr>
          <p:nvPr/>
        </p:nvPicPr>
        <p:blipFill rotWithShape="1">
          <a:blip r:embed="rId2"/>
          <a:srcRect l="24348" t="23801" r="18902" b="16518"/>
          <a:stretch/>
        </p:blipFill>
        <p:spPr>
          <a:xfrm>
            <a:off x="6667824" y="3535020"/>
            <a:ext cx="4559615" cy="2697236"/>
          </a:xfrm>
          <a:prstGeom prst="rect">
            <a:avLst/>
          </a:prstGeom>
        </p:spPr>
      </p:pic>
      <p:sp>
        <p:nvSpPr>
          <p:cNvPr id="7" name="TextBox 6"/>
          <p:cNvSpPr txBox="1"/>
          <p:nvPr/>
        </p:nvSpPr>
        <p:spPr>
          <a:xfrm>
            <a:off x="5786864" y="5895804"/>
            <a:ext cx="1413604" cy="307777"/>
          </a:xfrm>
          <a:prstGeom prst="rect">
            <a:avLst/>
          </a:prstGeom>
          <a:noFill/>
        </p:spPr>
        <p:txBody>
          <a:bodyPr wrap="square" rtlCol="0">
            <a:spAutoFit/>
          </a:bodyPr>
          <a:lstStyle/>
          <a:p>
            <a:r>
              <a:rPr lang="en-US" sz="1400" dirty="0" err="1">
                <a:solidFill>
                  <a:srgbClr val="FF0000"/>
                </a:solidFill>
              </a:rPr>
              <a:t>tobbipro</a:t>
            </a:r>
            <a:endParaRPr lang="en-ZA" dirty="0">
              <a:solidFill>
                <a:srgbClr val="FF0000"/>
              </a:solidFill>
            </a:endParaRPr>
          </a:p>
        </p:txBody>
      </p:sp>
    </p:spTree>
    <p:extLst>
      <p:ext uri="{BB962C8B-B14F-4D97-AF65-F5344CB8AC3E}">
        <p14:creationId xmlns:p14="http://schemas.microsoft.com/office/powerpoint/2010/main" val="10144390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5662199-AB27-4326-ACBD-55A241D70571}"/>
              </a:ext>
            </a:extLst>
          </p:cNvPr>
          <p:cNvSpPr>
            <a:spLocks noGrp="1"/>
          </p:cNvSpPr>
          <p:nvPr>
            <p:ph type="title"/>
          </p:nvPr>
        </p:nvSpPr>
        <p:spPr>
          <a:xfrm>
            <a:off x="1602359" y="317140"/>
            <a:ext cx="9625080" cy="906702"/>
          </a:xfrm>
        </p:spPr>
        <p:txBody>
          <a:bodyPr>
            <a:normAutofit/>
          </a:bodyPr>
          <a:lstStyle/>
          <a:p>
            <a:r>
              <a:rPr lang="en-US" sz="2400" dirty="0"/>
              <a:t>Which is dependent var? which is independent var?</a:t>
            </a:r>
            <a:endParaRPr lang="en-ZA" sz="2400" dirty="0"/>
          </a:p>
        </p:txBody>
      </p:sp>
      <p:sp>
        <p:nvSpPr>
          <p:cNvPr id="4" name="Footer Placeholder 3">
            <a:extLst>
              <a:ext uri="{FF2B5EF4-FFF2-40B4-BE49-F238E27FC236}">
                <a16:creationId xmlns:a16="http://schemas.microsoft.com/office/drawing/2014/main" id="{5F444704-E1A8-4C29-B6B3-68AB59108EF0}"/>
              </a:ext>
            </a:extLst>
          </p:cNvPr>
          <p:cNvSpPr>
            <a:spLocks noGrp="1"/>
          </p:cNvSpPr>
          <p:nvPr>
            <p:ph type="ftr" sz="quarter" idx="11"/>
          </p:nvPr>
        </p:nvSpPr>
        <p:spPr/>
        <p:txBody>
          <a:bodyPr/>
          <a:lstStyle/>
          <a:p>
            <a:r>
              <a:rPr lang="en-ZA" dirty="0"/>
              <a:t>Dr Alveen Singh - RESK401/PRJA301</a:t>
            </a:r>
          </a:p>
        </p:txBody>
      </p:sp>
      <p:sp>
        <p:nvSpPr>
          <p:cNvPr id="5" name="Slide Number Placeholder 4">
            <a:extLst>
              <a:ext uri="{FF2B5EF4-FFF2-40B4-BE49-F238E27FC236}">
                <a16:creationId xmlns:a16="http://schemas.microsoft.com/office/drawing/2014/main" id="{70B5A484-7F91-4970-BC41-A471964AB10D}"/>
              </a:ext>
            </a:extLst>
          </p:cNvPr>
          <p:cNvSpPr>
            <a:spLocks noGrp="1"/>
          </p:cNvSpPr>
          <p:nvPr>
            <p:ph type="sldNum" sz="quarter" idx="12"/>
          </p:nvPr>
        </p:nvSpPr>
        <p:spPr/>
        <p:txBody>
          <a:bodyPr/>
          <a:lstStyle/>
          <a:p>
            <a:fld id="{F9D8934E-928E-4C38-807A-CB32A0A7C43F}" type="slidenum">
              <a:rPr lang="en-ZA" smtClean="0"/>
              <a:t>34</a:t>
            </a:fld>
            <a:endParaRPr lang="en-ZA"/>
          </a:p>
        </p:txBody>
      </p:sp>
      <p:pic>
        <p:nvPicPr>
          <p:cNvPr id="2050" name="Picture 2" descr="Latest crop estimates show gains in maize, soya beans">
            <a:extLst>
              <a:ext uri="{FF2B5EF4-FFF2-40B4-BE49-F238E27FC236}">
                <a16:creationId xmlns:a16="http://schemas.microsoft.com/office/drawing/2014/main" id="{F1DB1E4C-8208-4C67-8C1B-211F32BB21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78089" y="4232636"/>
            <a:ext cx="2135434" cy="1326217"/>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Irrigation | Definition, History, Systems, &amp; Facts | Britannica">
            <a:extLst>
              <a:ext uri="{FF2B5EF4-FFF2-40B4-BE49-F238E27FC236}">
                <a16:creationId xmlns:a16="http://schemas.microsoft.com/office/drawing/2014/main" id="{3ED30851-EC92-41F2-BE84-F9F319DDB7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5804" y="4236289"/>
            <a:ext cx="1992949" cy="1326217"/>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USN Bluelab Premuim Whey Bar One 908g - Clicks">
            <a:extLst>
              <a:ext uri="{FF2B5EF4-FFF2-40B4-BE49-F238E27FC236}">
                <a16:creationId xmlns:a16="http://schemas.microsoft.com/office/drawing/2014/main" id="{C1D86C76-9D33-4188-8976-C401EB004E7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13982" y="1482911"/>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How to Start Bodybuilding for Total Beginners | Muscle &amp; Fitness">
            <a:extLst>
              <a:ext uri="{FF2B5EF4-FFF2-40B4-BE49-F238E27FC236}">
                <a16:creationId xmlns:a16="http://schemas.microsoft.com/office/drawing/2014/main" id="{EC2B2922-AAFC-485C-A54E-D3A98AAAD83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88940" y="1907949"/>
            <a:ext cx="2594723" cy="143483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D2D8258E-5D80-4C9D-9D74-6ADFB25742B2}"/>
              </a:ext>
            </a:extLst>
          </p:cNvPr>
          <p:cNvPicPr>
            <a:picLocks noChangeAspect="1"/>
          </p:cNvPicPr>
          <p:nvPr/>
        </p:nvPicPr>
        <p:blipFill>
          <a:blip r:embed="rId6"/>
          <a:stretch>
            <a:fillRect/>
          </a:stretch>
        </p:blipFill>
        <p:spPr>
          <a:xfrm>
            <a:off x="4742330" y="4239940"/>
            <a:ext cx="2347352" cy="1318913"/>
          </a:xfrm>
          <a:prstGeom prst="rect">
            <a:avLst/>
          </a:prstGeom>
        </p:spPr>
      </p:pic>
      <p:pic>
        <p:nvPicPr>
          <p:cNvPr id="2058" name="Picture 10" descr="Meet the Graduate holding three PhD qualifications from UFH | University of  Fort Hare">
            <a:extLst>
              <a:ext uri="{FF2B5EF4-FFF2-40B4-BE49-F238E27FC236}">
                <a16:creationId xmlns:a16="http://schemas.microsoft.com/office/drawing/2014/main" id="{BA0B52D8-B7BC-40F7-B741-CD77672466C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02355" y="1838325"/>
            <a:ext cx="2867025" cy="1590675"/>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1 - Wiktionary">
            <a:extLst>
              <a:ext uri="{FF2B5EF4-FFF2-40B4-BE49-F238E27FC236}">
                <a16:creationId xmlns:a16="http://schemas.microsoft.com/office/drawing/2014/main" id="{65AEA315-DAA8-412D-90C7-BA386857F50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97309" y="2788463"/>
            <a:ext cx="578504" cy="578504"/>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descr="2 - Wiktionary">
            <a:extLst>
              <a:ext uri="{FF2B5EF4-FFF2-40B4-BE49-F238E27FC236}">
                <a16:creationId xmlns:a16="http://schemas.microsoft.com/office/drawing/2014/main" id="{AF09879B-D087-482C-8AFC-5F7D8640F23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57107" y="2923513"/>
            <a:ext cx="551610" cy="551610"/>
          </a:xfrm>
          <a:prstGeom prst="rect">
            <a:avLst/>
          </a:prstGeom>
          <a:noFill/>
          <a:extLst>
            <a:ext uri="{909E8E84-426E-40DD-AFC4-6F175D3DCCD1}">
              <a14:hiddenFill xmlns:a14="http://schemas.microsoft.com/office/drawing/2010/main">
                <a:solidFill>
                  <a:srgbClr val="FFFFFF"/>
                </a:solidFill>
              </a14:hiddenFill>
            </a:ext>
          </a:extLst>
        </p:spPr>
      </p:pic>
      <p:pic>
        <p:nvPicPr>
          <p:cNvPr id="2064" name="Picture 16" descr="3 - Wiktionary">
            <a:extLst>
              <a:ext uri="{FF2B5EF4-FFF2-40B4-BE49-F238E27FC236}">
                <a16:creationId xmlns:a16="http://schemas.microsoft.com/office/drawing/2014/main" id="{73A1F998-2781-4B16-A85B-EDF76917CB1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234519" y="2806759"/>
            <a:ext cx="569539" cy="569539"/>
          </a:xfrm>
          <a:prstGeom prst="rect">
            <a:avLst/>
          </a:prstGeom>
          <a:noFill/>
          <a:extLst>
            <a:ext uri="{909E8E84-426E-40DD-AFC4-6F175D3DCCD1}">
              <a14:hiddenFill xmlns:a14="http://schemas.microsoft.com/office/drawing/2010/main">
                <a:solidFill>
                  <a:srgbClr val="FFFFFF"/>
                </a:solidFill>
              </a14:hiddenFill>
            </a:ext>
          </a:extLst>
        </p:spPr>
      </p:pic>
      <p:pic>
        <p:nvPicPr>
          <p:cNvPr id="2066" name="Picture 18" descr="4 - Wiktionary">
            <a:extLst>
              <a:ext uri="{FF2B5EF4-FFF2-40B4-BE49-F238E27FC236}">
                <a16:creationId xmlns:a16="http://schemas.microsoft.com/office/drawing/2014/main" id="{983F6FC7-5CDF-46E4-ACAB-01A3A9C58493}"/>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86496" y="4895744"/>
            <a:ext cx="578505" cy="578505"/>
          </a:xfrm>
          <a:prstGeom prst="rect">
            <a:avLst/>
          </a:prstGeom>
          <a:noFill/>
          <a:extLst>
            <a:ext uri="{909E8E84-426E-40DD-AFC4-6F175D3DCCD1}">
              <a14:hiddenFill xmlns:a14="http://schemas.microsoft.com/office/drawing/2010/main">
                <a:solidFill>
                  <a:srgbClr val="FFFFFF"/>
                </a:solidFill>
              </a14:hiddenFill>
            </a:ext>
          </a:extLst>
        </p:spPr>
      </p:pic>
      <p:pic>
        <p:nvPicPr>
          <p:cNvPr id="2068" name="Picture 20" descr="Calendário da Equidade do Conhecimento/5 - Meta">
            <a:extLst>
              <a:ext uri="{FF2B5EF4-FFF2-40B4-BE49-F238E27FC236}">
                <a16:creationId xmlns:a16="http://schemas.microsoft.com/office/drawing/2014/main" id="{1674D460-AB6C-4E4A-82B2-641084E15A72}"/>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102355" y="4907126"/>
            <a:ext cx="433787" cy="63656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C2297756-E7C7-4E4A-B5BD-3B5DD9C2674D}"/>
              </a:ext>
            </a:extLst>
          </p:cNvPr>
          <p:cNvPicPr>
            <a:picLocks noChangeAspect="1"/>
          </p:cNvPicPr>
          <p:nvPr/>
        </p:nvPicPr>
        <p:blipFill>
          <a:blip r:embed="rId13"/>
          <a:stretch>
            <a:fillRect/>
          </a:stretch>
        </p:blipFill>
        <p:spPr>
          <a:xfrm>
            <a:off x="7888940" y="5045484"/>
            <a:ext cx="513369" cy="513369"/>
          </a:xfrm>
          <a:prstGeom prst="rect">
            <a:avLst/>
          </a:prstGeom>
        </p:spPr>
      </p:pic>
    </p:spTree>
    <p:extLst>
      <p:ext uri="{BB962C8B-B14F-4D97-AF65-F5344CB8AC3E}">
        <p14:creationId xmlns:p14="http://schemas.microsoft.com/office/powerpoint/2010/main" val="16278764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84310" y="566057"/>
            <a:ext cx="10018713" cy="5904412"/>
          </a:xfrm>
        </p:spPr>
        <p:txBody>
          <a:bodyPr anchor="t">
            <a:normAutofit/>
          </a:bodyPr>
          <a:lstStyle/>
          <a:p>
            <a:pPr marL="0" indent="0">
              <a:buNone/>
            </a:pPr>
            <a:r>
              <a:rPr lang="en-GB" b="1" dirty="0"/>
              <a:t>Controlling variables </a:t>
            </a:r>
            <a:endParaRPr lang="en-ZA" dirty="0"/>
          </a:p>
          <a:p>
            <a:pPr marL="0" indent="0">
              <a:buNone/>
            </a:pPr>
            <a:r>
              <a:rPr lang="en-GB" sz="1900" dirty="0">
                <a:latin typeface="Arial Narrow" panose="020B0606020202030204" pitchFamily="34" charset="0"/>
              </a:rPr>
              <a:t>Experimental research depends on the researcher’s ability to </a:t>
            </a:r>
            <a:r>
              <a:rPr lang="en-GB" sz="1900" dirty="0">
                <a:solidFill>
                  <a:srgbClr val="FF0000"/>
                </a:solidFill>
                <a:latin typeface="Arial Narrow" panose="020B0606020202030204" pitchFamily="34" charset="0"/>
              </a:rPr>
              <a:t>isolate factors</a:t>
            </a:r>
            <a:r>
              <a:rPr lang="en-GB" sz="1900" dirty="0">
                <a:latin typeface="Arial Narrow" panose="020B0606020202030204" pitchFamily="34" charset="0"/>
              </a:rPr>
              <a:t> and show that </a:t>
            </a:r>
            <a:r>
              <a:rPr lang="en-GB" sz="1900" dirty="0">
                <a:solidFill>
                  <a:srgbClr val="FF0000"/>
                </a:solidFill>
                <a:latin typeface="Arial Narrow" panose="020B0606020202030204" pitchFamily="34" charset="0"/>
              </a:rPr>
              <a:t>only </a:t>
            </a:r>
            <a:r>
              <a:rPr lang="en-GB" sz="1900" i="1" dirty="0">
                <a:solidFill>
                  <a:srgbClr val="FF0000"/>
                </a:solidFill>
                <a:latin typeface="Arial Narrow" panose="020B0606020202030204" pitchFamily="34" charset="0"/>
              </a:rPr>
              <a:t>one</a:t>
            </a:r>
            <a:r>
              <a:rPr lang="en-GB" sz="1900" dirty="0">
                <a:solidFill>
                  <a:srgbClr val="FF0000"/>
                </a:solidFill>
                <a:latin typeface="Arial Narrow" panose="020B0606020202030204" pitchFamily="34" charset="0"/>
              </a:rPr>
              <a:t> factor causes an observed change</a:t>
            </a:r>
            <a:r>
              <a:rPr lang="en-GB" sz="1900" dirty="0">
                <a:latin typeface="Arial Narrow" panose="020B0606020202030204" pitchFamily="34" charset="0"/>
              </a:rPr>
              <a:t>. </a:t>
            </a:r>
          </a:p>
          <a:p>
            <a:pPr marL="0" indent="0">
              <a:buNone/>
            </a:pPr>
            <a:endParaRPr lang="en-GB" sz="1900" dirty="0">
              <a:latin typeface="Arial Narrow" panose="020B0606020202030204" pitchFamily="34" charset="0"/>
            </a:endParaRPr>
          </a:p>
          <a:p>
            <a:pPr marL="0" indent="0">
              <a:buNone/>
            </a:pPr>
            <a:r>
              <a:rPr lang="en-GB" sz="1900" dirty="0">
                <a:latin typeface="Arial Rounded MT Bold" panose="020F0704030504030204" pitchFamily="34" charset="0"/>
              </a:rPr>
              <a:t>Approaches for controlling variables include:</a:t>
            </a:r>
            <a:endParaRPr lang="en-ZA" sz="1900" dirty="0">
              <a:latin typeface="Arial Rounded MT Bold" panose="020F0704030504030204" pitchFamily="34" charset="0"/>
            </a:endParaRPr>
          </a:p>
          <a:p>
            <a:pPr lvl="0"/>
            <a:r>
              <a:rPr lang="en-GB" sz="1900" dirty="0">
                <a:latin typeface="Arial Narrow" panose="020B0606020202030204" pitchFamily="34" charset="0"/>
              </a:rPr>
              <a:t>Eliminate outlying factors – </a:t>
            </a:r>
          </a:p>
          <a:p>
            <a:pPr lvl="1"/>
            <a:r>
              <a:rPr lang="en-GB" sz="1500" dirty="0">
                <a:latin typeface="Arial Narrow" panose="020B0606020202030204" pitchFamily="34" charset="0"/>
              </a:rPr>
              <a:t>for example, the experiment requires experienced Scrum developers, so those developers not practiced with Scrum will be removed.</a:t>
            </a:r>
            <a:endParaRPr lang="en-ZA" sz="1500" dirty="0">
              <a:latin typeface="Arial Narrow" panose="020B0606020202030204" pitchFamily="34" charset="0"/>
            </a:endParaRPr>
          </a:p>
          <a:p>
            <a:pPr lvl="0"/>
            <a:r>
              <a:rPr lang="en-GB" sz="1900" dirty="0">
                <a:latin typeface="Arial Narrow" panose="020B0606020202030204" pitchFamily="34" charset="0"/>
              </a:rPr>
              <a:t>Control groups – </a:t>
            </a:r>
          </a:p>
          <a:p>
            <a:pPr lvl="1" algn="just"/>
            <a:r>
              <a:rPr lang="en-GB" sz="1500" dirty="0">
                <a:latin typeface="Arial Narrow" panose="020B0606020202030204" pitchFamily="34" charset="0"/>
              </a:rPr>
              <a:t>two groups are set up with exactly the same characteristics for example, developers with the same expertise and years of experience. For one group, </a:t>
            </a:r>
            <a:r>
              <a:rPr lang="en-GB" sz="1500" dirty="0">
                <a:solidFill>
                  <a:srgbClr val="0070C0"/>
                </a:solidFill>
                <a:latin typeface="Arial Narrow" panose="020B0606020202030204" pitchFamily="34" charset="0"/>
              </a:rPr>
              <a:t>the </a:t>
            </a:r>
            <a:r>
              <a:rPr lang="en-GB" sz="1500" i="1" dirty="0">
                <a:solidFill>
                  <a:srgbClr val="0070C0"/>
                </a:solidFill>
                <a:latin typeface="Arial Narrow" panose="020B0606020202030204" pitchFamily="34" charset="0"/>
              </a:rPr>
              <a:t>control group</a:t>
            </a:r>
            <a:r>
              <a:rPr lang="en-GB" sz="1500" dirty="0">
                <a:solidFill>
                  <a:srgbClr val="0070C0"/>
                </a:solidFill>
                <a:latin typeface="Arial Narrow" panose="020B0606020202030204" pitchFamily="34" charset="0"/>
              </a:rPr>
              <a:t> </a:t>
            </a:r>
            <a:r>
              <a:rPr lang="en-GB" sz="1500" dirty="0">
                <a:latin typeface="Arial Narrow" panose="020B0606020202030204" pitchFamily="34" charset="0"/>
              </a:rPr>
              <a:t>there is </a:t>
            </a:r>
            <a:r>
              <a:rPr lang="en-GB" sz="1500" dirty="0">
                <a:solidFill>
                  <a:srgbClr val="C00000"/>
                </a:solidFill>
                <a:latin typeface="Arial Narrow" panose="020B0606020202030204" pitchFamily="34" charset="0"/>
              </a:rPr>
              <a:t>no manipulation of the of the independent variable</a:t>
            </a:r>
            <a:r>
              <a:rPr lang="en-GB" sz="1500" dirty="0">
                <a:latin typeface="Arial Narrow" panose="020B0606020202030204" pitchFamily="34" charset="0"/>
              </a:rPr>
              <a:t>. For the second group, the </a:t>
            </a:r>
            <a:r>
              <a:rPr lang="en-GB" sz="1500" dirty="0">
                <a:solidFill>
                  <a:srgbClr val="0070C0"/>
                </a:solidFill>
                <a:latin typeface="Arial Narrow" panose="020B0606020202030204" pitchFamily="34" charset="0"/>
              </a:rPr>
              <a:t>experimental group</a:t>
            </a:r>
            <a:r>
              <a:rPr lang="en-GB" sz="1500" dirty="0">
                <a:latin typeface="Arial Narrow" panose="020B0606020202030204" pitchFamily="34" charset="0"/>
              </a:rPr>
              <a:t>, </a:t>
            </a:r>
            <a:r>
              <a:rPr lang="en-GB" sz="1500" dirty="0">
                <a:solidFill>
                  <a:schemeClr val="accent3">
                    <a:lumMod val="75000"/>
                  </a:schemeClr>
                </a:solidFill>
                <a:latin typeface="Arial Narrow" panose="020B0606020202030204" pitchFamily="34" charset="0"/>
              </a:rPr>
              <a:t>independent variable is manipulated</a:t>
            </a:r>
            <a:r>
              <a:rPr lang="en-GB" sz="1500" dirty="0">
                <a:latin typeface="Arial Narrow" panose="020B0606020202030204" pitchFamily="34" charset="0"/>
              </a:rPr>
              <a:t>. Effects are measured in each group. Any noted differences in the outcome is a result of the variable that was manipulated.</a:t>
            </a:r>
            <a:endParaRPr lang="en-ZA" sz="1500" dirty="0">
              <a:latin typeface="Arial Narrow" panose="020B0606020202030204" pitchFamily="34" charset="0"/>
            </a:endParaRPr>
          </a:p>
          <a:p>
            <a:pPr lvl="0"/>
            <a:r>
              <a:rPr lang="en-GB" sz="1900" dirty="0">
                <a:latin typeface="Arial Narrow" panose="020B0606020202030204" pitchFamily="34" charset="0"/>
              </a:rPr>
              <a:t>Random selection – </a:t>
            </a:r>
          </a:p>
          <a:p>
            <a:pPr lvl="1" algn="just"/>
            <a:r>
              <a:rPr lang="en-GB" sz="1500" dirty="0">
                <a:latin typeface="Arial Narrow" panose="020B0606020202030204" pitchFamily="34" charset="0"/>
              </a:rPr>
              <a:t>when there are enough participants chosen on a random basis and those participants that interfere with the outcomes cancel each other out across the selection (for example, not enough Scrum experience) </a:t>
            </a:r>
            <a:endParaRPr lang="en-ZA" sz="1500" dirty="0">
              <a:latin typeface="Arial Narrow" panose="020B0606020202030204" pitchFamily="34" charset="0"/>
            </a:endParaRPr>
          </a:p>
          <a:p>
            <a:pPr marL="0" indent="0">
              <a:buNone/>
            </a:pPr>
            <a:endParaRPr lang="en-ZA" dirty="0"/>
          </a:p>
        </p:txBody>
      </p:sp>
      <p:sp>
        <p:nvSpPr>
          <p:cNvPr id="5" name="Slide Number Placeholder 4"/>
          <p:cNvSpPr>
            <a:spLocks noGrp="1"/>
          </p:cNvSpPr>
          <p:nvPr>
            <p:ph type="sldNum" sz="quarter" idx="12"/>
          </p:nvPr>
        </p:nvSpPr>
        <p:spPr/>
        <p:txBody>
          <a:bodyPr/>
          <a:lstStyle/>
          <a:p>
            <a:fld id="{F9D8934E-928E-4C38-807A-CB32A0A7C43F}" type="slidenum">
              <a:rPr lang="en-ZA" smtClean="0"/>
              <a:t>35</a:t>
            </a:fld>
            <a:endParaRPr lang="en-ZA"/>
          </a:p>
        </p:txBody>
      </p:sp>
      <p:sp>
        <p:nvSpPr>
          <p:cNvPr id="2" name="Footer Placeholder 1"/>
          <p:cNvSpPr>
            <a:spLocks noGrp="1"/>
          </p:cNvSpPr>
          <p:nvPr>
            <p:ph type="ftr" sz="quarter" idx="11"/>
          </p:nvPr>
        </p:nvSpPr>
        <p:spPr/>
        <p:txBody>
          <a:bodyPr/>
          <a:lstStyle/>
          <a:p>
            <a:r>
              <a:rPr lang="en-ZA"/>
              <a:t>Dr Alveen Singh - RESK401</a:t>
            </a:r>
          </a:p>
        </p:txBody>
      </p:sp>
    </p:spTree>
    <p:extLst>
      <p:ext uri="{BB962C8B-B14F-4D97-AF65-F5344CB8AC3E}">
        <p14:creationId xmlns:p14="http://schemas.microsoft.com/office/powerpoint/2010/main" val="849780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84310" y="566057"/>
            <a:ext cx="10018713" cy="5904412"/>
          </a:xfrm>
        </p:spPr>
        <p:txBody>
          <a:bodyPr anchor="t">
            <a:normAutofit/>
          </a:bodyPr>
          <a:lstStyle/>
          <a:p>
            <a:pPr marL="0" indent="0">
              <a:buNone/>
            </a:pPr>
            <a:r>
              <a:rPr lang="en-ZA" b="1" dirty="0"/>
              <a:t>Measurement</a:t>
            </a:r>
            <a:endParaRPr lang="en-ZA" dirty="0"/>
          </a:p>
          <a:p>
            <a:r>
              <a:rPr lang="en-ZA" dirty="0">
                <a:latin typeface="Arial Narrow" panose="020B0606020202030204" pitchFamily="34" charset="0"/>
              </a:rPr>
              <a:t>Measurements need to be performed before and after the experiment. </a:t>
            </a:r>
          </a:p>
          <a:p>
            <a:r>
              <a:rPr lang="en-ZA" dirty="0">
                <a:latin typeface="Arial Narrow" panose="020B0606020202030204" pitchFamily="34" charset="0"/>
              </a:rPr>
              <a:t>This is referred to as </a:t>
            </a:r>
            <a:r>
              <a:rPr lang="en-ZA" i="1" dirty="0">
                <a:solidFill>
                  <a:schemeClr val="accent3">
                    <a:lumMod val="75000"/>
                  </a:schemeClr>
                </a:solidFill>
                <a:latin typeface="Arial Narrow" panose="020B0606020202030204" pitchFamily="34" charset="0"/>
              </a:rPr>
              <a:t>pre-</a:t>
            </a:r>
            <a:r>
              <a:rPr lang="en-ZA" dirty="0">
                <a:latin typeface="Arial Narrow" panose="020B0606020202030204" pitchFamily="34" charset="0"/>
              </a:rPr>
              <a:t> and </a:t>
            </a:r>
            <a:r>
              <a:rPr lang="en-ZA" i="1" dirty="0">
                <a:solidFill>
                  <a:schemeClr val="accent3">
                    <a:lumMod val="75000"/>
                  </a:schemeClr>
                </a:solidFill>
                <a:latin typeface="Arial Narrow" panose="020B0606020202030204" pitchFamily="34" charset="0"/>
              </a:rPr>
              <a:t>post-</a:t>
            </a:r>
            <a:r>
              <a:rPr lang="en-ZA" dirty="0">
                <a:latin typeface="Arial Narrow" panose="020B0606020202030204" pitchFamily="34" charset="0"/>
              </a:rPr>
              <a:t> </a:t>
            </a:r>
            <a:r>
              <a:rPr lang="en-ZA" dirty="0">
                <a:solidFill>
                  <a:schemeClr val="accent3">
                    <a:lumMod val="75000"/>
                  </a:schemeClr>
                </a:solidFill>
                <a:latin typeface="Arial Narrow" panose="020B0606020202030204" pitchFamily="34" charset="0"/>
              </a:rPr>
              <a:t>testing</a:t>
            </a:r>
            <a:r>
              <a:rPr lang="en-ZA" dirty="0">
                <a:latin typeface="Arial Narrow" panose="020B0606020202030204" pitchFamily="34" charset="0"/>
              </a:rPr>
              <a:t>. </a:t>
            </a:r>
          </a:p>
          <a:p>
            <a:r>
              <a:rPr lang="en-ZA" dirty="0">
                <a:latin typeface="Arial Narrow" panose="020B0606020202030204" pitchFamily="34" charset="0"/>
              </a:rPr>
              <a:t>E.g. hypothesis: </a:t>
            </a:r>
          </a:p>
          <a:p>
            <a:pPr marL="457200" lvl="1" indent="0">
              <a:buNone/>
            </a:pPr>
            <a:r>
              <a:rPr lang="en-ZA" dirty="0">
                <a:latin typeface="Arial Narrow" panose="020B0606020202030204" pitchFamily="34" charset="0"/>
              </a:rPr>
              <a:t>	</a:t>
            </a:r>
            <a:r>
              <a:rPr lang="en-ZA" b="1" dirty="0">
                <a:solidFill>
                  <a:srgbClr val="C00000"/>
                </a:solidFill>
                <a:latin typeface="Arial Narrow" panose="020B0606020202030204" pitchFamily="34" charset="0"/>
              </a:rPr>
              <a:t>Implementation of </a:t>
            </a:r>
            <a:r>
              <a:rPr lang="en-ZA" b="1" dirty="0">
                <a:solidFill>
                  <a:schemeClr val="accent1">
                    <a:lumMod val="75000"/>
                  </a:schemeClr>
                </a:solidFill>
                <a:latin typeface="Arial Narrow" panose="020B0606020202030204" pitchFamily="34" charset="0"/>
              </a:rPr>
              <a:t>anti-X </a:t>
            </a:r>
            <a:r>
              <a:rPr lang="en-ZA" b="1" dirty="0">
                <a:solidFill>
                  <a:srgbClr val="C00000"/>
                </a:solidFill>
                <a:latin typeface="Arial Narrow" panose="020B0606020202030204" pitchFamily="34" charset="0"/>
              </a:rPr>
              <a:t>will result in improved </a:t>
            </a:r>
            <a:r>
              <a:rPr lang="en-ZA" b="1" dirty="0">
                <a:solidFill>
                  <a:srgbClr val="00B050"/>
                </a:solidFill>
                <a:latin typeface="Arial Narrow" panose="020B0606020202030204" pitchFamily="34" charset="0"/>
              </a:rPr>
              <a:t>team communication</a:t>
            </a:r>
          </a:p>
          <a:p>
            <a:pPr marL="457200" lvl="1" indent="0">
              <a:buNone/>
            </a:pPr>
            <a:endParaRPr lang="en-ZA" b="1" dirty="0">
              <a:solidFill>
                <a:srgbClr val="00B050"/>
              </a:solidFill>
              <a:latin typeface="Arial Narrow" panose="020B0606020202030204" pitchFamily="34" charset="0"/>
            </a:endParaRPr>
          </a:p>
          <a:p>
            <a:r>
              <a:rPr lang="en-ZA" dirty="0">
                <a:latin typeface="Arial Narrow" panose="020B0606020202030204" pitchFamily="34" charset="0"/>
              </a:rPr>
              <a:t>The effect of anti-X can’t be effectively measured with just a </a:t>
            </a:r>
            <a:r>
              <a:rPr lang="en-ZA" dirty="0">
                <a:solidFill>
                  <a:srgbClr val="0070C0"/>
                </a:solidFill>
                <a:latin typeface="Arial Narrow" panose="020B0606020202030204" pitchFamily="34" charset="0"/>
              </a:rPr>
              <a:t>post-test</a:t>
            </a:r>
            <a:r>
              <a:rPr lang="en-ZA" dirty="0">
                <a:latin typeface="Arial Narrow" panose="020B0606020202030204" pitchFamily="34" charset="0"/>
              </a:rPr>
              <a:t> measurement. </a:t>
            </a:r>
          </a:p>
          <a:p>
            <a:r>
              <a:rPr lang="en-ZA" dirty="0">
                <a:latin typeface="Arial Narrow" panose="020B0606020202030204" pitchFamily="34" charset="0"/>
              </a:rPr>
              <a:t>Instead, there must have been some </a:t>
            </a:r>
            <a:r>
              <a:rPr lang="en-ZA" dirty="0">
                <a:solidFill>
                  <a:srgbClr val="0070C0"/>
                </a:solidFill>
                <a:latin typeface="Arial Narrow" panose="020B0606020202030204" pitchFamily="34" charset="0"/>
              </a:rPr>
              <a:t>pre-test </a:t>
            </a:r>
            <a:r>
              <a:rPr lang="en-ZA" dirty="0">
                <a:latin typeface="Arial Narrow" panose="020B0606020202030204" pitchFamily="34" charset="0"/>
              </a:rPr>
              <a:t>measurement, to establish a benchmark and to measure any change. </a:t>
            </a:r>
          </a:p>
          <a:p>
            <a:r>
              <a:rPr lang="en-ZA" dirty="0">
                <a:latin typeface="Arial Narrow" panose="020B0606020202030204" pitchFamily="34" charset="0"/>
              </a:rPr>
              <a:t>Measurement usually includes quantitative data and statistical analysis.</a:t>
            </a:r>
          </a:p>
        </p:txBody>
      </p:sp>
      <p:sp>
        <p:nvSpPr>
          <p:cNvPr id="4" name="Footer Placeholder 3"/>
          <p:cNvSpPr>
            <a:spLocks noGrp="1"/>
          </p:cNvSpPr>
          <p:nvPr>
            <p:ph type="ftr" sz="quarter" idx="11"/>
          </p:nvPr>
        </p:nvSpPr>
        <p:spPr/>
        <p:txBody>
          <a:bodyPr/>
          <a:lstStyle/>
          <a:p>
            <a:r>
              <a:rPr lang="en-ZA" dirty="0"/>
              <a:t>Dr Alveen Singh - </a:t>
            </a:r>
            <a:r>
              <a:rPr lang="en-ZA" dirty="0" err="1"/>
              <a:t>RESK401</a:t>
            </a:r>
            <a:endParaRPr lang="en-ZA" dirty="0"/>
          </a:p>
        </p:txBody>
      </p:sp>
      <p:sp>
        <p:nvSpPr>
          <p:cNvPr id="5" name="Slide Number Placeholder 4"/>
          <p:cNvSpPr>
            <a:spLocks noGrp="1"/>
          </p:cNvSpPr>
          <p:nvPr>
            <p:ph type="sldNum" sz="quarter" idx="12"/>
          </p:nvPr>
        </p:nvSpPr>
        <p:spPr/>
        <p:txBody>
          <a:bodyPr/>
          <a:lstStyle/>
          <a:p>
            <a:fld id="{F9D8934E-928E-4C38-807A-CB32A0A7C43F}" type="slidenum">
              <a:rPr lang="en-ZA" smtClean="0"/>
              <a:t>36</a:t>
            </a:fld>
            <a:endParaRPr lang="en-ZA"/>
          </a:p>
        </p:txBody>
      </p:sp>
      <p:pic>
        <p:nvPicPr>
          <p:cNvPr id="6" name="Picture 5"/>
          <p:cNvPicPr>
            <a:picLocks noChangeAspect="1"/>
          </p:cNvPicPr>
          <p:nvPr/>
        </p:nvPicPr>
        <p:blipFill>
          <a:blip r:embed="rId2"/>
          <a:stretch>
            <a:fillRect/>
          </a:stretch>
        </p:blipFill>
        <p:spPr>
          <a:xfrm>
            <a:off x="9727882" y="280035"/>
            <a:ext cx="2124075" cy="2152650"/>
          </a:xfrm>
          <a:prstGeom prst="rect">
            <a:avLst/>
          </a:prstGeom>
        </p:spPr>
      </p:pic>
    </p:spTree>
    <p:extLst>
      <p:ext uri="{BB962C8B-B14F-4D97-AF65-F5344CB8AC3E}">
        <p14:creationId xmlns:p14="http://schemas.microsoft.com/office/powerpoint/2010/main" val="23611185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ZA" dirty="0"/>
              <a:t>Dr Alveen Singh - </a:t>
            </a:r>
            <a:r>
              <a:rPr lang="en-ZA" dirty="0" err="1"/>
              <a:t>RESK401</a:t>
            </a:r>
            <a:endParaRPr lang="en-ZA" dirty="0"/>
          </a:p>
        </p:txBody>
      </p:sp>
      <p:sp>
        <p:nvSpPr>
          <p:cNvPr id="5" name="Slide Number Placeholder 4"/>
          <p:cNvSpPr>
            <a:spLocks noGrp="1"/>
          </p:cNvSpPr>
          <p:nvPr>
            <p:ph type="sldNum" sz="quarter" idx="12"/>
          </p:nvPr>
        </p:nvSpPr>
        <p:spPr/>
        <p:txBody>
          <a:bodyPr/>
          <a:lstStyle/>
          <a:p>
            <a:fld id="{F9D8934E-928E-4C38-807A-CB32A0A7C43F}" type="slidenum">
              <a:rPr lang="en-ZA" smtClean="0"/>
              <a:t>37</a:t>
            </a:fld>
            <a:endParaRPr lang="en-ZA"/>
          </a:p>
        </p:txBody>
      </p:sp>
      <p:pic>
        <p:nvPicPr>
          <p:cNvPr id="6" name="Picture 5"/>
          <p:cNvPicPr>
            <a:picLocks noChangeAspect="1"/>
          </p:cNvPicPr>
          <p:nvPr/>
        </p:nvPicPr>
        <p:blipFill rotWithShape="1">
          <a:blip r:embed="rId2"/>
          <a:srcRect b="23881"/>
          <a:stretch/>
        </p:blipFill>
        <p:spPr>
          <a:xfrm>
            <a:off x="665715" y="225471"/>
            <a:ext cx="6229507" cy="2387102"/>
          </a:xfrm>
          <a:prstGeom prst="rect">
            <a:avLst/>
          </a:prstGeom>
        </p:spPr>
      </p:pic>
      <p:sp>
        <p:nvSpPr>
          <p:cNvPr id="7" name="TextBox 6"/>
          <p:cNvSpPr txBox="1"/>
          <p:nvPr/>
        </p:nvSpPr>
        <p:spPr>
          <a:xfrm>
            <a:off x="2572279" y="2612573"/>
            <a:ext cx="1820549" cy="307777"/>
          </a:xfrm>
          <a:prstGeom prst="rect">
            <a:avLst/>
          </a:prstGeom>
          <a:noFill/>
        </p:spPr>
        <p:txBody>
          <a:bodyPr wrap="square" rtlCol="0">
            <a:spAutoFit/>
          </a:bodyPr>
          <a:lstStyle/>
          <a:p>
            <a:r>
              <a:rPr lang="en-US" sz="1400" dirty="0" err="1">
                <a:solidFill>
                  <a:srgbClr val="FF0000"/>
                </a:solidFill>
              </a:rPr>
              <a:t>Portney</a:t>
            </a:r>
            <a:r>
              <a:rPr lang="en-US" sz="1400" dirty="0">
                <a:solidFill>
                  <a:srgbClr val="FF0000"/>
                </a:solidFill>
              </a:rPr>
              <a:t> and Watkins, </a:t>
            </a:r>
            <a:endParaRPr lang="en-ZA" dirty="0">
              <a:solidFill>
                <a:srgbClr val="FF0000"/>
              </a:solidFill>
            </a:endParaRPr>
          </a:p>
        </p:txBody>
      </p:sp>
      <p:pic>
        <p:nvPicPr>
          <p:cNvPr id="1026" name="Picture 2" descr="Experimental Design | Simply Psycholog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36372" y="2766461"/>
            <a:ext cx="4466651" cy="2851354"/>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8646508" y="5617815"/>
            <a:ext cx="1820549" cy="307777"/>
          </a:xfrm>
          <a:prstGeom prst="rect">
            <a:avLst/>
          </a:prstGeom>
          <a:noFill/>
        </p:spPr>
        <p:txBody>
          <a:bodyPr wrap="square" rtlCol="0">
            <a:spAutoFit/>
          </a:bodyPr>
          <a:lstStyle/>
          <a:p>
            <a:r>
              <a:rPr lang="en-US" sz="1400" dirty="0">
                <a:solidFill>
                  <a:srgbClr val="FF0000"/>
                </a:solidFill>
              </a:rPr>
              <a:t>McLeod, 2017 </a:t>
            </a:r>
            <a:endParaRPr lang="en-ZA" dirty="0">
              <a:solidFill>
                <a:srgbClr val="FF0000"/>
              </a:solidFill>
            </a:endParaRPr>
          </a:p>
        </p:txBody>
      </p:sp>
    </p:spTree>
    <p:extLst>
      <p:ext uri="{BB962C8B-B14F-4D97-AF65-F5344CB8AC3E}">
        <p14:creationId xmlns:p14="http://schemas.microsoft.com/office/powerpoint/2010/main" val="6695184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types of experiments</a:t>
            </a:r>
            <a:endParaRPr lang="en-ZA" dirty="0"/>
          </a:p>
        </p:txBody>
      </p:sp>
      <p:sp>
        <p:nvSpPr>
          <p:cNvPr id="3" name="Content Placeholder 2"/>
          <p:cNvSpPr>
            <a:spLocks noGrp="1"/>
          </p:cNvSpPr>
          <p:nvPr>
            <p:ph idx="1"/>
          </p:nvPr>
        </p:nvSpPr>
        <p:spPr/>
        <p:txBody>
          <a:bodyPr/>
          <a:lstStyle/>
          <a:p>
            <a:r>
              <a:rPr lang="en-US" dirty="0">
                <a:latin typeface="Arial Rounded MT Bold" panose="020F0704030504030204" pitchFamily="34" charset="0"/>
              </a:rPr>
              <a:t>True </a:t>
            </a:r>
          </a:p>
          <a:p>
            <a:r>
              <a:rPr lang="en-US" dirty="0">
                <a:latin typeface="Arial Rounded MT Bold" panose="020F0704030504030204" pitchFamily="34" charset="0"/>
              </a:rPr>
              <a:t>Pre-</a:t>
            </a:r>
          </a:p>
          <a:p>
            <a:r>
              <a:rPr lang="en-US" dirty="0">
                <a:latin typeface="Arial Rounded MT Bold" panose="020F0704030504030204" pitchFamily="34" charset="0"/>
              </a:rPr>
              <a:t>Quasi </a:t>
            </a:r>
            <a:endParaRPr lang="en-ZA" dirty="0">
              <a:latin typeface="Arial Rounded MT Bold" panose="020F0704030504030204" pitchFamily="34" charset="0"/>
            </a:endParaRPr>
          </a:p>
        </p:txBody>
      </p:sp>
      <p:sp>
        <p:nvSpPr>
          <p:cNvPr id="4" name="Footer Placeholder 3"/>
          <p:cNvSpPr>
            <a:spLocks noGrp="1"/>
          </p:cNvSpPr>
          <p:nvPr>
            <p:ph type="ftr" sz="quarter" idx="11"/>
          </p:nvPr>
        </p:nvSpPr>
        <p:spPr/>
        <p:txBody>
          <a:bodyPr/>
          <a:lstStyle/>
          <a:p>
            <a:r>
              <a:rPr lang="en-ZA"/>
              <a:t>Dr Alveen Singh - RESK401</a:t>
            </a:r>
          </a:p>
        </p:txBody>
      </p:sp>
      <p:sp>
        <p:nvSpPr>
          <p:cNvPr id="5" name="Slide Number Placeholder 4"/>
          <p:cNvSpPr>
            <a:spLocks noGrp="1"/>
          </p:cNvSpPr>
          <p:nvPr>
            <p:ph type="sldNum" sz="quarter" idx="12"/>
          </p:nvPr>
        </p:nvSpPr>
        <p:spPr/>
        <p:txBody>
          <a:bodyPr/>
          <a:lstStyle/>
          <a:p>
            <a:fld id="{F9D8934E-928E-4C38-807A-CB32A0A7C43F}" type="slidenum">
              <a:rPr lang="en-ZA" smtClean="0"/>
              <a:t>38</a:t>
            </a:fld>
            <a:endParaRPr lang="en-ZA"/>
          </a:p>
        </p:txBody>
      </p:sp>
    </p:spTree>
    <p:extLst>
      <p:ext uri="{BB962C8B-B14F-4D97-AF65-F5344CB8AC3E}">
        <p14:creationId xmlns:p14="http://schemas.microsoft.com/office/powerpoint/2010/main" val="4827611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84310" y="766355"/>
            <a:ext cx="10018713" cy="5024846"/>
          </a:xfrm>
        </p:spPr>
        <p:txBody>
          <a:bodyPr anchor="t">
            <a:normAutofit/>
          </a:bodyPr>
          <a:lstStyle/>
          <a:p>
            <a:pPr marL="0" indent="0" algn="just">
              <a:buNone/>
            </a:pPr>
            <a:r>
              <a:rPr lang="en-GB" b="1" dirty="0">
                <a:solidFill>
                  <a:srgbClr val="0070C0"/>
                </a:solidFill>
                <a:latin typeface="Arial" panose="020B0604020202020204" pitchFamily="34" charset="0"/>
                <a:cs typeface="Arial" panose="020B0604020202020204" pitchFamily="34" charset="0"/>
              </a:rPr>
              <a:t>True experiments </a:t>
            </a:r>
            <a:r>
              <a:rPr lang="en-GB" sz="1800" dirty="0">
                <a:latin typeface="Arial" panose="020B0604020202020204" pitchFamily="34" charset="0"/>
                <a:cs typeface="Arial" panose="020B0604020202020204" pitchFamily="34" charset="0"/>
              </a:rPr>
              <a:t>contain three key features: independent and dependent variables, pretesting and post-testing, and experimental and control groups. </a:t>
            </a:r>
          </a:p>
          <a:p>
            <a:pPr marL="0" indent="0" algn="just">
              <a:buNone/>
            </a:pPr>
            <a:endParaRPr lang="en-GB" sz="1800" dirty="0">
              <a:latin typeface="Arial" panose="020B0604020202020204" pitchFamily="34" charset="0"/>
              <a:cs typeface="Arial" panose="020B0604020202020204" pitchFamily="34" charset="0"/>
            </a:endParaRPr>
          </a:p>
          <a:p>
            <a:pPr marL="0" indent="0" algn="just">
              <a:buNone/>
            </a:pPr>
            <a:r>
              <a:rPr lang="en-GB" sz="1800" dirty="0">
                <a:latin typeface="Arial" panose="020B0604020202020204" pitchFamily="34" charset="0"/>
                <a:cs typeface="Arial" panose="020B0604020202020204" pitchFamily="34" charset="0"/>
              </a:rPr>
              <a:t>In a true experiment, the effect of an</a:t>
            </a:r>
            <a:r>
              <a:rPr lang="en-GB" sz="1800" dirty="0">
                <a:solidFill>
                  <a:srgbClr val="FF0000"/>
                </a:solidFill>
                <a:latin typeface="Arial" panose="020B0604020202020204" pitchFamily="34" charset="0"/>
                <a:cs typeface="Arial" panose="020B0604020202020204" pitchFamily="34" charset="0"/>
              </a:rPr>
              <a:t> intervention </a:t>
            </a:r>
            <a:r>
              <a:rPr lang="en-GB" sz="1800" dirty="0">
                <a:latin typeface="Arial" panose="020B0604020202020204" pitchFamily="34" charset="0"/>
                <a:cs typeface="Arial" panose="020B0604020202020204" pitchFamily="34" charset="0"/>
              </a:rPr>
              <a:t>is tested by comparing two groups. </a:t>
            </a:r>
          </a:p>
          <a:p>
            <a:pPr marL="0" indent="0" algn="just">
              <a:buNone/>
            </a:pPr>
            <a:endParaRPr lang="en-GB" sz="1800" dirty="0">
              <a:latin typeface="Arial" panose="020B0604020202020204" pitchFamily="34" charset="0"/>
              <a:cs typeface="Arial" panose="020B0604020202020204" pitchFamily="34" charset="0"/>
            </a:endParaRPr>
          </a:p>
          <a:p>
            <a:pPr marL="0" indent="0" algn="just">
              <a:buNone/>
            </a:pPr>
            <a:r>
              <a:rPr lang="en-GB" sz="1800" dirty="0">
                <a:latin typeface="Arial" panose="020B0604020202020204" pitchFamily="34" charset="0"/>
                <a:cs typeface="Arial" panose="020B0604020202020204" pitchFamily="34" charset="0"/>
              </a:rPr>
              <a:t>One group is exposed to the intervention (the experimental group, </a:t>
            </a:r>
            <a:r>
              <a:rPr lang="en-GB" sz="1800" i="1" dirty="0">
                <a:latin typeface="Arial" panose="020B0604020202020204" pitchFamily="34" charset="0"/>
                <a:cs typeface="Arial" panose="020B0604020202020204" pitchFamily="34" charset="0"/>
              </a:rPr>
              <a:t>also known as the treatment group</a:t>
            </a:r>
            <a:r>
              <a:rPr lang="en-GB" sz="1800" dirty="0">
                <a:latin typeface="Arial" panose="020B0604020202020204" pitchFamily="34" charset="0"/>
                <a:cs typeface="Arial" panose="020B0604020202020204" pitchFamily="34" charset="0"/>
              </a:rPr>
              <a:t>) and the other is not exposed to the intervention (the control group) </a:t>
            </a:r>
          </a:p>
          <a:p>
            <a:pPr marL="0" indent="0" algn="just">
              <a:buNone/>
            </a:pPr>
            <a:endParaRPr lang="en-GB" sz="1800" dirty="0">
              <a:latin typeface="Arial" panose="020B0604020202020204" pitchFamily="34" charset="0"/>
              <a:cs typeface="Arial" panose="020B0604020202020204" pitchFamily="34" charset="0"/>
            </a:endParaRPr>
          </a:p>
          <a:p>
            <a:pPr marL="0" indent="0" algn="just">
              <a:buNone/>
            </a:pPr>
            <a:r>
              <a:rPr lang="en-GB" sz="1800" dirty="0">
                <a:latin typeface="Arial" panose="020B0604020202020204" pitchFamily="34" charset="0"/>
                <a:cs typeface="Arial" panose="020B0604020202020204" pitchFamily="34" charset="0"/>
              </a:rPr>
              <a:t>(</a:t>
            </a:r>
            <a:r>
              <a:rPr lang="en-GB" sz="1800" dirty="0" err="1">
                <a:latin typeface="Arial" panose="020B0604020202020204" pitchFamily="34" charset="0"/>
                <a:cs typeface="Arial" panose="020B0604020202020204" pitchFamily="34" charset="0"/>
              </a:rPr>
              <a:t>Pressbook</a:t>
            </a:r>
            <a:r>
              <a:rPr lang="en-GB" sz="1800" dirty="0">
                <a:latin typeface="Arial" panose="020B0604020202020204" pitchFamily="34" charset="0"/>
                <a:cs typeface="Arial" panose="020B0604020202020204" pitchFamily="34" charset="0"/>
              </a:rPr>
              <a:t>, 2021)</a:t>
            </a:r>
            <a:endParaRPr lang="en-ZA" sz="1800" dirty="0">
              <a:latin typeface="Arial" panose="020B0604020202020204" pitchFamily="34" charset="0"/>
              <a:cs typeface="Arial" panose="020B0604020202020204" pitchFamily="34" charset="0"/>
            </a:endParaRPr>
          </a:p>
        </p:txBody>
      </p:sp>
      <p:sp>
        <p:nvSpPr>
          <p:cNvPr id="4" name="Footer Placeholder 3"/>
          <p:cNvSpPr>
            <a:spLocks noGrp="1"/>
          </p:cNvSpPr>
          <p:nvPr>
            <p:ph type="ftr" sz="quarter" idx="11"/>
          </p:nvPr>
        </p:nvSpPr>
        <p:spPr/>
        <p:txBody>
          <a:bodyPr/>
          <a:lstStyle/>
          <a:p>
            <a:r>
              <a:rPr lang="en-ZA"/>
              <a:t>Dr Alveen Singh - RESK401</a:t>
            </a:r>
          </a:p>
        </p:txBody>
      </p:sp>
      <p:sp>
        <p:nvSpPr>
          <p:cNvPr id="5" name="Slide Number Placeholder 4"/>
          <p:cNvSpPr>
            <a:spLocks noGrp="1"/>
          </p:cNvSpPr>
          <p:nvPr>
            <p:ph type="sldNum" sz="quarter" idx="12"/>
          </p:nvPr>
        </p:nvSpPr>
        <p:spPr/>
        <p:txBody>
          <a:bodyPr/>
          <a:lstStyle/>
          <a:p>
            <a:fld id="{F9D8934E-928E-4C38-807A-CB32A0A7C43F}" type="slidenum">
              <a:rPr lang="en-ZA" smtClean="0"/>
              <a:t>39</a:t>
            </a:fld>
            <a:endParaRPr lang="en-ZA"/>
          </a:p>
        </p:txBody>
      </p:sp>
    </p:spTree>
    <p:extLst>
      <p:ext uri="{BB962C8B-B14F-4D97-AF65-F5344CB8AC3E}">
        <p14:creationId xmlns:p14="http://schemas.microsoft.com/office/powerpoint/2010/main" val="543968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84310" y="766355"/>
            <a:ext cx="10018713" cy="5024846"/>
          </a:xfrm>
        </p:spPr>
        <p:txBody>
          <a:bodyPr anchor="t">
            <a:normAutofit/>
          </a:bodyPr>
          <a:lstStyle/>
          <a:p>
            <a:pPr marL="0" indent="0" algn="just">
              <a:buNone/>
            </a:pPr>
            <a:r>
              <a:rPr lang="en-GB" b="1" dirty="0">
                <a:solidFill>
                  <a:srgbClr val="0070C0"/>
                </a:solidFill>
                <a:latin typeface="Arial" panose="020B0604020202020204" pitchFamily="34" charset="0"/>
                <a:cs typeface="Arial" panose="020B0604020202020204" pitchFamily="34" charset="0"/>
              </a:rPr>
              <a:t>Pre-experiments </a:t>
            </a:r>
            <a:r>
              <a:rPr lang="en-GB" dirty="0"/>
              <a:t>are called such because they happen before a true experiment is conducted. </a:t>
            </a:r>
          </a:p>
          <a:p>
            <a:pPr marL="0" indent="0" algn="just">
              <a:buNone/>
            </a:pPr>
            <a:endParaRPr lang="en-GB" dirty="0"/>
          </a:p>
          <a:p>
            <a:pPr marL="0" indent="0" algn="just">
              <a:buNone/>
            </a:pPr>
            <a:r>
              <a:rPr lang="en-GB" dirty="0"/>
              <a:t>Researchers want to see if their </a:t>
            </a:r>
            <a:r>
              <a:rPr lang="en-GB" dirty="0">
                <a:solidFill>
                  <a:srgbClr val="FF0000"/>
                </a:solidFill>
              </a:rPr>
              <a:t>interventions</a:t>
            </a:r>
            <a:r>
              <a:rPr lang="en-GB" dirty="0"/>
              <a:t> will have an effect on a small group of people before they seek funding and dedicate time to conducting a true experiment</a:t>
            </a:r>
          </a:p>
          <a:p>
            <a:pPr marL="0" indent="0" algn="just">
              <a:buNone/>
            </a:pPr>
            <a:endParaRPr lang="en-GB" sz="1800" dirty="0">
              <a:latin typeface="Arial" panose="020B0604020202020204" pitchFamily="34" charset="0"/>
              <a:cs typeface="Arial" panose="020B0604020202020204" pitchFamily="34" charset="0"/>
            </a:endParaRPr>
          </a:p>
          <a:p>
            <a:pPr marL="0" indent="0" algn="just">
              <a:buNone/>
            </a:pPr>
            <a:r>
              <a:rPr lang="en-GB" sz="1800" dirty="0">
                <a:latin typeface="Arial" panose="020B0604020202020204" pitchFamily="34" charset="0"/>
                <a:cs typeface="Arial" panose="020B0604020202020204" pitchFamily="34" charset="0"/>
              </a:rPr>
              <a:t>(</a:t>
            </a:r>
            <a:r>
              <a:rPr lang="en-GB" sz="1800" dirty="0" err="1">
                <a:latin typeface="Arial" panose="020B0604020202020204" pitchFamily="34" charset="0"/>
                <a:cs typeface="Arial" panose="020B0604020202020204" pitchFamily="34" charset="0"/>
              </a:rPr>
              <a:t>Pressbook</a:t>
            </a:r>
            <a:r>
              <a:rPr lang="en-GB" sz="1800" dirty="0">
                <a:latin typeface="Arial" panose="020B0604020202020204" pitchFamily="34" charset="0"/>
                <a:cs typeface="Arial" panose="020B0604020202020204" pitchFamily="34" charset="0"/>
              </a:rPr>
              <a:t>, 2021)</a:t>
            </a:r>
            <a:endParaRPr lang="en-ZA" sz="1800" dirty="0">
              <a:latin typeface="Arial" panose="020B0604020202020204" pitchFamily="34" charset="0"/>
              <a:cs typeface="Arial" panose="020B0604020202020204" pitchFamily="34" charset="0"/>
            </a:endParaRPr>
          </a:p>
        </p:txBody>
      </p:sp>
      <p:sp>
        <p:nvSpPr>
          <p:cNvPr id="4" name="Footer Placeholder 3"/>
          <p:cNvSpPr>
            <a:spLocks noGrp="1"/>
          </p:cNvSpPr>
          <p:nvPr>
            <p:ph type="ftr" sz="quarter" idx="11"/>
          </p:nvPr>
        </p:nvSpPr>
        <p:spPr/>
        <p:txBody>
          <a:bodyPr/>
          <a:lstStyle/>
          <a:p>
            <a:r>
              <a:rPr lang="en-ZA"/>
              <a:t>Dr Alveen Singh - RESK401</a:t>
            </a:r>
          </a:p>
        </p:txBody>
      </p:sp>
      <p:sp>
        <p:nvSpPr>
          <p:cNvPr id="5" name="Slide Number Placeholder 4"/>
          <p:cNvSpPr>
            <a:spLocks noGrp="1"/>
          </p:cNvSpPr>
          <p:nvPr>
            <p:ph type="sldNum" sz="quarter" idx="12"/>
          </p:nvPr>
        </p:nvSpPr>
        <p:spPr/>
        <p:txBody>
          <a:bodyPr/>
          <a:lstStyle/>
          <a:p>
            <a:fld id="{F9D8934E-928E-4C38-807A-CB32A0A7C43F}" type="slidenum">
              <a:rPr lang="en-ZA" smtClean="0"/>
              <a:t>40</a:t>
            </a:fld>
            <a:endParaRPr lang="en-ZA"/>
          </a:p>
        </p:txBody>
      </p:sp>
      <p:sp>
        <p:nvSpPr>
          <p:cNvPr id="6" name="TextBox 5"/>
          <p:cNvSpPr txBox="1"/>
          <p:nvPr/>
        </p:nvSpPr>
        <p:spPr>
          <a:xfrm>
            <a:off x="7715794" y="4032069"/>
            <a:ext cx="2403566" cy="1200329"/>
          </a:xfrm>
          <a:prstGeom prst="rect">
            <a:avLst/>
          </a:prstGeom>
          <a:noFill/>
        </p:spPr>
        <p:txBody>
          <a:bodyPr wrap="square" rtlCol="0">
            <a:spAutoFit/>
          </a:bodyPr>
          <a:lstStyle/>
          <a:p>
            <a:r>
              <a:rPr lang="en-US" sz="3600" dirty="0">
                <a:solidFill>
                  <a:srgbClr val="FF0000"/>
                </a:solidFill>
                <a:latin typeface="Arial Black" panose="020B0A04020102020204" pitchFamily="34" charset="0"/>
              </a:rPr>
              <a:t>Pilot testing</a:t>
            </a:r>
            <a:endParaRPr lang="en-ZA" sz="3600" dirty="0">
              <a:solidFill>
                <a:srgbClr val="FF0000"/>
              </a:solidFill>
              <a:latin typeface="Arial Black" panose="020B0A04020102020204" pitchFamily="34" charset="0"/>
            </a:endParaRPr>
          </a:p>
        </p:txBody>
      </p:sp>
    </p:spTree>
    <p:extLst>
      <p:ext uri="{BB962C8B-B14F-4D97-AF65-F5344CB8AC3E}">
        <p14:creationId xmlns:p14="http://schemas.microsoft.com/office/powerpoint/2010/main" val="22804768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84310" y="766355"/>
            <a:ext cx="10018713" cy="5024846"/>
          </a:xfrm>
        </p:spPr>
        <p:txBody>
          <a:bodyPr anchor="t">
            <a:normAutofit/>
          </a:bodyPr>
          <a:lstStyle/>
          <a:p>
            <a:pPr marL="0" indent="0">
              <a:buNone/>
            </a:pPr>
            <a:endParaRPr lang="en-GB" dirty="0">
              <a:latin typeface="Arial" panose="020B0604020202020204" pitchFamily="34" charset="0"/>
              <a:cs typeface="Arial" panose="020B0604020202020204" pitchFamily="34" charset="0"/>
            </a:endParaRPr>
          </a:p>
          <a:p>
            <a:pPr marL="0" indent="0">
              <a:buNone/>
            </a:pPr>
            <a:endParaRPr lang="en-GB" dirty="0">
              <a:latin typeface="Arial" panose="020B0604020202020204" pitchFamily="34" charset="0"/>
              <a:cs typeface="Arial" panose="020B0604020202020204" pitchFamily="34" charset="0"/>
            </a:endParaRPr>
          </a:p>
          <a:p>
            <a:pPr marL="0" indent="0">
              <a:buNone/>
            </a:pPr>
            <a:endParaRPr lang="en-GB" dirty="0">
              <a:latin typeface="Arial" panose="020B0604020202020204" pitchFamily="34" charset="0"/>
              <a:cs typeface="Arial" panose="020B0604020202020204" pitchFamily="34" charset="0"/>
            </a:endParaRPr>
          </a:p>
          <a:p>
            <a:pPr marL="0" indent="0">
              <a:buNone/>
            </a:pPr>
            <a:r>
              <a:rPr lang="en-GB" dirty="0">
                <a:latin typeface="Arial" panose="020B0604020202020204" pitchFamily="34" charset="0"/>
                <a:cs typeface="Arial" panose="020B0604020202020204" pitchFamily="34" charset="0"/>
              </a:rPr>
              <a:t>A </a:t>
            </a:r>
            <a:r>
              <a:rPr lang="en-GB" b="1" dirty="0">
                <a:solidFill>
                  <a:srgbClr val="0070C0"/>
                </a:solidFill>
                <a:latin typeface="Arial" panose="020B0604020202020204" pitchFamily="34" charset="0"/>
                <a:cs typeface="Arial" panose="020B0604020202020204" pitchFamily="34" charset="0"/>
              </a:rPr>
              <a:t>Quasi-experiment </a:t>
            </a:r>
            <a:r>
              <a:rPr lang="en-US" dirty="0"/>
              <a:t>does not rely on random assignment. Instead,  participants are assigned to groups based on careful </a:t>
            </a:r>
            <a:r>
              <a:rPr lang="en-US" b="1" dirty="0"/>
              <a:t>selection criteria</a:t>
            </a:r>
            <a:r>
              <a:rPr lang="en-US" dirty="0"/>
              <a:t>.</a:t>
            </a:r>
          </a:p>
          <a:p>
            <a:pPr marL="0" indent="0">
              <a:buNone/>
            </a:pPr>
            <a:endParaRPr lang="en-US" b="1" dirty="0">
              <a:solidFill>
                <a:srgbClr val="0070C0"/>
              </a:solidFill>
              <a:latin typeface="Arial" panose="020B0604020202020204" pitchFamily="34" charset="0"/>
              <a:cs typeface="Arial" panose="020B0604020202020204" pitchFamily="34" charset="0"/>
            </a:endParaRPr>
          </a:p>
          <a:p>
            <a:pPr marL="0" indent="0">
              <a:buNone/>
            </a:pPr>
            <a:endParaRPr lang="en-US" b="1" dirty="0">
              <a:solidFill>
                <a:srgbClr val="0070C0"/>
              </a:solidFill>
              <a:latin typeface="Arial" panose="020B0604020202020204" pitchFamily="34" charset="0"/>
              <a:cs typeface="Arial" panose="020B0604020202020204" pitchFamily="34" charset="0"/>
            </a:endParaRPr>
          </a:p>
          <a:p>
            <a:pPr marL="0" indent="0">
              <a:buNone/>
            </a:pPr>
            <a:r>
              <a:rPr lang="en-US" b="1" dirty="0">
                <a:solidFill>
                  <a:srgbClr val="0070C0"/>
                </a:solidFill>
                <a:latin typeface="Arial" panose="020B0604020202020204" pitchFamily="34" charset="0"/>
                <a:cs typeface="Arial" panose="020B0604020202020204" pitchFamily="34" charset="0"/>
              </a:rPr>
              <a:t>e.g. </a:t>
            </a:r>
            <a:r>
              <a:rPr lang="en-US" sz="1600" dirty="0">
                <a:latin typeface="Arial Black" panose="020B0A04020102020204" pitchFamily="34" charset="0"/>
              </a:rPr>
              <a:t>A student is introducing a pharmacy order-entry system aimed at municipal hospitals. The intervention is implemented and pharmacy operating costs are measured before and after the intervention.</a:t>
            </a:r>
            <a:endParaRPr lang="en-GB" sz="1600" b="1" dirty="0">
              <a:solidFill>
                <a:srgbClr val="0070C0"/>
              </a:solidFill>
              <a:latin typeface="Arial Black" panose="020B0A04020102020204" pitchFamily="34" charset="0"/>
              <a:cs typeface="Arial" panose="020B0604020202020204" pitchFamily="34" charset="0"/>
            </a:endParaRPr>
          </a:p>
          <a:p>
            <a:pPr marL="457200" lvl="1" indent="0">
              <a:buNone/>
            </a:pPr>
            <a:endParaRPr lang="en-US" dirty="0"/>
          </a:p>
          <a:p>
            <a:pPr marL="0" indent="0" algn="just">
              <a:buNone/>
            </a:pPr>
            <a:endParaRPr lang="en-ZA" sz="1800" dirty="0">
              <a:latin typeface="Arial" panose="020B0604020202020204" pitchFamily="34" charset="0"/>
              <a:cs typeface="Arial" panose="020B0604020202020204" pitchFamily="34" charset="0"/>
            </a:endParaRPr>
          </a:p>
        </p:txBody>
      </p:sp>
      <p:sp>
        <p:nvSpPr>
          <p:cNvPr id="4" name="Footer Placeholder 3"/>
          <p:cNvSpPr>
            <a:spLocks noGrp="1"/>
          </p:cNvSpPr>
          <p:nvPr>
            <p:ph type="ftr" sz="quarter" idx="11"/>
          </p:nvPr>
        </p:nvSpPr>
        <p:spPr/>
        <p:txBody>
          <a:bodyPr/>
          <a:lstStyle/>
          <a:p>
            <a:r>
              <a:rPr lang="en-ZA"/>
              <a:t>Dr Alveen Singh - RESK401</a:t>
            </a:r>
          </a:p>
        </p:txBody>
      </p:sp>
      <p:sp>
        <p:nvSpPr>
          <p:cNvPr id="5" name="Slide Number Placeholder 4"/>
          <p:cNvSpPr>
            <a:spLocks noGrp="1"/>
          </p:cNvSpPr>
          <p:nvPr>
            <p:ph type="sldNum" sz="quarter" idx="12"/>
          </p:nvPr>
        </p:nvSpPr>
        <p:spPr/>
        <p:txBody>
          <a:bodyPr/>
          <a:lstStyle/>
          <a:p>
            <a:fld id="{F9D8934E-928E-4C38-807A-CB32A0A7C43F}" type="slidenum">
              <a:rPr lang="en-ZA" smtClean="0"/>
              <a:t>41</a:t>
            </a:fld>
            <a:endParaRPr lang="en-ZA"/>
          </a:p>
        </p:txBody>
      </p:sp>
      <p:sp>
        <p:nvSpPr>
          <p:cNvPr id="2" name="Flowchart: Card 1"/>
          <p:cNvSpPr/>
          <p:nvPr/>
        </p:nvSpPr>
        <p:spPr>
          <a:xfrm>
            <a:off x="9039498" y="261257"/>
            <a:ext cx="2804160" cy="1924594"/>
          </a:xfrm>
          <a:prstGeom prst="flowChartPunchedCard">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ZA" dirty="0"/>
              <a:t> nonrandomized, pre-post test intervention studies</a:t>
            </a:r>
          </a:p>
        </p:txBody>
      </p:sp>
    </p:spTree>
    <p:extLst>
      <p:ext uri="{BB962C8B-B14F-4D97-AF65-F5344CB8AC3E}">
        <p14:creationId xmlns:p14="http://schemas.microsoft.com/office/powerpoint/2010/main" val="12055449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ZA"/>
              <a:t>Dr Alveen Singh - RESK401</a:t>
            </a:r>
          </a:p>
        </p:txBody>
      </p:sp>
      <p:sp>
        <p:nvSpPr>
          <p:cNvPr id="5" name="Slide Number Placeholder 4"/>
          <p:cNvSpPr>
            <a:spLocks noGrp="1"/>
          </p:cNvSpPr>
          <p:nvPr>
            <p:ph type="sldNum" sz="quarter" idx="12"/>
          </p:nvPr>
        </p:nvSpPr>
        <p:spPr/>
        <p:txBody>
          <a:bodyPr/>
          <a:lstStyle/>
          <a:p>
            <a:fld id="{F9D8934E-928E-4C38-807A-CB32A0A7C43F}" type="slidenum">
              <a:rPr lang="en-ZA" smtClean="0"/>
              <a:t>42</a:t>
            </a:fld>
            <a:endParaRPr lang="en-ZA"/>
          </a:p>
        </p:txBody>
      </p:sp>
      <p:pic>
        <p:nvPicPr>
          <p:cNvPr id="2050" name="Picture 2" descr="Research Methods in Psychological Science | Reading Assignment: Quasi- experiments and Program Evaluation | Top Ha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2279" y="1483722"/>
            <a:ext cx="8764176" cy="213033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8219787" y="3832557"/>
            <a:ext cx="2044092" cy="307777"/>
          </a:xfrm>
          <a:prstGeom prst="rect">
            <a:avLst/>
          </a:prstGeom>
          <a:noFill/>
        </p:spPr>
        <p:txBody>
          <a:bodyPr wrap="square" rtlCol="0">
            <a:spAutoFit/>
          </a:bodyPr>
          <a:lstStyle/>
          <a:p>
            <a:r>
              <a:rPr lang="da-DK" sz="1400" dirty="0">
                <a:solidFill>
                  <a:srgbClr val="FF0000"/>
                </a:solidFill>
              </a:rPr>
              <a:t>Freberg, L. et al. (2017)</a:t>
            </a:r>
            <a:endParaRPr lang="en-ZA" dirty="0">
              <a:solidFill>
                <a:srgbClr val="FF0000"/>
              </a:solidFill>
            </a:endParaRPr>
          </a:p>
        </p:txBody>
      </p:sp>
    </p:spTree>
    <p:extLst>
      <p:ext uri="{BB962C8B-B14F-4D97-AF65-F5344CB8AC3E}">
        <p14:creationId xmlns:p14="http://schemas.microsoft.com/office/powerpoint/2010/main" val="25116270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ZA"/>
              <a:t>Dr Alveen Singh - RESK401</a:t>
            </a:r>
          </a:p>
        </p:txBody>
      </p:sp>
      <p:sp>
        <p:nvSpPr>
          <p:cNvPr id="3" name="Slide Number Placeholder 2"/>
          <p:cNvSpPr>
            <a:spLocks noGrp="1"/>
          </p:cNvSpPr>
          <p:nvPr>
            <p:ph type="sldNum" sz="quarter" idx="12"/>
          </p:nvPr>
        </p:nvSpPr>
        <p:spPr/>
        <p:txBody>
          <a:bodyPr/>
          <a:lstStyle/>
          <a:p>
            <a:fld id="{F9D8934E-928E-4C38-807A-CB32A0A7C43F}" type="slidenum">
              <a:rPr lang="en-ZA" smtClean="0"/>
              <a:t>43</a:t>
            </a:fld>
            <a:endParaRPr lang="en-ZA"/>
          </a:p>
        </p:txBody>
      </p:sp>
      <p:pic>
        <p:nvPicPr>
          <p:cNvPr id="5" name="Picture 4"/>
          <p:cNvPicPr>
            <a:picLocks noChangeAspect="1"/>
          </p:cNvPicPr>
          <p:nvPr/>
        </p:nvPicPr>
        <p:blipFill>
          <a:blip r:embed="rId2"/>
          <a:stretch>
            <a:fillRect/>
          </a:stretch>
        </p:blipFill>
        <p:spPr>
          <a:xfrm>
            <a:off x="2572279" y="398824"/>
            <a:ext cx="6757985" cy="5073785"/>
          </a:xfrm>
          <a:prstGeom prst="rect">
            <a:avLst/>
          </a:prstGeom>
        </p:spPr>
      </p:pic>
      <p:sp>
        <p:nvSpPr>
          <p:cNvPr id="6" name="TextBox 5"/>
          <p:cNvSpPr txBox="1"/>
          <p:nvPr/>
        </p:nvSpPr>
        <p:spPr>
          <a:xfrm>
            <a:off x="7348929" y="5472609"/>
            <a:ext cx="2044092" cy="307777"/>
          </a:xfrm>
          <a:prstGeom prst="rect">
            <a:avLst/>
          </a:prstGeom>
          <a:noFill/>
        </p:spPr>
        <p:txBody>
          <a:bodyPr wrap="square" rtlCol="0">
            <a:spAutoFit/>
          </a:bodyPr>
          <a:lstStyle/>
          <a:p>
            <a:r>
              <a:rPr lang="da-DK" sz="1400" dirty="0">
                <a:solidFill>
                  <a:srgbClr val="FF0000"/>
                </a:solidFill>
              </a:rPr>
              <a:t>Prabakar, 2014</a:t>
            </a:r>
            <a:endParaRPr lang="en-ZA" dirty="0">
              <a:solidFill>
                <a:srgbClr val="FF0000"/>
              </a:solidFill>
            </a:endParaRPr>
          </a:p>
        </p:txBody>
      </p:sp>
    </p:spTree>
    <p:extLst>
      <p:ext uri="{BB962C8B-B14F-4D97-AF65-F5344CB8AC3E}">
        <p14:creationId xmlns:p14="http://schemas.microsoft.com/office/powerpoint/2010/main" val="32765725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84310" y="609601"/>
            <a:ext cx="10018713" cy="5181600"/>
          </a:xfrm>
        </p:spPr>
        <p:txBody>
          <a:bodyPr>
            <a:normAutofit/>
          </a:bodyPr>
          <a:lstStyle/>
          <a:p>
            <a:pPr marL="0" indent="0">
              <a:buNone/>
            </a:pPr>
            <a:r>
              <a:rPr lang="en-ZA" b="1" dirty="0"/>
              <a:t>Hypothesis testing</a:t>
            </a:r>
            <a:endParaRPr lang="en-ZA" dirty="0"/>
          </a:p>
          <a:p>
            <a:r>
              <a:rPr lang="en-ZA" sz="2000" dirty="0">
                <a:latin typeface="Arial Narrow" panose="020B0606020202030204" pitchFamily="34" charset="0"/>
              </a:rPr>
              <a:t>A hypothesis is a proposed explanation for a phenomenon. It can be viewed as a prediction of what might happen. </a:t>
            </a:r>
          </a:p>
          <a:p>
            <a:pPr marL="0" indent="0">
              <a:buNone/>
            </a:pPr>
            <a:endParaRPr lang="en-ZA" sz="2000" dirty="0">
              <a:latin typeface="Arial Narrow" panose="020B0606020202030204" pitchFamily="34" charset="0"/>
            </a:endParaRPr>
          </a:p>
          <a:p>
            <a:r>
              <a:rPr lang="en-ZA" sz="2000" dirty="0">
                <a:latin typeface="Arial Narrow" panose="020B0606020202030204" pitchFamily="34" charset="0"/>
              </a:rPr>
              <a:t>The hypothesis is a statement that is in the form:</a:t>
            </a:r>
          </a:p>
          <a:p>
            <a:pPr marL="0" indent="0">
              <a:buNone/>
            </a:pPr>
            <a:r>
              <a:rPr lang="en-ZA" dirty="0"/>
              <a:t>	</a:t>
            </a:r>
            <a:r>
              <a:rPr lang="en-ZA" dirty="0">
                <a:latin typeface="Arial Black" panose="020B0A04020102020204" pitchFamily="34" charset="0"/>
              </a:rPr>
              <a:t>Factor A causes B</a:t>
            </a:r>
          </a:p>
          <a:p>
            <a:pPr marL="0" indent="0">
              <a:buNone/>
            </a:pPr>
            <a:endParaRPr lang="en-ZA" dirty="0"/>
          </a:p>
          <a:p>
            <a:r>
              <a:rPr lang="en-ZA" sz="2000" dirty="0">
                <a:latin typeface="Arial Narrow" panose="020B0606020202030204" pitchFamily="34" charset="0"/>
              </a:rPr>
              <a:t>This hypothesis is formulated such that it can be tested empirically via an experiment.</a:t>
            </a:r>
          </a:p>
          <a:p>
            <a:pPr lvl="1"/>
            <a:r>
              <a:rPr lang="en-ZA" sz="1800" dirty="0">
                <a:latin typeface="Arial Narrow" panose="020B0606020202030204" pitchFamily="34" charset="0"/>
              </a:rPr>
              <a:t>It must also be formulated such that it is </a:t>
            </a:r>
            <a:r>
              <a:rPr lang="en-ZA" sz="1800" i="1" dirty="0">
                <a:solidFill>
                  <a:srgbClr val="FF0000"/>
                </a:solidFill>
                <a:latin typeface="Arial Narrow" panose="020B0606020202030204" pitchFamily="34" charset="0"/>
              </a:rPr>
              <a:t>falsifiable</a:t>
            </a:r>
            <a:r>
              <a:rPr lang="en-ZA" sz="1800" dirty="0">
                <a:solidFill>
                  <a:srgbClr val="FF0000"/>
                </a:solidFill>
                <a:latin typeface="Arial Narrow" panose="020B0606020202030204" pitchFamily="34" charset="0"/>
              </a:rPr>
              <a:t> </a:t>
            </a:r>
            <a:r>
              <a:rPr lang="en-ZA" sz="1800" dirty="0">
                <a:latin typeface="Arial Narrow" panose="020B0606020202030204" pitchFamily="34" charset="0"/>
              </a:rPr>
              <a:t>that is, it can be true or false. </a:t>
            </a:r>
          </a:p>
          <a:p>
            <a:pPr marL="0" indent="0">
              <a:buNone/>
            </a:pPr>
            <a:endParaRPr lang="en-ZA" sz="2000" dirty="0">
              <a:latin typeface="Arial Narrow" panose="020B0606020202030204" pitchFamily="34" charset="0"/>
            </a:endParaRPr>
          </a:p>
          <a:p>
            <a:r>
              <a:rPr lang="en-ZA" sz="2000" dirty="0">
                <a:latin typeface="Arial Narrow" panose="020B0606020202030204" pitchFamily="34" charset="0"/>
              </a:rPr>
              <a:t>The aim of hypothesis testing to try to disprove just as vigorously as approve.</a:t>
            </a:r>
          </a:p>
          <a:p>
            <a:endParaRPr lang="en-ZA" dirty="0"/>
          </a:p>
        </p:txBody>
      </p:sp>
      <p:sp>
        <p:nvSpPr>
          <p:cNvPr id="4" name="Footer Placeholder 3"/>
          <p:cNvSpPr>
            <a:spLocks noGrp="1"/>
          </p:cNvSpPr>
          <p:nvPr>
            <p:ph type="ftr" sz="quarter" idx="11"/>
          </p:nvPr>
        </p:nvSpPr>
        <p:spPr/>
        <p:txBody>
          <a:bodyPr/>
          <a:lstStyle/>
          <a:p>
            <a:r>
              <a:rPr lang="en-ZA"/>
              <a:t>Dr Alveen Singh - RESK401</a:t>
            </a:r>
          </a:p>
        </p:txBody>
      </p:sp>
      <p:sp>
        <p:nvSpPr>
          <p:cNvPr id="5" name="Slide Number Placeholder 4"/>
          <p:cNvSpPr>
            <a:spLocks noGrp="1"/>
          </p:cNvSpPr>
          <p:nvPr>
            <p:ph type="sldNum" sz="quarter" idx="12"/>
          </p:nvPr>
        </p:nvSpPr>
        <p:spPr/>
        <p:txBody>
          <a:bodyPr/>
          <a:lstStyle/>
          <a:p>
            <a:fld id="{F9D8934E-928E-4C38-807A-CB32A0A7C43F}" type="slidenum">
              <a:rPr lang="en-ZA" smtClean="0"/>
              <a:t>44</a:t>
            </a:fld>
            <a:endParaRPr lang="en-ZA"/>
          </a:p>
        </p:txBody>
      </p:sp>
    </p:spTree>
    <p:extLst>
      <p:ext uri="{BB962C8B-B14F-4D97-AF65-F5344CB8AC3E}">
        <p14:creationId xmlns:p14="http://schemas.microsoft.com/office/powerpoint/2010/main" val="33456975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84310" y="896983"/>
            <a:ext cx="10018713" cy="4894217"/>
          </a:xfrm>
        </p:spPr>
        <p:txBody>
          <a:bodyPr anchor="t"/>
          <a:lstStyle/>
          <a:p>
            <a:pPr marL="0" indent="0">
              <a:buNone/>
            </a:pPr>
            <a:endParaRPr lang="en-ZA" dirty="0"/>
          </a:p>
        </p:txBody>
      </p:sp>
      <p:sp>
        <p:nvSpPr>
          <p:cNvPr id="4" name="Footer Placeholder 3"/>
          <p:cNvSpPr>
            <a:spLocks noGrp="1"/>
          </p:cNvSpPr>
          <p:nvPr>
            <p:ph type="ftr" sz="quarter" idx="11"/>
          </p:nvPr>
        </p:nvSpPr>
        <p:spPr/>
        <p:txBody>
          <a:bodyPr/>
          <a:lstStyle/>
          <a:p>
            <a:r>
              <a:rPr lang="en-ZA"/>
              <a:t>Dr Alveen Singh - RESK401</a:t>
            </a:r>
          </a:p>
        </p:txBody>
      </p:sp>
      <p:sp>
        <p:nvSpPr>
          <p:cNvPr id="5" name="Slide Number Placeholder 4"/>
          <p:cNvSpPr>
            <a:spLocks noGrp="1"/>
          </p:cNvSpPr>
          <p:nvPr>
            <p:ph type="sldNum" sz="quarter" idx="12"/>
          </p:nvPr>
        </p:nvSpPr>
        <p:spPr/>
        <p:txBody>
          <a:bodyPr/>
          <a:lstStyle/>
          <a:p>
            <a:fld id="{F9D8934E-928E-4C38-807A-CB32A0A7C43F}" type="slidenum">
              <a:rPr lang="en-ZA" smtClean="0"/>
              <a:t>45</a:t>
            </a:fld>
            <a:endParaRPr lang="en-ZA"/>
          </a:p>
        </p:txBody>
      </p:sp>
      <p:pic>
        <p:nvPicPr>
          <p:cNvPr id="2" name="Picture 1"/>
          <p:cNvPicPr>
            <a:picLocks noChangeAspect="1"/>
          </p:cNvPicPr>
          <p:nvPr/>
        </p:nvPicPr>
        <p:blipFill>
          <a:blip r:embed="rId2"/>
          <a:stretch>
            <a:fillRect/>
          </a:stretch>
        </p:blipFill>
        <p:spPr>
          <a:xfrm>
            <a:off x="7149737" y="3068096"/>
            <a:ext cx="4265247" cy="2399201"/>
          </a:xfrm>
          <a:prstGeom prst="rect">
            <a:avLst/>
          </a:prstGeom>
        </p:spPr>
      </p:pic>
      <p:sp>
        <p:nvSpPr>
          <p:cNvPr id="6" name="TextBox 5"/>
          <p:cNvSpPr txBox="1"/>
          <p:nvPr/>
        </p:nvSpPr>
        <p:spPr>
          <a:xfrm>
            <a:off x="8533295" y="5675277"/>
            <a:ext cx="2044092" cy="307777"/>
          </a:xfrm>
          <a:prstGeom prst="rect">
            <a:avLst/>
          </a:prstGeom>
          <a:noFill/>
        </p:spPr>
        <p:txBody>
          <a:bodyPr wrap="square" rtlCol="0">
            <a:spAutoFit/>
          </a:bodyPr>
          <a:lstStyle/>
          <a:p>
            <a:r>
              <a:rPr lang="da-DK" sz="1400" dirty="0">
                <a:solidFill>
                  <a:srgbClr val="FF0000"/>
                </a:solidFill>
              </a:rPr>
              <a:t>Betts, 2021</a:t>
            </a:r>
            <a:endParaRPr lang="en-ZA" dirty="0">
              <a:solidFill>
                <a:srgbClr val="FF0000"/>
              </a:solidFill>
            </a:endParaRPr>
          </a:p>
        </p:txBody>
      </p:sp>
      <p:pic>
        <p:nvPicPr>
          <p:cNvPr id="7" name="Picture 6"/>
          <p:cNvPicPr>
            <a:picLocks noChangeAspect="1"/>
          </p:cNvPicPr>
          <p:nvPr/>
        </p:nvPicPr>
        <p:blipFill>
          <a:blip r:embed="rId3"/>
          <a:stretch>
            <a:fillRect/>
          </a:stretch>
        </p:blipFill>
        <p:spPr>
          <a:xfrm>
            <a:off x="1572605" y="1790725"/>
            <a:ext cx="4541762" cy="2554741"/>
          </a:xfrm>
          <a:prstGeom prst="rect">
            <a:avLst/>
          </a:prstGeom>
        </p:spPr>
      </p:pic>
      <p:sp>
        <p:nvSpPr>
          <p:cNvPr id="8" name="TextBox 7"/>
          <p:cNvSpPr txBox="1"/>
          <p:nvPr/>
        </p:nvSpPr>
        <p:spPr>
          <a:xfrm>
            <a:off x="3724228" y="5609096"/>
            <a:ext cx="2044092" cy="307777"/>
          </a:xfrm>
          <a:prstGeom prst="rect">
            <a:avLst/>
          </a:prstGeom>
          <a:noFill/>
        </p:spPr>
        <p:txBody>
          <a:bodyPr wrap="square" rtlCol="0">
            <a:spAutoFit/>
          </a:bodyPr>
          <a:lstStyle/>
          <a:p>
            <a:r>
              <a:rPr lang="da-DK" sz="1400" dirty="0">
                <a:solidFill>
                  <a:srgbClr val="FF0000"/>
                </a:solidFill>
              </a:rPr>
              <a:t>Foltz, 2016</a:t>
            </a:r>
            <a:endParaRPr lang="en-ZA" dirty="0">
              <a:solidFill>
                <a:srgbClr val="FF0000"/>
              </a:solidFill>
            </a:endParaRPr>
          </a:p>
        </p:txBody>
      </p:sp>
    </p:spTree>
    <p:extLst>
      <p:ext uri="{BB962C8B-B14F-4D97-AF65-F5344CB8AC3E}">
        <p14:creationId xmlns:p14="http://schemas.microsoft.com/office/powerpoint/2010/main" val="303147715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BD1017-44B2-47D3-8F75-7C3F3AF7D255}"/>
              </a:ext>
            </a:extLst>
          </p:cNvPr>
          <p:cNvSpPr>
            <a:spLocks noGrp="1"/>
          </p:cNvSpPr>
          <p:nvPr>
            <p:ph idx="1"/>
          </p:nvPr>
        </p:nvSpPr>
        <p:spPr>
          <a:xfrm>
            <a:off x="1484310" y="519953"/>
            <a:ext cx="10018713" cy="5271247"/>
          </a:xfrm>
        </p:spPr>
        <p:txBody>
          <a:bodyPr anchor="t"/>
          <a:lstStyle/>
          <a:p>
            <a:pPr marL="0" indent="0">
              <a:buNone/>
            </a:pPr>
            <a:r>
              <a:rPr lang="en-GB" dirty="0">
                <a:latin typeface="Arial Narrow" panose="020B0606020202030204" pitchFamily="34" charset="0"/>
              </a:rPr>
              <a:t>Which are the correctly formulated hypothesis?</a:t>
            </a:r>
          </a:p>
          <a:p>
            <a:pPr marL="1257300" lvl="2" indent="-342900">
              <a:buFont typeface="+mj-lt"/>
              <a:buAutoNum type="arabicPeriod"/>
            </a:pPr>
            <a:r>
              <a:rPr lang="en-GB" dirty="0">
                <a:latin typeface="Arial Narrow" panose="020B0606020202030204" pitchFamily="34" charset="0"/>
              </a:rPr>
              <a:t>H</a:t>
            </a:r>
            <a:r>
              <a:rPr lang="en-GB" baseline="-25000" dirty="0">
                <a:latin typeface="Arial Narrow" panose="020B0606020202030204" pitchFamily="34" charset="0"/>
              </a:rPr>
              <a:t>2</a:t>
            </a:r>
            <a:r>
              <a:rPr lang="en-GB" dirty="0">
                <a:latin typeface="Arial Narrow" panose="020B0606020202030204" pitchFamily="34" charset="0"/>
              </a:rPr>
              <a:t>O will freeze when the temperature drops below 1 degree Celsius</a:t>
            </a:r>
          </a:p>
          <a:p>
            <a:pPr marL="1257300" lvl="2" indent="-342900">
              <a:buFont typeface="+mj-lt"/>
              <a:buAutoNum type="arabicPeriod"/>
            </a:pPr>
            <a:r>
              <a:rPr lang="en-GB" dirty="0">
                <a:latin typeface="Arial Narrow" panose="020B0606020202030204" pitchFamily="34" charset="0"/>
              </a:rPr>
              <a:t>Research is better than programming</a:t>
            </a:r>
          </a:p>
          <a:p>
            <a:pPr marL="1257300" lvl="2" indent="-342900">
              <a:buFont typeface="+mj-lt"/>
              <a:buAutoNum type="arabicPeriod"/>
            </a:pPr>
            <a:r>
              <a:rPr lang="en-GB" dirty="0">
                <a:latin typeface="Arial Narrow" panose="020B0606020202030204" pitchFamily="34" charset="0"/>
              </a:rPr>
              <a:t>Which is the better deep learning model for credit card fraud detection?</a:t>
            </a:r>
            <a:endParaRPr lang="en-ZA" dirty="0">
              <a:latin typeface="Arial Narrow" panose="020B0606020202030204" pitchFamily="34" charset="0"/>
            </a:endParaRPr>
          </a:p>
          <a:p>
            <a:pPr marL="1257300" lvl="2" indent="-342900">
              <a:buFont typeface="+mj-lt"/>
              <a:buAutoNum type="arabicPeriod"/>
            </a:pPr>
            <a:r>
              <a:rPr lang="en-GB" dirty="0">
                <a:latin typeface="Arial Narrow" panose="020B0606020202030204" pitchFamily="34" charset="0"/>
              </a:rPr>
              <a:t>Random forest classifier allows faster error prediction in mobile dev projects than neural networks</a:t>
            </a:r>
          </a:p>
          <a:p>
            <a:pPr marL="1257300" lvl="2" indent="-342900">
              <a:buFont typeface="+mj-lt"/>
              <a:buAutoNum type="arabicPeriod"/>
            </a:pPr>
            <a:r>
              <a:rPr lang="en-US" dirty="0">
                <a:latin typeface="Arial Narrow" panose="020B0606020202030204" pitchFamily="34" charset="0"/>
              </a:rPr>
              <a:t>IoT system developed for </a:t>
            </a:r>
            <a:r>
              <a:rPr lang="en-US">
                <a:latin typeface="Arial Narrow" panose="020B0606020202030204" pitchFamily="34" charset="0"/>
              </a:rPr>
              <a:t>mine safety</a:t>
            </a:r>
            <a:endParaRPr lang="en-ZA" dirty="0">
              <a:latin typeface="Arial Narrow" panose="020B0606020202030204" pitchFamily="34" charset="0"/>
            </a:endParaRPr>
          </a:p>
          <a:p>
            <a:pPr marL="1257300" lvl="2" indent="-342900">
              <a:buFont typeface="+mj-lt"/>
              <a:buAutoNum type="arabicPeriod"/>
            </a:pPr>
            <a:r>
              <a:rPr lang="en-GB" dirty="0">
                <a:latin typeface="Arial Narrow" panose="020B0606020202030204" pitchFamily="34" charset="0"/>
              </a:rPr>
              <a:t>Scrum project management will not result in more user centric software designs</a:t>
            </a:r>
            <a:endParaRPr lang="en-ZA" dirty="0">
              <a:latin typeface="Arial Narrow" panose="020B0606020202030204" pitchFamily="34" charset="0"/>
            </a:endParaRPr>
          </a:p>
          <a:p>
            <a:endParaRPr lang="en-ZA" dirty="0"/>
          </a:p>
        </p:txBody>
      </p:sp>
      <p:sp>
        <p:nvSpPr>
          <p:cNvPr id="4" name="Footer Placeholder 3">
            <a:extLst>
              <a:ext uri="{FF2B5EF4-FFF2-40B4-BE49-F238E27FC236}">
                <a16:creationId xmlns:a16="http://schemas.microsoft.com/office/drawing/2014/main" id="{76947F38-36DE-4498-A484-40B3589ACF49}"/>
              </a:ext>
            </a:extLst>
          </p:cNvPr>
          <p:cNvSpPr>
            <a:spLocks noGrp="1"/>
          </p:cNvSpPr>
          <p:nvPr>
            <p:ph type="ftr" sz="quarter" idx="11"/>
          </p:nvPr>
        </p:nvSpPr>
        <p:spPr/>
        <p:txBody>
          <a:bodyPr/>
          <a:lstStyle/>
          <a:p>
            <a:r>
              <a:rPr lang="en-ZA"/>
              <a:t>Dr Alveen Singh - RESK401</a:t>
            </a:r>
          </a:p>
        </p:txBody>
      </p:sp>
      <p:sp>
        <p:nvSpPr>
          <p:cNvPr id="5" name="Slide Number Placeholder 4">
            <a:extLst>
              <a:ext uri="{FF2B5EF4-FFF2-40B4-BE49-F238E27FC236}">
                <a16:creationId xmlns:a16="http://schemas.microsoft.com/office/drawing/2014/main" id="{7E620311-785B-4935-B7D7-70E731991701}"/>
              </a:ext>
            </a:extLst>
          </p:cNvPr>
          <p:cNvSpPr>
            <a:spLocks noGrp="1"/>
          </p:cNvSpPr>
          <p:nvPr>
            <p:ph type="sldNum" sz="quarter" idx="12"/>
          </p:nvPr>
        </p:nvSpPr>
        <p:spPr/>
        <p:txBody>
          <a:bodyPr/>
          <a:lstStyle/>
          <a:p>
            <a:fld id="{F9D8934E-928E-4C38-807A-CB32A0A7C43F}" type="slidenum">
              <a:rPr lang="en-ZA" smtClean="0"/>
              <a:t>46</a:t>
            </a:fld>
            <a:endParaRPr lang="en-ZA"/>
          </a:p>
        </p:txBody>
      </p:sp>
    </p:spTree>
    <p:extLst>
      <p:ext uri="{BB962C8B-B14F-4D97-AF65-F5344CB8AC3E}">
        <p14:creationId xmlns:p14="http://schemas.microsoft.com/office/powerpoint/2010/main" val="267726017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84310" y="1581151"/>
            <a:ext cx="10018713" cy="4210050"/>
          </a:xfrm>
        </p:spPr>
        <p:txBody>
          <a:bodyPr anchor="t">
            <a:normAutofit/>
          </a:bodyPr>
          <a:lstStyle/>
          <a:p>
            <a:pPr marL="0" indent="0">
              <a:buNone/>
            </a:pPr>
            <a:r>
              <a:rPr lang="en-US" dirty="0">
                <a:latin typeface="Arial Rounded MT Bold" panose="020F0704030504030204" pitchFamily="34" charset="0"/>
              </a:rPr>
              <a:t>Please read the lecture note for this section.</a:t>
            </a:r>
          </a:p>
          <a:p>
            <a:pPr marL="0" indent="0">
              <a:buNone/>
            </a:pPr>
            <a:r>
              <a:rPr lang="en-US" dirty="0">
                <a:latin typeface="Arial Rounded MT Bold" panose="020F0704030504030204" pitchFamily="34" charset="0"/>
              </a:rPr>
              <a:t>Available on Moodle.</a:t>
            </a:r>
          </a:p>
          <a:p>
            <a:pPr marL="0" indent="0">
              <a:buNone/>
            </a:pPr>
            <a:r>
              <a:rPr lang="en-US" dirty="0">
                <a:latin typeface="Arial Rounded MT Bold" panose="020F0704030504030204" pitchFamily="34" charset="0"/>
              </a:rPr>
              <a:t>Questions and comments are welcome: </a:t>
            </a:r>
            <a:r>
              <a:rPr lang="en-US" dirty="0" err="1">
                <a:latin typeface="Arial Rounded MT Bold" panose="020F0704030504030204" pitchFamily="34" charset="0"/>
                <a:hlinkClick r:id="rId2"/>
              </a:rPr>
              <a:t>alveens@dut.ac.za</a:t>
            </a:r>
            <a:r>
              <a:rPr lang="en-US" dirty="0">
                <a:latin typeface="Arial Rounded MT Bold" panose="020F0704030504030204" pitchFamily="34" charset="0"/>
              </a:rPr>
              <a:t> </a:t>
            </a:r>
          </a:p>
        </p:txBody>
      </p:sp>
      <p:sp>
        <p:nvSpPr>
          <p:cNvPr id="2" name="Footer Placeholder 1"/>
          <p:cNvSpPr>
            <a:spLocks noGrp="1"/>
          </p:cNvSpPr>
          <p:nvPr>
            <p:ph type="ftr" sz="quarter" idx="11"/>
          </p:nvPr>
        </p:nvSpPr>
        <p:spPr/>
        <p:txBody>
          <a:bodyPr/>
          <a:lstStyle/>
          <a:p>
            <a:r>
              <a:rPr lang="en-US"/>
              <a:t>Dr Alveen Singh - RESK401</a:t>
            </a:r>
            <a:endParaRPr lang="en-ZA"/>
          </a:p>
        </p:txBody>
      </p:sp>
      <p:sp>
        <p:nvSpPr>
          <p:cNvPr id="4" name="Slide Number Placeholder 3"/>
          <p:cNvSpPr>
            <a:spLocks noGrp="1"/>
          </p:cNvSpPr>
          <p:nvPr>
            <p:ph type="sldNum" sz="quarter" idx="12"/>
          </p:nvPr>
        </p:nvSpPr>
        <p:spPr/>
        <p:txBody>
          <a:bodyPr/>
          <a:lstStyle/>
          <a:p>
            <a:fld id="{F9D8934E-928E-4C38-807A-CB32A0A7C43F}" type="slidenum">
              <a:rPr lang="en-ZA" smtClean="0"/>
              <a:t>47</a:t>
            </a:fld>
            <a:endParaRPr lang="en-ZA"/>
          </a:p>
        </p:txBody>
      </p:sp>
    </p:spTree>
    <p:extLst>
      <p:ext uri="{BB962C8B-B14F-4D97-AF65-F5344CB8AC3E}">
        <p14:creationId xmlns:p14="http://schemas.microsoft.com/office/powerpoint/2010/main" val="28947129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Parallax</Template>
  <TotalTime>3227</TotalTime>
  <Words>2321</Words>
  <Application>Microsoft Office PowerPoint</Application>
  <PresentationFormat>Widescreen</PresentationFormat>
  <Paragraphs>325</Paragraphs>
  <Slides>47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47</vt:i4>
      </vt:variant>
    </vt:vector>
  </HeadingPairs>
  <TitlesOfParts>
    <vt:vector size="54" baseType="lpstr">
      <vt:lpstr>Arial</vt:lpstr>
      <vt:lpstr>Arial Black</vt:lpstr>
      <vt:lpstr>Arial Narrow</vt:lpstr>
      <vt:lpstr>Arial Rounded MT Bold</vt:lpstr>
      <vt:lpstr>Calibri</vt:lpstr>
      <vt:lpstr>Corbel</vt:lpstr>
      <vt:lpstr>Parallax</vt:lpstr>
      <vt:lpstr>Research strategy</vt:lpstr>
      <vt:lpstr>PowerPoint Presentation</vt:lpstr>
      <vt:lpstr>Introduction</vt:lpstr>
      <vt:lpstr>PowerPoint Presentation</vt:lpstr>
      <vt:lpstr>PowerPoint Presentation</vt:lpstr>
      <vt:lpstr>Case Study</vt:lpstr>
      <vt:lpstr>PowerPoint Presentation</vt:lpstr>
      <vt:lpstr>PowerPoint Presentation</vt:lpstr>
      <vt:lpstr>PowerPoint Presentation</vt:lpstr>
      <vt:lpstr>Survey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Which is longitudinal? Which is cross sectional?</vt:lpstr>
      <vt:lpstr>PowerPoint Presentation</vt:lpstr>
      <vt:lpstr>PowerPoint Presentation</vt:lpstr>
      <vt:lpstr>PowerPoint Presentation</vt:lpstr>
      <vt:lpstr>PowerPoint Presentation</vt:lpstr>
      <vt:lpstr>PowerPoint Presentation</vt:lpstr>
      <vt:lpstr>Design Research</vt:lpstr>
      <vt:lpstr>PowerPoint Presentation</vt:lpstr>
      <vt:lpstr>PowerPoint Presentation</vt:lpstr>
      <vt:lpstr>PowerPoint Presentation</vt:lpstr>
      <vt:lpstr>PowerPoint Presentation</vt:lpstr>
      <vt:lpstr>PowerPoint Presentation</vt:lpstr>
      <vt:lpstr>PowerPoint Presentation</vt:lpstr>
      <vt:lpstr>Experiments</vt:lpstr>
      <vt:lpstr>PowerPoint Presentation</vt:lpstr>
      <vt:lpstr>PowerPoint Presentation</vt:lpstr>
      <vt:lpstr>Which is dependent var? which is independent var?</vt:lpstr>
      <vt:lpstr>PowerPoint Presentation</vt:lpstr>
      <vt:lpstr>PowerPoint Presentation</vt:lpstr>
      <vt:lpstr>PowerPoint Presentation</vt:lpstr>
      <vt:lpstr>3 types of experiments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Alveen Singh</dc:creator>
  <cp:lastModifiedBy>Alveen Singh</cp:lastModifiedBy>
  <cp:revision>28</cp:revision>
  <dcterms:created xsi:type="dcterms:W3CDTF">2021-03-04T08:54:00Z</dcterms:created>
  <dcterms:modified xsi:type="dcterms:W3CDTF">2023-03-22T18:28:21Z</dcterms:modified>
</cp:coreProperties>
</file>