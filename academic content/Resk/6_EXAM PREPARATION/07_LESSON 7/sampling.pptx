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23"/>
  </p:notesMasterIdLst>
  <p:sldIdLst>
    <p:sldId id="256" r:id="rId2"/>
    <p:sldId id="258" r:id="rId3"/>
    <p:sldId id="260" r:id="rId4"/>
    <p:sldId id="262" r:id="rId5"/>
    <p:sldId id="261" r:id="rId6"/>
    <p:sldId id="264" r:id="rId7"/>
    <p:sldId id="265" r:id="rId8"/>
    <p:sldId id="267" r:id="rId9"/>
    <p:sldId id="270" r:id="rId10"/>
    <p:sldId id="268" r:id="rId11"/>
    <p:sldId id="269" r:id="rId12"/>
    <p:sldId id="271" r:id="rId13"/>
    <p:sldId id="272" r:id="rId14"/>
    <p:sldId id="273" r:id="rId15"/>
    <p:sldId id="277" r:id="rId16"/>
    <p:sldId id="274" r:id="rId17"/>
    <p:sldId id="278" r:id="rId18"/>
    <p:sldId id="275" r:id="rId19"/>
    <p:sldId id="279" r:id="rId20"/>
    <p:sldId id="276" r:id="rId21"/>
    <p:sldId id="257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07CC2A-7CE6-4A6F-8B5B-A30F76C4977A}" type="datetimeFigureOut">
              <a:rPr lang="en-ZA" smtClean="0"/>
              <a:t>2022/04/05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8715D2-E1C5-4B72-871C-991FE4C21131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0542078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82F16-D4E2-4B0B-AE70-1EFFB73F3E77}" type="datetime1">
              <a:rPr lang="en-ZA" smtClean="0"/>
              <a:t>2022/04/05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r>
              <a:rPr lang="en-ZA" smtClean="0"/>
              <a:t>Dr Alveen Singh - RESK401</a:t>
            </a:r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508662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A9664-B217-4ABA-9398-B8943731A4DD}" type="datetime1">
              <a:rPr lang="en-ZA" smtClean="0"/>
              <a:t>2022/04/05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 smtClean="0"/>
              <a:t>Dr Alveen Singh - RESK401</a:t>
            </a:r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F9D8934E-928E-4C38-807A-CB32A0A7C43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931412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2F8DC-CF57-41FB-B878-03A7542DC62F}" type="datetime1">
              <a:rPr lang="en-ZA" smtClean="0"/>
              <a:t>2022/04/05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 smtClean="0"/>
              <a:t>Dr Alveen Singh - RESK401</a:t>
            </a:r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363351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77C5E-9B6A-4DBA-AF0F-85E2A1693AB1}" type="datetime1">
              <a:rPr lang="en-ZA" smtClean="0"/>
              <a:t>2022/04/05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 smtClean="0"/>
              <a:t>Dr Alveen Singh - RESK401</a:t>
            </a:r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5681412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98F78-7776-4E09-849B-BF82A252D2FD}" type="datetime1">
              <a:rPr lang="en-ZA" smtClean="0"/>
              <a:t>2022/04/05</a:t>
            </a:fld>
            <a:endParaRPr lang="en-Z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 smtClean="0"/>
              <a:t>Dr Alveen Singh - RESK401</a:t>
            </a:r>
            <a:endParaRPr lang="en-Z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6572428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2FF6A-76F3-4B43-AD7F-7DA512C53B36}" type="datetime1">
              <a:rPr lang="en-ZA" smtClean="0"/>
              <a:t>2022/04/05</a:t>
            </a:fld>
            <a:endParaRPr lang="en-Z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 smtClean="0"/>
              <a:t>Dr Alveen Singh - RESK401</a:t>
            </a:r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097860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D8345-51C7-4CBD-BEB2-C6A140D99B1F}" type="datetime1">
              <a:rPr lang="en-ZA" smtClean="0"/>
              <a:t>2022/04/05</a:t>
            </a:fld>
            <a:endParaRPr lang="en-Z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 smtClean="0"/>
              <a:t>Dr Alveen Singh - RESK401</a:t>
            </a:r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2990113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8C0D0-50FA-44C3-8AD9-73AD24F9B059}" type="datetime1">
              <a:rPr lang="en-ZA" smtClean="0"/>
              <a:t>2022/04/05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 smtClean="0"/>
              <a:t>Dr Alveen Singh - RESK401</a:t>
            </a:r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6007480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34755-562D-4289-83CE-869C78C4A9DE}" type="datetime1">
              <a:rPr lang="en-ZA" smtClean="0"/>
              <a:t>2022/04/05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 smtClean="0"/>
              <a:t>Dr Alveen Singh - RESK401</a:t>
            </a:r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26297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E82F2-76B9-45BD-8830-900B36FE4A29}" type="datetime1">
              <a:rPr lang="en-ZA" smtClean="0"/>
              <a:t>2022/04/05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 smtClean="0"/>
              <a:t>Dr Alveen Singh - RESK401</a:t>
            </a:r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3803695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97443-70C9-4761-AAE1-D4E6218A83E8}" type="datetime1">
              <a:rPr lang="en-ZA" smtClean="0"/>
              <a:t>2022/04/05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 smtClean="0"/>
              <a:t>Dr Alveen Singh - RESK401</a:t>
            </a:r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5823515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89C92-C29F-41D6-B3C9-E441EDC9C04B}" type="datetime1">
              <a:rPr lang="en-ZA" smtClean="0"/>
              <a:t>2022/04/05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 smtClean="0"/>
              <a:t>Dr Alveen Singh - RESK401</a:t>
            </a:r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9130209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C7CDA-9EFE-4FA8-9244-C6BF2F471E56}" type="datetime1">
              <a:rPr lang="en-ZA" smtClean="0"/>
              <a:t>2022/04/05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 smtClean="0"/>
              <a:t>Dr Alveen Singh - RESK401</a:t>
            </a:r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327880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FE6AD-459A-42D4-83ED-4A7A985EB3A8}" type="datetime1">
              <a:rPr lang="en-ZA" smtClean="0"/>
              <a:t>2022/04/05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 smtClean="0"/>
              <a:t>Dr Alveen Singh - RESK401</a:t>
            </a:r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7572516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13394-8351-4920-B28E-8DFCD7F4F1A8}" type="datetime1">
              <a:rPr lang="en-ZA" smtClean="0"/>
              <a:t>2022/04/05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 smtClean="0"/>
              <a:t>Dr Alveen Singh - RESK401</a:t>
            </a:r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8567558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688E1-3308-4C12-A1EF-20AAFBCD10A8}" type="datetime1">
              <a:rPr lang="en-ZA" smtClean="0"/>
              <a:t>2022/04/05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 smtClean="0"/>
              <a:t>Dr Alveen Singh - RESK401</a:t>
            </a:r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8468372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F5F8D-A82B-4864-A032-8515E65EE88E}" type="datetime1">
              <a:rPr lang="en-ZA" smtClean="0"/>
              <a:t>2022/04/05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 smtClean="0"/>
              <a:t>Dr Alveen Singh - RESK401</a:t>
            </a:r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9754767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08751095-3939-44FB-80CC-9F387A799CE3}" type="datetime1">
              <a:rPr lang="en-ZA" smtClean="0"/>
              <a:t>2022/04/05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r>
              <a:rPr lang="en-ZA" smtClean="0"/>
              <a:t>Dr Alveen Singh - RESK401</a:t>
            </a:r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F9D8934E-928E-4C38-807A-CB32A0A7C43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592619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hdr="0" dt="0"/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mailto:alveens@dut.ac.za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Sampling</a:t>
            </a:r>
            <a:endParaRPr lang="en-ZA" sz="32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39202" y="4314825"/>
            <a:ext cx="6987645" cy="1822451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 err="1" smtClean="0">
                <a:solidFill>
                  <a:srgbClr val="0070C0"/>
                </a:solidFill>
              </a:rPr>
              <a:t>Dr</a:t>
            </a:r>
            <a:r>
              <a:rPr lang="en-US" b="1" dirty="0" smtClean="0">
                <a:solidFill>
                  <a:srgbClr val="0070C0"/>
                </a:solidFill>
              </a:rPr>
              <a:t> Alveen Singh</a:t>
            </a:r>
          </a:p>
          <a:p>
            <a:r>
              <a:rPr lang="en-US" b="1" dirty="0" smtClean="0">
                <a:solidFill>
                  <a:srgbClr val="0070C0"/>
                </a:solidFill>
              </a:rPr>
              <a:t>Department of Information Technology</a:t>
            </a:r>
          </a:p>
          <a:p>
            <a:r>
              <a:rPr lang="en-US" b="1" dirty="0" smtClean="0">
                <a:solidFill>
                  <a:srgbClr val="0070C0"/>
                </a:solidFill>
              </a:rPr>
              <a:t>Research </a:t>
            </a:r>
            <a:r>
              <a:rPr lang="en-US" b="1" dirty="0" smtClean="0">
                <a:solidFill>
                  <a:srgbClr val="0070C0"/>
                </a:solidFill>
              </a:rPr>
              <a:t>skills</a:t>
            </a:r>
          </a:p>
          <a:p>
            <a:r>
              <a:rPr lang="en-US" b="1" dirty="0" smtClean="0">
                <a:solidFill>
                  <a:srgbClr val="0070C0"/>
                </a:solidFill>
              </a:rPr>
              <a:t>Advanced </a:t>
            </a:r>
            <a:r>
              <a:rPr lang="en-US" b="1" dirty="0" smtClean="0">
                <a:solidFill>
                  <a:srgbClr val="0070C0"/>
                </a:solidFill>
              </a:rPr>
              <a:t>Diploma in </a:t>
            </a:r>
            <a:r>
              <a:rPr lang="en-US" b="1" dirty="0" smtClean="0">
                <a:solidFill>
                  <a:srgbClr val="0070C0"/>
                </a:solidFill>
              </a:rPr>
              <a:t>ICT</a:t>
            </a:r>
          </a:p>
          <a:p>
            <a:r>
              <a:rPr lang="en-US" b="1" dirty="0" smtClean="0">
                <a:solidFill>
                  <a:srgbClr val="0070C0"/>
                </a:solidFill>
              </a:rPr>
              <a:t>Semester </a:t>
            </a:r>
            <a:r>
              <a:rPr lang="en-US" b="1" dirty="0" smtClean="0">
                <a:solidFill>
                  <a:srgbClr val="0070C0"/>
                </a:solidFill>
              </a:rPr>
              <a:t>1 </a:t>
            </a:r>
            <a:r>
              <a:rPr lang="en-US" b="1" dirty="0" smtClean="0">
                <a:solidFill>
                  <a:srgbClr val="0070C0"/>
                </a:solidFill>
              </a:rPr>
              <a:t>2022</a:t>
            </a:r>
            <a:endParaRPr lang="en-ZA" b="1" dirty="0">
              <a:solidFill>
                <a:srgbClr val="0070C0"/>
              </a:solidFill>
            </a:endParaRPr>
          </a:p>
        </p:txBody>
      </p:sp>
      <p:pic>
        <p:nvPicPr>
          <p:cNvPr id="5" name="Picture 4" descr="A close up of a sign&#10;&#10;Description automatically generated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0450" y="318611"/>
            <a:ext cx="4503829" cy="1405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4617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0" y="1581151"/>
            <a:ext cx="10018713" cy="4210050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dirty="0" smtClean="0">
                <a:latin typeface="Arial Rounded MT Bold" panose="020F0704030504030204" pitchFamily="34" charset="0"/>
              </a:rPr>
              <a:t>Content</a:t>
            </a:r>
          </a:p>
          <a:p>
            <a:pPr lvl="0"/>
            <a:r>
              <a:rPr lang="en-GB" b="1" dirty="0"/>
              <a:t>The need for sampling</a:t>
            </a:r>
            <a:endParaRPr lang="en-ZA" dirty="0"/>
          </a:p>
          <a:p>
            <a:pPr lvl="0"/>
            <a:r>
              <a:rPr lang="en-GB" b="1" dirty="0"/>
              <a:t>Probability sampling </a:t>
            </a:r>
            <a:endParaRPr lang="en-ZA" dirty="0"/>
          </a:p>
          <a:p>
            <a:pPr lvl="0"/>
            <a:r>
              <a:rPr lang="en-GB" b="1" dirty="0"/>
              <a:t>Non-probability sampling </a:t>
            </a:r>
            <a:endParaRPr lang="en-ZA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 Alveen Singh - RESK401</a:t>
            </a:r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2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029039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Arial Rounded MT Bold" panose="020F0704030504030204" pitchFamily="34" charset="0"/>
              </a:rPr>
              <a:t>Introduction</a:t>
            </a:r>
            <a:endParaRPr lang="en-ZA" dirty="0">
              <a:latin typeface="Arial Rounded MT Bold" panose="020F07040305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algn="ctr">
              <a:buNone/>
            </a:pPr>
            <a:r>
              <a:rPr lang="en-US" b="1" dirty="0" smtClean="0">
                <a:latin typeface="Arial Narrow" panose="020B0606020202030204" pitchFamily="34" charset="0"/>
              </a:rPr>
              <a:t>Sampling ensures that data is collected from the right set of participants </a:t>
            </a:r>
            <a:endParaRPr lang="en-ZA" dirty="0" smtClean="0">
              <a:latin typeface="Arial Narrow" panose="020B0606020202030204" pitchFamily="34" charset="0"/>
            </a:endParaRPr>
          </a:p>
          <a:p>
            <a:endParaRPr lang="en-US" dirty="0">
              <a:latin typeface="Arial Narrow" panose="020B0606020202030204" pitchFamily="34" charset="0"/>
            </a:endParaRPr>
          </a:p>
          <a:p>
            <a:pPr marL="457200" lvl="1" indent="0" algn="ctr">
              <a:buNone/>
            </a:pPr>
            <a:r>
              <a:rPr lang="en-US" dirty="0" smtClean="0">
                <a:latin typeface="Arial Narrow" panose="020B0606020202030204" pitchFamily="34" charset="0"/>
              </a:rPr>
              <a:t>Sampling allows for generalization of research findings</a:t>
            </a:r>
            <a:endParaRPr lang="en-ZA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 smtClean="0"/>
              <a:t>Dr Alveen Singh - RESK401</a:t>
            </a:r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3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21100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0" y="931817"/>
            <a:ext cx="10018713" cy="4859383"/>
          </a:xfrm>
        </p:spPr>
        <p:txBody>
          <a:bodyPr anchor="t"/>
          <a:lstStyle/>
          <a:p>
            <a:pPr marL="0" lvl="0" indent="0" algn="ctr">
              <a:buNone/>
            </a:pPr>
            <a:endParaRPr lang="en-US" dirty="0" smtClean="0">
              <a:latin typeface="Arial Narrow" panose="020B0606020202030204" pitchFamily="34" charset="0"/>
            </a:endParaRPr>
          </a:p>
          <a:p>
            <a:pPr marL="0" lvl="0" indent="0" algn="ctr">
              <a:buNone/>
            </a:pPr>
            <a:endParaRPr lang="en-ZA" dirty="0">
              <a:latin typeface="Arial Narrow" panose="020B0606020202030204" pitchFamily="34" charset="0"/>
            </a:endParaRPr>
          </a:p>
          <a:p>
            <a:r>
              <a:rPr lang="en-GB" sz="2000" dirty="0">
                <a:latin typeface="Arial Narrow" panose="020B0606020202030204" pitchFamily="34" charset="0"/>
              </a:rPr>
              <a:t>Sampling is the process of selecting some elements in a larger population. </a:t>
            </a:r>
            <a:endParaRPr lang="en-GB" sz="2000" dirty="0" smtClean="0">
              <a:latin typeface="Arial Narrow" panose="020B0606020202030204" pitchFamily="34" charset="0"/>
            </a:endParaRPr>
          </a:p>
          <a:p>
            <a:endParaRPr lang="en-GB" sz="2000" dirty="0" smtClean="0">
              <a:latin typeface="Arial Narrow" panose="020B0606020202030204" pitchFamily="34" charset="0"/>
            </a:endParaRPr>
          </a:p>
          <a:p>
            <a:r>
              <a:rPr lang="en-GB" sz="2000" dirty="0" smtClean="0">
                <a:latin typeface="Arial Narrow" panose="020B0606020202030204" pitchFamily="34" charset="0"/>
              </a:rPr>
              <a:t>A </a:t>
            </a:r>
            <a:r>
              <a:rPr lang="en-GB" sz="2000" dirty="0">
                <a:latin typeface="Arial Narrow" panose="020B0606020202030204" pitchFamily="34" charset="0"/>
              </a:rPr>
              <a:t>sample is a smaller group which is a representation of the population. </a:t>
            </a:r>
            <a:endParaRPr lang="en-GB" sz="2000" dirty="0" smtClean="0">
              <a:latin typeface="Arial Narrow" panose="020B0606020202030204" pitchFamily="34" charset="0"/>
            </a:endParaRPr>
          </a:p>
          <a:p>
            <a:endParaRPr lang="en-GB" sz="2000" dirty="0" smtClean="0">
              <a:latin typeface="Arial Narrow" panose="020B0606020202030204" pitchFamily="34" charset="0"/>
            </a:endParaRPr>
          </a:p>
          <a:p>
            <a:r>
              <a:rPr lang="en-GB" sz="2000" dirty="0" smtClean="0">
                <a:latin typeface="Arial Narrow" panose="020B0606020202030204" pitchFamily="34" charset="0"/>
              </a:rPr>
              <a:t>The </a:t>
            </a:r>
            <a:r>
              <a:rPr lang="en-GB" sz="2000" dirty="0">
                <a:latin typeface="Arial Narrow" panose="020B0606020202030204" pitchFamily="34" charset="0"/>
              </a:rPr>
              <a:t>purpose is to gather data from the sample that can undergo analysis to produce meaningful conclusions about the population. </a:t>
            </a:r>
            <a:endParaRPr lang="en-ZA" sz="2000" dirty="0">
              <a:latin typeface="Arial Narrow" panose="020B0606020202030204" pitchFamily="34" charset="0"/>
            </a:endParaRPr>
          </a:p>
          <a:p>
            <a:endParaRPr lang="en-ZA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 smtClean="0"/>
              <a:t>Dr Alveen Singh - RESK401</a:t>
            </a:r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4</a:t>
            </a:fld>
            <a:endParaRPr lang="en-ZA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/>
          <a:srcRect b="17102"/>
          <a:stretch/>
        </p:blipFill>
        <p:spPr>
          <a:xfrm>
            <a:off x="9067139" y="366032"/>
            <a:ext cx="2649699" cy="194173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939142" y="2596557"/>
            <a:ext cx="9056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 smtClean="0">
                <a:solidFill>
                  <a:srgbClr val="FF0000"/>
                </a:solidFill>
              </a:rPr>
              <a:t>Scribbr</a:t>
            </a:r>
            <a:endParaRPr lang="en-ZA" sz="1200" dirty="0">
              <a:solidFill>
                <a:srgbClr val="FF0000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0366" y="4218529"/>
            <a:ext cx="3384467" cy="186145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857788" y="5822950"/>
            <a:ext cx="14196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 smtClean="0">
                <a:solidFill>
                  <a:srgbClr val="FF0000"/>
                </a:solidFill>
              </a:rPr>
              <a:t>Omniconvert</a:t>
            </a:r>
            <a:r>
              <a:rPr lang="en-US" sz="1200" dirty="0" smtClean="0">
                <a:solidFill>
                  <a:srgbClr val="FF0000"/>
                </a:solidFill>
              </a:rPr>
              <a:t>, 2020</a:t>
            </a:r>
            <a:endParaRPr lang="en-ZA" sz="1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6200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0" y="775063"/>
            <a:ext cx="10018713" cy="5016137"/>
          </a:xfrm>
        </p:spPr>
        <p:txBody>
          <a:bodyPr anchor="t"/>
          <a:lstStyle/>
          <a:p>
            <a:pPr marL="0" indent="0">
              <a:buNone/>
            </a:pPr>
            <a:r>
              <a:rPr lang="en-US" b="1" dirty="0" smtClean="0">
                <a:latin typeface="Arial Narrow" panose="020B0606020202030204" pitchFamily="34" charset="0"/>
              </a:rPr>
              <a:t>Depending on the type of research,</a:t>
            </a:r>
          </a:p>
          <a:p>
            <a:pPr marL="0" indent="0">
              <a:buNone/>
            </a:pPr>
            <a:endParaRPr lang="en-US" b="1" dirty="0">
              <a:latin typeface="Arial Narrow" panose="020B0606020202030204" pitchFamily="34" charset="0"/>
            </a:endParaRPr>
          </a:p>
          <a:p>
            <a:r>
              <a:rPr lang="en-US" b="1" dirty="0" smtClean="0">
                <a:latin typeface="Arial Narrow" panose="020B0606020202030204" pitchFamily="34" charset="0"/>
              </a:rPr>
              <a:t>Survey – an accurate account of the population is involved in the study</a:t>
            </a:r>
          </a:p>
          <a:p>
            <a:pPr lvl="1"/>
            <a:r>
              <a:rPr lang="en-US" b="1" dirty="0" smtClean="0">
                <a:latin typeface="Arial Narrow" panose="020B0606020202030204" pitchFamily="34" charset="0"/>
              </a:rPr>
              <a:t>Allows for generalizability</a:t>
            </a:r>
          </a:p>
          <a:p>
            <a:pPr lvl="1"/>
            <a:endParaRPr lang="en-US" b="1" dirty="0">
              <a:latin typeface="Arial Narrow" panose="020B0606020202030204" pitchFamily="34" charset="0"/>
            </a:endParaRPr>
          </a:p>
          <a:p>
            <a:endParaRPr lang="en-US" b="1" dirty="0">
              <a:latin typeface="Arial Narrow" panose="020B0606020202030204" pitchFamily="34" charset="0"/>
            </a:endParaRPr>
          </a:p>
          <a:p>
            <a:endParaRPr lang="en-US" b="1" dirty="0" smtClean="0">
              <a:latin typeface="Arial Narrow" panose="020B0606020202030204" pitchFamily="34" charset="0"/>
            </a:endParaRPr>
          </a:p>
          <a:p>
            <a:r>
              <a:rPr lang="en-US" b="1" dirty="0" smtClean="0">
                <a:latin typeface="Arial Narrow" panose="020B0606020202030204" pitchFamily="34" charset="0"/>
              </a:rPr>
              <a:t>Qualitative study – a few experts are selected to allow for </a:t>
            </a:r>
            <a:r>
              <a:rPr lang="en-US" b="1" i="1" dirty="0" smtClean="0">
                <a:latin typeface="Arial Narrow" panose="020B0606020202030204" pitchFamily="34" charset="0"/>
              </a:rPr>
              <a:t>rich</a:t>
            </a:r>
            <a:r>
              <a:rPr lang="en-US" b="1" dirty="0" smtClean="0">
                <a:latin typeface="Arial Narrow" panose="020B0606020202030204" pitchFamily="34" charset="0"/>
              </a:rPr>
              <a:t> data collection</a:t>
            </a:r>
          </a:p>
          <a:p>
            <a:pPr marL="0" lvl="0" indent="0" algn="ctr">
              <a:buNone/>
            </a:pPr>
            <a:endParaRPr lang="en-ZA" dirty="0">
              <a:latin typeface="Arial Narrow" panose="020B0606020202030204" pitchFamily="34" charset="0"/>
            </a:endParaRPr>
          </a:p>
          <a:p>
            <a:endParaRPr lang="en-ZA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 smtClean="0"/>
              <a:t>Dr Alveen Singh - RESK401</a:t>
            </a:r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5</a:t>
            </a:fld>
            <a:endParaRPr lang="en-ZA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3875" y="2329656"/>
            <a:ext cx="3195637" cy="181839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5900" y="4897779"/>
            <a:ext cx="2847975" cy="1609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512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1. The need for sampling</a:t>
            </a:r>
            <a:endParaRPr lang="en-Z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0" y="2229395"/>
            <a:ext cx="10018713" cy="3561806"/>
          </a:xfrm>
        </p:spPr>
        <p:txBody>
          <a:bodyPr anchor="t">
            <a:normAutofit fontScale="92500" lnSpcReduction="10000"/>
          </a:bodyPr>
          <a:lstStyle/>
          <a:p>
            <a:pPr marL="0" lvl="0" indent="0" algn="ctr">
              <a:buNone/>
            </a:pPr>
            <a:endParaRPr lang="en-ZA" dirty="0">
              <a:latin typeface="Arial Narrow" panose="020B0606020202030204" pitchFamily="34" charset="0"/>
            </a:endParaRPr>
          </a:p>
          <a:p>
            <a:pPr lvl="0"/>
            <a:r>
              <a:rPr lang="en-GB" dirty="0">
                <a:solidFill>
                  <a:srgbClr val="0070C0"/>
                </a:solidFill>
                <a:latin typeface="Arial Rounded MT Bold" panose="020F0704030504030204" pitchFamily="34" charset="0"/>
              </a:rPr>
              <a:t>High cost of using the entire </a:t>
            </a:r>
            <a:r>
              <a:rPr lang="en-GB" dirty="0" smtClean="0">
                <a:solidFill>
                  <a:srgbClr val="0070C0"/>
                </a:solidFill>
                <a:latin typeface="Arial Rounded MT Bold" panose="020F0704030504030204" pitchFamily="34" charset="0"/>
              </a:rPr>
              <a:t>population</a:t>
            </a:r>
          </a:p>
          <a:p>
            <a:pPr lvl="0"/>
            <a:endParaRPr lang="en-ZA" dirty="0">
              <a:solidFill>
                <a:srgbClr val="0070C0"/>
              </a:solidFill>
              <a:latin typeface="Arial Rounded MT Bold" panose="020F0704030504030204" pitchFamily="34" charset="0"/>
            </a:endParaRPr>
          </a:p>
          <a:p>
            <a:pPr lvl="0"/>
            <a:r>
              <a:rPr lang="en-GB" dirty="0">
                <a:solidFill>
                  <a:srgbClr val="0070C0"/>
                </a:solidFill>
                <a:latin typeface="Arial Rounded MT Bold" panose="020F0704030504030204" pitchFamily="34" charset="0"/>
              </a:rPr>
              <a:t>Long time frame to collect data might render IT research obsolete by then the results become </a:t>
            </a:r>
            <a:r>
              <a:rPr lang="en-GB" dirty="0" smtClean="0">
                <a:solidFill>
                  <a:srgbClr val="0070C0"/>
                </a:solidFill>
                <a:latin typeface="Arial Rounded MT Bold" panose="020F0704030504030204" pitchFamily="34" charset="0"/>
              </a:rPr>
              <a:t>available</a:t>
            </a:r>
          </a:p>
          <a:p>
            <a:pPr marL="0" lvl="0" indent="0">
              <a:buNone/>
            </a:pPr>
            <a:endParaRPr lang="en-ZA" dirty="0">
              <a:solidFill>
                <a:srgbClr val="0070C0"/>
              </a:solidFill>
              <a:latin typeface="Arial Rounded MT Bold" panose="020F0704030504030204" pitchFamily="34" charset="0"/>
            </a:endParaRPr>
          </a:p>
          <a:p>
            <a:pPr lvl="0"/>
            <a:r>
              <a:rPr lang="en-GB" dirty="0">
                <a:solidFill>
                  <a:srgbClr val="0070C0"/>
                </a:solidFill>
                <a:latin typeface="Arial Rounded MT Bold" panose="020F0704030504030204" pitchFamily="34" charset="0"/>
              </a:rPr>
              <a:t>The exact number of the population might not be known hence, probabilities and statics may be flawed</a:t>
            </a:r>
            <a:endParaRPr lang="en-ZA" dirty="0">
              <a:solidFill>
                <a:srgbClr val="0070C0"/>
              </a:solidFill>
              <a:latin typeface="Arial Rounded MT Bold" panose="020F0704030504030204" pitchFamily="34" charset="0"/>
            </a:endParaRPr>
          </a:p>
          <a:p>
            <a:endParaRPr lang="en-ZA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 smtClean="0"/>
              <a:t>Dr Alveen Singh - RESK401</a:t>
            </a:r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6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044335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0" y="1097281"/>
            <a:ext cx="10018713" cy="4693920"/>
          </a:xfrm>
        </p:spPr>
        <p:txBody>
          <a:bodyPr anchor="t"/>
          <a:lstStyle/>
          <a:p>
            <a:r>
              <a:rPr lang="en-GB" dirty="0">
                <a:latin typeface="Arial Narrow" panose="020B0606020202030204" pitchFamily="34" charset="0"/>
              </a:rPr>
              <a:t>There are two major types of sampling techniques, </a:t>
            </a:r>
            <a:r>
              <a:rPr lang="en-GB" dirty="0">
                <a:solidFill>
                  <a:srgbClr val="0070C0"/>
                </a:solidFill>
                <a:latin typeface="Arial Narrow" panose="020B0606020202030204" pitchFamily="34" charset="0"/>
              </a:rPr>
              <a:t>probability</a:t>
            </a:r>
            <a:r>
              <a:rPr lang="en-GB" dirty="0">
                <a:latin typeface="Arial Narrow" panose="020B0606020202030204" pitchFamily="34" charset="0"/>
              </a:rPr>
              <a:t> sampling and </a:t>
            </a:r>
            <a:r>
              <a:rPr lang="en-GB" dirty="0">
                <a:solidFill>
                  <a:srgbClr val="7030A0"/>
                </a:solidFill>
                <a:latin typeface="Arial Narrow" panose="020B0606020202030204" pitchFamily="34" charset="0"/>
              </a:rPr>
              <a:t>non-probability</a:t>
            </a:r>
            <a:r>
              <a:rPr lang="en-GB" dirty="0">
                <a:latin typeface="Arial Narrow" panose="020B0606020202030204" pitchFamily="34" charset="0"/>
              </a:rPr>
              <a:t> sampling. </a:t>
            </a:r>
            <a:endParaRPr lang="en-GB" dirty="0" smtClean="0">
              <a:latin typeface="Arial Narrow" panose="020B0606020202030204" pitchFamily="34" charset="0"/>
            </a:endParaRPr>
          </a:p>
          <a:p>
            <a:endParaRPr lang="en-GB" dirty="0">
              <a:latin typeface="Arial Narrow" panose="020B0606020202030204" pitchFamily="34" charset="0"/>
            </a:endParaRPr>
          </a:p>
          <a:p>
            <a:r>
              <a:rPr lang="en-GB" dirty="0" smtClean="0">
                <a:latin typeface="Arial Narrow" panose="020B0606020202030204" pitchFamily="34" charset="0"/>
              </a:rPr>
              <a:t>The </a:t>
            </a:r>
            <a:r>
              <a:rPr lang="en-GB" dirty="0">
                <a:latin typeface="Arial Narrow" panose="020B0606020202030204" pitchFamily="34" charset="0"/>
              </a:rPr>
              <a:t>difference between the two is the ability for </a:t>
            </a:r>
            <a:r>
              <a:rPr lang="en-GB" i="1" dirty="0">
                <a:latin typeface="Arial Narrow" panose="020B0606020202030204" pitchFamily="34" charset="0"/>
              </a:rPr>
              <a:t>randomization</a:t>
            </a:r>
            <a:r>
              <a:rPr lang="en-GB" dirty="0">
                <a:latin typeface="Arial Narrow" panose="020B0606020202030204" pitchFamily="34" charset="0"/>
              </a:rPr>
              <a:t>.</a:t>
            </a:r>
            <a:endParaRPr lang="en-ZA" dirty="0">
              <a:latin typeface="Arial Narrow" panose="020B0606020202030204" pitchFamily="34" charset="0"/>
            </a:endParaRPr>
          </a:p>
          <a:p>
            <a:endParaRPr lang="en-ZA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 smtClean="0"/>
              <a:t>Dr Alveen Singh - RESK401</a:t>
            </a:r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7</a:t>
            </a:fld>
            <a:endParaRPr lang="en-ZA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l="15057" t="15009" r="15155" b="14328"/>
          <a:stretch/>
        </p:blipFill>
        <p:spPr>
          <a:xfrm>
            <a:off x="6235796" y="3197225"/>
            <a:ext cx="4716060" cy="26860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3894" y="6032697"/>
            <a:ext cx="14325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Simpson, 2021</a:t>
            </a:r>
            <a:endParaRPr lang="en-ZA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5702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 smtClean="0"/>
              <a:t>Dr Alveen Singh - RESK401</a:t>
            </a:r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8</a:t>
            </a:fld>
            <a:endParaRPr lang="en-ZA"/>
          </a:p>
        </p:txBody>
      </p:sp>
      <p:pic>
        <p:nvPicPr>
          <p:cNvPr id="6" name="Picture 5" descr="https://www.questionpro.com/blog/wp-content/uploads/2018/04/Sampling-Methods.jpg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754" b="6579"/>
          <a:stretch/>
        </p:blipFill>
        <p:spPr bwMode="auto">
          <a:xfrm>
            <a:off x="3204754" y="2145121"/>
            <a:ext cx="6514556" cy="3236776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7" name="Oval Callout 6"/>
          <p:cNvSpPr/>
          <p:nvPr/>
        </p:nvSpPr>
        <p:spPr>
          <a:xfrm>
            <a:off x="3047999" y="618309"/>
            <a:ext cx="2525486" cy="1306286"/>
          </a:xfrm>
          <a:prstGeom prst="wedgeEllipseCallo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GB" sz="14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very </a:t>
            </a:r>
            <a:r>
              <a:rPr lang="en-GB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member of the population has an </a:t>
            </a:r>
            <a:r>
              <a:rPr lang="en-GB" sz="1400" b="1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equal chance </a:t>
            </a:r>
            <a:r>
              <a:rPr lang="en-GB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 being selected</a:t>
            </a:r>
            <a:endParaRPr lang="en-ZA" sz="14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Oval Callout 7"/>
          <p:cNvSpPr/>
          <p:nvPr/>
        </p:nvSpPr>
        <p:spPr>
          <a:xfrm>
            <a:off x="7963987" y="618309"/>
            <a:ext cx="2525486" cy="1306286"/>
          </a:xfrm>
          <a:prstGeom prst="wedgeEllipseCallo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b="1" dirty="0" smtClean="0">
                <a:solidFill>
                  <a:srgbClr val="FF0000"/>
                </a:solidFill>
              </a:rPr>
              <a:t>The researcher selects the sample</a:t>
            </a:r>
            <a:endParaRPr lang="en-ZA" sz="1400" b="1" dirty="0">
              <a:solidFill>
                <a:srgbClr val="FF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963987" y="5582194"/>
            <a:ext cx="14325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QuestionPro</a:t>
            </a:r>
            <a:endParaRPr lang="en-ZA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8831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Arial Rounded MT Bold" panose="020F0704030504030204" pitchFamily="34" charset="0"/>
              </a:rPr>
              <a:t>Probability sampling</a:t>
            </a:r>
            <a:endParaRPr lang="en-ZA" dirty="0">
              <a:latin typeface="Arial Rounded MT Bold" panose="020F0704030504030204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marL="0" indent="0" algn="ctr">
              <a:buNone/>
            </a:pPr>
            <a:r>
              <a:rPr lang="en-GB" dirty="0">
                <a:latin typeface="Arial Rounded MT Bold" panose="020F0704030504030204" pitchFamily="34" charset="0"/>
              </a:rPr>
              <a:t>E</a:t>
            </a:r>
            <a:r>
              <a:rPr lang="en-GB" dirty="0" smtClean="0">
                <a:latin typeface="Arial Rounded MT Bold" panose="020F0704030504030204" pitchFamily="34" charset="0"/>
              </a:rPr>
              <a:t>very </a:t>
            </a:r>
            <a:r>
              <a:rPr lang="en-GB" dirty="0">
                <a:latin typeface="Arial Rounded MT Bold" panose="020F0704030504030204" pitchFamily="34" charset="0"/>
              </a:rPr>
              <a:t>member of the population has an equal chance of being </a:t>
            </a:r>
            <a:r>
              <a:rPr lang="en-GB" dirty="0" smtClean="0">
                <a:latin typeface="Arial Rounded MT Bold" panose="020F0704030504030204" pitchFamily="34" charset="0"/>
              </a:rPr>
              <a:t>selected</a:t>
            </a:r>
            <a:endParaRPr lang="en-ZA" dirty="0">
              <a:latin typeface="Arial Rounded MT Bold" panose="020F0704030504030204" pitchFamily="34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 smtClean="0"/>
              <a:t>Dr Alveen Singh - RESK401</a:t>
            </a:r>
            <a:endParaRPr lang="en-ZA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9</a:t>
            </a:fld>
            <a:endParaRPr lang="en-ZA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5403" y="4657725"/>
            <a:ext cx="2676525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2110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 smtClean="0"/>
              <a:t>Dr Alveen Singh - RESK401</a:t>
            </a:r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10</a:t>
            </a:fld>
            <a:endParaRPr lang="en-ZA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6454" y="301305"/>
            <a:ext cx="1891650" cy="194659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724275" y="504825"/>
            <a:ext cx="79914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smtClean="0">
                <a:solidFill>
                  <a:srgbClr val="FF0000"/>
                </a:solidFill>
              </a:rPr>
              <a:t>Simple </a:t>
            </a:r>
            <a:r>
              <a:rPr lang="en-GB" b="1" dirty="0">
                <a:solidFill>
                  <a:srgbClr val="FF0000"/>
                </a:solidFill>
              </a:rPr>
              <a:t>random sampling</a:t>
            </a:r>
            <a:r>
              <a:rPr lang="en-GB" dirty="0"/>
              <a:t>. 5 out of the 25 in the population are randomly selected giving a probability of selection of 1/25. </a:t>
            </a:r>
            <a:r>
              <a:rPr lang="en-GB" dirty="0" smtClean="0"/>
              <a:t>Every element has an equal opportunity of being selected.</a:t>
            </a:r>
            <a:endParaRPr lang="en-ZA" dirty="0"/>
          </a:p>
        </p:txBody>
      </p:sp>
      <p:sp>
        <p:nvSpPr>
          <p:cNvPr id="9" name="TextBox 8"/>
          <p:cNvSpPr txBox="1"/>
          <p:nvPr/>
        </p:nvSpPr>
        <p:spPr>
          <a:xfrm>
            <a:off x="1900766" y="5393614"/>
            <a:ext cx="1343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smtClean="0">
                <a:solidFill>
                  <a:srgbClr val="FF0000"/>
                </a:solidFill>
              </a:rPr>
              <a:t>Singh, 2018</a:t>
            </a:r>
            <a:endParaRPr lang="en-ZA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9779" y="3019746"/>
            <a:ext cx="2861923" cy="197135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764603" y="3344684"/>
            <a:ext cx="72940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en-GB" b="1" dirty="0"/>
              <a:t>Stratified </a:t>
            </a:r>
            <a:r>
              <a:rPr lang="en-GB" b="1" dirty="0" smtClean="0"/>
              <a:t>sampling</a:t>
            </a:r>
            <a:r>
              <a:rPr lang="en-ZA" dirty="0" smtClean="0"/>
              <a:t>. </a:t>
            </a:r>
            <a:r>
              <a:rPr lang="en-GB" dirty="0" smtClean="0"/>
              <a:t>The </a:t>
            </a:r>
            <a:r>
              <a:rPr lang="en-GB" dirty="0"/>
              <a:t>population is split into groups. Elements are then randomly selected from each </a:t>
            </a:r>
            <a:r>
              <a:rPr lang="en-GB" dirty="0" smtClean="0"/>
              <a:t>group.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524088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 smtClean="0"/>
              <a:t>Dr Alveen Singh - RESK401</a:t>
            </a:r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11</a:t>
            </a:fld>
            <a:endParaRPr lang="en-ZA"/>
          </a:p>
        </p:txBody>
      </p:sp>
      <p:sp>
        <p:nvSpPr>
          <p:cNvPr id="8" name="TextBox 7"/>
          <p:cNvSpPr txBox="1"/>
          <p:nvPr/>
        </p:nvSpPr>
        <p:spPr>
          <a:xfrm>
            <a:off x="1539239" y="813395"/>
            <a:ext cx="799147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smtClean="0">
                <a:solidFill>
                  <a:srgbClr val="FF0000"/>
                </a:solidFill>
              </a:rPr>
              <a:t>Cluster sampling</a:t>
            </a:r>
            <a:r>
              <a:rPr lang="en-GB" dirty="0"/>
              <a:t>. The population is split into groups. The researcher selects groups at random. </a:t>
            </a:r>
            <a:r>
              <a:rPr lang="en-GB" b="1" dirty="0"/>
              <a:t>Every element </a:t>
            </a:r>
            <a:r>
              <a:rPr lang="en-GB" dirty="0"/>
              <a:t>from the selected groups form the sample. </a:t>
            </a:r>
            <a:endParaRPr lang="en-GB" dirty="0" smtClean="0"/>
          </a:p>
          <a:p>
            <a:endParaRPr lang="en-GB" dirty="0"/>
          </a:p>
          <a:p>
            <a:r>
              <a:rPr lang="en-GB" dirty="0" smtClean="0"/>
              <a:t>Cluster </a:t>
            </a:r>
            <a:r>
              <a:rPr lang="en-GB" dirty="0"/>
              <a:t>sampling is useful when each group is representative of the population. For example, there are 34 academic departments at a university and every academic staff member utilize the same </a:t>
            </a:r>
            <a:r>
              <a:rPr lang="en-GB" dirty="0" err="1"/>
              <a:t>ERP</a:t>
            </a:r>
            <a:r>
              <a:rPr lang="en-GB" dirty="0"/>
              <a:t> for course management. The researcher may randomly choose 5 from the 34 academic departments but include every academic staff member </a:t>
            </a:r>
            <a:r>
              <a:rPr lang="en-GB" dirty="0" smtClean="0"/>
              <a:t>in each of the 5 Departments.</a:t>
            </a:r>
            <a:endParaRPr lang="en-ZA" dirty="0"/>
          </a:p>
        </p:txBody>
      </p:sp>
      <p:sp>
        <p:nvSpPr>
          <p:cNvPr id="9" name="TextBox 8"/>
          <p:cNvSpPr txBox="1"/>
          <p:nvPr/>
        </p:nvSpPr>
        <p:spPr>
          <a:xfrm>
            <a:off x="8739716" y="5603164"/>
            <a:ext cx="1343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smtClean="0">
                <a:solidFill>
                  <a:srgbClr val="FF0000"/>
                </a:solidFill>
              </a:rPr>
              <a:t>Singh, 2018</a:t>
            </a:r>
            <a:endParaRPr lang="en-ZA" dirty="0"/>
          </a:p>
        </p:txBody>
      </p:sp>
      <p:sp>
        <p:nvSpPr>
          <p:cNvPr id="12" name="TextBox 11"/>
          <p:cNvSpPr txBox="1"/>
          <p:nvPr/>
        </p:nvSpPr>
        <p:spPr>
          <a:xfrm>
            <a:off x="1192728" y="3402488"/>
            <a:ext cx="729404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GB" b="1" dirty="0">
                <a:solidFill>
                  <a:srgbClr val="FF0000"/>
                </a:solidFill>
              </a:rPr>
              <a:t>Systematic random sampling</a:t>
            </a:r>
            <a:endParaRPr lang="en-ZA" dirty="0">
              <a:solidFill>
                <a:srgbClr val="FF0000"/>
              </a:solidFill>
            </a:endParaRPr>
          </a:p>
          <a:p>
            <a:r>
              <a:rPr lang="en-GB" dirty="0"/>
              <a:t>The population is ordered into a list. A starting point is selected at random and then every </a:t>
            </a:r>
            <a:r>
              <a:rPr lang="en-GB" sz="2400" i="1" dirty="0"/>
              <a:t>n</a:t>
            </a:r>
            <a:r>
              <a:rPr lang="en-GB" sz="1400" dirty="0"/>
              <a:t>th </a:t>
            </a:r>
            <a:r>
              <a:rPr lang="en-GB" dirty="0"/>
              <a:t>element is chosen for the sample.</a:t>
            </a:r>
            <a:endParaRPr lang="en-ZA" dirty="0"/>
          </a:p>
        </p:txBody>
      </p:sp>
      <p:pic>
        <p:nvPicPr>
          <p:cNvPr id="10" name="Picture 9" descr="https://miro.medium.com/max/419/1*399_Y2pbJeth2P2eP6GDkw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3927" y="2783105"/>
            <a:ext cx="2821305" cy="220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4550" y="4418150"/>
            <a:ext cx="5747555" cy="1149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33048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Non-probability sampling</a:t>
            </a:r>
            <a:endParaRPr lang="en-ZA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marL="0" indent="0" algn="ctr">
              <a:buNone/>
            </a:pPr>
            <a:r>
              <a:rPr lang="en-GB" dirty="0" smtClean="0">
                <a:solidFill>
                  <a:srgbClr val="C00000"/>
                </a:solidFill>
                <a:latin typeface="Arial Rounded MT Bold" panose="020F0704030504030204" pitchFamily="34" charset="0"/>
              </a:rPr>
              <a:t>No</a:t>
            </a:r>
            <a:r>
              <a:rPr lang="en-GB" dirty="0" smtClean="0">
                <a:latin typeface="Arial Rounded MT Bold" panose="020F0704030504030204" pitchFamily="34" charset="0"/>
              </a:rPr>
              <a:t> </a:t>
            </a:r>
            <a:r>
              <a:rPr lang="en-GB" dirty="0" smtClean="0">
                <a:solidFill>
                  <a:srgbClr val="C00000"/>
                </a:solidFill>
                <a:latin typeface="Arial Rounded MT Bold" panose="020F0704030504030204" pitchFamily="34" charset="0"/>
              </a:rPr>
              <a:t>randomization</a:t>
            </a:r>
            <a:endParaRPr lang="en-ZA" dirty="0">
              <a:solidFill>
                <a:srgbClr val="C0000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 smtClean="0"/>
              <a:t>Dr Alveen Singh - RESK401</a:t>
            </a:r>
            <a:endParaRPr lang="en-ZA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12</a:t>
            </a:fld>
            <a:endParaRPr lang="en-ZA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2804" y="4105275"/>
            <a:ext cx="214312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25442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0" y="676275"/>
            <a:ext cx="10018713" cy="5114925"/>
          </a:xfrm>
        </p:spPr>
        <p:txBody>
          <a:bodyPr anchor="t"/>
          <a:lstStyle/>
          <a:p>
            <a:pPr marL="0" indent="0">
              <a:buNone/>
            </a:pPr>
            <a:r>
              <a:rPr lang="en-GB" b="1" dirty="0" smtClean="0">
                <a:solidFill>
                  <a:srgbClr val="0070C0"/>
                </a:solidFill>
              </a:rPr>
              <a:t>Convenience sampling</a:t>
            </a:r>
          </a:p>
          <a:p>
            <a:r>
              <a:rPr lang="en-GB" dirty="0" smtClean="0">
                <a:latin typeface="Arial Narrow" panose="020B0606020202030204" pitchFamily="34" charset="0"/>
              </a:rPr>
              <a:t>Available and willing participants are </a:t>
            </a:r>
            <a:r>
              <a:rPr lang="en-GB" dirty="0" smtClean="0">
                <a:latin typeface="Arial Narrow" panose="020B0606020202030204" pitchFamily="34" charset="0"/>
              </a:rPr>
              <a:t>selected</a:t>
            </a:r>
          </a:p>
          <a:p>
            <a:r>
              <a:rPr lang="en-GB" dirty="0" smtClean="0">
                <a:latin typeface="Arial Narrow" panose="020B0606020202030204" pitchFamily="34" charset="0"/>
              </a:rPr>
              <a:t>The research </a:t>
            </a:r>
            <a:r>
              <a:rPr lang="en-GB" dirty="0">
                <a:latin typeface="Arial Narrow" panose="020B0606020202030204" pitchFamily="34" charset="0"/>
              </a:rPr>
              <a:t>does not require any </a:t>
            </a:r>
            <a:r>
              <a:rPr lang="en-GB" i="1" dirty="0">
                <a:latin typeface="Arial Narrow" panose="020B0606020202030204" pitchFamily="34" charset="0"/>
              </a:rPr>
              <a:t>special</a:t>
            </a:r>
            <a:r>
              <a:rPr lang="en-GB" dirty="0">
                <a:latin typeface="Arial Narrow" panose="020B0606020202030204" pitchFamily="34" charset="0"/>
              </a:rPr>
              <a:t> </a:t>
            </a:r>
            <a:r>
              <a:rPr lang="en-GB" dirty="0" smtClean="0">
                <a:latin typeface="Arial Narrow" panose="020B0606020202030204" pitchFamily="34" charset="0"/>
              </a:rPr>
              <a:t>criteria of the participant</a:t>
            </a:r>
            <a:endParaRPr lang="en-GB" dirty="0" smtClean="0">
              <a:latin typeface="Arial Narrow" panose="020B0606020202030204" pitchFamily="34" charset="0"/>
            </a:endParaRPr>
          </a:p>
          <a:p>
            <a:r>
              <a:rPr lang="en-GB" dirty="0" smtClean="0">
                <a:latin typeface="Arial Narrow" panose="020B0606020202030204" pitchFamily="34" charset="0"/>
              </a:rPr>
              <a:t>E.g. </a:t>
            </a:r>
            <a:r>
              <a:rPr lang="en-GB" dirty="0">
                <a:latin typeface="Arial Narrow" panose="020B0606020202030204" pitchFamily="34" charset="0"/>
              </a:rPr>
              <a:t>questionnaires </a:t>
            </a:r>
            <a:r>
              <a:rPr lang="en-GB" dirty="0" smtClean="0">
                <a:latin typeface="Arial Narrow" panose="020B0606020202030204" pitchFamily="34" charset="0"/>
              </a:rPr>
              <a:t>are </a:t>
            </a:r>
            <a:r>
              <a:rPr lang="en-GB" dirty="0">
                <a:latin typeface="Arial Narrow" panose="020B0606020202030204" pitchFamily="34" charset="0"/>
              </a:rPr>
              <a:t>handed out to </a:t>
            </a:r>
            <a:r>
              <a:rPr lang="en-GB" dirty="0" smtClean="0">
                <a:latin typeface="Arial Narrow" panose="020B0606020202030204" pitchFamily="34" charset="0"/>
              </a:rPr>
              <a:t>the first 500 </a:t>
            </a:r>
            <a:r>
              <a:rPr lang="en-GB" dirty="0">
                <a:latin typeface="Arial Narrow" panose="020B0606020202030204" pitchFamily="34" charset="0"/>
              </a:rPr>
              <a:t>IT student that </a:t>
            </a:r>
            <a:r>
              <a:rPr lang="en-GB" dirty="0" smtClean="0">
                <a:latin typeface="Arial Narrow" panose="020B0606020202030204" pitchFamily="34" charset="0"/>
              </a:rPr>
              <a:t>volunteer</a:t>
            </a:r>
          </a:p>
          <a:p>
            <a:endParaRPr lang="en-ZA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 dirty="0" smtClean="0"/>
              <a:t>Dr Alveen Singh - </a:t>
            </a:r>
            <a:r>
              <a:rPr lang="en-ZA" dirty="0" err="1" smtClean="0"/>
              <a:t>RESK401</a:t>
            </a:r>
            <a:endParaRPr lang="en-ZA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13</a:t>
            </a:fld>
            <a:endParaRPr lang="en-ZA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1369" y="2841787"/>
            <a:ext cx="4798423" cy="269911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439916" y="9878487"/>
            <a:ext cx="39273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err="1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99Masterclass</a:t>
            </a:r>
            <a:r>
              <a:rPr lang="en-US" sz="14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 </a:t>
            </a:r>
            <a:r>
              <a:rPr lang="en-US" sz="1400" dirty="0" err="1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Youtube</a:t>
            </a:r>
            <a:endParaRPr lang="en-ZA" sz="14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Convenience sampli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1269" y="2749140"/>
            <a:ext cx="4501865" cy="3390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2859741" y="6248400"/>
            <a:ext cx="29498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rgbClr val="FF0000"/>
                </a:solidFill>
              </a:rPr>
              <a:t>Ahmad and </a:t>
            </a:r>
            <a:r>
              <a:rPr lang="en-US" sz="1400" dirty="0" err="1" smtClean="0">
                <a:solidFill>
                  <a:srgbClr val="FF0000"/>
                </a:solidFill>
              </a:rPr>
              <a:t>Shahzad</a:t>
            </a:r>
            <a:endParaRPr lang="en-ZA" sz="1400" dirty="0">
              <a:solidFill>
                <a:srgbClr val="FF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840156" y="5632975"/>
            <a:ext cx="29498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 smtClean="0">
                <a:solidFill>
                  <a:srgbClr val="FF0000"/>
                </a:solidFill>
              </a:rPr>
              <a:t>99Masterclass</a:t>
            </a:r>
            <a:r>
              <a:rPr lang="en-US" sz="1400" dirty="0" smtClean="0">
                <a:solidFill>
                  <a:srgbClr val="FF0000"/>
                </a:solidFill>
              </a:rPr>
              <a:t>, </a:t>
            </a:r>
            <a:r>
              <a:rPr lang="en-US" sz="1400" dirty="0" err="1" smtClean="0">
                <a:solidFill>
                  <a:srgbClr val="FF0000"/>
                </a:solidFill>
              </a:rPr>
              <a:t>Youtube</a:t>
            </a:r>
            <a:endParaRPr lang="en-ZA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2207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0" y="676275"/>
            <a:ext cx="10018713" cy="5114925"/>
          </a:xfrm>
        </p:spPr>
        <p:txBody>
          <a:bodyPr anchor="t"/>
          <a:lstStyle/>
          <a:p>
            <a:pPr marL="0" indent="0">
              <a:buNone/>
            </a:pPr>
            <a:r>
              <a:rPr lang="en-GB" b="1" dirty="0" smtClean="0">
                <a:solidFill>
                  <a:srgbClr val="0070C0"/>
                </a:solidFill>
              </a:rPr>
              <a:t>Purposive sampling</a:t>
            </a:r>
          </a:p>
          <a:p>
            <a:r>
              <a:rPr lang="en-GB" dirty="0" smtClean="0">
                <a:latin typeface="Arial Narrow" panose="020B0606020202030204" pitchFamily="34" charset="0"/>
              </a:rPr>
              <a:t>When there is a </a:t>
            </a:r>
            <a:r>
              <a:rPr lang="en-GB" dirty="0">
                <a:latin typeface="Arial Narrow" panose="020B0606020202030204" pitchFamily="34" charset="0"/>
              </a:rPr>
              <a:t>very specific </a:t>
            </a:r>
            <a:r>
              <a:rPr lang="en-GB" dirty="0" smtClean="0">
                <a:latin typeface="Arial Narrow" panose="020B0606020202030204" pitchFamily="34" charset="0"/>
              </a:rPr>
              <a:t>set </a:t>
            </a:r>
            <a:r>
              <a:rPr lang="en-GB" dirty="0">
                <a:latin typeface="Arial Narrow" panose="020B0606020202030204" pitchFamily="34" charset="0"/>
              </a:rPr>
              <a:t>of </a:t>
            </a:r>
            <a:r>
              <a:rPr lang="en-GB" dirty="0" smtClean="0">
                <a:latin typeface="Arial Narrow" panose="020B0606020202030204" pitchFamily="34" charset="0"/>
              </a:rPr>
              <a:t>characteristics for the sample</a:t>
            </a:r>
          </a:p>
          <a:p>
            <a:r>
              <a:rPr lang="en-GB" dirty="0" smtClean="0">
                <a:latin typeface="Arial Narrow" panose="020B0606020202030204" pitchFamily="34" charset="0"/>
              </a:rPr>
              <a:t>Participants are </a:t>
            </a:r>
            <a:r>
              <a:rPr lang="en-GB" i="1" dirty="0" smtClean="0">
                <a:latin typeface="Arial Narrow" panose="020B0606020202030204" pitchFamily="34" charset="0"/>
              </a:rPr>
              <a:t>head-hunted</a:t>
            </a:r>
          </a:p>
          <a:p>
            <a:r>
              <a:rPr lang="en-GB" dirty="0" err="1" smtClean="0">
                <a:latin typeface="Arial Narrow" panose="020B0606020202030204" pitchFamily="34" charset="0"/>
              </a:rPr>
              <a:t>Eg</a:t>
            </a:r>
            <a:r>
              <a:rPr lang="en-GB" dirty="0" smtClean="0">
                <a:latin typeface="Arial Narrow" panose="020B0606020202030204" pitchFamily="34" charset="0"/>
              </a:rPr>
              <a:t>. </a:t>
            </a:r>
            <a:endParaRPr lang="en-GB" dirty="0" smtClean="0">
              <a:latin typeface="Arial Narrow" panose="020B0606020202030204" pitchFamily="34" charset="0"/>
            </a:endParaRPr>
          </a:p>
          <a:p>
            <a:pPr marL="0" indent="0">
              <a:buNone/>
            </a:pPr>
            <a:r>
              <a:rPr lang="en-GB" dirty="0">
                <a:latin typeface="Arial Narrow" panose="020B0606020202030204" pitchFamily="34" charset="0"/>
              </a:rPr>
              <a:t>	</a:t>
            </a:r>
            <a:r>
              <a:rPr lang="en-GB" sz="1800" dirty="0" smtClean="0">
                <a:latin typeface="Arial Narrow" panose="020B0606020202030204" pitchFamily="34" charset="0"/>
              </a:rPr>
              <a:t>Experts </a:t>
            </a:r>
            <a:r>
              <a:rPr lang="en-GB" sz="1800" dirty="0" smtClean="0">
                <a:latin typeface="Arial Narrow" panose="020B0606020202030204" pitchFamily="34" charset="0"/>
              </a:rPr>
              <a:t>in Health Information </a:t>
            </a:r>
            <a:r>
              <a:rPr lang="en-GB" sz="1800" dirty="0" smtClean="0">
                <a:latin typeface="Arial Narrow" panose="020B0606020202030204" pitchFamily="34" charset="0"/>
              </a:rPr>
              <a:t>Systems</a:t>
            </a:r>
          </a:p>
          <a:p>
            <a:pPr marL="0" indent="0">
              <a:buNone/>
            </a:pPr>
            <a:r>
              <a:rPr lang="en-GB" sz="1800" dirty="0">
                <a:latin typeface="Arial Narrow" panose="020B0606020202030204" pitchFamily="34" charset="0"/>
              </a:rPr>
              <a:t>	</a:t>
            </a:r>
            <a:r>
              <a:rPr lang="en-GB" sz="1800" dirty="0" smtClean="0">
                <a:latin typeface="Arial Narrow" panose="020B0606020202030204" pitchFamily="34" charset="0"/>
              </a:rPr>
              <a:t>Greenhouse farmers</a:t>
            </a:r>
          </a:p>
          <a:p>
            <a:pPr marL="0" indent="0">
              <a:buNone/>
            </a:pPr>
            <a:r>
              <a:rPr lang="en-GB" sz="1800" dirty="0">
                <a:latin typeface="Arial Narrow" panose="020B0606020202030204" pitchFamily="34" charset="0"/>
              </a:rPr>
              <a:t>	</a:t>
            </a:r>
            <a:r>
              <a:rPr lang="en-GB" sz="1800" dirty="0" smtClean="0">
                <a:latin typeface="Arial Narrow" panose="020B0606020202030204" pitchFamily="34" charset="0"/>
              </a:rPr>
              <a:t>Agile software </a:t>
            </a:r>
            <a:r>
              <a:rPr lang="en-GB" sz="1800" dirty="0" err="1" smtClean="0">
                <a:latin typeface="Arial Narrow" panose="020B0606020202030204" pitchFamily="34" charset="0"/>
              </a:rPr>
              <a:t>devs</a:t>
            </a:r>
            <a:endParaRPr lang="en-GB" sz="1800" dirty="0" smtClean="0">
              <a:latin typeface="Arial Narrow" panose="020B0606020202030204" pitchFamily="34" charset="0"/>
            </a:endParaRPr>
          </a:p>
          <a:p>
            <a:pPr marL="0" indent="0">
              <a:buNone/>
            </a:pPr>
            <a:r>
              <a:rPr lang="en-GB" sz="1800" dirty="0">
                <a:latin typeface="Arial Narrow" panose="020B0606020202030204" pitchFamily="34" charset="0"/>
              </a:rPr>
              <a:t>	</a:t>
            </a:r>
            <a:r>
              <a:rPr lang="en-GB" sz="1800" dirty="0" smtClean="0">
                <a:latin typeface="Arial Narrow" panose="020B0606020202030204" pitchFamily="34" charset="0"/>
              </a:rPr>
              <a:t>Online teaching assistants </a:t>
            </a:r>
            <a:endParaRPr lang="en-GB" sz="1800" dirty="0" smtClean="0">
              <a:latin typeface="Arial Narrow" panose="020B0606020202030204" pitchFamily="34" charset="0"/>
            </a:endParaRPr>
          </a:p>
          <a:p>
            <a:pPr marL="0" indent="0">
              <a:buNone/>
            </a:pPr>
            <a:r>
              <a:rPr lang="en-GB" sz="1800" dirty="0">
                <a:latin typeface="Arial Narrow" panose="020B0606020202030204" pitchFamily="34" charset="0"/>
              </a:rPr>
              <a:t>	</a:t>
            </a:r>
            <a:endParaRPr lang="en-GB" sz="1800" dirty="0" smtClean="0">
              <a:latin typeface="Arial Narrow" panose="020B0606020202030204" pitchFamily="34" charset="0"/>
            </a:endParaRPr>
          </a:p>
          <a:p>
            <a:endParaRPr lang="en-GB" dirty="0" smtClean="0"/>
          </a:p>
          <a:p>
            <a:endParaRPr lang="en-ZA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 smtClean="0"/>
              <a:t>Dr Alveen Singh - RESK401</a:t>
            </a:r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14</a:t>
            </a:fld>
            <a:endParaRPr lang="en-ZA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b="12439"/>
          <a:stretch/>
        </p:blipFill>
        <p:spPr>
          <a:xfrm>
            <a:off x="5323035" y="2093866"/>
            <a:ext cx="6797120" cy="44636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457303" y="6403665"/>
            <a:ext cx="25254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 smtClean="0">
                <a:solidFill>
                  <a:srgbClr val="FF0000"/>
                </a:solidFill>
              </a:rPr>
              <a:t>Sketchbubble.com</a:t>
            </a:r>
            <a:endParaRPr lang="en-ZA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542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 smtClean="0"/>
              <a:t>Dr Alveen Singh - RESK401</a:t>
            </a:r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15</a:t>
            </a:fld>
            <a:endParaRPr lang="en-ZA"/>
          </a:p>
        </p:txBody>
      </p:sp>
      <p:pic>
        <p:nvPicPr>
          <p:cNvPr id="2050" name="Picture 2" descr="Purposive Sampling PPT Slid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943"/>
          <a:stretch/>
        </p:blipFill>
        <p:spPr bwMode="auto">
          <a:xfrm>
            <a:off x="2108636" y="744901"/>
            <a:ext cx="8011461" cy="4750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8426371" y="6248400"/>
            <a:ext cx="25254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 smtClean="0">
                <a:solidFill>
                  <a:srgbClr val="FF0000"/>
                </a:solidFill>
              </a:rPr>
              <a:t>Sketchbubble.com</a:t>
            </a:r>
            <a:endParaRPr lang="en-ZA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82669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0" y="676275"/>
            <a:ext cx="10018713" cy="5114925"/>
          </a:xfrm>
        </p:spPr>
        <p:txBody>
          <a:bodyPr anchor="t"/>
          <a:lstStyle/>
          <a:p>
            <a:pPr marL="0" indent="0">
              <a:buNone/>
            </a:pPr>
            <a:r>
              <a:rPr lang="en-GB" b="1" dirty="0">
                <a:solidFill>
                  <a:srgbClr val="0070C0"/>
                </a:solidFill>
              </a:rPr>
              <a:t>Quota </a:t>
            </a:r>
            <a:r>
              <a:rPr lang="en-GB" b="1" dirty="0" smtClean="0">
                <a:solidFill>
                  <a:srgbClr val="0070C0"/>
                </a:solidFill>
              </a:rPr>
              <a:t>sampling</a:t>
            </a:r>
          </a:p>
          <a:p>
            <a:r>
              <a:rPr lang="en-GB" dirty="0">
                <a:latin typeface="Arial Narrow" panose="020B0606020202030204" pitchFamily="34" charset="0"/>
              </a:rPr>
              <a:t>The population is divided into </a:t>
            </a:r>
            <a:r>
              <a:rPr lang="en-GB" i="1" dirty="0">
                <a:latin typeface="Arial Narrow" panose="020B0606020202030204" pitchFamily="34" charset="0"/>
              </a:rPr>
              <a:t>mutually exclusive</a:t>
            </a:r>
            <a:r>
              <a:rPr lang="en-GB" dirty="0">
                <a:latin typeface="Arial Narrow" panose="020B0606020202030204" pitchFamily="34" charset="0"/>
              </a:rPr>
              <a:t> </a:t>
            </a:r>
            <a:r>
              <a:rPr lang="en-GB" dirty="0" smtClean="0">
                <a:latin typeface="Arial Narrow" panose="020B0606020202030204" pitchFamily="34" charset="0"/>
              </a:rPr>
              <a:t>sub-groups</a:t>
            </a:r>
          </a:p>
          <a:p>
            <a:r>
              <a:rPr lang="en-GB" dirty="0" smtClean="0">
                <a:latin typeface="Arial Narrow" panose="020B0606020202030204" pitchFamily="34" charset="0"/>
              </a:rPr>
              <a:t>The </a:t>
            </a:r>
            <a:r>
              <a:rPr lang="en-GB" dirty="0">
                <a:latin typeface="Arial Narrow" panose="020B0606020202030204" pitchFamily="34" charset="0"/>
              </a:rPr>
              <a:t>sub-groups are selected according to known </a:t>
            </a:r>
            <a:r>
              <a:rPr lang="en-GB" dirty="0" smtClean="0">
                <a:latin typeface="Arial Narrow" panose="020B0606020202030204" pitchFamily="34" charset="0"/>
              </a:rPr>
              <a:t>criteria </a:t>
            </a:r>
          </a:p>
          <a:p>
            <a:r>
              <a:rPr lang="en-GB" dirty="0" smtClean="0">
                <a:latin typeface="Arial Narrow" panose="020B0606020202030204" pitchFamily="34" charset="0"/>
              </a:rPr>
              <a:t>E.g. 60% female students and 40% male students in a </a:t>
            </a:r>
            <a:r>
              <a:rPr lang="en-GB" dirty="0" err="1" smtClean="0">
                <a:latin typeface="Arial Narrow" panose="020B0606020202030204" pitchFamily="34" charset="0"/>
              </a:rPr>
              <a:t>UoT</a:t>
            </a:r>
            <a:r>
              <a:rPr lang="en-GB" dirty="0" smtClean="0">
                <a:latin typeface="Arial Narrow" panose="020B0606020202030204" pitchFamily="34" charset="0"/>
              </a:rPr>
              <a:t> of 100 000 students. The sample of 300 must represent this demographic i.e. 180 female and 120 male.</a:t>
            </a:r>
          </a:p>
          <a:p>
            <a:endParaRPr lang="en-ZA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 smtClean="0"/>
              <a:t>Dr Alveen Singh - RESK401</a:t>
            </a:r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16</a:t>
            </a:fld>
            <a:endParaRPr lang="en-ZA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9688" y="3512275"/>
            <a:ext cx="4127752" cy="253147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26371" y="6248400"/>
            <a:ext cx="25254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 smtClean="0">
                <a:solidFill>
                  <a:srgbClr val="FF0000"/>
                </a:solidFill>
              </a:rPr>
              <a:t>Voxco.com</a:t>
            </a:r>
            <a:endParaRPr lang="en-ZA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1494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>
          <a:xfrm>
            <a:off x="1628245" y="646853"/>
            <a:ext cx="4607188" cy="576262"/>
          </a:xfrm>
        </p:spPr>
        <p:txBody>
          <a:bodyPr/>
          <a:lstStyle/>
          <a:p>
            <a:r>
              <a:rPr lang="en-US" dirty="0" smtClean="0"/>
              <a:t>Advantages</a:t>
            </a:r>
            <a:endParaRPr lang="en-ZA" dirty="0"/>
          </a:p>
        </p:txBody>
      </p:sp>
      <p:sp>
        <p:nvSpPr>
          <p:cNvPr id="8" name="Content Placeholder 7"/>
          <p:cNvSpPr>
            <a:spLocks noGrp="1"/>
          </p:cNvSpPr>
          <p:nvPr>
            <p:ph sz="half" idx="2"/>
          </p:nvPr>
        </p:nvSpPr>
        <p:spPr>
          <a:xfrm>
            <a:off x="1484311" y="1315191"/>
            <a:ext cx="4895056" cy="4476008"/>
          </a:xfrm>
        </p:spPr>
        <p:txBody>
          <a:bodyPr>
            <a:normAutofit/>
          </a:bodyPr>
          <a:lstStyle/>
          <a:p>
            <a:r>
              <a:rPr lang="en-US" dirty="0" smtClean="0"/>
              <a:t>Primary </a:t>
            </a:r>
            <a:r>
              <a:rPr lang="en-US" dirty="0"/>
              <a:t>data collection can be done in </a:t>
            </a:r>
            <a:r>
              <a:rPr lang="en-US" dirty="0" smtClean="0"/>
              <a:t>a shorter time</a:t>
            </a:r>
            <a:endParaRPr lang="en-US" dirty="0"/>
          </a:p>
          <a:p>
            <a:r>
              <a:rPr lang="en-US" dirty="0" smtClean="0"/>
              <a:t>Relatively cost-effective and requires less resources</a:t>
            </a:r>
            <a:endParaRPr lang="en-US" dirty="0"/>
          </a:p>
          <a:p>
            <a:endParaRPr lang="en-ZA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3"/>
          </p:nvPr>
        </p:nvSpPr>
        <p:spPr>
          <a:xfrm>
            <a:off x="6744226" y="738929"/>
            <a:ext cx="4622537" cy="576262"/>
          </a:xfrm>
        </p:spPr>
        <p:txBody>
          <a:bodyPr/>
          <a:lstStyle/>
          <a:p>
            <a:r>
              <a:rPr lang="en-US" dirty="0" smtClean="0"/>
              <a:t>Disadvantages</a:t>
            </a:r>
            <a:endParaRPr lang="en-ZA" dirty="0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4"/>
          </p:nvPr>
        </p:nvSpPr>
        <p:spPr>
          <a:xfrm>
            <a:off x="6607967" y="1407267"/>
            <a:ext cx="4895056" cy="4383932"/>
          </a:xfrm>
        </p:spPr>
        <p:txBody>
          <a:bodyPr/>
          <a:lstStyle/>
          <a:p>
            <a:r>
              <a:rPr lang="en-US" dirty="0" smtClean="0"/>
              <a:t>Difficult to calculate </a:t>
            </a:r>
            <a:r>
              <a:rPr lang="en-US" dirty="0"/>
              <a:t>the sampling error and </a:t>
            </a:r>
            <a:r>
              <a:rPr lang="en-US" dirty="0" smtClean="0"/>
              <a:t>generalization of findings </a:t>
            </a:r>
            <a:r>
              <a:rPr lang="en-US" dirty="0"/>
              <a:t>to the </a:t>
            </a:r>
            <a:r>
              <a:rPr lang="en-US" dirty="0" smtClean="0"/>
              <a:t>population </a:t>
            </a:r>
            <a:r>
              <a:rPr lang="en-US" dirty="0"/>
              <a:t>is </a:t>
            </a:r>
            <a:r>
              <a:rPr lang="en-US" dirty="0" smtClean="0"/>
              <a:t>not accurate.</a:t>
            </a:r>
            <a:endParaRPr lang="en-US" dirty="0"/>
          </a:p>
          <a:p>
            <a:r>
              <a:rPr lang="en-US" dirty="0" smtClean="0"/>
              <a:t>Other characteristics </a:t>
            </a:r>
            <a:r>
              <a:rPr lang="en-US" dirty="0"/>
              <a:t>may be disproportionately represented in the final sample </a:t>
            </a:r>
            <a:r>
              <a:rPr lang="en-US" dirty="0" smtClean="0"/>
              <a:t>group</a:t>
            </a:r>
            <a:endParaRPr lang="en-US" dirty="0"/>
          </a:p>
          <a:p>
            <a:r>
              <a:rPr lang="en-US" dirty="0" smtClean="0"/>
              <a:t>Researcher bias</a:t>
            </a:r>
          </a:p>
          <a:p>
            <a:r>
              <a:rPr lang="en-US" dirty="0" smtClean="0"/>
              <a:t>Possibility of poor </a:t>
            </a:r>
            <a:r>
              <a:rPr lang="en-US" dirty="0"/>
              <a:t>quality </a:t>
            </a:r>
            <a:r>
              <a:rPr lang="en-US" dirty="0" smtClean="0"/>
              <a:t>researcher </a:t>
            </a:r>
            <a:r>
              <a:rPr lang="en-US" dirty="0"/>
              <a:t>incompetency </a:t>
            </a:r>
            <a:r>
              <a:rPr lang="en-US" dirty="0" smtClean="0"/>
              <a:t>lack </a:t>
            </a:r>
            <a:r>
              <a:rPr lang="en-US" dirty="0"/>
              <a:t>of </a:t>
            </a:r>
            <a:r>
              <a:rPr lang="en-US" dirty="0" smtClean="0"/>
              <a:t>experience in quota sampling</a:t>
            </a:r>
            <a:endParaRPr lang="en-US" dirty="0"/>
          </a:p>
          <a:p>
            <a:endParaRPr lang="en-ZA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 smtClean="0"/>
              <a:t>Dr Alveen Singh - RESK401</a:t>
            </a:r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17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98630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0" y="676275"/>
            <a:ext cx="10018713" cy="5114925"/>
          </a:xfrm>
        </p:spPr>
        <p:txBody>
          <a:bodyPr anchor="t"/>
          <a:lstStyle/>
          <a:p>
            <a:pPr marL="0" indent="0">
              <a:buNone/>
            </a:pPr>
            <a:r>
              <a:rPr lang="en-ZA" b="1" dirty="0"/>
              <a:t> </a:t>
            </a:r>
            <a:r>
              <a:rPr lang="en-GB" b="1" dirty="0">
                <a:solidFill>
                  <a:srgbClr val="0070C0"/>
                </a:solidFill>
              </a:rPr>
              <a:t>Snowball sampling </a:t>
            </a:r>
            <a:endParaRPr lang="en-GB" b="1" dirty="0" smtClean="0">
              <a:solidFill>
                <a:srgbClr val="0070C0"/>
              </a:solidFill>
            </a:endParaRPr>
          </a:p>
          <a:p>
            <a:r>
              <a:rPr lang="en-GB" dirty="0">
                <a:latin typeface="Arial Narrow" panose="020B0606020202030204" pitchFamily="34" charset="0"/>
              </a:rPr>
              <a:t>When there are very few participants that fit the required characteristics</a:t>
            </a:r>
          </a:p>
          <a:p>
            <a:r>
              <a:rPr lang="en-GB" dirty="0">
                <a:latin typeface="Arial Narrow" panose="020B0606020202030204" pitchFamily="34" charset="0"/>
              </a:rPr>
              <a:t>When one expert is found that expert can recommend </a:t>
            </a:r>
            <a:r>
              <a:rPr lang="en-GB" dirty="0" smtClean="0">
                <a:latin typeface="Arial Narrow" panose="020B0606020202030204" pitchFamily="34" charset="0"/>
              </a:rPr>
              <a:t>others</a:t>
            </a:r>
          </a:p>
          <a:p>
            <a:r>
              <a:rPr lang="en-US" dirty="0" smtClean="0">
                <a:latin typeface="Arial Narrow" panose="020B0606020202030204" pitchFamily="34" charset="0"/>
              </a:rPr>
              <a:t>Also </a:t>
            </a:r>
            <a:r>
              <a:rPr lang="en-US" dirty="0">
                <a:latin typeface="Arial Narrow" panose="020B0606020202030204" pitchFamily="34" charset="0"/>
              </a:rPr>
              <a:t>known as </a:t>
            </a:r>
            <a:r>
              <a:rPr lang="en-US" dirty="0" smtClean="0">
                <a:latin typeface="Arial Narrow" panose="020B0606020202030204" pitchFamily="34" charset="0"/>
              </a:rPr>
              <a:t>chain </a:t>
            </a:r>
            <a:r>
              <a:rPr lang="en-US" dirty="0">
                <a:latin typeface="Arial Narrow" panose="020B0606020202030204" pitchFamily="34" charset="0"/>
              </a:rPr>
              <a:t>sampling, chain-referral sampling, and referral sampling</a:t>
            </a:r>
            <a:endParaRPr lang="en-GB" dirty="0">
              <a:latin typeface="Arial Narrow" panose="020B0606020202030204" pitchFamily="34" charset="0"/>
            </a:endParaRPr>
          </a:p>
          <a:p>
            <a:endParaRPr lang="en-GB" dirty="0" smtClean="0"/>
          </a:p>
          <a:p>
            <a:endParaRPr lang="en-GB" dirty="0" smtClean="0"/>
          </a:p>
          <a:p>
            <a:endParaRPr lang="en-ZA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 dirty="0" smtClean="0"/>
              <a:t>Dr Alveen Singh - </a:t>
            </a:r>
            <a:r>
              <a:rPr lang="en-ZA" dirty="0" err="1" smtClean="0"/>
              <a:t>RESK401</a:t>
            </a:r>
            <a:endParaRPr lang="en-ZA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18</a:t>
            </a:fld>
            <a:endParaRPr lang="en-ZA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6202" y="2829877"/>
            <a:ext cx="4066821" cy="253460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083041" y="5359428"/>
            <a:ext cx="22990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 smtClean="0">
                <a:solidFill>
                  <a:srgbClr val="FF0000"/>
                </a:solidFill>
              </a:rPr>
              <a:t>Formpl.us</a:t>
            </a:r>
            <a:endParaRPr lang="en-ZA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983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/>
          <p:cNvSpPr>
            <a:spLocks noGrp="1"/>
          </p:cNvSpPr>
          <p:nvPr>
            <p:ph type="body" idx="1"/>
          </p:nvPr>
        </p:nvSpPr>
        <p:spPr>
          <a:xfrm>
            <a:off x="1628245" y="716521"/>
            <a:ext cx="4607188" cy="576262"/>
          </a:xfrm>
        </p:spPr>
        <p:txBody>
          <a:bodyPr/>
          <a:lstStyle/>
          <a:p>
            <a:r>
              <a:rPr lang="en-US" dirty="0" smtClean="0"/>
              <a:t>Advantages</a:t>
            </a:r>
            <a:endParaRPr lang="en-ZA" dirty="0"/>
          </a:p>
        </p:txBody>
      </p:sp>
      <p:sp>
        <p:nvSpPr>
          <p:cNvPr id="13" name="Content Placeholder 12"/>
          <p:cNvSpPr>
            <a:spLocks noGrp="1"/>
          </p:cNvSpPr>
          <p:nvPr>
            <p:ph sz="half" idx="2"/>
          </p:nvPr>
        </p:nvSpPr>
        <p:spPr>
          <a:xfrm>
            <a:off x="1484311" y="1602377"/>
            <a:ext cx="4895056" cy="4188822"/>
          </a:xfrm>
        </p:spPr>
        <p:txBody>
          <a:bodyPr>
            <a:normAutofit/>
          </a:bodyPr>
          <a:lstStyle/>
          <a:p>
            <a:r>
              <a:rPr lang="en-US" dirty="0"/>
              <a:t>Q</a:t>
            </a:r>
            <a:r>
              <a:rPr lang="en-US" dirty="0" smtClean="0"/>
              <a:t>uick </a:t>
            </a:r>
            <a:r>
              <a:rPr lang="en-US" dirty="0"/>
              <a:t>to find </a:t>
            </a:r>
            <a:r>
              <a:rPr lang="en-US" dirty="0" smtClean="0"/>
              <a:t>reliable participants </a:t>
            </a:r>
            <a:r>
              <a:rPr lang="en-US" b="1" dirty="0" smtClean="0"/>
              <a:t>a</a:t>
            </a:r>
            <a:r>
              <a:rPr lang="en-US" dirty="0" smtClean="0"/>
              <a:t>s </a:t>
            </a:r>
            <a:r>
              <a:rPr lang="en-US" dirty="0"/>
              <a:t>they come from reliable sources. An additional task is saved for a researcher, this time can be used </a:t>
            </a:r>
            <a:r>
              <a:rPr lang="en-US" dirty="0" smtClean="0"/>
              <a:t>for other research activities.</a:t>
            </a:r>
            <a:endParaRPr lang="en-US" dirty="0"/>
          </a:p>
          <a:p>
            <a:r>
              <a:rPr lang="en-US" dirty="0" smtClean="0"/>
              <a:t>Cost </a:t>
            </a:r>
            <a:r>
              <a:rPr lang="en-US" dirty="0"/>
              <a:t>effective as the referrals are obtained from a primary data source. It’s is convenient and not so expensive as compared to other methods.</a:t>
            </a:r>
          </a:p>
          <a:p>
            <a:r>
              <a:rPr lang="en-US" dirty="0" smtClean="0"/>
              <a:t>Some </a:t>
            </a:r>
            <a:r>
              <a:rPr lang="en-US" dirty="0"/>
              <a:t>people do not want to </a:t>
            </a:r>
            <a:r>
              <a:rPr lang="en-US" dirty="0" smtClean="0"/>
              <a:t>participate </a:t>
            </a:r>
            <a:r>
              <a:rPr lang="en-US" dirty="0"/>
              <a:t>in </a:t>
            </a:r>
            <a:r>
              <a:rPr lang="en-US" dirty="0" smtClean="0"/>
              <a:t>research because </a:t>
            </a:r>
            <a:r>
              <a:rPr lang="en-US" dirty="0"/>
              <a:t>they don’t want </a:t>
            </a:r>
            <a:r>
              <a:rPr lang="en-US" dirty="0" smtClean="0"/>
              <a:t>to expose their identity. </a:t>
            </a:r>
            <a:r>
              <a:rPr lang="en-US" dirty="0"/>
              <a:t>Snowball sampling helps </a:t>
            </a:r>
            <a:r>
              <a:rPr lang="en-US" dirty="0" smtClean="0"/>
              <a:t>as </a:t>
            </a:r>
            <a:r>
              <a:rPr lang="en-US" dirty="0"/>
              <a:t>they </a:t>
            </a:r>
            <a:r>
              <a:rPr lang="en-US" dirty="0" smtClean="0"/>
              <a:t>are asked by a known person. Therefore, sense of trust. </a:t>
            </a:r>
            <a:endParaRPr lang="en-US" dirty="0"/>
          </a:p>
          <a:p>
            <a:endParaRPr lang="en-ZA" dirty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6880486" y="716521"/>
            <a:ext cx="4622537" cy="576262"/>
          </a:xfrm>
        </p:spPr>
        <p:txBody>
          <a:bodyPr/>
          <a:lstStyle/>
          <a:p>
            <a:r>
              <a:rPr lang="en-US" dirty="0" smtClean="0"/>
              <a:t>Disadvantages</a:t>
            </a:r>
            <a:endParaRPr lang="en-ZA" dirty="0"/>
          </a:p>
        </p:txBody>
      </p:sp>
      <p:sp>
        <p:nvSpPr>
          <p:cNvPr id="15" name="Content Placeholder 14"/>
          <p:cNvSpPr>
            <a:spLocks noGrp="1"/>
          </p:cNvSpPr>
          <p:nvPr>
            <p:ph sz="quarter" idx="4"/>
          </p:nvPr>
        </p:nvSpPr>
        <p:spPr>
          <a:xfrm>
            <a:off x="6607967" y="1602377"/>
            <a:ext cx="4895056" cy="4188822"/>
          </a:xfrm>
        </p:spPr>
        <p:txBody>
          <a:bodyPr/>
          <a:lstStyle/>
          <a:p>
            <a:r>
              <a:rPr lang="en-US" dirty="0" smtClean="0"/>
              <a:t>Since people are </a:t>
            </a:r>
            <a:r>
              <a:rPr lang="en-US" i="1" dirty="0" smtClean="0"/>
              <a:t>referring</a:t>
            </a:r>
            <a:r>
              <a:rPr lang="en-US" dirty="0" smtClean="0"/>
              <a:t> to </a:t>
            </a:r>
            <a:r>
              <a:rPr lang="en-US" dirty="0"/>
              <a:t>each other, </a:t>
            </a:r>
            <a:r>
              <a:rPr lang="en-US" dirty="0" smtClean="0"/>
              <a:t>there is a potential for sampling </a:t>
            </a:r>
            <a:r>
              <a:rPr lang="en-US" dirty="0"/>
              <a:t>bias and margin of </a:t>
            </a:r>
            <a:r>
              <a:rPr lang="en-US" dirty="0" smtClean="0"/>
              <a:t>error.</a:t>
            </a:r>
          </a:p>
          <a:p>
            <a:r>
              <a:rPr lang="en-US" dirty="0"/>
              <a:t>There </a:t>
            </a:r>
            <a:r>
              <a:rPr lang="en-US" dirty="0" smtClean="0"/>
              <a:t>is the possibility that even </a:t>
            </a:r>
            <a:r>
              <a:rPr lang="en-US" dirty="0"/>
              <a:t>after </a:t>
            </a:r>
            <a:r>
              <a:rPr lang="en-US" dirty="0" smtClean="0"/>
              <a:t>referrals from trusted people, some </a:t>
            </a:r>
            <a:r>
              <a:rPr lang="en-US" dirty="0"/>
              <a:t>might not be cooperative and refuse to participate in the </a:t>
            </a:r>
            <a:r>
              <a:rPr lang="en-US" dirty="0" smtClean="0"/>
              <a:t>research.</a:t>
            </a:r>
            <a:endParaRPr lang="en-ZA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 smtClean="0"/>
              <a:t>Dr Alveen Singh - RESK401</a:t>
            </a:r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19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82445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0" y="676275"/>
            <a:ext cx="10018713" cy="5114925"/>
          </a:xfrm>
        </p:spPr>
        <p:txBody>
          <a:bodyPr anchor="t"/>
          <a:lstStyle/>
          <a:p>
            <a:pPr marL="0" indent="0">
              <a:buNone/>
            </a:pPr>
            <a:r>
              <a:rPr lang="en-ZA" b="1" dirty="0"/>
              <a:t> </a:t>
            </a:r>
            <a:r>
              <a:rPr lang="en-GB" b="1" dirty="0" smtClean="0">
                <a:solidFill>
                  <a:srgbClr val="0070C0"/>
                </a:solidFill>
              </a:rPr>
              <a:t>Expert sampling</a:t>
            </a:r>
          </a:p>
          <a:p>
            <a:r>
              <a:rPr lang="en-GB" dirty="0" smtClean="0">
                <a:latin typeface="Arial Narrow" panose="020B0606020202030204" pitchFamily="34" charset="0"/>
              </a:rPr>
              <a:t>Similar to purposive sampling</a:t>
            </a:r>
          </a:p>
          <a:p>
            <a:r>
              <a:rPr lang="en-GB" dirty="0" smtClean="0">
                <a:latin typeface="Arial Narrow" panose="020B0606020202030204" pitchFamily="34" charset="0"/>
              </a:rPr>
              <a:t>Difference is that the “experts” are able to alter the research</a:t>
            </a:r>
          </a:p>
          <a:p>
            <a:pPr lvl="1"/>
            <a:r>
              <a:rPr lang="en-GB" dirty="0" smtClean="0">
                <a:latin typeface="Arial Narrow" panose="020B0606020202030204" pitchFamily="34" charset="0"/>
              </a:rPr>
              <a:t>They are change agents not simply sources of data</a:t>
            </a:r>
          </a:p>
          <a:p>
            <a:pPr lvl="1"/>
            <a:r>
              <a:rPr lang="en-GB" dirty="0" smtClean="0">
                <a:latin typeface="Arial Narrow" panose="020B0606020202030204" pitchFamily="34" charset="0"/>
              </a:rPr>
              <a:t>E.g. expert researchers in the area of Health Information Systems</a:t>
            </a:r>
            <a:endParaRPr lang="en-GB" dirty="0">
              <a:latin typeface="Arial Narrow" panose="020B0606020202030204" pitchFamily="34" charset="0"/>
            </a:endParaRPr>
          </a:p>
          <a:p>
            <a:endParaRPr lang="en-GB" dirty="0" smtClean="0"/>
          </a:p>
          <a:p>
            <a:endParaRPr lang="en-GB" dirty="0" smtClean="0"/>
          </a:p>
          <a:p>
            <a:endParaRPr lang="en-ZA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ZA" smtClean="0"/>
              <a:t>Dr Alveen Singh - RESK401</a:t>
            </a:r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20</a:t>
            </a:fld>
            <a:endParaRPr lang="en-ZA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0456" y="3168831"/>
            <a:ext cx="4572000" cy="3429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930864" y="2669200"/>
            <a:ext cx="17918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 smtClean="0">
                <a:solidFill>
                  <a:srgbClr val="FF0000"/>
                </a:solidFill>
              </a:rPr>
              <a:t>Ruby.fgcu.edu</a:t>
            </a:r>
            <a:endParaRPr lang="en-ZA" sz="1400" dirty="0">
              <a:solidFill>
                <a:srgbClr val="FF0000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/>
          <a:srcRect t="29024" b="23701"/>
          <a:stretch/>
        </p:blipFill>
        <p:spPr>
          <a:xfrm>
            <a:off x="1114698" y="3588248"/>
            <a:ext cx="4456382" cy="211007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88518" y="5790397"/>
            <a:ext cx="17918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 smtClean="0">
                <a:solidFill>
                  <a:srgbClr val="FF0000"/>
                </a:solidFill>
              </a:rPr>
              <a:t>sogosurvey</a:t>
            </a:r>
            <a:endParaRPr lang="en-ZA" sz="1400" dirty="0">
              <a:solidFill>
                <a:srgbClr val="FF0000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7781" y="205888"/>
            <a:ext cx="3114675" cy="1466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3449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84310" y="1581151"/>
            <a:ext cx="10018713" cy="4210050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dirty="0" smtClean="0">
                <a:latin typeface="Arial Rounded MT Bold" panose="020F0704030504030204" pitchFamily="34" charset="0"/>
              </a:rPr>
              <a:t>Please read the lecture note for this section.</a:t>
            </a:r>
          </a:p>
          <a:p>
            <a:pPr marL="0" indent="0">
              <a:buNone/>
            </a:pPr>
            <a:r>
              <a:rPr lang="en-US" dirty="0" smtClean="0">
                <a:latin typeface="Arial Rounded MT Bold" panose="020F0704030504030204" pitchFamily="34" charset="0"/>
              </a:rPr>
              <a:t>Available on Moodle.</a:t>
            </a:r>
          </a:p>
          <a:p>
            <a:pPr marL="0" indent="0">
              <a:buNone/>
            </a:pPr>
            <a:r>
              <a:rPr lang="en-US" dirty="0" smtClean="0">
                <a:latin typeface="Arial Rounded MT Bold" panose="020F0704030504030204" pitchFamily="34" charset="0"/>
              </a:rPr>
              <a:t>Questions and comments are welcome: </a:t>
            </a:r>
            <a:r>
              <a:rPr lang="en-US" dirty="0" err="1" smtClean="0">
                <a:latin typeface="Arial Rounded MT Bold" panose="020F0704030504030204" pitchFamily="34" charset="0"/>
                <a:hlinkClick r:id="rId2"/>
              </a:rPr>
              <a:t>alveens@dut.ac.za</a:t>
            </a:r>
            <a:r>
              <a:rPr lang="en-US" dirty="0" smtClean="0">
                <a:latin typeface="Arial Rounded MT Bold" panose="020F0704030504030204" pitchFamily="34" charset="0"/>
              </a:rPr>
              <a:t> 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 Alveen Singh - RESK401</a:t>
            </a:r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934E-928E-4C38-807A-CB32A0A7C43F}" type="slidenum">
              <a:rPr lang="en-ZA" smtClean="0"/>
              <a:t>21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89471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3915</TotalTime>
  <Words>959</Words>
  <Application>Microsoft Office PowerPoint</Application>
  <PresentationFormat>Widescreen</PresentationFormat>
  <Paragraphs>153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Arial Narrow</vt:lpstr>
      <vt:lpstr>Arial Rounded MT Bold</vt:lpstr>
      <vt:lpstr>Calibri</vt:lpstr>
      <vt:lpstr>Corbel</vt:lpstr>
      <vt:lpstr>Parallax</vt:lpstr>
      <vt:lpstr>Sampling</vt:lpstr>
      <vt:lpstr>PowerPoint Presentation</vt:lpstr>
      <vt:lpstr>Introduction</vt:lpstr>
      <vt:lpstr>PowerPoint Presentation</vt:lpstr>
      <vt:lpstr>PowerPoint Presentation</vt:lpstr>
      <vt:lpstr>1. The need for sampling</vt:lpstr>
      <vt:lpstr>PowerPoint Presentation</vt:lpstr>
      <vt:lpstr>PowerPoint Presentation</vt:lpstr>
      <vt:lpstr>Probability sampling</vt:lpstr>
      <vt:lpstr>PowerPoint Presentation</vt:lpstr>
      <vt:lpstr>PowerPoint Presentation</vt:lpstr>
      <vt:lpstr>Non-probability sampling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</dc:title>
  <dc:creator>Alveen Singh</dc:creator>
  <cp:lastModifiedBy>Alveen Singh</cp:lastModifiedBy>
  <cp:revision>70</cp:revision>
  <dcterms:created xsi:type="dcterms:W3CDTF">2021-03-04T08:54:00Z</dcterms:created>
  <dcterms:modified xsi:type="dcterms:W3CDTF">2022-04-05T09:10:14Z</dcterms:modified>
</cp:coreProperties>
</file>