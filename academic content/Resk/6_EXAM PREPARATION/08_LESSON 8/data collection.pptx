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9" r:id="rId4"/>
    <p:sldId id="295" r:id="rId5"/>
    <p:sldId id="291" r:id="rId6"/>
    <p:sldId id="292" r:id="rId7"/>
    <p:sldId id="293" r:id="rId8"/>
    <p:sldId id="313" r:id="rId9"/>
    <p:sldId id="294" r:id="rId10"/>
    <p:sldId id="296" r:id="rId11"/>
    <p:sldId id="314" r:id="rId12"/>
    <p:sldId id="315" r:id="rId13"/>
    <p:sldId id="297" r:id="rId14"/>
    <p:sldId id="298" r:id="rId15"/>
    <p:sldId id="299" r:id="rId16"/>
    <p:sldId id="300" r:id="rId17"/>
    <p:sldId id="307" r:id="rId18"/>
    <p:sldId id="306" r:id="rId19"/>
    <p:sldId id="301" r:id="rId20"/>
    <p:sldId id="302" r:id="rId21"/>
    <p:sldId id="305" r:id="rId22"/>
    <p:sldId id="303" r:id="rId23"/>
    <p:sldId id="304" r:id="rId24"/>
    <p:sldId id="308" r:id="rId25"/>
    <p:sldId id="312" r:id="rId26"/>
    <p:sldId id="309" r:id="rId27"/>
    <p:sldId id="310" r:id="rId28"/>
    <p:sldId id="311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82546-1CB2-4634-867D-E75635374D8C}" type="datetimeFigureOut">
              <a:rPr lang="en-ZA" smtClean="0"/>
              <a:t>19 Apr 2022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35F86-F144-42CC-A8DA-27ECDC4707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620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CB0-2E99-46C2-9262-6B868582C4F5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212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4889-7AB6-4879-A9B3-99D6D24E433E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789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C747E-67A3-4C72-9781-8C87A0AC9108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540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979D-C2C6-43D3-B936-BFCBBE6145E7}" type="datetime1">
              <a:rPr lang="en-ZA" smtClean="0"/>
              <a:t>19 Apr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483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FC57-FB48-460C-8A54-5157D1E8F947}" type="datetime1">
              <a:rPr lang="en-ZA" smtClean="0"/>
              <a:t>19 Apr 2022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905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92D0-4D20-4892-99F6-F53985CA4356}" type="datetime1">
              <a:rPr lang="en-ZA" smtClean="0"/>
              <a:t>19 Apr 2022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530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A3D80-0BFC-4529-B544-F55B8C00758D}" type="datetime1">
              <a:rPr lang="en-ZA" smtClean="0"/>
              <a:t>19 Apr 2022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40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79E00-E8EA-41AE-8F71-CB33ADB61C82}" type="datetime1">
              <a:rPr lang="en-ZA" smtClean="0"/>
              <a:t>19 Apr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135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89905-898F-4576-9BB0-4D4C424C3DEC}" type="datetime1">
              <a:rPr lang="en-ZA" smtClean="0"/>
              <a:t>19 Apr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06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62688-54F7-4164-B1A6-2AEA73002ED6}" type="datetime1">
              <a:rPr lang="en-ZA" smtClean="0"/>
              <a:t>19 Apr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081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189F3-5DFE-45B1-91A8-CB7F8F5AC72B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734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4C5CA-E4C2-4B7A-8D31-8AFFAEC0FE45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4452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382C-B435-49D0-A1C8-5E9ABB4EFDC6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3095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BEE36-239E-4DC5-896D-44A78C2F72B1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4674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C8512-5883-4F9A-94B0-909E9499FE10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7044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F0516-7AD7-4D4F-8545-AE319B9F7E49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750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48AE3-604D-401E-BB58-260AFE62BC8A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334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A915D1-CBA2-4EDC-A23F-FD277AD9089B}" type="datetime1">
              <a:rPr lang="en-ZA" smtClean="0"/>
              <a:t>19 Apr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339B4A-3334-40B8-B9D1-9FE2C92E8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207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collection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Research Skills</a:t>
            </a:r>
          </a:p>
          <a:p>
            <a:r>
              <a:rPr lang="en-US" dirty="0" err="1" smtClean="0"/>
              <a:t>Adv</a:t>
            </a:r>
            <a:r>
              <a:rPr lang="en-US" dirty="0" smtClean="0"/>
              <a:t> Dip ICT</a:t>
            </a:r>
          </a:p>
          <a:p>
            <a:r>
              <a:rPr lang="en-US" dirty="0" err="1" smtClean="0"/>
              <a:t>Dr</a:t>
            </a:r>
            <a:r>
              <a:rPr lang="en-US" dirty="0" smtClean="0"/>
              <a:t> Alveen Singh</a:t>
            </a:r>
          </a:p>
          <a:p>
            <a:r>
              <a:rPr lang="en-US" dirty="0" smtClean="0"/>
              <a:t>Semester 1 </a:t>
            </a:r>
            <a:r>
              <a:rPr lang="en-US" dirty="0" smtClean="0"/>
              <a:t>2022</a:t>
            </a:r>
            <a:endParaRPr lang="en-ZA" dirty="0"/>
          </a:p>
        </p:txBody>
      </p:sp>
      <p:pic>
        <p:nvPicPr>
          <p:cNvPr id="6" name="Picture 5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475" y="296227"/>
            <a:ext cx="3552825" cy="12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79"/>
    </mc:Choice>
    <mc:Fallback xmlns="">
      <p:transition spd="slow" advTm="2457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42309"/>
            <a:ext cx="10018713" cy="3648891"/>
          </a:xfrm>
        </p:spPr>
        <p:txBody>
          <a:bodyPr anchor="t" anchorCtr="0"/>
          <a:lstStyle/>
          <a:p>
            <a:pPr lvl="0"/>
            <a:r>
              <a:rPr lang="en-GB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Quantitative data collection</a:t>
            </a:r>
          </a:p>
          <a:p>
            <a:pPr lvl="0"/>
            <a:r>
              <a:rPr lang="en-GB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Qualitative data collection</a:t>
            </a:r>
          </a:p>
          <a:p>
            <a:pPr lvl="0"/>
            <a:r>
              <a:rPr lang="en-GB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Survey</a:t>
            </a:r>
          </a:p>
          <a:p>
            <a:pPr lvl="0"/>
            <a:r>
              <a:rPr lang="en-GB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Focus group</a:t>
            </a:r>
          </a:p>
          <a:p>
            <a:pPr lvl="0"/>
            <a:endParaRPr lang="en-GB" b="1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014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388"/>
    </mc:Choice>
    <mc:Fallback xmlns="">
      <p:transition spd="slow" advTm="14038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4292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Introduction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52551"/>
            <a:ext cx="10018713" cy="4438650"/>
          </a:xfrm>
        </p:spPr>
        <p:txBody>
          <a:bodyPr anchor="t"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Research is largely dependent on the ability to extract useful information (results) from collected data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There are several techniques for data collection</a:t>
            </a:r>
          </a:p>
          <a:p>
            <a:endParaRPr lang="en-US" dirty="0" smtClean="0">
              <a:latin typeface="Arial Rounded MT Bold" panose="020F0704030504030204" pitchFamily="34" charset="0"/>
            </a:endParaRPr>
          </a:p>
          <a:p>
            <a:endParaRPr lang="en-US" dirty="0" smtClean="0">
              <a:latin typeface="Arial Rounded MT Bold" panose="020F0704030504030204" pitchFamily="34" charset="0"/>
            </a:endParaRPr>
          </a:p>
          <a:p>
            <a:pPr lvl="1"/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3</a:t>
            </a:fld>
            <a:endParaRPr lang="en-ZA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068" y="3307437"/>
            <a:ext cx="2619375" cy="1743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99" y="3957638"/>
            <a:ext cx="2114300" cy="18335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b="16718"/>
          <a:stretch/>
        </p:blipFill>
        <p:spPr>
          <a:xfrm>
            <a:off x="4189894" y="3341605"/>
            <a:ext cx="3763101" cy="15328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144" y="5114927"/>
            <a:ext cx="2857500" cy="1600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756" y="5078943"/>
            <a:ext cx="2971800" cy="1576376"/>
          </a:xfrm>
          <a:prstGeom prst="rect">
            <a:avLst/>
          </a:prstGeom>
        </p:spPr>
      </p:pic>
      <p:sp>
        <p:nvSpPr>
          <p:cNvPr id="14" name="Oval Callout 13"/>
          <p:cNvSpPr/>
          <p:nvPr/>
        </p:nvSpPr>
        <p:spPr>
          <a:xfrm>
            <a:off x="10093630" y="2760580"/>
            <a:ext cx="1330323" cy="581025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</a:t>
            </a:r>
            <a:endParaRPr lang="en-ZA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029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94"/>
    </mc:Choice>
    <mc:Fallback xmlns="">
      <p:transition spd="slow" advTm="54294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Types of data collection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3200" dirty="0" smtClean="0">
                <a:solidFill>
                  <a:srgbClr val="FF0000"/>
                </a:solidFill>
                <a:latin typeface="Bahnschrift" panose="020B0502040204020203" pitchFamily="34" charset="0"/>
              </a:rPr>
              <a:t>Quantitative or Qualitative</a:t>
            </a:r>
          </a:p>
          <a:p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err="1" smtClean="0"/>
              <a:t>RESK401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4</a:t>
            </a:fld>
            <a:endParaRPr lang="en-ZA"/>
          </a:p>
        </p:txBody>
      </p:sp>
      <p:sp>
        <p:nvSpPr>
          <p:cNvPr id="7" name="TextBox 6"/>
          <p:cNvSpPr txBox="1"/>
          <p:nvPr/>
        </p:nvSpPr>
        <p:spPr>
          <a:xfrm>
            <a:off x="8926286" y="5306624"/>
            <a:ext cx="1789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Thebalancecareers.com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356" y="3692524"/>
            <a:ext cx="2857500" cy="1600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279" y="3927848"/>
            <a:ext cx="2188228" cy="116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Quantitative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Quantitative data collection methods rely on predetermined sampling and structured data collection instruments.</a:t>
            </a: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r>
              <a:rPr lang="en-US" sz="2000" dirty="0">
                <a:latin typeface="Arial Narrow" panose="020B0606020202030204" pitchFamily="34" charset="0"/>
              </a:rPr>
              <a:t>The collected data </a:t>
            </a:r>
            <a:r>
              <a:rPr lang="en-US" sz="2000" dirty="0" smtClean="0">
                <a:latin typeface="Arial Narrow" panose="020B0606020202030204" pitchFamily="34" charset="0"/>
              </a:rPr>
              <a:t>can be summarized, compared </a:t>
            </a:r>
            <a:r>
              <a:rPr lang="en-US" sz="2000" dirty="0">
                <a:latin typeface="Arial Narrow" panose="020B0606020202030204" pitchFamily="34" charset="0"/>
              </a:rPr>
              <a:t>and </a:t>
            </a:r>
            <a:r>
              <a:rPr lang="en-US" sz="2000" dirty="0" smtClean="0">
                <a:latin typeface="Arial Narrow" panose="020B0606020202030204" pitchFamily="34" charset="0"/>
              </a:rPr>
              <a:t>generalized</a:t>
            </a:r>
            <a:endParaRPr lang="en-ZA" sz="2000" dirty="0">
              <a:latin typeface="Arial Narrow" panose="020B0606020202030204" pitchFamily="34" charset="0"/>
            </a:endParaRPr>
          </a:p>
          <a:p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5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432" y="4100920"/>
            <a:ext cx="3276600" cy="139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50732" y="5680255"/>
            <a:ext cx="119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Unstats.un.org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782" y="386170"/>
            <a:ext cx="2762250" cy="1657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46081" y="2060866"/>
            <a:ext cx="119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Kyleads.com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924" y="4376465"/>
            <a:ext cx="2646666" cy="204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63635" y="6372384"/>
            <a:ext cx="2866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Mrswarnerslearningcommunity.com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310" y="386170"/>
            <a:ext cx="2619375" cy="1743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74275" y="2114729"/>
            <a:ext cx="119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lonestar.com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97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Qualitative Data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Qualitative data </a:t>
            </a:r>
            <a:r>
              <a:rPr lang="en-US" sz="2000" dirty="0" smtClean="0">
                <a:latin typeface="Arial Narrow" panose="020B0606020202030204" pitchFamily="34" charset="0"/>
              </a:rPr>
              <a:t> is for understanding </a:t>
            </a:r>
            <a:r>
              <a:rPr lang="en-US" sz="2000" dirty="0">
                <a:latin typeface="Arial Narrow" panose="020B0606020202030204" pitchFamily="34" charset="0"/>
              </a:rPr>
              <a:t>perceptions and people’s perceived reality. </a:t>
            </a:r>
            <a:endParaRPr lang="en-US" sz="2000" dirty="0" smtClean="0">
              <a:latin typeface="Arial Narrow" panose="020B0606020202030204" pitchFamily="34" charset="0"/>
            </a:endParaRP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r>
              <a:rPr lang="en-US" sz="2000" dirty="0" smtClean="0">
                <a:latin typeface="Arial Narrow" panose="020B0606020202030204" pitchFamily="34" charset="0"/>
              </a:rPr>
              <a:t>Qualitative </a:t>
            </a:r>
            <a:r>
              <a:rPr lang="en-US" sz="2000" dirty="0">
                <a:latin typeface="Arial Narrow" panose="020B0606020202030204" pitchFamily="34" charset="0"/>
              </a:rPr>
              <a:t>research can often be used prior to a quantitative data collection in helping to generate hypothesis, design the survey and questionnaires. </a:t>
            </a:r>
            <a:endParaRPr lang="en-US" sz="2000" dirty="0" smtClean="0">
              <a:latin typeface="Arial Narrow" panose="020B0606020202030204" pitchFamily="34" charset="0"/>
            </a:endParaRP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r>
              <a:rPr lang="en-US" sz="2000" dirty="0" smtClean="0">
                <a:latin typeface="Arial Narrow" panose="020B0606020202030204" pitchFamily="34" charset="0"/>
              </a:rPr>
              <a:t>Mixed approaches</a:t>
            </a: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err="1" smtClean="0"/>
              <a:t>RESK401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6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725" y="4217988"/>
            <a:ext cx="2828925" cy="1619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10652" y="5867131"/>
            <a:ext cx="1319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Careeradict.com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357" y="4773869"/>
            <a:ext cx="2857500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46642" y="6374069"/>
            <a:ext cx="1802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psycologytoday.com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59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Quantitative data collection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Usually includes a large sample</a:t>
            </a:r>
          </a:p>
          <a:p>
            <a:pPr lvl="1"/>
            <a:r>
              <a:rPr lang="en-US" sz="1600" dirty="0" smtClean="0">
                <a:solidFill>
                  <a:srgbClr val="0070C0"/>
                </a:solidFill>
                <a:latin typeface="Arial Narrow" panose="020B0606020202030204" pitchFamily="34" charset="0"/>
              </a:rPr>
              <a:t>Generalization</a:t>
            </a:r>
          </a:p>
          <a:p>
            <a:r>
              <a:rPr lang="en-US" sz="2000" dirty="0">
                <a:latin typeface="Arial Narrow" panose="020B0606020202030204" pitchFamily="34" charset="0"/>
              </a:rPr>
              <a:t>Data is numerical (or converted to numbers) which is easily quantifiable. Closed ended questions are often used for this purpose</a:t>
            </a:r>
            <a:r>
              <a:rPr lang="en-US" sz="2000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Can </a:t>
            </a:r>
            <a:r>
              <a:rPr lang="en-US" sz="2000" dirty="0">
                <a:latin typeface="Arial Narrow" panose="020B0606020202030204" pitchFamily="34" charset="0"/>
              </a:rPr>
              <a:t>include opinions, perceptions and variables to support or reject a </a:t>
            </a:r>
            <a:r>
              <a:rPr lang="en-US" sz="2000" dirty="0" smtClean="0">
                <a:latin typeface="Arial Narrow" panose="020B0606020202030204" pitchFamily="34" charset="0"/>
              </a:rPr>
              <a:t>hypothesis or answer a research question</a:t>
            </a:r>
          </a:p>
          <a:p>
            <a:pPr lvl="1"/>
            <a:r>
              <a:rPr lang="en-US" sz="1600" dirty="0" smtClean="0">
                <a:latin typeface="Arial Narrow" panose="020B0606020202030204" pitchFamily="34" charset="0"/>
              </a:rPr>
              <a:t>Convert </a:t>
            </a:r>
            <a:r>
              <a:rPr lang="en-US" sz="1600" dirty="0" smtClean="0">
                <a:latin typeface="Arial Narrow" panose="020B0606020202030204" pitchFamily="34" charset="0"/>
              </a:rPr>
              <a:t>responses to </a:t>
            </a:r>
            <a:r>
              <a:rPr lang="en-US" sz="1600" dirty="0" smtClean="0">
                <a:latin typeface="Arial Narrow" panose="020B0606020202030204" pitchFamily="34" charset="0"/>
              </a:rPr>
              <a:t>numbers for analysis</a:t>
            </a:r>
            <a:endParaRPr lang="en-US" sz="1600" dirty="0">
              <a:latin typeface="Arial Narrow" panose="020B0606020202030204" pitchFamily="34" charset="0"/>
            </a:endParaRPr>
          </a:p>
          <a:p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635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8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51" y="4092981"/>
            <a:ext cx="2619375" cy="1743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58469" y="5788838"/>
            <a:ext cx="144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paperform.com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012" y="2686050"/>
            <a:ext cx="2085975" cy="1485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1019" y="4104594"/>
            <a:ext cx="1084216" cy="2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citoolkit.com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936" y="861332"/>
            <a:ext cx="3286125" cy="139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4845" y="2251982"/>
            <a:ext cx="1084216" cy="2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maxqda.com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1" y="4606018"/>
            <a:ext cx="2952750" cy="15525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53012" y="6181631"/>
            <a:ext cx="138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simplysfdc.com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332" y="344080"/>
            <a:ext cx="2114550" cy="21621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57211" y="2664914"/>
            <a:ext cx="144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clipartbay.com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2369607" y="3106553"/>
            <a:ext cx="286507" cy="8007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8678" y="2941913"/>
            <a:ext cx="2619375" cy="1743075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7515497" y="3429000"/>
            <a:ext cx="1131571" cy="4782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Bent-Up Arrow 1"/>
          <p:cNvSpPr/>
          <p:nvPr/>
        </p:nvSpPr>
        <p:spPr>
          <a:xfrm>
            <a:off x="3634661" y="4367387"/>
            <a:ext cx="850392" cy="73152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397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28713"/>
            <a:ext cx="10018713" cy="4662487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Quantitative data can also include images, sound or datasets (e.g. twitter, ITS student records, software product </a:t>
            </a:r>
            <a:r>
              <a:rPr lang="en-US" sz="2000" dirty="0" smtClean="0">
                <a:latin typeface="Arial Narrow" panose="020B0606020202030204" pitchFamily="34" charset="0"/>
              </a:rPr>
              <a:t>metrics).</a:t>
            </a:r>
            <a:endParaRPr lang="en-US" sz="2000" dirty="0" smtClean="0">
              <a:latin typeface="Arial Narrow" panose="020B0606020202030204" pitchFamily="34" charset="0"/>
            </a:endParaRP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r>
              <a:rPr lang="en-US" sz="2000" dirty="0" smtClean="0">
                <a:latin typeface="Arial Narrow" panose="020B0606020202030204" pitchFamily="34" charset="0"/>
              </a:rPr>
              <a:t>Quantitative </a:t>
            </a:r>
            <a:r>
              <a:rPr lang="en-US" sz="2000" dirty="0" smtClean="0">
                <a:latin typeface="Arial Narrow" panose="020B0606020202030204" pitchFamily="34" charset="0"/>
              </a:rPr>
              <a:t>data can be generated </a:t>
            </a:r>
            <a:r>
              <a:rPr lang="en-US" sz="2000" dirty="0" smtClean="0">
                <a:latin typeface="Arial Narrow" panose="020B0606020202030204" pitchFamily="34" charset="0"/>
              </a:rPr>
              <a:t>from experiments, surveys and </a:t>
            </a:r>
            <a:r>
              <a:rPr lang="en-US" sz="2000" dirty="0" smtClean="0">
                <a:latin typeface="Arial Narrow" panose="020B0606020202030204" pitchFamily="34" charset="0"/>
              </a:rPr>
              <a:t>interviews, </a:t>
            </a:r>
            <a:r>
              <a:rPr lang="en-US" sz="2000" dirty="0" err="1" smtClean="0">
                <a:latin typeface="Arial Narrow" panose="020B0606020202030204" pitchFamily="34" charset="0"/>
              </a:rPr>
              <a:t>IoT</a:t>
            </a:r>
            <a:r>
              <a:rPr lang="en-US" sz="2000" dirty="0" smtClean="0">
                <a:latin typeface="Arial Narrow" panose="020B0606020202030204" pitchFamily="34" charset="0"/>
              </a:rPr>
              <a:t> </a:t>
            </a:r>
            <a:r>
              <a:rPr lang="en-US" sz="2000" dirty="0">
                <a:latin typeface="Arial Narrow" panose="020B0606020202030204" pitchFamily="34" charset="0"/>
              </a:rPr>
              <a:t>sensor </a:t>
            </a:r>
            <a:r>
              <a:rPr lang="en-US" sz="2000" dirty="0" smtClean="0">
                <a:latin typeface="Arial Narrow" panose="020B0606020202030204" pitchFamily="34" charset="0"/>
              </a:rPr>
              <a:t>data, drones etc. </a:t>
            </a:r>
            <a:endParaRPr lang="en-US" sz="2000" dirty="0" smtClean="0">
              <a:latin typeface="Arial Narrow" panose="020B0606020202030204" pitchFamily="34" charset="0"/>
            </a:endParaRP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9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56" y="3201761"/>
            <a:ext cx="1866900" cy="2457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779" y="3009763"/>
            <a:ext cx="2952750" cy="1552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06869" y="4638269"/>
            <a:ext cx="138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Ieee-dataport.org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10" y="3201761"/>
            <a:ext cx="2533007" cy="20620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3810" y="5268258"/>
            <a:ext cx="138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Duda</a:t>
            </a:r>
            <a:r>
              <a:rPr lang="en-US" sz="1200" dirty="0" smtClean="0">
                <a:solidFill>
                  <a:srgbClr val="FF0000"/>
                </a:solidFill>
              </a:rPr>
              <a:t>, 2016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850" y="4654413"/>
            <a:ext cx="3209925" cy="1428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326" y="6083163"/>
            <a:ext cx="138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Kdnuggets.com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4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6402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Types of quantitative data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428207"/>
            <a:ext cx="10018713" cy="4804050"/>
          </a:xfrm>
        </p:spPr>
        <p:txBody>
          <a:bodyPr anchor="t">
            <a:normAutofit/>
          </a:bodyPr>
          <a:lstStyle/>
          <a:p>
            <a:r>
              <a:rPr lang="en-ZA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descriptive, comparative or </a:t>
            </a:r>
            <a:r>
              <a:rPr lang="en-ZA" sz="20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relationship</a:t>
            </a:r>
          </a:p>
          <a:p>
            <a:r>
              <a:rPr lang="en-ZA" b="1" i="1" dirty="0">
                <a:solidFill>
                  <a:srgbClr val="0070C0"/>
                </a:solidFill>
                <a:latin typeface="Arial Black" panose="020B0A04020102020204" pitchFamily="34" charset="0"/>
              </a:rPr>
              <a:t>Descriptive data</a:t>
            </a:r>
            <a:r>
              <a:rPr lang="en-ZA" b="1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ZA" dirty="0">
                <a:solidFill>
                  <a:srgbClr val="0070C0"/>
                </a:solidFill>
              </a:rPr>
              <a:t>allows for </a:t>
            </a:r>
            <a:r>
              <a:rPr lang="en-ZA" i="1" u="sng" dirty="0">
                <a:solidFill>
                  <a:srgbClr val="0070C0"/>
                </a:solidFill>
              </a:rPr>
              <a:t>a variable </a:t>
            </a:r>
            <a:r>
              <a:rPr lang="en-ZA" dirty="0">
                <a:solidFill>
                  <a:srgbClr val="0070C0"/>
                </a:solidFill>
              </a:rPr>
              <a:t>of the sample to be quantified. </a:t>
            </a:r>
            <a:endParaRPr lang="en-ZA" dirty="0" smtClean="0">
              <a:solidFill>
                <a:srgbClr val="0070C0"/>
              </a:solidFill>
            </a:endParaRPr>
          </a:p>
          <a:p>
            <a:pPr lvl="1"/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What </a:t>
            </a:r>
            <a:r>
              <a:rPr lang="en-ZA" dirty="0">
                <a:solidFill>
                  <a:srgbClr val="C00000"/>
                </a:solidFill>
                <a:latin typeface="Arial Black" panose="020B0A04020102020204" pitchFamily="34" charset="0"/>
              </a:rPr>
              <a:t>is the </a:t>
            </a:r>
            <a:r>
              <a:rPr lang="en-ZA" u="sng" dirty="0">
                <a:solidFill>
                  <a:srgbClr val="C00000"/>
                </a:solidFill>
                <a:latin typeface="Arial Black" panose="020B0A04020102020204" pitchFamily="34" charset="0"/>
              </a:rPr>
              <a:t>average time spent in the computer lab</a:t>
            </a:r>
            <a:r>
              <a:rPr lang="en-ZA" dirty="0">
                <a:solidFill>
                  <a:srgbClr val="C00000"/>
                </a:solidFill>
                <a:latin typeface="Arial Black" panose="020B0A04020102020204" pitchFamily="34" charset="0"/>
              </a:rPr>
              <a:t> per semester for a first </a:t>
            </a:r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year IT student?</a:t>
            </a:r>
            <a:endParaRPr lang="en-ZA" sz="2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10</a:t>
            </a:fld>
            <a:endParaRPr lang="en-Z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2" y="3170191"/>
            <a:ext cx="5381625" cy="2524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1829" y="5772694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m</a:t>
            </a:r>
            <a:r>
              <a:rPr lang="en-US" sz="1200" dirty="0" err="1" smtClean="0">
                <a:solidFill>
                  <a:srgbClr val="FF0000"/>
                </a:solidFill>
              </a:rPr>
              <a:t>ymarket</a:t>
            </a:r>
            <a:r>
              <a:rPr lang="en-US" sz="1200" dirty="0" smtClean="0">
                <a:solidFill>
                  <a:srgbClr val="FF0000"/>
                </a:solidFill>
              </a:rPr>
              <a:t> research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4100" name="Picture 4" descr="Descriptive statistics of log data metrics (N=233) | Download Tab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210" y="3289644"/>
            <a:ext cx="2388239" cy="143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109385" y="4800966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Researchgate.com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549" y="4193166"/>
            <a:ext cx="3281231" cy="20390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9134" y="6232256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Scribber.com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1" name="Bent Arrow 10"/>
          <p:cNvSpPr/>
          <p:nvPr/>
        </p:nvSpPr>
        <p:spPr>
          <a:xfrm rot="5400000">
            <a:off x="9599689" y="3380317"/>
            <a:ext cx="836011" cy="107169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98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61851"/>
            <a:ext cx="10018713" cy="5268685"/>
          </a:xfrm>
        </p:spPr>
        <p:txBody>
          <a:bodyPr anchor="t">
            <a:normAutofit/>
          </a:bodyPr>
          <a:lstStyle/>
          <a:p>
            <a:r>
              <a:rPr lang="en-ZA" i="1" dirty="0" smtClean="0">
                <a:latin typeface="Arial Black" panose="020B0A04020102020204" pitchFamily="34" charset="0"/>
              </a:rPr>
              <a:t>Comparative </a:t>
            </a:r>
            <a:r>
              <a:rPr lang="en-ZA" i="1" dirty="0">
                <a:latin typeface="Arial Black" panose="020B0A04020102020204" pitchFamily="34" charset="0"/>
              </a:rPr>
              <a:t>data</a:t>
            </a:r>
            <a:r>
              <a:rPr lang="en-ZA" dirty="0">
                <a:latin typeface="Arial Black" panose="020B0A04020102020204" pitchFamily="34" charset="0"/>
              </a:rPr>
              <a:t> </a:t>
            </a:r>
            <a:r>
              <a:rPr lang="en-ZA" dirty="0"/>
              <a:t>allows for a comparison between two or more </a:t>
            </a:r>
            <a:r>
              <a:rPr lang="en-ZA" dirty="0" smtClean="0"/>
              <a:t>sample groups </a:t>
            </a:r>
            <a:r>
              <a:rPr lang="en-ZA" dirty="0"/>
              <a:t>based on one or more variables. </a:t>
            </a:r>
            <a:endParaRPr lang="en-ZA" dirty="0" smtClean="0"/>
          </a:p>
          <a:p>
            <a:pPr lvl="1"/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What </a:t>
            </a:r>
            <a:r>
              <a:rPr lang="en-ZA" dirty="0">
                <a:solidFill>
                  <a:srgbClr val="C00000"/>
                </a:solidFill>
                <a:latin typeface="Arial Black" panose="020B0A04020102020204" pitchFamily="34" charset="0"/>
              </a:rPr>
              <a:t>is the difference in the average time spent in the computer lab per semester between the first year and final year IT student?</a:t>
            </a:r>
          </a:p>
          <a:p>
            <a:pPr marL="0" indent="0">
              <a:buNone/>
            </a:pP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11</a:t>
            </a:fld>
            <a:endParaRPr lang="en-Z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742" y="2673949"/>
            <a:ext cx="5362697" cy="3558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10826" y="6232256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Researchgate.com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10" y="3352800"/>
            <a:ext cx="4143395" cy="227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96686"/>
            <a:ext cx="10018713" cy="6000205"/>
          </a:xfrm>
        </p:spPr>
        <p:txBody>
          <a:bodyPr anchor="t">
            <a:normAutofit/>
          </a:bodyPr>
          <a:lstStyle/>
          <a:p>
            <a:r>
              <a:rPr lang="en-ZA" i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Relationship </a:t>
            </a:r>
            <a:r>
              <a:rPr lang="en-ZA" i="1" dirty="0">
                <a:solidFill>
                  <a:srgbClr val="7030A0"/>
                </a:solidFill>
                <a:latin typeface="Arial Black" panose="020B0A04020102020204" pitchFamily="34" charset="0"/>
              </a:rPr>
              <a:t>data</a:t>
            </a:r>
            <a:r>
              <a:rPr lang="en-ZA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ZA" dirty="0">
                <a:solidFill>
                  <a:srgbClr val="7030A0"/>
                </a:solidFill>
              </a:rPr>
              <a:t>highlights trends, relationships and associations between two or more variables. </a:t>
            </a:r>
            <a:endParaRPr lang="en-ZA" dirty="0" smtClean="0">
              <a:solidFill>
                <a:srgbClr val="7030A0"/>
              </a:solidFill>
            </a:endParaRPr>
          </a:p>
          <a:p>
            <a:pPr lvl="1"/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What </a:t>
            </a:r>
            <a:r>
              <a:rPr lang="en-ZA" dirty="0">
                <a:solidFill>
                  <a:srgbClr val="C00000"/>
                </a:solidFill>
                <a:latin typeface="Arial Black" panose="020B0A04020102020204" pitchFamily="34" charset="0"/>
              </a:rPr>
              <a:t>is the relationship between time spent in the computer laboratory </a:t>
            </a:r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(X) </a:t>
            </a:r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and </a:t>
            </a:r>
            <a:r>
              <a:rPr lang="en-ZA" dirty="0">
                <a:solidFill>
                  <a:srgbClr val="C00000"/>
                </a:solidFill>
                <a:latin typeface="Arial Black" panose="020B0A04020102020204" pitchFamily="34" charset="0"/>
              </a:rPr>
              <a:t>assessment </a:t>
            </a:r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marks </a:t>
            </a:r>
            <a:r>
              <a:rPr lang="en-ZA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(Y)?</a:t>
            </a:r>
            <a:endParaRPr lang="en-ZA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12</a:t>
            </a:fld>
            <a:endParaRPr lang="en-Z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2349" b="12230"/>
          <a:stretch/>
        </p:blipFill>
        <p:spPr>
          <a:xfrm>
            <a:off x="872236" y="3218943"/>
            <a:ext cx="4550421" cy="19439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83502" y="5791408"/>
            <a:ext cx="12306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study.com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663" b="12669"/>
          <a:stretch/>
        </p:blipFill>
        <p:spPr>
          <a:xfrm>
            <a:off x="6544061" y="3895573"/>
            <a:ext cx="4683378" cy="2316018"/>
          </a:xfrm>
          <a:prstGeom prst="rect">
            <a:avLst/>
          </a:prstGeom>
        </p:spPr>
      </p:pic>
      <p:sp>
        <p:nvSpPr>
          <p:cNvPr id="9" name="Rectangular Callout 8"/>
          <p:cNvSpPr/>
          <p:nvPr/>
        </p:nvSpPr>
        <p:spPr>
          <a:xfrm>
            <a:off x="6948708" y="2782388"/>
            <a:ext cx="1440872" cy="91440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Strong relationship</a:t>
            </a:r>
            <a:endParaRPr lang="en-ZA" dirty="0"/>
          </a:p>
        </p:txBody>
      </p:sp>
      <p:sp>
        <p:nvSpPr>
          <p:cNvPr id="10" name="Rectangular Callout 9"/>
          <p:cNvSpPr/>
          <p:nvPr/>
        </p:nvSpPr>
        <p:spPr>
          <a:xfrm>
            <a:off x="9510983" y="2170545"/>
            <a:ext cx="1992039" cy="1526243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lang="en-US" dirty="0" smtClean="0"/>
              <a:t>eak relationship therefore, Y has little impact on X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889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14425"/>
          </a:xfrm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Qualitative data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14551"/>
            <a:ext cx="10018713" cy="3676650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Collected from a small group of participants</a:t>
            </a:r>
          </a:p>
          <a:p>
            <a:pPr lvl="1"/>
            <a:r>
              <a:rPr lang="en-US" sz="1600" dirty="0" smtClean="0">
                <a:latin typeface="Arial Narrow" panose="020B0606020202030204" pitchFamily="34" charset="0"/>
              </a:rPr>
              <a:t>10 to 15</a:t>
            </a:r>
          </a:p>
          <a:p>
            <a:r>
              <a:rPr lang="en-US" sz="2000" dirty="0">
                <a:latin typeface="Arial Narrow" panose="020B0606020202030204" pitchFamily="34" charset="0"/>
              </a:rPr>
              <a:t>in-depth and highly </a:t>
            </a:r>
            <a:r>
              <a:rPr lang="en-US" sz="2000" dirty="0" smtClean="0">
                <a:latin typeface="Arial Narrow" panose="020B0606020202030204" pitchFamily="34" charset="0"/>
              </a:rPr>
              <a:t>detailed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Aims </a:t>
            </a:r>
            <a:r>
              <a:rPr lang="en-US" sz="2000" dirty="0">
                <a:latin typeface="Arial Narrow" panose="020B0606020202030204" pitchFamily="34" charset="0"/>
              </a:rPr>
              <a:t>to understand </a:t>
            </a:r>
            <a:r>
              <a:rPr lang="en-US" sz="2000" dirty="0" smtClean="0">
                <a:latin typeface="Arial Narrow" panose="020B0606020202030204" pitchFamily="34" charset="0"/>
              </a:rPr>
              <a:t>behaviors, </a:t>
            </a:r>
            <a:r>
              <a:rPr lang="en-US" sz="2000" dirty="0">
                <a:latin typeface="Arial Narrow" panose="020B0606020202030204" pitchFamily="34" charset="0"/>
              </a:rPr>
              <a:t>motivations and feelings of </a:t>
            </a:r>
            <a:r>
              <a:rPr lang="en-US" sz="2000" dirty="0" smtClean="0">
                <a:latin typeface="Arial Narrow" panose="020B0606020202030204" pitchFamily="34" charset="0"/>
              </a:rPr>
              <a:t>participants</a:t>
            </a:r>
          </a:p>
          <a:p>
            <a:pPr lvl="1"/>
            <a:r>
              <a:rPr lang="en-US" sz="1600" dirty="0" smtClean="0">
                <a:latin typeface="Arial Narrow" panose="020B0606020202030204" pitchFamily="34" charset="0"/>
              </a:rPr>
              <a:t>E.g. rate the </a:t>
            </a:r>
            <a:r>
              <a:rPr lang="en-US" sz="16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ease of use </a:t>
            </a:r>
            <a:r>
              <a:rPr lang="en-US" sz="1600" dirty="0" smtClean="0">
                <a:latin typeface="Arial Narrow" panose="020B0606020202030204" pitchFamily="34" charset="0"/>
              </a:rPr>
              <a:t>of the </a:t>
            </a:r>
            <a:r>
              <a:rPr lang="en-US" sz="1600" dirty="0" err="1" smtClean="0">
                <a:latin typeface="Arial Narrow" panose="020B0606020202030204" pitchFamily="34" charset="0"/>
              </a:rPr>
              <a:t>Chatbot</a:t>
            </a:r>
            <a:r>
              <a:rPr lang="en-US" sz="1600" dirty="0" smtClean="0">
                <a:latin typeface="Arial Narrow" panose="020B0606020202030204" pitchFamily="34" charset="0"/>
              </a:rPr>
              <a:t> on the university website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Interviews</a:t>
            </a:r>
            <a:r>
              <a:rPr lang="en-US" sz="2000" dirty="0">
                <a:latin typeface="Arial Narrow" panose="020B0606020202030204" pitchFamily="34" charset="0"/>
              </a:rPr>
              <a:t>, focus groups, observations and expert </a:t>
            </a:r>
            <a:r>
              <a:rPr lang="en-US" sz="2000" dirty="0" smtClean="0">
                <a:latin typeface="Arial Narrow" panose="020B0606020202030204" pitchFamily="34" charset="0"/>
              </a:rPr>
              <a:t>opinion</a:t>
            </a:r>
          </a:p>
          <a:p>
            <a:pPr lvl="1"/>
            <a:r>
              <a:rPr lang="en-US" sz="1600" dirty="0" smtClean="0">
                <a:latin typeface="Arial Narrow" panose="020B0606020202030204" pitchFamily="34" charset="0"/>
              </a:rPr>
              <a:t>Much closer interaction and involvement with the research</a:t>
            </a:r>
            <a:endParaRPr lang="en-US" sz="1600" dirty="0">
              <a:latin typeface="Arial Narrow" panose="020B0606020202030204" pitchFamily="34" charset="0"/>
            </a:endParaRPr>
          </a:p>
          <a:p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13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036" y="1461222"/>
            <a:ext cx="3468543" cy="2081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67671" y="3579675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QuestionPro.com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661" y="4489181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0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14400"/>
          </a:xfrm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Survey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14513"/>
            <a:ext cx="10018713" cy="3976687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A survey is intended to collect data from a large sample of </a:t>
            </a:r>
            <a:r>
              <a:rPr lang="en-US" sz="2000" dirty="0" smtClean="0">
                <a:latin typeface="Arial Narrow" panose="020B0606020202030204" pitchFamily="34" charset="0"/>
              </a:rPr>
              <a:t>participants - </a:t>
            </a:r>
            <a:r>
              <a:rPr lang="en-US" sz="20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quantitative</a:t>
            </a:r>
            <a:r>
              <a:rPr lang="en-US" sz="2000" dirty="0" smtClean="0">
                <a:latin typeface="Arial Narrow" panose="020B0606020202030204" pitchFamily="34" charset="0"/>
              </a:rPr>
              <a:t>.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Questionnaires are central to the survey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Online tool support for developing and administering surveys</a:t>
            </a:r>
          </a:p>
          <a:p>
            <a:pPr lvl="1"/>
            <a:r>
              <a:rPr lang="en-ZA" sz="1600" dirty="0" err="1" smtClean="0">
                <a:latin typeface="Arial Narrow" panose="020B0606020202030204" pitchFamily="34" charset="0"/>
              </a:rPr>
              <a:t>SoGoSurvey</a:t>
            </a:r>
            <a:endParaRPr lang="en-ZA" sz="1600" dirty="0">
              <a:latin typeface="Arial Narrow" panose="020B0606020202030204" pitchFamily="34" charset="0"/>
            </a:endParaRPr>
          </a:p>
          <a:p>
            <a:pPr lvl="1"/>
            <a:r>
              <a:rPr lang="en-ZA" sz="1600" dirty="0" err="1" smtClean="0">
                <a:latin typeface="Arial Narrow" panose="020B0606020202030204" pitchFamily="34" charset="0"/>
              </a:rPr>
              <a:t>QuestionPro</a:t>
            </a:r>
            <a:endParaRPr lang="en-ZA" sz="1600" dirty="0">
              <a:latin typeface="Arial Narrow" panose="020B0606020202030204" pitchFamily="34" charset="0"/>
            </a:endParaRPr>
          </a:p>
          <a:p>
            <a:pPr lvl="1"/>
            <a:r>
              <a:rPr lang="en-ZA" sz="1600" dirty="0" err="1" smtClean="0">
                <a:latin typeface="Arial Narrow" panose="020B0606020202030204" pitchFamily="34" charset="0"/>
              </a:rPr>
              <a:t>Surveymonkey</a:t>
            </a:r>
            <a:endParaRPr lang="en-ZA" sz="1600" dirty="0">
              <a:latin typeface="Arial Narrow" panose="020B0606020202030204" pitchFamily="34" charset="0"/>
            </a:endParaRPr>
          </a:p>
          <a:p>
            <a:pPr lvl="1"/>
            <a:r>
              <a:rPr lang="en-ZA" sz="1600" dirty="0" smtClean="0">
                <a:latin typeface="Arial Narrow" panose="020B0606020202030204" pitchFamily="34" charset="0"/>
              </a:rPr>
              <a:t>Google </a:t>
            </a:r>
            <a:r>
              <a:rPr lang="en-ZA" sz="1600" dirty="0">
                <a:latin typeface="Arial Narrow" panose="020B0606020202030204" pitchFamily="34" charset="0"/>
              </a:rPr>
              <a:t>forms</a:t>
            </a:r>
          </a:p>
          <a:p>
            <a:pPr lvl="1"/>
            <a:r>
              <a:rPr lang="en-ZA" sz="1600" dirty="0" smtClean="0">
                <a:latin typeface="Arial Narrow" panose="020B0606020202030204" pitchFamily="34" charset="0"/>
              </a:rPr>
              <a:t>Survey </a:t>
            </a:r>
            <a:r>
              <a:rPr lang="en-ZA" sz="1600" dirty="0">
                <a:latin typeface="Arial Narrow" panose="020B0606020202030204" pitchFamily="34" charset="0"/>
              </a:rPr>
              <a:t>planet</a:t>
            </a:r>
          </a:p>
          <a:p>
            <a:pPr lvl="1"/>
            <a:endParaRPr lang="en-ZA" sz="16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14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98" y="2757353"/>
            <a:ext cx="2333625" cy="1952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78" y="4709978"/>
            <a:ext cx="3095625" cy="1476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95890" y="6186353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Snapsurvey.com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00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292" y="248373"/>
            <a:ext cx="10018713" cy="914400"/>
          </a:xfrm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Developing the survey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474" y="1771651"/>
            <a:ext cx="5754866" cy="4019550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Ask if </a:t>
            </a:r>
            <a:r>
              <a:rPr lang="en-US" sz="2000" dirty="0" smtClean="0">
                <a:latin typeface="Arial Narrow" panose="020B0606020202030204" pitchFamily="34" charset="0"/>
              </a:rPr>
              <a:t>the </a:t>
            </a:r>
            <a:r>
              <a:rPr lang="en-US" sz="2000" i="1" dirty="0" smtClean="0">
                <a:latin typeface="Arial Narrow" panose="020B0606020202030204" pitchFamily="34" charset="0"/>
              </a:rPr>
              <a:t>s</a:t>
            </a:r>
            <a:r>
              <a:rPr lang="en-US" sz="2000" i="1" dirty="0" smtClean="0">
                <a:latin typeface="Arial Narrow" panose="020B0606020202030204" pitchFamily="34" charset="0"/>
              </a:rPr>
              <a:t>urvey </a:t>
            </a:r>
            <a:r>
              <a:rPr lang="en-US" sz="2000" dirty="0" smtClean="0">
                <a:latin typeface="Arial Narrow" panose="020B0606020202030204" pitchFamily="34" charset="0"/>
              </a:rPr>
              <a:t>is the best suited strategy for the research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Begin with a literature review of the area of concern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For example, should the research aim </a:t>
            </a:r>
            <a:r>
              <a:rPr lang="en-US" sz="2000" b="1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to determine the </a:t>
            </a:r>
            <a:r>
              <a:rPr lang="en-US" sz="2000" b="1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most important SE factors </a:t>
            </a:r>
            <a:r>
              <a:rPr lang="en-US" sz="2000" b="1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for </a:t>
            </a:r>
            <a:r>
              <a:rPr lang="en-US" sz="2000" b="1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online learning platform </a:t>
            </a:r>
            <a:r>
              <a:rPr lang="en-US" sz="2000" b="1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implementation</a:t>
            </a:r>
            <a:r>
              <a:rPr lang="en-US" sz="2000" dirty="0" smtClean="0">
                <a:latin typeface="Arial Narrow" panose="020B0606020202030204" pitchFamily="34" charset="0"/>
              </a:rPr>
              <a:t>, then the literature review </a:t>
            </a:r>
            <a:r>
              <a:rPr lang="en-US" sz="2000" dirty="0" smtClean="0">
                <a:latin typeface="Arial Narrow" panose="020B0606020202030204" pitchFamily="34" charset="0"/>
              </a:rPr>
              <a:t>could first </a:t>
            </a:r>
            <a:r>
              <a:rPr lang="en-US" sz="2000" dirty="0" smtClean="0">
                <a:latin typeface="Arial Narrow" panose="020B0606020202030204" pitchFamily="34" charset="0"/>
              </a:rPr>
              <a:t>to identify the key knowledge areas e.g. Cost, Project Management practices, management support and </a:t>
            </a:r>
            <a:r>
              <a:rPr lang="en-US" sz="2000" dirty="0" smtClean="0">
                <a:latin typeface="Arial Narrow" panose="020B0606020202030204" pitchFamily="34" charset="0"/>
              </a:rPr>
              <a:t>infrastructure.</a:t>
            </a:r>
            <a:endParaRPr lang="en-US" sz="2000" dirty="0" smtClean="0">
              <a:latin typeface="Arial Narrow" panose="020B0606020202030204" pitchFamily="34" charset="0"/>
            </a:endParaRPr>
          </a:p>
          <a:p>
            <a:r>
              <a:rPr lang="en-US" sz="2000" dirty="0">
                <a:latin typeface="Arial Narrow" panose="020B0606020202030204" pitchFamily="34" charset="0"/>
              </a:rPr>
              <a:t>A</a:t>
            </a:r>
            <a:r>
              <a:rPr lang="en-US" sz="2000" dirty="0" smtClean="0">
                <a:latin typeface="Arial Narrow" panose="020B0606020202030204" pitchFamily="34" charset="0"/>
              </a:rPr>
              <a:t> survey could then be designed to collect data on these knowledge areas</a:t>
            </a: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15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181" y="1277387"/>
            <a:ext cx="3592945" cy="2540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3139" y="3073693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Snapsurvey.com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31" y="3817711"/>
            <a:ext cx="2009657" cy="2844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96670" y="6178250"/>
            <a:ext cx="1759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Slideshare.com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24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Basic steps in conducting a survey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Determine the data that is needed from the sample/participants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Design the survey – think on the question designs and/or types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Use online tool to develop the survey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Pilot test the survey </a:t>
            </a: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058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17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0240" b="5623"/>
          <a:stretch/>
        </p:blipFill>
        <p:spPr>
          <a:xfrm>
            <a:off x="1762126" y="176212"/>
            <a:ext cx="4244252" cy="6043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14850" y="6219826"/>
            <a:ext cx="141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Sadgir</a:t>
            </a:r>
            <a:r>
              <a:rPr lang="en-US" dirty="0" smtClean="0">
                <a:solidFill>
                  <a:srgbClr val="C00000"/>
                </a:solidFill>
              </a:rPr>
              <a:t>, 2017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21117" b="12514"/>
          <a:stretch/>
        </p:blipFill>
        <p:spPr>
          <a:xfrm>
            <a:off x="6006378" y="1118116"/>
            <a:ext cx="6016987" cy="3543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04156" y="4476750"/>
            <a:ext cx="141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Tjitra</a:t>
            </a:r>
            <a:r>
              <a:rPr lang="en-US" dirty="0" smtClean="0">
                <a:solidFill>
                  <a:srgbClr val="C00000"/>
                </a:solidFill>
              </a:rPr>
              <a:t>, 2011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632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91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Question types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1752601"/>
            <a:ext cx="4895055" cy="4038600"/>
          </a:xfrm>
        </p:spPr>
        <p:txBody>
          <a:bodyPr anchor="t">
            <a:normAutofit lnSpcReduction="10000"/>
          </a:bodyPr>
          <a:lstStyle/>
          <a:p>
            <a:pPr algn="just"/>
            <a:r>
              <a:rPr lang="en-GB" sz="2000" i="1" dirty="0">
                <a:solidFill>
                  <a:srgbClr val="C00000"/>
                </a:solidFill>
              </a:rPr>
              <a:t>Open questions</a:t>
            </a:r>
            <a:r>
              <a:rPr lang="en-GB" sz="2000" dirty="0">
                <a:solidFill>
                  <a:srgbClr val="C00000"/>
                </a:solidFill>
              </a:rPr>
              <a:t> </a:t>
            </a:r>
            <a:r>
              <a:rPr lang="en-GB" sz="2000" dirty="0" smtClean="0"/>
              <a:t>allow </a:t>
            </a:r>
            <a:r>
              <a:rPr lang="en-GB" sz="2000" dirty="0"/>
              <a:t>the participant any response in a blank space. </a:t>
            </a:r>
            <a:endParaRPr lang="en-GB" sz="2000" dirty="0" smtClean="0"/>
          </a:p>
          <a:p>
            <a:pPr lvl="1" algn="just"/>
            <a:r>
              <a:rPr lang="en-GB" dirty="0" smtClean="0">
                <a:latin typeface="Arial Rounded MT Bold" panose="020F0704030504030204" pitchFamily="34" charset="0"/>
              </a:rPr>
              <a:t>Ask this type of question when exploring</a:t>
            </a:r>
            <a:endParaRPr lang="en-GB" dirty="0" smtClean="0">
              <a:latin typeface="Arial Rounded MT Bold" panose="020F0704030504030204" pitchFamily="34" charset="0"/>
            </a:endParaRPr>
          </a:p>
          <a:p>
            <a:endParaRPr lang="en-GB" i="1" dirty="0" smtClean="0"/>
          </a:p>
          <a:p>
            <a:pPr marL="0" indent="0">
              <a:buNone/>
            </a:pPr>
            <a:endParaRPr lang="en-GB" i="1" dirty="0"/>
          </a:p>
          <a:p>
            <a:pPr algn="just"/>
            <a:r>
              <a:rPr lang="en-GB" sz="2000" i="1" dirty="0" smtClean="0">
                <a:solidFill>
                  <a:srgbClr val="C00000"/>
                </a:solidFill>
              </a:rPr>
              <a:t>Closed </a:t>
            </a:r>
            <a:r>
              <a:rPr lang="en-GB" sz="2000" i="1" dirty="0">
                <a:solidFill>
                  <a:srgbClr val="C00000"/>
                </a:solidFill>
              </a:rPr>
              <a:t>questions</a:t>
            </a:r>
            <a:r>
              <a:rPr lang="en-GB" sz="2000" dirty="0">
                <a:solidFill>
                  <a:srgbClr val="C00000"/>
                </a:solidFill>
              </a:rPr>
              <a:t> </a:t>
            </a:r>
            <a:r>
              <a:rPr lang="en-GB" sz="2000" dirty="0"/>
              <a:t>force the participant to select a response from a range of predefined responses. </a:t>
            </a:r>
            <a:endParaRPr lang="en-GB" sz="2000" dirty="0" smtClean="0"/>
          </a:p>
          <a:p>
            <a:pPr lvl="1" algn="just"/>
            <a:r>
              <a:rPr lang="en-GB" dirty="0" smtClean="0">
                <a:latin typeface="Arial Rounded MT Bold" panose="020F0704030504030204" pitchFamily="34" charset="0"/>
              </a:rPr>
              <a:t>Ask this type of question when confirming or trying to determine a relationship between variables.</a:t>
            </a:r>
            <a:r>
              <a:rPr lang="en-GB" dirty="0" smtClean="0">
                <a:latin typeface="Arial Rounded MT Bold" panose="020F0704030504030204" pitchFamily="34" charset="0"/>
              </a:rPr>
              <a:t> </a:t>
            </a:r>
            <a:endParaRPr lang="en-ZA" dirty="0">
              <a:latin typeface="Arial Rounded MT Bold" panose="020F0704030504030204" pitchFamily="34" charset="0"/>
            </a:endParaRPr>
          </a:p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18</a:t>
            </a:fld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6661388" y="5883275"/>
            <a:ext cx="191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Chattermill</a:t>
            </a:r>
            <a:r>
              <a:rPr lang="en-US" dirty="0" smtClean="0">
                <a:solidFill>
                  <a:srgbClr val="C00000"/>
                </a:solidFill>
              </a:rPr>
              <a:t>, 2018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61388" y="1752600"/>
            <a:ext cx="4787423" cy="40386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766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945"/>
    </mc:Choice>
    <mc:Fallback xmlns="">
      <p:transition spd="slow" advTm="42945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429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Types of questions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19</a:t>
            </a:fld>
            <a:endParaRPr lang="en-ZA"/>
          </a:p>
        </p:txBody>
      </p:sp>
      <p:pic>
        <p:nvPicPr>
          <p:cNvPr id="6" name="Picture 5" descr="https://socialresearchmethods.net/kb/Assets/images/quesfilt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1824989"/>
            <a:ext cx="5692140" cy="2904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32800" y="1985963"/>
            <a:ext cx="27946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Dichotomous 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err="1" smtClean="0">
                <a:solidFill>
                  <a:srgbClr val="C00000"/>
                </a:solidFill>
              </a:rPr>
              <a:t>MQC</a:t>
            </a:r>
            <a:endParaRPr lang="en-ZA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03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20</a:t>
            </a:fld>
            <a:endParaRPr lang="en-ZA"/>
          </a:p>
        </p:txBody>
      </p:sp>
      <p:pic>
        <p:nvPicPr>
          <p:cNvPr id="6" name="Picture 5" descr="https://www.questionpro.com/blog/wp-content/uploads/2016/03/Fitness-Tracker-Survey_Rank-Order1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46"/>
          <a:stretch/>
        </p:blipFill>
        <p:spPr bwMode="auto">
          <a:xfrm>
            <a:off x="2572279" y="1357629"/>
            <a:ext cx="7660957" cy="2285683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233236" y="2500470"/>
            <a:ext cx="159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Ranked order</a:t>
            </a:r>
            <a:endParaRPr lang="en-ZA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56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21</a:t>
            </a:fld>
            <a:endParaRPr lang="en-ZA"/>
          </a:p>
        </p:txBody>
      </p:sp>
      <p:pic>
        <p:nvPicPr>
          <p:cNvPr id="4" name="Picture 3" descr="https://cdn.smassets.net/assets/cms/cc/uploads/nps-question-survey-question-types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99" y="1201419"/>
            <a:ext cx="6251257" cy="1984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869060" y="2009099"/>
            <a:ext cx="146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Rating scale</a:t>
            </a:r>
            <a:endParaRPr lang="en-ZA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7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85813"/>
          </a:xfrm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Focus group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743075"/>
            <a:ext cx="10018713" cy="4048125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Brings together a small group of experts - qualitative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These experts are able to comment on the research artefact, provide data on a topic or artefact 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It is through interaction that responses are influenced by others which lead to more robust data collection</a:t>
            </a:r>
          </a:p>
          <a:p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22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648" y="3767137"/>
            <a:ext cx="2619375" cy="1743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32" y="4638674"/>
            <a:ext cx="2381250" cy="1924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9304"/>
          <a:stretch/>
        </p:blipFill>
        <p:spPr>
          <a:xfrm>
            <a:off x="1380652" y="3767137"/>
            <a:ext cx="3624014" cy="24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2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316345"/>
            <a:ext cx="10018713" cy="728663"/>
          </a:xfrm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Types of focus groups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63783"/>
            <a:ext cx="4879545" cy="5440218"/>
          </a:xfrm>
        </p:spPr>
        <p:txBody>
          <a:bodyPr anchor="t">
            <a:normAutofit fontScale="85000" lnSpcReduction="20000"/>
          </a:bodyPr>
          <a:lstStyle/>
          <a:p>
            <a:pPr lvl="0"/>
            <a:r>
              <a:rPr lang="en-ZA" b="1" dirty="0" smtClean="0">
                <a:solidFill>
                  <a:srgbClr val="C00000"/>
                </a:solidFill>
              </a:rPr>
              <a:t>Two way </a:t>
            </a:r>
            <a:r>
              <a:rPr lang="en-ZA" dirty="0" smtClean="0"/>
              <a:t>- </a:t>
            </a:r>
            <a:r>
              <a:rPr lang="en-ZA" dirty="0"/>
              <a:t>one focus group watches another focus group and discusses the observed interactions and conclusion</a:t>
            </a:r>
          </a:p>
          <a:p>
            <a:pPr lvl="0"/>
            <a:r>
              <a:rPr lang="en-ZA" b="1" dirty="0">
                <a:solidFill>
                  <a:srgbClr val="C00000"/>
                </a:solidFill>
              </a:rPr>
              <a:t>Dual moderator </a:t>
            </a:r>
            <a:r>
              <a:rPr lang="en-ZA" dirty="0" smtClean="0"/>
              <a:t>- </a:t>
            </a:r>
            <a:r>
              <a:rPr lang="en-ZA" dirty="0"/>
              <a:t>one moderator ensures the session progresses smoothly, while another ensures that all the topics are covered</a:t>
            </a:r>
          </a:p>
          <a:p>
            <a:pPr lvl="0"/>
            <a:r>
              <a:rPr lang="en-ZA" b="1" dirty="0">
                <a:solidFill>
                  <a:srgbClr val="C00000"/>
                </a:solidFill>
              </a:rPr>
              <a:t>Duelling moderator </a:t>
            </a:r>
            <a:r>
              <a:rPr lang="en-ZA" dirty="0" smtClean="0"/>
              <a:t>- </a:t>
            </a:r>
            <a:r>
              <a:rPr lang="en-ZA" dirty="0"/>
              <a:t>two moderators deliberately take opposite sides on the issue under discussion</a:t>
            </a:r>
          </a:p>
          <a:p>
            <a:pPr lvl="0"/>
            <a:r>
              <a:rPr lang="en-ZA" b="1" dirty="0">
                <a:solidFill>
                  <a:srgbClr val="C00000"/>
                </a:solidFill>
              </a:rPr>
              <a:t>Respondent moderator </a:t>
            </a:r>
            <a:r>
              <a:rPr lang="en-ZA" dirty="0" smtClean="0"/>
              <a:t>- </a:t>
            </a:r>
            <a:r>
              <a:rPr lang="en-ZA" dirty="0"/>
              <a:t>one </a:t>
            </a:r>
            <a:r>
              <a:rPr lang="en-ZA" dirty="0" smtClean="0"/>
              <a:t>of </a:t>
            </a:r>
            <a:r>
              <a:rPr lang="en-ZA" dirty="0"/>
              <a:t>the </a:t>
            </a:r>
            <a:r>
              <a:rPr lang="en-ZA" dirty="0" smtClean="0"/>
              <a:t>participants is </a:t>
            </a:r>
            <a:r>
              <a:rPr lang="en-ZA" dirty="0"/>
              <a:t>asked to act as the moderator temporarily</a:t>
            </a:r>
          </a:p>
          <a:p>
            <a:pPr lvl="0"/>
            <a:r>
              <a:rPr lang="en-ZA" b="1" dirty="0">
                <a:solidFill>
                  <a:srgbClr val="C00000"/>
                </a:solidFill>
              </a:rPr>
              <a:t>Client participant </a:t>
            </a:r>
            <a:r>
              <a:rPr lang="en-ZA" dirty="0" smtClean="0"/>
              <a:t>- </a:t>
            </a:r>
            <a:r>
              <a:rPr lang="en-ZA" dirty="0"/>
              <a:t>one or more client representatives participate in the discussion, either covertly or overtly</a:t>
            </a:r>
          </a:p>
          <a:p>
            <a:pPr lvl="0"/>
            <a:r>
              <a:rPr lang="en-ZA" b="1" dirty="0">
                <a:solidFill>
                  <a:srgbClr val="C00000"/>
                </a:solidFill>
              </a:rPr>
              <a:t>Mini</a:t>
            </a:r>
            <a:r>
              <a:rPr lang="en-ZA" dirty="0"/>
              <a:t> focus groups - groups are composed of </a:t>
            </a:r>
            <a:r>
              <a:rPr lang="en-ZA" dirty="0" smtClean="0"/>
              <a:t>4 to 5 </a:t>
            </a:r>
            <a:r>
              <a:rPr lang="en-ZA" dirty="0"/>
              <a:t>members rather than 6 to </a:t>
            </a:r>
            <a:r>
              <a:rPr lang="en-ZA" dirty="0" smtClean="0"/>
              <a:t>12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23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239" y="1021360"/>
            <a:ext cx="2762250" cy="1657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58715" y="2718068"/>
            <a:ext cx="1419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C00000"/>
                </a:solidFill>
              </a:rPr>
              <a:t>Wordpress.com</a:t>
            </a:r>
            <a:endParaRPr lang="en-ZA" sz="1400" dirty="0">
              <a:solidFill>
                <a:srgbClr val="C00000"/>
              </a:solidFill>
            </a:endParaRPr>
          </a:p>
        </p:txBody>
      </p:sp>
      <p:pic>
        <p:nvPicPr>
          <p:cNvPr id="6146" name="Picture 2" descr="The term Cockpit no longer applies to all airline Captain and Copilot crew  configurations. The new term Box Office is being co… | Female pilot, Flight  crew, Fema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751" y="3225799"/>
            <a:ext cx="214312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16011" b="20165"/>
          <a:stretch/>
        </p:blipFill>
        <p:spPr>
          <a:xfrm>
            <a:off x="6188783" y="2770413"/>
            <a:ext cx="3207668" cy="1505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16506" y="2496488"/>
            <a:ext cx="1419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C00000"/>
                </a:solidFill>
              </a:rPr>
              <a:t>alamy.com</a:t>
            </a:r>
            <a:endParaRPr lang="en-ZA" sz="1400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929" y="4421140"/>
            <a:ext cx="2619375" cy="1743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3526" y="6155525"/>
            <a:ext cx="1419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C00000"/>
                </a:solidFill>
              </a:rPr>
              <a:t>hexacta.com</a:t>
            </a:r>
            <a:endParaRPr lang="en-ZA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37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421342"/>
            <a:ext cx="10018713" cy="829234"/>
          </a:xfrm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Effective focus groups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1582269"/>
            <a:ext cx="10018713" cy="3713631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Plan in </a:t>
            </a:r>
            <a:r>
              <a:rPr lang="en-US" sz="2000" dirty="0" smtClean="0">
                <a:latin typeface="Arial Narrow" panose="020B0606020202030204" pitchFamily="34" charset="0"/>
              </a:rPr>
              <a:t>advance</a:t>
            </a:r>
          </a:p>
          <a:p>
            <a:pPr lvl="1"/>
            <a:r>
              <a:rPr lang="en-US" sz="1600" dirty="0" smtClean="0">
                <a:latin typeface="Arial Narrow" panose="020B0606020202030204" pitchFamily="34" charset="0"/>
              </a:rPr>
              <a:t>duration</a:t>
            </a:r>
            <a:r>
              <a:rPr lang="en-US" sz="1600" dirty="0" smtClean="0">
                <a:latin typeface="Arial Narrow" panose="020B0606020202030204" pitchFamily="34" charset="0"/>
              </a:rPr>
              <a:t>, virtual location, materials required prior to interaction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Determine the size </a:t>
            </a:r>
            <a:endParaRPr lang="en-US" sz="2000" dirty="0" smtClean="0">
              <a:latin typeface="Arial Narrow" panose="020B0606020202030204" pitchFamily="34" charset="0"/>
            </a:endParaRPr>
          </a:p>
          <a:p>
            <a:pPr lvl="1"/>
            <a:r>
              <a:rPr lang="en-US" sz="1600" dirty="0" smtClean="0">
                <a:latin typeface="Arial Narrow" panose="020B0606020202030204" pitchFamily="34" charset="0"/>
              </a:rPr>
              <a:t>small </a:t>
            </a:r>
            <a:r>
              <a:rPr lang="en-US" sz="1600" dirty="0" smtClean="0">
                <a:latin typeface="Arial Narrow" panose="020B0606020202030204" pitchFamily="34" charset="0"/>
              </a:rPr>
              <a:t>group to interact with </a:t>
            </a: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 smtClean="0">
                <a:latin typeface="Arial Narrow" panose="020B0606020202030204" pitchFamily="34" charset="0"/>
              </a:rPr>
              <a:t>artefact being developed </a:t>
            </a:r>
            <a:r>
              <a:rPr lang="en-US" sz="1600" dirty="0" smtClean="0">
                <a:latin typeface="Arial Narrow" panose="020B0606020202030204" pitchFamily="34" charset="0"/>
              </a:rPr>
              <a:t>or larger group for more </a:t>
            </a:r>
            <a:r>
              <a:rPr lang="en-US" sz="1600" dirty="0" smtClean="0">
                <a:latin typeface="Arial Narrow" panose="020B0606020202030204" pitchFamily="34" charset="0"/>
              </a:rPr>
              <a:t>data</a:t>
            </a:r>
            <a:endParaRPr lang="en-US" sz="1600" dirty="0" smtClean="0">
              <a:latin typeface="Arial Narrow" panose="020B0606020202030204" pitchFamily="34" charset="0"/>
            </a:endParaRPr>
          </a:p>
          <a:p>
            <a:r>
              <a:rPr lang="en-US" sz="2000" dirty="0" smtClean="0">
                <a:latin typeface="Arial Narrow" panose="020B0606020202030204" pitchFamily="34" charset="0"/>
              </a:rPr>
              <a:t>Carefully consider selection criteria for participants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Moderator should have good people skills</a:t>
            </a:r>
          </a:p>
          <a:p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24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8517"/>
          <a:stretch/>
        </p:blipFill>
        <p:spPr>
          <a:xfrm>
            <a:off x="7122806" y="3531825"/>
            <a:ext cx="3829050" cy="23353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65094" y="6049693"/>
            <a:ext cx="2544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</a:rPr>
              <a:t>The balance small business</a:t>
            </a:r>
            <a:endParaRPr lang="en-ZA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6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7273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602377"/>
            <a:ext cx="10018713" cy="4188823"/>
          </a:xfrm>
        </p:spPr>
        <p:txBody>
          <a:bodyPr anchor="t">
            <a:normAutofit/>
          </a:bodyPr>
          <a:lstStyle/>
          <a:p>
            <a:r>
              <a:rPr lang="en-US" sz="1800" dirty="0" smtClean="0">
                <a:latin typeface="Arial Narrow" panose="020B0606020202030204" pitchFamily="34" charset="0"/>
              </a:rPr>
              <a:t>A </a:t>
            </a:r>
            <a:r>
              <a:rPr lang="en-US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conceptual model </a:t>
            </a:r>
            <a:r>
              <a:rPr lang="en-US" sz="1800" dirty="0" smtClean="0">
                <a:latin typeface="Arial Narrow" panose="020B0606020202030204" pitchFamily="34" charset="0"/>
              </a:rPr>
              <a:t>is developed during </a:t>
            </a:r>
            <a:r>
              <a:rPr lang="en-US" sz="1800" dirty="0" smtClean="0">
                <a:latin typeface="Arial Narrow" panose="020B0606020202030204" pitchFamily="34" charset="0"/>
              </a:rPr>
              <a:t>the literature </a:t>
            </a:r>
            <a:r>
              <a:rPr lang="en-US" sz="1800" dirty="0" smtClean="0">
                <a:latin typeface="Arial Narrow" panose="020B0606020202030204" pitchFamily="34" charset="0"/>
              </a:rPr>
              <a:t>review for improved analysis of public e-service websites</a:t>
            </a:r>
          </a:p>
          <a:p>
            <a:r>
              <a:rPr lang="en-US" sz="1800" dirty="0" smtClean="0">
                <a:latin typeface="Arial Narrow" panose="020B0606020202030204" pitchFamily="34" charset="0"/>
              </a:rPr>
              <a:t>A focus group consists of software developers and engineers who have </a:t>
            </a:r>
            <a:r>
              <a:rPr lang="en-US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more than 10 years experience </a:t>
            </a:r>
            <a:r>
              <a:rPr lang="en-US" sz="1800" dirty="0" smtClean="0">
                <a:latin typeface="Arial Narrow" panose="020B0606020202030204" pitchFamily="34" charset="0"/>
              </a:rPr>
              <a:t>in e-service website projects</a:t>
            </a:r>
          </a:p>
          <a:p>
            <a:r>
              <a:rPr lang="en-US" sz="1800" dirty="0" smtClean="0">
                <a:latin typeface="Arial Narrow" panose="020B0606020202030204" pitchFamily="34" charset="0"/>
              </a:rPr>
              <a:t>The </a:t>
            </a:r>
            <a:r>
              <a:rPr lang="en-US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focus group interacts with the conceptual model and provides feedback </a:t>
            </a:r>
            <a:r>
              <a:rPr lang="en-US" sz="1800" dirty="0" smtClean="0">
                <a:latin typeface="Arial Narrow" panose="020B0606020202030204" pitchFamily="34" charset="0"/>
              </a:rPr>
              <a:t>through 3 iterations i.e. three different days one week apart.</a:t>
            </a:r>
          </a:p>
          <a:p>
            <a:r>
              <a:rPr lang="en-US" sz="1800" dirty="0">
                <a:latin typeface="Arial Narrow" panose="020B0606020202030204" pitchFamily="34" charset="0"/>
              </a:rPr>
              <a:t>The focus group has a case study consisting of specs, the focus group uses the model to design the website to the specs.  </a:t>
            </a:r>
            <a:endParaRPr lang="en-ZA" sz="1800" dirty="0">
              <a:latin typeface="Arial Narrow" panose="020B0606020202030204" pitchFamily="34" charset="0"/>
            </a:endParaRPr>
          </a:p>
          <a:p>
            <a:r>
              <a:rPr lang="en-US" sz="1800" dirty="0" smtClean="0">
                <a:latin typeface="Arial Narrow" panose="020B0606020202030204" pitchFamily="34" charset="0"/>
              </a:rPr>
              <a:t>After each iteration, </a:t>
            </a:r>
            <a:r>
              <a:rPr lang="en-US" sz="1800" dirty="0" smtClean="0">
                <a:solidFill>
                  <a:srgbClr val="C00000"/>
                </a:solidFill>
                <a:latin typeface="Arial Narrow" panose="020B0606020202030204" pitchFamily="34" charset="0"/>
              </a:rPr>
              <a:t>the model is revised </a:t>
            </a:r>
            <a:r>
              <a:rPr lang="en-US" sz="1800" dirty="0" smtClean="0">
                <a:latin typeface="Arial Narrow" panose="020B0606020202030204" pitchFamily="34" charset="0"/>
              </a:rPr>
              <a:t>based on feedback from the focus group.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66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4298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Factors for effective virtual focus groups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43089"/>
            <a:ext cx="10018713" cy="3948112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Consider </a:t>
            </a:r>
            <a:r>
              <a:rPr lang="en-US" sz="2000" dirty="0">
                <a:latin typeface="Arial Narrow" panose="020B0606020202030204" pitchFamily="34" charset="0"/>
              </a:rPr>
              <a:t>the access to ICT and the reliability of these systems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latin typeface="Arial Narrow" panose="020B0606020202030204" pitchFamily="34" charset="0"/>
              </a:rPr>
              <a:t>researcher needs to be well versed with the management and setup of these ICTs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Participants </a:t>
            </a:r>
            <a:r>
              <a:rPr lang="en-US" sz="2000" dirty="0">
                <a:latin typeface="Arial Narrow" panose="020B0606020202030204" pitchFamily="34" charset="0"/>
              </a:rPr>
              <a:t>must be allowed time to familiarize themselves with the platform and practice its usage. Video, chat, and virtual hand-raising.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Consider </a:t>
            </a:r>
            <a:r>
              <a:rPr lang="en-US" sz="2000" dirty="0">
                <a:latin typeface="Arial Narrow" panose="020B0606020202030204" pitchFamily="34" charset="0"/>
              </a:rPr>
              <a:t>the use of live camera feeds on the impact of responses and resource usage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What </a:t>
            </a:r>
            <a:r>
              <a:rPr lang="en-US" sz="2000" dirty="0">
                <a:latin typeface="Arial Narrow" panose="020B0606020202030204" pitchFamily="34" charset="0"/>
              </a:rPr>
              <a:t>is the impact of excluding certain experts due to their non-access to ITCs?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Will </a:t>
            </a:r>
            <a:r>
              <a:rPr lang="en-US" sz="2000" dirty="0">
                <a:latin typeface="Arial Narrow" panose="020B0606020202030204" pitchFamily="34" charset="0"/>
              </a:rPr>
              <a:t>the participants have access to a quiet space for the duration of the focus </a:t>
            </a:r>
            <a:r>
              <a:rPr lang="en-US" sz="2000" dirty="0" smtClean="0">
                <a:latin typeface="Arial Narrow" panose="020B0606020202030204" pitchFamily="34" charset="0"/>
              </a:rPr>
              <a:t>group</a:t>
            </a:r>
          </a:p>
          <a:p>
            <a:endParaRPr lang="en-US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																</a:t>
            </a:r>
            <a:r>
              <a:rPr lang="en-ZA" dirty="0" smtClean="0"/>
              <a:t>Muzzy </a:t>
            </a:r>
            <a:r>
              <a:rPr lang="en-ZA" dirty="0"/>
              <a:t>(2020)</a:t>
            </a:r>
            <a:endParaRPr lang="en-US" sz="1600" dirty="0" smtClean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679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0007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Online datasets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776144"/>
            <a:ext cx="10018713" cy="4090987"/>
          </a:xfrm>
        </p:spPr>
        <p:txBody>
          <a:bodyPr anchor="t">
            <a:norm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Many IT research projects make use of online datasets</a:t>
            </a:r>
          </a:p>
          <a:p>
            <a:r>
              <a:rPr lang="en-US" sz="2000" dirty="0" smtClean="0">
                <a:latin typeface="Arial Narrow" panose="020B0606020202030204" pitchFamily="34" charset="0"/>
              </a:rPr>
              <a:t>This avoids the time consuming and costly activities of collecting data, transcribing or tidying up data and ethics approval. </a:t>
            </a:r>
          </a:p>
          <a:p>
            <a:pPr marL="0" indent="0">
              <a:buNone/>
            </a:pPr>
            <a:endParaRPr lang="en-ZA" sz="20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721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024" y="428895"/>
            <a:ext cx="10018713" cy="5454379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 smtClean="0">
                <a:latin typeface="Arial Rounded MT Bold" panose="020F0704030504030204" pitchFamily="34" charset="0"/>
              </a:rPr>
              <a:t>Some Advantages</a:t>
            </a:r>
          </a:p>
          <a:p>
            <a:pPr marL="0" indent="0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Many available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Wide range of topical areas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Multi-regional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Extremely large volumes of data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Reduced time and financial resource usage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Avoid ethical processes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Can use multiple datasets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Validation via prior usage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Communities of practice associated with datasets</a:t>
            </a:r>
          </a:p>
          <a:p>
            <a:pPr marL="0" indent="0">
              <a:buNone/>
            </a:pPr>
            <a:endParaRPr lang="en-US" sz="20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28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814" y="232396"/>
            <a:ext cx="2619375" cy="1743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37973" b="17726"/>
          <a:stretch/>
        </p:blipFill>
        <p:spPr>
          <a:xfrm>
            <a:off x="6748406" y="2047203"/>
            <a:ext cx="5108190" cy="10344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774" y="3543611"/>
            <a:ext cx="1880080" cy="10563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105" y="3031685"/>
            <a:ext cx="1950918" cy="19509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2411" y="4793406"/>
            <a:ext cx="1611745" cy="161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2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88067"/>
            <a:ext cx="10018713" cy="3903133"/>
          </a:xfrm>
        </p:spPr>
        <p:txBody>
          <a:bodyPr anchor="t"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Read lecture note available on Moodle</a:t>
            </a:r>
          </a:p>
          <a:p>
            <a:pPr lvl="1"/>
            <a:r>
              <a:rPr lang="en-US" dirty="0" smtClean="0">
                <a:latin typeface="Arial Rounded MT Bold" panose="020F0704030504030204" pitchFamily="34" charset="0"/>
              </a:rPr>
              <a:t>Be sure to cover the Pros and Cons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Attempt tutorials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Feel free to consult with me – </a:t>
            </a:r>
            <a:r>
              <a:rPr lang="en-US" dirty="0" err="1" smtClean="0">
                <a:latin typeface="Arial Rounded MT Bold" panose="020F0704030504030204" pitchFamily="34" charset="0"/>
              </a:rPr>
              <a:t>alveens@dut.ac.za</a:t>
            </a:r>
            <a:endParaRPr lang="en-US" dirty="0" smtClean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39B4A-3334-40B8-B9D1-9FE2C92E888A}" type="slidenum">
              <a:rPr lang="en-ZA" smtClean="0"/>
              <a:t>29</a:t>
            </a:fld>
            <a:endParaRPr lang="en-Z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RESK401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851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33"/>
    </mc:Choice>
    <mc:Fallback xmlns="">
      <p:transition spd="slow" advTm="35433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17652</TotalTime>
  <Words>1215</Words>
  <Application>Microsoft Office PowerPoint</Application>
  <PresentationFormat>Widescreen</PresentationFormat>
  <Paragraphs>223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Black</vt:lpstr>
      <vt:lpstr>Arial Narrow</vt:lpstr>
      <vt:lpstr>Arial Rounded MT Bold</vt:lpstr>
      <vt:lpstr>Bahnschrift</vt:lpstr>
      <vt:lpstr>Calibri</vt:lpstr>
      <vt:lpstr>Corbel</vt:lpstr>
      <vt:lpstr>Parallax</vt:lpstr>
      <vt:lpstr>Data collection</vt:lpstr>
      <vt:lpstr>Content</vt:lpstr>
      <vt:lpstr>Introduction</vt:lpstr>
      <vt:lpstr>Types of data collection</vt:lpstr>
      <vt:lpstr>Quantitative</vt:lpstr>
      <vt:lpstr>Qualitative Data</vt:lpstr>
      <vt:lpstr>Quantitative data collection</vt:lpstr>
      <vt:lpstr>PowerPoint Presentation</vt:lpstr>
      <vt:lpstr>PowerPoint Presentation</vt:lpstr>
      <vt:lpstr>Types of quantitative data</vt:lpstr>
      <vt:lpstr>PowerPoint Presentation</vt:lpstr>
      <vt:lpstr>PowerPoint Presentation</vt:lpstr>
      <vt:lpstr>Qualitative data</vt:lpstr>
      <vt:lpstr>Survey</vt:lpstr>
      <vt:lpstr>Developing the survey</vt:lpstr>
      <vt:lpstr>Basic steps in conducting a survey</vt:lpstr>
      <vt:lpstr>PowerPoint Presentation</vt:lpstr>
      <vt:lpstr>Question types</vt:lpstr>
      <vt:lpstr>Types of questions</vt:lpstr>
      <vt:lpstr>PowerPoint Presentation</vt:lpstr>
      <vt:lpstr>PowerPoint Presentation</vt:lpstr>
      <vt:lpstr>Focus group</vt:lpstr>
      <vt:lpstr>Types of focus groups</vt:lpstr>
      <vt:lpstr>Effective focus groups</vt:lpstr>
      <vt:lpstr>Example</vt:lpstr>
      <vt:lpstr>Factors for effective virtual focus groups</vt:lpstr>
      <vt:lpstr>Online datasets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creator>Alveen Singh</dc:creator>
  <cp:lastModifiedBy>Alveen Singh</cp:lastModifiedBy>
  <cp:revision>141</cp:revision>
  <dcterms:created xsi:type="dcterms:W3CDTF">2020-05-29T07:02:27Z</dcterms:created>
  <dcterms:modified xsi:type="dcterms:W3CDTF">2022-04-19T07:41:04Z</dcterms:modified>
</cp:coreProperties>
</file>