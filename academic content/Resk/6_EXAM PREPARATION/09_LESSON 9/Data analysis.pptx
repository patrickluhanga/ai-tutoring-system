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0" r:id="rId5"/>
    <p:sldId id="261" r:id="rId6"/>
    <p:sldId id="262" r:id="rId7"/>
    <p:sldId id="263" r:id="rId8"/>
    <p:sldId id="264" r:id="rId9"/>
    <p:sldId id="266" r:id="rId10"/>
    <p:sldId id="291" r:id="rId11"/>
    <p:sldId id="267" r:id="rId12"/>
    <p:sldId id="268" r:id="rId13"/>
    <p:sldId id="276" r:id="rId14"/>
    <p:sldId id="269" r:id="rId15"/>
    <p:sldId id="270" r:id="rId16"/>
    <p:sldId id="292" r:id="rId17"/>
    <p:sldId id="293" r:id="rId18"/>
    <p:sldId id="294" r:id="rId19"/>
    <p:sldId id="295" r:id="rId20"/>
    <p:sldId id="296" r:id="rId21"/>
    <p:sldId id="271" r:id="rId22"/>
    <p:sldId id="272" r:id="rId23"/>
    <p:sldId id="273" r:id="rId24"/>
    <p:sldId id="274" r:id="rId25"/>
    <p:sldId id="275" r:id="rId26"/>
    <p:sldId id="277" r:id="rId27"/>
    <p:sldId id="284" r:id="rId28"/>
    <p:sldId id="278" r:id="rId29"/>
    <p:sldId id="279" r:id="rId30"/>
    <p:sldId id="285" r:id="rId31"/>
    <p:sldId id="286" r:id="rId32"/>
    <p:sldId id="287" r:id="rId33"/>
    <p:sldId id="280" r:id="rId34"/>
    <p:sldId id="281" r:id="rId35"/>
    <p:sldId id="282" r:id="rId36"/>
    <p:sldId id="288" r:id="rId37"/>
    <p:sldId id="289" r:id="rId38"/>
    <p:sldId id="290" r:id="rId39"/>
    <p:sldId id="283" r:id="rId40"/>
    <p:sldId id="265" r:id="rId41"/>
    <p:sldId id="257"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1B0B54A-B957-4FD9-B5E0-DE1B76ACACCE}" type="datetimeFigureOut">
              <a:rPr lang="en-ZA" smtClean="0"/>
              <a:t>03 May 2022</a:t>
            </a:fld>
            <a:endParaRPr lang="en-ZA"/>
          </a:p>
        </p:txBody>
      </p:sp>
      <p:sp>
        <p:nvSpPr>
          <p:cNvPr id="5" name="Footer Placeholder 4"/>
          <p:cNvSpPr>
            <a:spLocks noGrp="1"/>
          </p:cNvSpPr>
          <p:nvPr>
            <p:ph type="ftr" sz="quarter" idx="11"/>
          </p:nvPr>
        </p:nvSpPr>
        <p:spPr>
          <a:xfrm>
            <a:off x="5332412" y="5883275"/>
            <a:ext cx="4324044" cy="365125"/>
          </a:xfrm>
        </p:spPr>
        <p:txBody>
          <a:bodyPr/>
          <a:lstStyle/>
          <a:p>
            <a:endParaRPr lang="en-ZA"/>
          </a:p>
        </p:txBody>
      </p:sp>
      <p:sp>
        <p:nvSpPr>
          <p:cNvPr id="6" name="Slide Number Placeholder 5"/>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2508662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1B0B54A-B957-4FD9-B5E0-DE1B76ACACCE}" type="datetimeFigureOut">
              <a:rPr lang="en-ZA" smtClean="0"/>
              <a:t>03 May 2022</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a:xfrm>
            <a:off x="10951856" y="5867131"/>
            <a:ext cx="551167" cy="365125"/>
          </a:xfrm>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4193141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1B0B54A-B957-4FD9-B5E0-DE1B76ACACCE}" type="datetimeFigureOut">
              <a:rPr lang="en-ZA" smtClean="0"/>
              <a:t>03 May 2022</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436335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1B0B54A-B957-4FD9-B5E0-DE1B76ACACCE}" type="datetimeFigureOut">
              <a:rPr lang="en-ZA" smtClean="0"/>
              <a:t>03 May 2022</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2568141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1B0B54A-B957-4FD9-B5E0-DE1B76ACACCE}" type="datetimeFigureOut">
              <a:rPr lang="en-ZA" smtClean="0"/>
              <a:t>03 May 2022</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2657242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1B0B54A-B957-4FD9-B5E0-DE1B76ACACCE}" type="datetimeFigureOut">
              <a:rPr lang="en-ZA" smtClean="0"/>
              <a:t>03 May 2022</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3097860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B0B54A-B957-4FD9-B5E0-DE1B76ACACCE}" type="datetimeFigureOut">
              <a:rPr lang="en-ZA" smtClean="0"/>
              <a:t>03 May 2022</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2299011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1B0B54A-B957-4FD9-B5E0-DE1B76ACACCE}" type="datetimeFigureOut">
              <a:rPr lang="en-ZA" smtClean="0"/>
              <a:t>03 May 2022</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600748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1B0B54A-B957-4FD9-B5E0-DE1B76ACACCE}" type="datetimeFigureOut">
              <a:rPr lang="en-ZA" smtClean="0"/>
              <a:t>03 May 2022</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3726297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1B0B54A-B957-4FD9-B5E0-DE1B76ACACCE}" type="datetimeFigureOut">
              <a:rPr lang="en-ZA" smtClean="0"/>
              <a:t>03 May 2022</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2380369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1B0B54A-B957-4FD9-B5E0-DE1B76ACACCE}" type="datetimeFigureOut">
              <a:rPr lang="en-ZA" smtClean="0"/>
              <a:t>03 May 2022</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15823515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1B0B54A-B957-4FD9-B5E0-DE1B76ACACCE}" type="datetimeFigureOut">
              <a:rPr lang="en-ZA" smtClean="0"/>
              <a:t>03 May 2022</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39130209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1B0B54A-B957-4FD9-B5E0-DE1B76ACACCE}" type="datetimeFigureOut">
              <a:rPr lang="en-ZA" smtClean="0"/>
              <a:t>03 May 2022</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33327880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1B0B54A-B957-4FD9-B5E0-DE1B76ACACCE}" type="datetimeFigureOut">
              <a:rPr lang="en-ZA" smtClean="0"/>
              <a:t>03 May 2022</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17572516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1B0B54A-B957-4FD9-B5E0-DE1B76ACACCE}" type="datetimeFigureOut">
              <a:rPr lang="en-ZA" smtClean="0"/>
              <a:t>03 May 2022</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8567558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1B0B54A-B957-4FD9-B5E0-DE1B76ACACCE}" type="datetimeFigureOut">
              <a:rPr lang="en-ZA" smtClean="0"/>
              <a:t>03 May 2022</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18468372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1B0B54A-B957-4FD9-B5E0-DE1B76ACACCE}" type="datetimeFigureOut">
              <a:rPr lang="en-ZA" smtClean="0"/>
              <a:t>03 May 2022</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1975476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1B0B54A-B957-4FD9-B5E0-DE1B76ACACCE}" type="datetimeFigureOut">
              <a:rPr lang="en-ZA" smtClean="0"/>
              <a:t>03 May 2022</a:t>
            </a:fld>
            <a:endParaRPr lang="en-ZA"/>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ZA"/>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9D8934E-928E-4C38-807A-CB32A0A7C43F}" type="slidenum">
              <a:rPr lang="en-ZA" smtClean="0"/>
              <a:t>‹#›</a:t>
            </a:fld>
            <a:endParaRPr lang="en-ZA"/>
          </a:p>
        </p:txBody>
      </p:sp>
    </p:spTree>
    <p:extLst>
      <p:ext uri="{BB962C8B-B14F-4D97-AF65-F5344CB8AC3E}">
        <p14:creationId xmlns:p14="http://schemas.microsoft.com/office/powerpoint/2010/main" val="15926191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mailto:alveens@dut.ac.za"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Data analysis</a:t>
            </a:r>
            <a:endParaRPr lang="en-ZA" dirty="0"/>
          </a:p>
        </p:txBody>
      </p:sp>
      <p:sp>
        <p:nvSpPr>
          <p:cNvPr id="3" name="Subtitle 2"/>
          <p:cNvSpPr>
            <a:spLocks noGrp="1"/>
          </p:cNvSpPr>
          <p:nvPr>
            <p:ph type="subTitle" idx="1"/>
          </p:nvPr>
        </p:nvSpPr>
        <p:spPr>
          <a:xfrm>
            <a:off x="4639202" y="4314825"/>
            <a:ext cx="6987645" cy="1822451"/>
          </a:xfrm>
        </p:spPr>
        <p:txBody>
          <a:bodyPr>
            <a:normAutofit fontScale="85000" lnSpcReduction="20000"/>
          </a:bodyPr>
          <a:lstStyle/>
          <a:p>
            <a:r>
              <a:rPr lang="en-US" b="1" dirty="0" err="1" smtClean="0">
                <a:solidFill>
                  <a:srgbClr val="0070C0"/>
                </a:solidFill>
              </a:rPr>
              <a:t>Dr</a:t>
            </a:r>
            <a:r>
              <a:rPr lang="en-US" b="1" dirty="0" smtClean="0">
                <a:solidFill>
                  <a:srgbClr val="0070C0"/>
                </a:solidFill>
              </a:rPr>
              <a:t> Alveen Singh</a:t>
            </a:r>
          </a:p>
          <a:p>
            <a:r>
              <a:rPr lang="en-US" b="1" dirty="0" smtClean="0">
                <a:solidFill>
                  <a:srgbClr val="0070C0"/>
                </a:solidFill>
              </a:rPr>
              <a:t>Department of Information Technology</a:t>
            </a:r>
          </a:p>
          <a:p>
            <a:r>
              <a:rPr lang="en-US" b="1" dirty="0" smtClean="0">
                <a:solidFill>
                  <a:srgbClr val="0070C0"/>
                </a:solidFill>
              </a:rPr>
              <a:t>Research skills</a:t>
            </a:r>
          </a:p>
          <a:p>
            <a:r>
              <a:rPr lang="en-US" b="1" dirty="0" smtClean="0">
                <a:solidFill>
                  <a:srgbClr val="0070C0"/>
                </a:solidFill>
              </a:rPr>
              <a:t>Advanced Diploma in ICT</a:t>
            </a:r>
          </a:p>
          <a:p>
            <a:r>
              <a:rPr lang="en-US" b="1" dirty="0" smtClean="0">
                <a:solidFill>
                  <a:srgbClr val="0070C0"/>
                </a:solidFill>
              </a:rPr>
              <a:t>Semester 1 2022</a:t>
            </a:r>
            <a:endParaRPr lang="en-ZA" b="1" dirty="0">
              <a:solidFill>
                <a:srgbClr val="0070C0"/>
              </a:solidFill>
            </a:endParaRPr>
          </a:p>
        </p:txBody>
      </p:sp>
      <p:pic>
        <p:nvPicPr>
          <p:cNvPr id="5" name="Picture 4" descr="A close up of a sign&#10;&#10;Description automatically generated"/>
          <p:cNvPicPr/>
          <p:nvPr/>
        </p:nvPicPr>
        <p:blipFill>
          <a:blip r:embed="rId2">
            <a:extLst>
              <a:ext uri="{28A0092B-C50C-407E-A947-70E740481C1C}">
                <a14:useLocalDpi xmlns:a14="http://schemas.microsoft.com/office/drawing/2010/main" val="0"/>
              </a:ext>
            </a:extLst>
          </a:blip>
          <a:stretch>
            <a:fillRect/>
          </a:stretch>
        </p:blipFill>
        <p:spPr>
          <a:xfrm>
            <a:off x="7410450" y="318611"/>
            <a:ext cx="4503829" cy="1405414"/>
          </a:xfrm>
          <a:prstGeom prst="rect">
            <a:avLst/>
          </a:prstGeom>
        </p:spPr>
      </p:pic>
    </p:spTree>
    <p:extLst>
      <p:ext uri="{BB962C8B-B14F-4D97-AF65-F5344CB8AC3E}">
        <p14:creationId xmlns:p14="http://schemas.microsoft.com/office/powerpoint/2010/main" val="23346178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562688" y="302624"/>
            <a:ext cx="10018713" cy="899159"/>
          </a:xfrm>
        </p:spPr>
        <p:txBody>
          <a:bodyPr/>
          <a:lstStyle/>
          <a:p>
            <a:r>
              <a:rPr lang="en-US" dirty="0" smtClean="0"/>
              <a:t>Introduction</a:t>
            </a:r>
            <a:endParaRPr lang="en-ZA" dirty="0"/>
          </a:p>
        </p:txBody>
      </p:sp>
      <p:sp>
        <p:nvSpPr>
          <p:cNvPr id="6" name="Content Placeholder 5"/>
          <p:cNvSpPr>
            <a:spLocks noGrp="1"/>
          </p:cNvSpPr>
          <p:nvPr>
            <p:ph idx="1"/>
          </p:nvPr>
        </p:nvSpPr>
        <p:spPr>
          <a:xfrm>
            <a:off x="1484310" y="1410789"/>
            <a:ext cx="10018713" cy="4380411"/>
          </a:xfrm>
        </p:spPr>
        <p:txBody>
          <a:bodyPr anchor="t">
            <a:normAutofit/>
          </a:bodyPr>
          <a:lstStyle/>
          <a:p>
            <a:r>
              <a:rPr lang="en-US" sz="2000" dirty="0" smtClean="0">
                <a:latin typeface="Arial Narrow" panose="020B0606020202030204" pitchFamily="34" charset="0"/>
              </a:rPr>
              <a:t>Data can emanate from numerous and differing types of sources</a:t>
            </a:r>
            <a:endParaRPr lang="en-ZA" sz="2000" dirty="0">
              <a:latin typeface="Arial Narrow" panose="020B0606020202030204" pitchFamily="34" charset="0"/>
            </a:endParaRPr>
          </a:p>
        </p:txBody>
      </p:sp>
      <p:sp>
        <p:nvSpPr>
          <p:cNvPr id="2" name="Footer Placeholder 1"/>
          <p:cNvSpPr>
            <a:spLocks noGrp="1"/>
          </p:cNvSpPr>
          <p:nvPr>
            <p:ph type="ftr" sz="quarter" idx="11"/>
          </p:nvPr>
        </p:nvSpPr>
        <p:spPr/>
        <p:txBody>
          <a:bodyPr/>
          <a:lstStyle/>
          <a:p>
            <a:r>
              <a:rPr lang="en-US" smtClean="0"/>
              <a:t>Dr Alveen Singh - Dept of IT, DUT</a:t>
            </a:r>
            <a:endParaRPr lang="en-ZA"/>
          </a:p>
        </p:txBody>
      </p:sp>
      <p:sp>
        <p:nvSpPr>
          <p:cNvPr id="4" name="Slide Number Placeholder 3"/>
          <p:cNvSpPr>
            <a:spLocks noGrp="1"/>
          </p:cNvSpPr>
          <p:nvPr>
            <p:ph type="sldNum" sz="quarter" idx="12"/>
          </p:nvPr>
        </p:nvSpPr>
        <p:spPr/>
        <p:txBody>
          <a:bodyPr/>
          <a:lstStyle/>
          <a:p>
            <a:fld id="{F9D8934E-928E-4C38-807A-CB32A0A7C43F}" type="slidenum">
              <a:rPr lang="en-ZA" smtClean="0"/>
              <a:t>2</a:t>
            </a:fld>
            <a:endParaRPr lang="en-ZA"/>
          </a:p>
        </p:txBody>
      </p:sp>
      <p:pic>
        <p:nvPicPr>
          <p:cNvPr id="7" name="Picture 6"/>
          <p:cNvPicPr>
            <a:picLocks noChangeAspect="1"/>
          </p:cNvPicPr>
          <p:nvPr/>
        </p:nvPicPr>
        <p:blipFill>
          <a:blip r:embed="rId2"/>
          <a:stretch>
            <a:fillRect/>
          </a:stretch>
        </p:blipFill>
        <p:spPr>
          <a:xfrm>
            <a:off x="1562689" y="2195512"/>
            <a:ext cx="1648764" cy="1219201"/>
          </a:xfrm>
          <a:prstGeom prst="rect">
            <a:avLst/>
          </a:prstGeom>
        </p:spPr>
      </p:pic>
      <p:pic>
        <p:nvPicPr>
          <p:cNvPr id="8" name="Picture 7"/>
          <p:cNvPicPr>
            <a:picLocks noChangeAspect="1"/>
          </p:cNvPicPr>
          <p:nvPr/>
        </p:nvPicPr>
        <p:blipFill>
          <a:blip r:embed="rId3"/>
          <a:stretch>
            <a:fillRect/>
          </a:stretch>
        </p:blipFill>
        <p:spPr>
          <a:xfrm>
            <a:off x="2971799" y="3843338"/>
            <a:ext cx="2166937" cy="1213485"/>
          </a:xfrm>
          <a:prstGeom prst="rect">
            <a:avLst/>
          </a:prstGeom>
        </p:spPr>
      </p:pic>
      <p:pic>
        <p:nvPicPr>
          <p:cNvPr id="9" name="Picture 8"/>
          <p:cNvPicPr>
            <a:picLocks noChangeAspect="1"/>
          </p:cNvPicPr>
          <p:nvPr/>
        </p:nvPicPr>
        <p:blipFill>
          <a:blip r:embed="rId4"/>
          <a:stretch>
            <a:fillRect/>
          </a:stretch>
        </p:blipFill>
        <p:spPr>
          <a:xfrm>
            <a:off x="5138736" y="2121490"/>
            <a:ext cx="1726519" cy="1293223"/>
          </a:xfrm>
          <a:prstGeom prst="rect">
            <a:avLst/>
          </a:prstGeom>
        </p:spPr>
      </p:pic>
      <p:pic>
        <p:nvPicPr>
          <p:cNvPr id="10" name="Picture 9"/>
          <p:cNvPicPr>
            <a:picLocks noChangeAspect="1"/>
          </p:cNvPicPr>
          <p:nvPr/>
        </p:nvPicPr>
        <p:blipFill>
          <a:blip r:embed="rId5"/>
          <a:stretch>
            <a:fillRect/>
          </a:stretch>
        </p:blipFill>
        <p:spPr>
          <a:xfrm>
            <a:off x="6865255" y="4228148"/>
            <a:ext cx="2762250" cy="1657350"/>
          </a:xfrm>
          <a:prstGeom prst="rect">
            <a:avLst/>
          </a:prstGeom>
        </p:spPr>
      </p:pic>
      <p:pic>
        <p:nvPicPr>
          <p:cNvPr id="11" name="Picture 10"/>
          <p:cNvPicPr>
            <a:picLocks noChangeAspect="1"/>
          </p:cNvPicPr>
          <p:nvPr/>
        </p:nvPicPr>
        <p:blipFill>
          <a:blip r:embed="rId6"/>
          <a:stretch>
            <a:fillRect/>
          </a:stretch>
        </p:blipFill>
        <p:spPr>
          <a:xfrm>
            <a:off x="8369939" y="1723345"/>
            <a:ext cx="2857500" cy="1600200"/>
          </a:xfrm>
          <a:prstGeom prst="rect">
            <a:avLst/>
          </a:prstGeom>
        </p:spPr>
      </p:pic>
    </p:spTree>
    <p:extLst>
      <p:ext uri="{BB962C8B-B14F-4D97-AF65-F5344CB8AC3E}">
        <p14:creationId xmlns:p14="http://schemas.microsoft.com/office/powerpoint/2010/main" val="21425904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1484310" y="885825"/>
            <a:ext cx="10018713" cy="4905375"/>
          </a:xfrm>
        </p:spPr>
        <p:txBody>
          <a:bodyPr anchor="t">
            <a:normAutofit/>
          </a:bodyPr>
          <a:lstStyle/>
          <a:p>
            <a:r>
              <a:rPr lang="en-ZA" sz="2000" dirty="0">
                <a:latin typeface="Arial Narrow" panose="020B0606020202030204" pitchFamily="34" charset="0"/>
              </a:rPr>
              <a:t>Data analysis is the process of cleaning, transforming, and modelling data to identify patterns, trends and themes. </a:t>
            </a:r>
            <a:endParaRPr lang="en-ZA" sz="2000" dirty="0" smtClean="0">
              <a:latin typeface="Arial Narrow" panose="020B0606020202030204" pitchFamily="34" charset="0"/>
            </a:endParaRPr>
          </a:p>
          <a:p>
            <a:r>
              <a:rPr lang="en-ZA" sz="2000" dirty="0" smtClean="0">
                <a:latin typeface="Arial Narrow" panose="020B0606020202030204" pitchFamily="34" charset="0"/>
              </a:rPr>
              <a:t>Data </a:t>
            </a:r>
            <a:r>
              <a:rPr lang="en-ZA" sz="2000" dirty="0">
                <a:latin typeface="Arial Narrow" panose="020B0606020202030204" pitchFamily="34" charset="0"/>
              </a:rPr>
              <a:t>analysis is performed to identify connections, and relationships in the data. </a:t>
            </a:r>
            <a:endParaRPr lang="en-ZA" sz="2000" dirty="0" smtClean="0">
              <a:latin typeface="Arial Narrow" panose="020B0606020202030204" pitchFamily="34" charset="0"/>
            </a:endParaRPr>
          </a:p>
          <a:p>
            <a:r>
              <a:rPr lang="en-ZA" sz="2000" dirty="0" smtClean="0">
                <a:latin typeface="Arial Narrow" panose="020B0606020202030204" pitchFamily="34" charset="0"/>
              </a:rPr>
              <a:t>Stated </a:t>
            </a:r>
            <a:r>
              <a:rPr lang="en-ZA" sz="2000" dirty="0">
                <a:latin typeface="Arial Narrow" panose="020B0606020202030204" pitchFamily="34" charset="0"/>
              </a:rPr>
              <a:t>more simply, the purpose of data analysis is to </a:t>
            </a:r>
            <a:r>
              <a:rPr lang="en-ZA" sz="2000" dirty="0">
                <a:solidFill>
                  <a:srgbClr val="0070C0"/>
                </a:solidFill>
                <a:latin typeface="Arial Narrow" panose="020B0606020202030204" pitchFamily="34" charset="0"/>
              </a:rPr>
              <a:t>extract useful information from the data</a:t>
            </a:r>
            <a:r>
              <a:rPr lang="en-ZA" sz="2000" dirty="0">
                <a:latin typeface="Arial Narrow" panose="020B0606020202030204" pitchFamily="34" charset="0"/>
              </a:rPr>
              <a:t>. </a:t>
            </a:r>
          </a:p>
          <a:p>
            <a:endParaRPr lang="en-ZA" sz="2000" dirty="0">
              <a:latin typeface="Arial Narrow" panose="020B0606020202030204" pitchFamily="34" charset="0"/>
            </a:endParaRPr>
          </a:p>
        </p:txBody>
      </p:sp>
      <p:sp>
        <p:nvSpPr>
          <p:cNvPr id="2" name="Footer Placeholder 1"/>
          <p:cNvSpPr>
            <a:spLocks noGrp="1"/>
          </p:cNvSpPr>
          <p:nvPr>
            <p:ph type="ftr" sz="quarter" idx="11"/>
          </p:nvPr>
        </p:nvSpPr>
        <p:spPr/>
        <p:txBody>
          <a:bodyPr/>
          <a:lstStyle/>
          <a:p>
            <a:r>
              <a:rPr lang="en-US" smtClean="0"/>
              <a:t>Dr Alveen Singh - Dept of IT, DUT</a:t>
            </a:r>
            <a:endParaRPr lang="en-ZA"/>
          </a:p>
        </p:txBody>
      </p:sp>
      <p:sp>
        <p:nvSpPr>
          <p:cNvPr id="4" name="Slide Number Placeholder 3"/>
          <p:cNvSpPr>
            <a:spLocks noGrp="1"/>
          </p:cNvSpPr>
          <p:nvPr>
            <p:ph type="sldNum" sz="quarter" idx="12"/>
          </p:nvPr>
        </p:nvSpPr>
        <p:spPr/>
        <p:txBody>
          <a:bodyPr/>
          <a:lstStyle/>
          <a:p>
            <a:fld id="{F9D8934E-928E-4C38-807A-CB32A0A7C43F}" type="slidenum">
              <a:rPr lang="en-ZA" smtClean="0"/>
              <a:t>3</a:t>
            </a:fld>
            <a:endParaRPr lang="en-ZA"/>
          </a:p>
        </p:txBody>
      </p:sp>
      <p:pic>
        <p:nvPicPr>
          <p:cNvPr id="7" name="Picture 6"/>
          <p:cNvPicPr>
            <a:picLocks noChangeAspect="1"/>
          </p:cNvPicPr>
          <p:nvPr/>
        </p:nvPicPr>
        <p:blipFill>
          <a:blip r:embed="rId2"/>
          <a:stretch>
            <a:fillRect/>
          </a:stretch>
        </p:blipFill>
        <p:spPr>
          <a:xfrm>
            <a:off x="1484310" y="3436938"/>
            <a:ext cx="2857500" cy="1600200"/>
          </a:xfrm>
          <a:prstGeom prst="rect">
            <a:avLst/>
          </a:prstGeom>
        </p:spPr>
      </p:pic>
      <p:pic>
        <p:nvPicPr>
          <p:cNvPr id="10" name="Picture 9"/>
          <p:cNvPicPr>
            <a:picLocks noChangeAspect="1"/>
          </p:cNvPicPr>
          <p:nvPr/>
        </p:nvPicPr>
        <p:blipFill rotWithShape="1">
          <a:blip r:embed="rId3"/>
          <a:srcRect t="21068" b="11687"/>
          <a:stretch/>
        </p:blipFill>
        <p:spPr>
          <a:xfrm>
            <a:off x="3863112" y="4412712"/>
            <a:ext cx="3548196" cy="1567680"/>
          </a:xfrm>
          <a:prstGeom prst="rect">
            <a:avLst/>
          </a:prstGeom>
        </p:spPr>
      </p:pic>
      <p:sp>
        <p:nvSpPr>
          <p:cNvPr id="11" name="TextBox 10"/>
          <p:cNvSpPr txBox="1"/>
          <p:nvPr/>
        </p:nvSpPr>
        <p:spPr>
          <a:xfrm>
            <a:off x="4921360" y="5795726"/>
            <a:ext cx="2386013" cy="369332"/>
          </a:xfrm>
          <a:prstGeom prst="rect">
            <a:avLst/>
          </a:prstGeom>
          <a:noFill/>
        </p:spPr>
        <p:txBody>
          <a:bodyPr wrap="square" rtlCol="0">
            <a:spAutoFit/>
          </a:bodyPr>
          <a:lstStyle/>
          <a:p>
            <a:r>
              <a:rPr lang="en-US" dirty="0" err="1" smtClean="0">
                <a:solidFill>
                  <a:srgbClr val="FF0000"/>
                </a:solidFill>
              </a:rPr>
              <a:t>Nngroup.com</a:t>
            </a:r>
            <a:endParaRPr lang="en-ZA" dirty="0">
              <a:solidFill>
                <a:srgbClr val="FF0000"/>
              </a:solidFill>
            </a:endParaRPr>
          </a:p>
        </p:txBody>
      </p:sp>
      <p:pic>
        <p:nvPicPr>
          <p:cNvPr id="12" name="Picture 11"/>
          <p:cNvPicPr>
            <a:picLocks noChangeAspect="1"/>
          </p:cNvPicPr>
          <p:nvPr/>
        </p:nvPicPr>
        <p:blipFill>
          <a:blip r:embed="rId4"/>
          <a:stretch>
            <a:fillRect/>
          </a:stretch>
        </p:blipFill>
        <p:spPr>
          <a:xfrm>
            <a:off x="8543049" y="3042588"/>
            <a:ext cx="2466975" cy="1847850"/>
          </a:xfrm>
          <a:prstGeom prst="rect">
            <a:avLst/>
          </a:prstGeom>
        </p:spPr>
      </p:pic>
      <p:sp>
        <p:nvSpPr>
          <p:cNvPr id="13" name="TextBox 12"/>
          <p:cNvSpPr txBox="1"/>
          <p:nvPr/>
        </p:nvSpPr>
        <p:spPr>
          <a:xfrm>
            <a:off x="8463449" y="4971487"/>
            <a:ext cx="2386013" cy="369332"/>
          </a:xfrm>
          <a:prstGeom prst="rect">
            <a:avLst/>
          </a:prstGeom>
          <a:noFill/>
        </p:spPr>
        <p:txBody>
          <a:bodyPr wrap="square" rtlCol="0">
            <a:spAutoFit/>
          </a:bodyPr>
          <a:lstStyle/>
          <a:p>
            <a:r>
              <a:rPr lang="en-US" dirty="0" err="1" smtClean="0">
                <a:solidFill>
                  <a:srgbClr val="FF0000"/>
                </a:solidFill>
              </a:rPr>
              <a:t>Slideplayer.net</a:t>
            </a:r>
            <a:endParaRPr lang="en-ZA" dirty="0">
              <a:solidFill>
                <a:srgbClr val="FF0000"/>
              </a:solidFill>
            </a:endParaRPr>
          </a:p>
        </p:txBody>
      </p:sp>
      <p:pic>
        <p:nvPicPr>
          <p:cNvPr id="14" name="Picture 13"/>
          <p:cNvPicPr>
            <a:picLocks noChangeAspect="1"/>
          </p:cNvPicPr>
          <p:nvPr/>
        </p:nvPicPr>
        <p:blipFill>
          <a:blip r:embed="rId5"/>
          <a:stretch>
            <a:fillRect/>
          </a:stretch>
        </p:blipFill>
        <p:spPr>
          <a:xfrm>
            <a:off x="5422103" y="2510074"/>
            <a:ext cx="2143125" cy="2143125"/>
          </a:xfrm>
          <a:prstGeom prst="rect">
            <a:avLst/>
          </a:prstGeom>
        </p:spPr>
      </p:pic>
    </p:spTree>
    <p:extLst>
      <p:ext uri="{BB962C8B-B14F-4D97-AF65-F5344CB8AC3E}">
        <p14:creationId xmlns:p14="http://schemas.microsoft.com/office/powerpoint/2010/main" val="25731666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1484310" y="885825"/>
            <a:ext cx="10018713" cy="4905375"/>
          </a:xfrm>
        </p:spPr>
        <p:txBody>
          <a:bodyPr anchor="t">
            <a:normAutofit/>
          </a:bodyPr>
          <a:lstStyle/>
          <a:p>
            <a:pPr marL="0" indent="0">
              <a:buNone/>
            </a:pPr>
            <a:r>
              <a:rPr lang="en-US" b="1" dirty="0" smtClean="0">
                <a:solidFill>
                  <a:srgbClr val="0070C0"/>
                </a:solidFill>
                <a:latin typeface="Arial Narrow" panose="020B0606020202030204" pitchFamily="34" charset="0"/>
              </a:rPr>
              <a:t>Different types of data</a:t>
            </a:r>
            <a:endParaRPr lang="en-ZA" b="1" dirty="0">
              <a:solidFill>
                <a:srgbClr val="0070C0"/>
              </a:solidFill>
              <a:latin typeface="Arial Narrow" panose="020B0606020202030204" pitchFamily="34" charset="0"/>
            </a:endParaRPr>
          </a:p>
        </p:txBody>
      </p:sp>
      <p:sp>
        <p:nvSpPr>
          <p:cNvPr id="4" name="Slide Number Placeholder 3"/>
          <p:cNvSpPr>
            <a:spLocks noGrp="1"/>
          </p:cNvSpPr>
          <p:nvPr>
            <p:ph type="sldNum" sz="quarter" idx="12"/>
          </p:nvPr>
        </p:nvSpPr>
        <p:spPr/>
        <p:txBody>
          <a:bodyPr/>
          <a:lstStyle/>
          <a:p>
            <a:fld id="{F9D8934E-928E-4C38-807A-CB32A0A7C43F}" type="slidenum">
              <a:rPr lang="en-ZA" smtClean="0"/>
              <a:t>4</a:t>
            </a:fld>
            <a:endParaRPr lang="en-ZA"/>
          </a:p>
        </p:txBody>
      </p:sp>
      <p:pic>
        <p:nvPicPr>
          <p:cNvPr id="3" name="Picture 2"/>
          <p:cNvPicPr>
            <a:picLocks noChangeAspect="1"/>
          </p:cNvPicPr>
          <p:nvPr/>
        </p:nvPicPr>
        <p:blipFill>
          <a:blip r:embed="rId2"/>
          <a:stretch>
            <a:fillRect/>
          </a:stretch>
        </p:blipFill>
        <p:spPr>
          <a:xfrm>
            <a:off x="1098547" y="1702269"/>
            <a:ext cx="4517571" cy="2371725"/>
          </a:xfrm>
          <a:prstGeom prst="rect">
            <a:avLst/>
          </a:prstGeom>
        </p:spPr>
      </p:pic>
      <p:sp>
        <p:nvSpPr>
          <p:cNvPr id="7" name="TextBox 6"/>
          <p:cNvSpPr txBox="1"/>
          <p:nvPr/>
        </p:nvSpPr>
        <p:spPr>
          <a:xfrm>
            <a:off x="1379272" y="4170182"/>
            <a:ext cx="2386013" cy="369332"/>
          </a:xfrm>
          <a:prstGeom prst="rect">
            <a:avLst/>
          </a:prstGeom>
          <a:noFill/>
        </p:spPr>
        <p:txBody>
          <a:bodyPr wrap="square" rtlCol="0">
            <a:spAutoFit/>
          </a:bodyPr>
          <a:lstStyle/>
          <a:p>
            <a:r>
              <a:rPr lang="en-US" dirty="0" err="1" smtClean="0">
                <a:solidFill>
                  <a:srgbClr val="FF0000"/>
                </a:solidFill>
              </a:rPr>
              <a:t>Microbenotes.com</a:t>
            </a:r>
            <a:endParaRPr lang="en-ZA" dirty="0">
              <a:solidFill>
                <a:srgbClr val="FF0000"/>
              </a:solidFill>
            </a:endParaRPr>
          </a:p>
        </p:txBody>
      </p:sp>
      <p:pic>
        <p:nvPicPr>
          <p:cNvPr id="5" name="Picture 4"/>
          <p:cNvPicPr>
            <a:picLocks noChangeAspect="1"/>
          </p:cNvPicPr>
          <p:nvPr/>
        </p:nvPicPr>
        <p:blipFill>
          <a:blip r:embed="rId3"/>
          <a:stretch>
            <a:fillRect/>
          </a:stretch>
        </p:blipFill>
        <p:spPr>
          <a:xfrm>
            <a:off x="7886699" y="252412"/>
            <a:ext cx="3512189" cy="2634142"/>
          </a:xfrm>
          <a:prstGeom prst="rect">
            <a:avLst/>
          </a:prstGeom>
        </p:spPr>
      </p:pic>
      <p:sp>
        <p:nvSpPr>
          <p:cNvPr id="8" name="TextBox 7"/>
          <p:cNvSpPr txBox="1"/>
          <p:nvPr/>
        </p:nvSpPr>
        <p:spPr>
          <a:xfrm>
            <a:off x="6114367" y="625228"/>
            <a:ext cx="2386013" cy="369332"/>
          </a:xfrm>
          <a:prstGeom prst="rect">
            <a:avLst/>
          </a:prstGeom>
          <a:noFill/>
        </p:spPr>
        <p:txBody>
          <a:bodyPr wrap="square" rtlCol="0">
            <a:spAutoFit/>
          </a:bodyPr>
          <a:lstStyle/>
          <a:p>
            <a:r>
              <a:rPr lang="en-US" dirty="0" smtClean="0">
                <a:solidFill>
                  <a:srgbClr val="FF0000"/>
                </a:solidFill>
              </a:rPr>
              <a:t>Harrison, 2019</a:t>
            </a:r>
            <a:endParaRPr lang="en-ZA" dirty="0">
              <a:solidFill>
                <a:srgbClr val="FF0000"/>
              </a:solidFill>
            </a:endParaRPr>
          </a:p>
        </p:txBody>
      </p:sp>
      <p:pic>
        <p:nvPicPr>
          <p:cNvPr id="9" name="Picture 8"/>
          <p:cNvPicPr>
            <a:picLocks noChangeAspect="1"/>
          </p:cNvPicPr>
          <p:nvPr/>
        </p:nvPicPr>
        <p:blipFill>
          <a:blip r:embed="rId4"/>
          <a:stretch>
            <a:fillRect/>
          </a:stretch>
        </p:blipFill>
        <p:spPr>
          <a:xfrm>
            <a:off x="6291637" y="2886554"/>
            <a:ext cx="4935802" cy="3576099"/>
          </a:xfrm>
          <a:prstGeom prst="rect">
            <a:avLst/>
          </a:prstGeom>
        </p:spPr>
      </p:pic>
      <p:sp>
        <p:nvSpPr>
          <p:cNvPr id="10" name="TextBox 9"/>
          <p:cNvSpPr txBox="1"/>
          <p:nvPr/>
        </p:nvSpPr>
        <p:spPr>
          <a:xfrm>
            <a:off x="4232009" y="6170861"/>
            <a:ext cx="2386013" cy="369332"/>
          </a:xfrm>
          <a:prstGeom prst="rect">
            <a:avLst/>
          </a:prstGeom>
          <a:noFill/>
        </p:spPr>
        <p:txBody>
          <a:bodyPr wrap="square" rtlCol="0">
            <a:spAutoFit/>
          </a:bodyPr>
          <a:lstStyle/>
          <a:p>
            <a:r>
              <a:rPr lang="en-US" dirty="0" err="1" smtClean="0">
                <a:solidFill>
                  <a:srgbClr val="FF0000"/>
                </a:solidFill>
              </a:rPr>
              <a:t>Knowforgrow,2016</a:t>
            </a:r>
            <a:endParaRPr lang="en-ZA" dirty="0">
              <a:solidFill>
                <a:srgbClr val="FF0000"/>
              </a:solidFill>
            </a:endParaRPr>
          </a:p>
        </p:txBody>
      </p:sp>
    </p:spTree>
    <p:extLst>
      <p:ext uri="{BB962C8B-B14F-4D97-AF65-F5344CB8AC3E}">
        <p14:creationId xmlns:p14="http://schemas.microsoft.com/office/powerpoint/2010/main" val="36775994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484310" y="385762"/>
            <a:ext cx="10018713" cy="900113"/>
          </a:xfrm>
        </p:spPr>
        <p:txBody>
          <a:bodyPr/>
          <a:lstStyle/>
          <a:p>
            <a:r>
              <a:rPr lang="en-ZA" b="1" dirty="0"/>
              <a:t>Structured and unstructured </a:t>
            </a:r>
            <a:r>
              <a:rPr lang="en-ZA" b="1" dirty="0" smtClean="0"/>
              <a:t>data</a:t>
            </a:r>
            <a:endParaRPr lang="en-ZA" dirty="0"/>
          </a:p>
        </p:txBody>
      </p:sp>
      <p:sp>
        <p:nvSpPr>
          <p:cNvPr id="5" name="Content Placeholder 4"/>
          <p:cNvSpPr>
            <a:spLocks noGrp="1"/>
          </p:cNvSpPr>
          <p:nvPr>
            <p:ph idx="1"/>
          </p:nvPr>
        </p:nvSpPr>
        <p:spPr>
          <a:xfrm>
            <a:off x="1484310" y="1585913"/>
            <a:ext cx="10018713" cy="4205287"/>
          </a:xfrm>
        </p:spPr>
        <p:txBody>
          <a:bodyPr anchor="t"/>
          <a:lstStyle/>
          <a:p>
            <a:r>
              <a:rPr lang="en-US" sz="2000" dirty="0" smtClean="0">
                <a:latin typeface="Arial Rounded MT Bold" panose="020F0704030504030204" pitchFamily="34" charset="0"/>
              </a:rPr>
              <a:t>Structured data: neat, organized and structured</a:t>
            </a:r>
          </a:p>
          <a:p>
            <a:pPr marL="0" indent="0">
              <a:buNone/>
            </a:pPr>
            <a:endParaRPr lang="en-US" sz="2000" dirty="0" smtClean="0">
              <a:latin typeface="Arial Rounded MT Bold" panose="020F0704030504030204" pitchFamily="34" charset="0"/>
            </a:endParaRPr>
          </a:p>
          <a:p>
            <a:r>
              <a:rPr lang="en-US" sz="2000" dirty="0" smtClean="0">
                <a:latin typeface="Arial Rounded MT Bold" panose="020F0704030504030204" pitchFamily="34" charset="0"/>
              </a:rPr>
              <a:t>Unstructured data: needs to be organized or formatted before analysis</a:t>
            </a:r>
          </a:p>
          <a:p>
            <a:pPr marL="0" indent="0" algn="ctr">
              <a:buNone/>
            </a:pPr>
            <a:r>
              <a:rPr lang="en-ZA" sz="1800" dirty="0" smtClean="0">
                <a:latin typeface="Arial Rounded MT Bold" panose="020F0704030504030204" pitchFamily="34" charset="0"/>
              </a:rPr>
              <a:t>“</a:t>
            </a:r>
            <a:r>
              <a:rPr lang="en-ZA" sz="1800" dirty="0">
                <a:latin typeface="Arial Rounded MT Bold" panose="020F0704030504030204" pitchFamily="34" charset="0"/>
              </a:rPr>
              <a:t>Estimates say that just 20% of data is structured, while unstructured data accounts for </a:t>
            </a:r>
            <a:r>
              <a:rPr lang="en-ZA" sz="1800" dirty="0" smtClean="0">
                <a:latin typeface="Arial Rounded MT Bold" panose="020F0704030504030204" pitchFamily="34" charset="0"/>
              </a:rPr>
              <a:t>80% </a:t>
            </a:r>
            <a:r>
              <a:rPr lang="en-ZA" sz="1800" dirty="0">
                <a:latin typeface="Arial Rounded MT Bold" panose="020F0704030504030204" pitchFamily="34" charset="0"/>
              </a:rPr>
              <a:t>of data regularly generated” (</a:t>
            </a:r>
            <a:r>
              <a:rPr lang="en-ZA" sz="1800" dirty="0" err="1">
                <a:latin typeface="Arial Rounded MT Bold" panose="020F0704030504030204" pitchFamily="34" charset="0"/>
              </a:rPr>
              <a:t>Mesevage</a:t>
            </a:r>
            <a:r>
              <a:rPr lang="en-ZA" sz="1800" dirty="0">
                <a:latin typeface="Arial Rounded MT Bold" panose="020F0704030504030204" pitchFamily="34" charset="0"/>
              </a:rPr>
              <a:t>, 2020</a:t>
            </a:r>
            <a:r>
              <a:rPr lang="en-ZA" sz="2000" dirty="0">
                <a:latin typeface="Arial Rounded MT Bold" panose="020F0704030504030204" pitchFamily="34" charset="0"/>
              </a:rPr>
              <a:t>)</a:t>
            </a:r>
          </a:p>
          <a:p>
            <a:pPr marL="0" indent="0">
              <a:buNone/>
            </a:pPr>
            <a:endParaRPr lang="en-US" dirty="0" smtClean="0"/>
          </a:p>
          <a:p>
            <a:pPr marL="0" indent="0">
              <a:buNone/>
            </a:pPr>
            <a:endParaRPr lang="en-ZA" dirty="0"/>
          </a:p>
        </p:txBody>
      </p:sp>
      <p:sp>
        <p:nvSpPr>
          <p:cNvPr id="2" name="Footer Placeholder 1"/>
          <p:cNvSpPr>
            <a:spLocks noGrp="1"/>
          </p:cNvSpPr>
          <p:nvPr>
            <p:ph type="ftr" sz="quarter" idx="11"/>
          </p:nvPr>
        </p:nvSpPr>
        <p:spPr/>
        <p:txBody>
          <a:bodyPr/>
          <a:lstStyle/>
          <a:p>
            <a:r>
              <a:rPr lang="en-US" smtClean="0"/>
              <a:t>Dr Alveen Singh - Dept of IT, DUT</a:t>
            </a:r>
            <a:endParaRPr lang="en-ZA"/>
          </a:p>
        </p:txBody>
      </p:sp>
      <p:sp>
        <p:nvSpPr>
          <p:cNvPr id="4" name="Slide Number Placeholder 3"/>
          <p:cNvSpPr>
            <a:spLocks noGrp="1"/>
          </p:cNvSpPr>
          <p:nvPr>
            <p:ph type="sldNum" sz="quarter" idx="12"/>
          </p:nvPr>
        </p:nvSpPr>
        <p:spPr/>
        <p:txBody>
          <a:bodyPr/>
          <a:lstStyle/>
          <a:p>
            <a:fld id="{F9D8934E-928E-4C38-807A-CB32A0A7C43F}" type="slidenum">
              <a:rPr lang="en-ZA" smtClean="0"/>
              <a:t>5</a:t>
            </a:fld>
            <a:endParaRPr lang="en-ZA"/>
          </a:p>
        </p:txBody>
      </p:sp>
    </p:spTree>
    <p:extLst>
      <p:ext uri="{BB962C8B-B14F-4D97-AF65-F5344CB8AC3E}">
        <p14:creationId xmlns:p14="http://schemas.microsoft.com/office/powerpoint/2010/main" val="9452615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Dr Alveen Singh - Dept of IT, DUT</a:t>
            </a:r>
            <a:endParaRPr lang="en-ZA"/>
          </a:p>
        </p:txBody>
      </p:sp>
      <p:sp>
        <p:nvSpPr>
          <p:cNvPr id="4" name="Slide Number Placeholder 3"/>
          <p:cNvSpPr>
            <a:spLocks noGrp="1"/>
          </p:cNvSpPr>
          <p:nvPr>
            <p:ph type="sldNum" sz="quarter" idx="12"/>
          </p:nvPr>
        </p:nvSpPr>
        <p:spPr/>
        <p:txBody>
          <a:bodyPr/>
          <a:lstStyle/>
          <a:p>
            <a:fld id="{F9D8934E-928E-4C38-807A-CB32A0A7C43F}" type="slidenum">
              <a:rPr lang="en-ZA" smtClean="0"/>
              <a:t>6</a:t>
            </a:fld>
            <a:endParaRPr lang="en-ZA"/>
          </a:p>
        </p:txBody>
      </p:sp>
      <p:pic>
        <p:nvPicPr>
          <p:cNvPr id="3" name="Picture 2"/>
          <p:cNvPicPr>
            <a:picLocks noChangeAspect="1"/>
          </p:cNvPicPr>
          <p:nvPr/>
        </p:nvPicPr>
        <p:blipFill>
          <a:blip r:embed="rId2"/>
          <a:stretch>
            <a:fillRect/>
          </a:stretch>
        </p:blipFill>
        <p:spPr>
          <a:xfrm>
            <a:off x="873754" y="834688"/>
            <a:ext cx="5494798" cy="4278313"/>
          </a:xfrm>
          <a:prstGeom prst="rect">
            <a:avLst/>
          </a:prstGeom>
        </p:spPr>
      </p:pic>
      <p:pic>
        <p:nvPicPr>
          <p:cNvPr id="5" name="Picture 4"/>
          <p:cNvPicPr>
            <a:picLocks noChangeAspect="1"/>
          </p:cNvPicPr>
          <p:nvPr/>
        </p:nvPicPr>
        <p:blipFill>
          <a:blip r:embed="rId3"/>
          <a:stretch>
            <a:fillRect/>
          </a:stretch>
        </p:blipFill>
        <p:spPr>
          <a:xfrm>
            <a:off x="7251698" y="3567005"/>
            <a:ext cx="4632325" cy="3091992"/>
          </a:xfrm>
          <a:prstGeom prst="rect">
            <a:avLst/>
          </a:prstGeom>
        </p:spPr>
      </p:pic>
      <p:sp>
        <p:nvSpPr>
          <p:cNvPr id="7" name="TextBox 6"/>
          <p:cNvSpPr txBox="1"/>
          <p:nvPr/>
        </p:nvSpPr>
        <p:spPr>
          <a:xfrm>
            <a:off x="1332969" y="5010524"/>
            <a:ext cx="1372131" cy="307777"/>
          </a:xfrm>
          <a:prstGeom prst="rect">
            <a:avLst/>
          </a:prstGeom>
          <a:noFill/>
        </p:spPr>
        <p:txBody>
          <a:bodyPr wrap="square" rtlCol="0">
            <a:spAutoFit/>
          </a:bodyPr>
          <a:lstStyle/>
          <a:p>
            <a:r>
              <a:rPr lang="en-ZA" sz="1400" dirty="0" err="1" smtClean="0">
                <a:solidFill>
                  <a:srgbClr val="FF0000"/>
                </a:solidFill>
              </a:rPr>
              <a:t>igneous.io</a:t>
            </a:r>
            <a:r>
              <a:rPr lang="en-ZA" sz="1400" dirty="0" smtClean="0">
                <a:solidFill>
                  <a:srgbClr val="FF0000"/>
                </a:solidFill>
              </a:rPr>
              <a:t>/blog</a:t>
            </a:r>
            <a:endParaRPr lang="en-ZA" dirty="0">
              <a:solidFill>
                <a:srgbClr val="FF0000"/>
              </a:solidFill>
            </a:endParaRPr>
          </a:p>
        </p:txBody>
      </p:sp>
      <p:sp>
        <p:nvSpPr>
          <p:cNvPr id="8" name="Rectangle 7"/>
          <p:cNvSpPr/>
          <p:nvPr/>
        </p:nvSpPr>
        <p:spPr>
          <a:xfrm>
            <a:off x="5792644" y="6351220"/>
            <a:ext cx="1459054" cy="307777"/>
          </a:xfrm>
          <a:prstGeom prst="rect">
            <a:avLst/>
          </a:prstGeom>
        </p:spPr>
        <p:txBody>
          <a:bodyPr wrap="none">
            <a:spAutoFit/>
          </a:bodyPr>
          <a:lstStyle/>
          <a:p>
            <a:r>
              <a:rPr lang="en-ZA" sz="1400" dirty="0" err="1" smtClean="0">
                <a:solidFill>
                  <a:srgbClr val="FF0000"/>
                </a:solidFill>
              </a:rPr>
              <a:t>lawtomated.com</a:t>
            </a:r>
            <a:endParaRPr lang="en-ZA" dirty="0">
              <a:solidFill>
                <a:srgbClr val="FF0000"/>
              </a:solidFill>
            </a:endParaRPr>
          </a:p>
        </p:txBody>
      </p:sp>
      <p:pic>
        <p:nvPicPr>
          <p:cNvPr id="9" name="Picture 8"/>
          <p:cNvPicPr>
            <a:picLocks noChangeAspect="1"/>
          </p:cNvPicPr>
          <p:nvPr/>
        </p:nvPicPr>
        <p:blipFill rotWithShape="1">
          <a:blip r:embed="rId4"/>
          <a:srcRect l="4281" t="9407" r="4171" b="9719"/>
          <a:stretch/>
        </p:blipFill>
        <p:spPr>
          <a:xfrm>
            <a:off x="7251698" y="644785"/>
            <a:ext cx="4539343" cy="2819400"/>
          </a:xfrm>
          <a:prstGeom prst="rect">
            <a:avLst/>
          </a:prstGeom>
        </p:spPr>
      </p:pic>
      <p:sp>
        <p:nvSpPr>
          <p:cNvPr id="10" name="Rectangle 9"/>
          <p:cNvSpPr/>
          <p:nvPr/>
        </p:nvSpPr>
        <p:spPr>
          <a:xfrm>
            <a:off x="9821556" y="490896"/>
            <a:ext cx="2260600" cy="307777"/>
          </a:xfrm>
          <a:prstGeom prst="rect">
            <a:avLst/>
          </a:prstGeom>
        </p:spPr>
        <p:txBody>
          <a:bodyPr wrap="square">
            <a:spAutoFit/>
          </a:bodyPr>
          <a:lstStyle/>
          <a:p>
            <a:r>
              <a:rPr lang="en-ZA" sz="1400" dirty="0" smtClean="0">
                <a:solidFill>
                  <a:srgbClr val="FF0000"/>
                </a:solidFill>
              </a:rPr>
              <a:t>Hanna and Stedman, 2021</a:t>
            </a:r>
            <a:endParaRPr lang="en-ZA" dirty="0">
              <a:solidFill>
                <a:srgbClr val="FF0000"/>
              </a:solidFill>
            </a:endParaRPr>
          </a:p>
        </p:txBody>
      </p:sp>
    </p:spTree>
    <p:extLst>
      <p:ext uri="{BB962C8B-B14F-4D97-AF65-F5344CB8AC3E}">
        <p14:creationId xmlns:p14="http://schemas.microsoft.com/office/powerpoint/2010/main" val="34019590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484311" y="685801"/>
            <a:ext cx="10018713" cy="762000"/>
          </a:xfrm>
        </p:spPr>
        <p:txBody>
          <a:bodyPr/>
          <a:lstStyle/>
          <a:p>
            <a:r>
              <a:rPr lang="en-US" dirty="0" smtClean="0"/>
              <a:t>2. </a:t>
            </a:r>
            <a:r>
              <a:rPr lang="en-US" dirty="0" err="1" smtClean="0"/>
              <a:t>Analysing</a:t>
            </a:r>
            <a:r>
              <a:rPr lang="en-US" dirty="0" smtClean="0"/>
              <a:t> qualitative data</a:t>
            </a:r>
            <a:endParaRPr lang="en-ZA" dirty="0"/>
          </a:p>
        </p:txBody>
      </p:sp>
      <p:sp>
        <p:nvSpPr>
          <p:cNvPr id="5" name="Content Placeholder 4"/>
          <p:cNvSpPr>
            <a:spLocks noGrp="1"/>
          </p:cNvSpPr>
          <p:nvPr>
            <p:ph idx="1"/>
          </p:nvPr>
        </p:nvSpPr>
        <p:spPr>
          <a:xfrm>
            <a:off x="1484310" y="1663701"/>
            <a:ext cx="10018713" cy="4127500"/>
          </a:xfrm>
        </p:spPr>
        <p:txBody>
          <a:bodyPr anchor="t"/>
          <a:lstStyle/>
          <a:p>
            <a:r>
              <a:rPr lang="en-US" sz="2000" dirty="0">
                <a:latin typeface="Arial Rounded MT Bold" panose="020F0704030504030204" pitchFamily="34" charset="0"/>
              </a:rPr>
              <a:t> </a:t>
            </a:r>
            <a:r>
              <a:rPr lang="en-US" sz="2000" dirty="0" smtClean="0">
                <a:latin typeface="Arial Rounded MT Bold" panose="020F0704030504030204" pitchFamily="34" charset="0"/>
              </a:rPr>
              <a:t>Collected during interviews</a:t>
            </a:r>
            <a:r>
              <a:rPr lang="en-US" sz="2000" dirty="0">
                <a:latin typeface="Arial Rounded MT Bold" panose="020F0704030504030204" pitchFamily="34" charset="0"/>
              </a:rPr>
              <a:t>, focus groups or open-ended questionnaires</a:t>
            </a:r>
            <a:r>
              <a:rPr lang="en-US" sz="2000" dirty="0" smtClean="0">
                <a:latin typeface="Arial Rounded MT Bold" panose="020F0704030504030204" pitchFamily="34" charset="0"/>
              </a:rPr>
              <a:t>.</a:t>
            </a:r>
          </a:p>
          <a:p>
            <a:pPr marL="0" indent="0">
              <a:buNone/>
            </a:pPr>
            <a:r>
              <a:rPr lang="en-US" sz="2000" dirty="0" smtClean="0">
                <a:latin typeface="Arial Rounded MT Bold" panose="020F0704030504030204" pitchFamily="34" charset="0"/>
              </a:rPr>
              <a:t> </a:t>
            </a:r>
          </a:p>
          <a:p>
            <a:r>
              <a:rPr lang="en-US" sz="2000" dirty="0" smtClean="0">
                <a:latin typeface="Arial Rounded MT Bold" panose="020F0704030504030204" pitchFamily="34" charset="0"/>
              </a:rPr>
              <a:t>The </a:t>
            </a:r>
            <a:r>
              <a:rPr lang="en-US" sz="2000" dirty="0">
                <a:latin typeface="Arial Rounded MT Bold" panose="020F0704030504030204" pitchFamily="34" charset="0"/>
              </a:rPr>
              <a:t>focus in the interpretation of ideas, opinions and perspectives. </a:t>
            </a:r>
            <a:endParaRPr lang="en-US" sz="2000" dirty="0" smtClean="0">
              <a:latin typeface="Arial Rounded MT Bold" panose="020F0704030504030204" pitchFamily="34" charset="0"/>
            </a:endParaRPr>
          </a:p>
          <a:p>
            <a:pPr marL="0" indent="0">
              <a:buNone/>
            </a:pPr>
            <a:endParaRPr lang="en-US" sz="2000" dirty="0" smtClean="0">
              <a:latin typeface="Arial Rounded MT Bold" panose="020F0704030504030204" pitchFamily="34" charset="0"/>
            </a:endParaRPr>
          </a:p>
          <a:p>
            <a:r>
              <a:rPr lang="en-ZA" sz="2000" dirty="0" smtClean="0">
                <a:latin typeface="Arial Rounded MT Bold" panose="020F0704030504030204" pitchFamily="34" charset="0"/>
              </a:rPr>
              <a:t>Large </a:t>
            </a:r>
            <a:r>
              <a:rPr lang="en-ZA" sz="2000" dirty="0">
                <a:latin typeface="Arial Rounded MT Bold" panose="020F0704030504030204" pitchFamily="34" charset="0"/>
              </a:rPr>
              <a:t>amount of </a:t>
            </a:r>
            <a:r>
              <a:rPr lang="en-ZA" sz="2000" i="1" dirty="0">
                <a:latin typeface="Arial Rounded MT Bold" panose="020F0704030504030204" pitchFamily="34" charset="0"/>
              </a:rPr>
              <a:t>transcribed</a:t>
            </a:r>
            <a:r>
              <a:rPr lang="en-ZA" sz="2000" dirty="0">
                <a:latin typeface="Arial Rounded MT Bold" panose="020F0704030504030204" pitchFamily="34" charset="0"/>
              </a:rPr>
              <a:t> </a:t>
            </a:r>
            <a:r>
              <a:rPr lang="en-ZA" sz="2000" dirty="0" smtClean="0">
                <a:latin typeface="Arial Rounded MT Bold" panose="020F0704030504030204" pitchFamily="34" charset="0"/>
              </a:rPr>
              <a:t>data.</a:t>
            </a:r>
          </a:p>
          <a:p>
            <a:endParaRPr lang="en-ZA" dirty="0"/>
          </a:p>
        </p:txBody>
      </p:sp>
      <p:sp>
        <p:nvSpPr>
          <p:cNvPr id="2" name="Footer Placeholder 1"/>
          <p:cNvSpPr>
            <a:spLocks noGrp="1"/>
          </p:cNvSpPr>
          <p:nvPr>
            <p:ph type="ftr" sz="quarter" idx="11"/>
          </p:nvPr>
        </p:nvSpPr>
        <p:spPr/>
        <p:txBody>
          <a:bodyPr/>
          <a:lstStyle/>
          <a:p>
            <a:r>
              <a:rPr lang="en-US" smtClean="0"/>
              <a:t>Dr Alveen Singh - Dept of IT, DUT</a:t>
            </a:r>
            <a:endParaRPr lang="en-ZA"/>
          </a:p>
        </p:txBody>
      </p:sp>
      <p:sp>
        <p:nvSpPr>
          <p:cNvPr id="4" name="Slide Number Placeholder 3"/>
          <p:cNvSpPr>
            <a:spLocks noGrp="1"/>
          </p:cNvSpPr>
          <p:nvPr>
            <p:ph type="sldNum" sz="quarter" idx="12"/>
          </p:nvPr>
        </p:nvSpPr>
        <p:spPr/>
        <p:txBody>
          <a:bodyPr/>
          <a:lstStyle/>
          <a:p>
            <a:fld id="{F9D8934E-928E-4C38-807A-CB32A0A7C43F}" type="slidenum">
              <a:rPr lang="en-ZA" smtClean="0"/>
              <a:t>7</a:t>
            </a:fld>
            <a:endParaRPr lang="en-ZA"/>
          </a:p>
        </p:txBody>
      </p:sp>
    </p:spTree>
    <p:extLst>
      <p:ext uri="{BB962C8B-B14F-4D97-AF65-F5344CB8AC3E}">
        <p14:creationId xmlns:p14="http://schemas.microsoft.com/office/powerpoint/2010/main" val="76331223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1484310" y="885825"/>
            <a:ext cx="10018713" cy="4905375"/>
          </a:xfrm>
        </p:spPr>
        <p:txBody>
          <a:bodyPr anchor="t">
            <a:normAutofit/>
          </a:bodyPr>
          <a:lstStyle/>
          <a:p>
            <a:r>
              <a:rPr lang="en-ZA" dirty="0">
                <a:latin typeface="Arial Narrow" panose="020B0606020202030204" pitchFamily="34" charset="0"/>
              </a:rPr>
              <a:t>Qualitative data analysis is mainly used for </a:t>
            </a:r>
            <a:r>
              <a:rPr lang="en-ZA" dirty="0">
                <a:solidFill>
                  <a:srgbClr val="0070C0"/>
                </a:solidFill>
                <a:latin typeface="Arial Narrow" panose="020B0606020202030204" pitchFamily="34" charset="0"/>
              </a:rPr>
              <a:t>exploratory</a:t>
            </a:r>
            <a:r>
              <a:rPr lang="en-ZA" dirty="0">
                <a:latin typeface="Arial Narrow" panose="020B0606020202030204" pitchFamily="34" charset="0"/>
              </a:rPr>
              <a:t> type research</a:t>
            </a:r>
            <a:r>
              <a:rPr lang="en-ZA" dirty="0" smtClean="0">
                <a:latin typeface="Arial Narrow" panose="020B0606020202030204" pitchFamily="34" charset="0"/>
              </a:rPr>
              <a:t>.</a:t>
            </a:r>
          </a:p>
          <a:p>
            <a:endParaRPr lang="en-ZA" dirty="0" smtClean="0">
              <a:latin typeface="Arial Narrow" panose="020B0606020202030204" pitchFamily="34" charset="0"/>
            </a:endParaRPr>
          </a:p>
          <a:p>
            <a:r>
              <a:rPr lang="en-ZA" dirty="0" smtClean="0">
                <a:latin typeface="Arial Narrow" panose="020B0606020202030204" pitchFamily="34" charset="0"/>
              </a:rPr>
              <a:t>The </a:t>
            </a:r>
            <a:r>
              <a:rPr lang="en-ZA" dirty="0">
                <a:latin typeface="Arial Narrow" panose="020B0606020202030204" pitchFamily="34" charset="0"/>
              </a:rPr>
              <a:t>researcher </a:t>
            </a:r>
            <a:r>
              <a:rPr lang="en-ZA" dirty="0" smtClean="0">
                <a:latin typeface="Arial Narrow" panose="020B0606020202030204" pitchFamily="34" charset="0"/>
              </a:rPr>
              <a:t>analysing people’s </a:t>
            </a:r>
            <a:r>
              <a:rPr lang="en-ZA" dirty="0">
                <a:latin typeface="Arial Narrow" panose="020B0606020202030204" pitchFamily="34" charset="0"/>
              </a:rPr>
              <a:t>perceptions, experiences and their </a:t>
            </a:r>
            <a:r>
              <a:rPr lang="en-ZA" i="1" dirty="0">
                <a:latin typeface="Arial Narrow" panose="020B0606020202030204" pitchFamily="34" charset="0"/>
              </a:rPr>
              <a:t>as-lived-reality</a:t>
            </a:r>
            <a:r>
              <a:rPr lang="en-ZA" dirty="0">
                <a:latin typeface="Arial Narrow" panose="020B0606020202030204" pitchFamily="34" charset="0"/>
              </a:rPr>
              <a:t>. </a:t>
            </a:r>
            <a:endParaRPr lang="en-ZA" dirty="0" smtClean="0">
              <a:latin typeface="Arial Narrow" panose="020B0606020202030204" pitchFamily="34" charset="0"/>
            </a:endParaRPr>
          </a:p>
          <a:p>
            <a:pPr lvl="1"/>
            <a:r>
              <a:rPr lang="en-ZA" sz="1800" dirty="0" smtClean="0">
                <a:latin typeface="Arial Narrow" panose="020B0606020202030204" pitchFamily="34" charset="0"/>
              </a:rPr>
              <a:t>Hence</a:t>
            </a:r>
            <a:r>
              <a:rPr lang="en-ZA" sz="1800" dirty="0">
                <a:latin typeface="Arial Narrow" panose="020B0606020202030204" pitchFamily="34" charset="0"/>
              </a:rPr>
              <a:t>, the collected data is often transcribed into narratives from which different analysis methodologies can be applied. </a:t>
            </a:r>
            <a:endParaRPr lang="en-ZA" sz="1800" dirty="0" smtClean="0">
              <a:latin typeface="Arial Narrow" panose="020B0606020202030204" pitchFamily="34" charset="0"/>
            </a:endParaRPr>
          </a:p>
          <a:p>
            <a:pPr marL="457200" lvl="1" indent="0">
              <a:buNone/>
            </a:pPr>
            <a:endParaRPr lang="en-ZA" sz="1800" dirty="0" smtClean="0">
              <a:latin typeface="Arial Narrow" panose="020B0606020202030204" pitchFamily="34" charset="0"/>
            </a:endParaRPr>
          </a:p>
          <a:p>
            <a:r>
              <a:rPr lang="en-ZA" dirty="0" smtClean="0">
                <a:latin typeface="Arial Narrow" panose="020B0606020202030204" pitchFamily="34" charset="0"/>
              </a:rPr>
              <a:t>Not </a:t>
            </a:r>
            <a:r>
              <a:rPr lang="en-ZA" dirty="0">
                <a:latin typeface="Arial Narrow" panose="020B0606020202030204" pitchFamily="34" charset="0"/>
              </a:rPr>
              <a:t>always </a:t>
            </a:r>
            <a:r>
              <a:rPr lang="en-ZA" dirty="0" smtClean="0">
                <a:latin typeface="Arial Narrow" panose="020B0606020202030204" pitchFamily="34" charset="0"/>
              </a:rPr>
              <a:t>an </a:t>
            </a:r>
            <a:r>
              <a:rPr lang="en-ZA" i="1" dirty="0">
                <a:solidFill>
                  <a:srgbClr val="0070C0"/>
                </a:solidFill>
                <a:latin typeface="Arial Narrow" panose="020B0606020202030204" pitchFamily="34" charset="0"/>
              </a:rPr>
              <a:t>absolute</a:t>
            </a:r>
            <a:r>
              <a:rPr lang="en-ZA" dirty="0">
                <a:latin typeface="Arial Narrow" panose="020B0606020202030204" pitchFamily="34" charset="0"/>
              </a:rPr>
              <a:t> </a:t>
            </a:r>
            <a:r>
              <a:rPr lang="en-ZA" dirty="0" smtClean="0">
                <a:latin typeface="Arial Narrow" panose="020B0606020202030204" pitchFamily="34" charset="0"/>
              </a:rPr>
              <a:t>meaning</a:t>
            </a:r>
          </a:p>
          <a:p>
            <a:endParaRPr lang="en-ZA" dirty="0" smtClean="0">
              <a:latin typeface="Arial Narrow" panose="020B0606020202030204" pitchFamily="34" charset="0"/>
            </a:endParaRPr>
          </a:p>
          <a:p>
            <a:r>
              <a:rPr lang="en-ZA" dirty="0" smtClean="0">
                <a:latin typeface="Arial Narrow" panose="020B0606020202030204" pitchFamily="34" charset="0"/>
              </a:rPr>
              <a:t>This </a:t>
            </a:r>
            <a:r>
              <a:rPr lang="en-ZA" dirty="0">
                <a:latin typeface="Arial Narrow" panose="020B0606020202030204" pitchFamily="34" charset="0"/>
              </a:rPr>
              <a:t>is due to the data being derived from opinions and perspectives. </a:t>
            </a:r>
          </a:p>
          <a:p>
            <a:endParaRPr lang="en-ZA" sz="2000" dirty="0">
              <a:latin typeface="Arial Narrow" panose="020B0606020202030204" pitchFamily="34" charset="0"/>
            </a:endParaRPr>
          </a:p>
        </p:txBody>
      </p:sp>
      <p:sp>
        <p:nvSpPr>
          <p:cNvPr id="2" name="Footer Placeholder 1"/>
          <p:cNvSpPr>
            <a:spLocks noGrp="1"/>
          </p:cNvSpPr>
          <p:nvPr>
            <p:ph type="ftr" sz="quarter" idx="11"/>
          </p:nvPr>
        </p:nvSpPr>
        <p:spPr/>
        <p:txBody>
          <a:bodyPr/>
          <a:lstStyle/>
          <a:p>
            <a:r>
              <a:rPr lang="en-US" smtClean="0"/>
              <a:t>Dr Alveen Singh - Dept of IT, DUT</a:t>
            </a:r>
            <a:endParaRPr lang="en-ZA"/>
          </a:p>
        </p:txBody>
      </p:sp>
      <p:sp>
        <p:nvSpPr>
          <p:cNvPr id="4" name="Slide Number Placeholder 3"/>
          <p:cNvSpPr>
            <a:spLocks noGrp="1"/>
          </p:cNvSpPr>
          <p:nvPr>
            <p:ph type="sldNum" sz="quarter" idx="12"/>
          </p:nvPr>
        </p:nvSpPr>
        <p:spPr/>
        <p:txBody>
          <a:bodyPr/>
          <a:lstStyle/>
          <a:p>
            <a:fld id="{F9D8934E-928E-4C38-807A-CB32A0A7C43F}" type="slidenum">
              <a:rPr lang="en-ZA" smtClean="0"/>
              <a:t>8</a:t>
            </a:fld>
            <a:endParaRPr lang="en-ZA"/>
          </a:p>
        </p:txBody>
      </p:sp>
    </p:spTree>
    <p:extLst>
      <p:ext uri="{BB962C8B-B14F-4D97-AF65-F5344CB8AC3E}">
        <p14:creationId xmlns:p14="http://schemas.microsoft.com/office/powerpoint/2010/main" val="36958272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1484310" y="885825"/>
            <a:ext cx="10018713" cy="4905375"/>
          </a:xfrm>
        </p:spPr>
        <p:txBody>
          <a:bodyPr anchor="t">
            <a:normAutofit/>
          </a:bodyPr>
          <a:lstStyle/>
          <a:p>
            <a:pPr marL="0" indent="0">
              <a:buNone/>
            </a:pPr>
            <a:r>
              <a:rPr lang="en-US" sz="2000" b="1" dirty="0" smtClean="0">
                <a:latin typeface="Arial Narrow" panose="020B0606020202030204" pitchFamily="34" charset="0"/>
              </a:rPr>
              <a:t>Qualitative data analysis methods - Content Analysis</a:t>
            </a:r>
          </a:p>
          <a:p>
            <a:pPr marL="0" indent="0">
              <a:buNone/>
            </a:pPr>
            <a:endParaRPr lang="en-US" sz="2000" b="1" dirty="0">
              <a:latin typeface="Arial Narrow" panose="020B0606020202030204" pitchFamily="34" charset="0"/>
            </a:endParaRPr>
          </a:p>
          <a:p>
            <a:pPr marL="0" indent="0">
              <a:buNone/>
            </a:pPr>
            <a:endParaRPr lang="en-ZA" sz="2000" b="1" dirty="0">
              <a:latin typeface="Arial Narrow" panose="020B0606020202030204" pitchFamily="34" charset="0"/>
            </a:endParaRPr>
          </a:p>
        </p:txBody>
      </p:sp>
      <p:sp>
        <p:nvSpPr>
          <p:cNvPr id="4" name="Slide Number Placeholder 3"/>
          <p:cNvSpPr>
            <a:spLocks noGrp="1"/>
          </p:cNvSpPr>
          <p:nvPr>
            <p:ph type="sldNum" sz="quarter" idx="12"/>
          </p:nvPr>
        </p:nvSpPr>
        <p:spPr/>
        <p:txBody>
          <a:bodyPr/>
          <a:lstStyle/>
          <a:p>
            <a:fld id="{F9D8934E-928E-4C38-807A-CB32A0A7C43F}" type="slidenum">
              <a:rPr lang="en-ZA" smtClean="0"/>
              <a:t>9</a:t>
            </a:fld>
            <a:endParaRPr lang="en-ZA"/>
          </a:p>
        </p:txBody>
      </p:sp>
      <p:pic>
        <p:nvPicPr>
          <p:cNvPr id="3" name="Picture 2"/>
          <p:cNvPicPr>
            <a:picLocks noChangeAspect="1"/>
          </p:cNvPicPr>
          <p:nvPr/>
        </p:nvPicPr>
        <p:blipFill>
          <a:blip r:embed="rId2"/>
          <a:stretch>
            <a:fillRect/>
          </a:stretch>
        </p:blipFill>
        <p:spPr>
          <a:xfrm>
            <a:off x="7635873" y="1389033"/>
            <a:ext cx="3867150" cy="2175272"/>
          </a:xfrm>
          <a:prstGeom prst="rect">
            <a:avLst/>
          </a:prstGeom>
        </p:spPr>
      </p:pic>
      <p:sp>
        <p:nvSpPr>
          <p:cNvPr id="7" name="Rectangle 6"/>
          <p:cNvSpPr/>
          <p:nvPr/>
        </p:nvSpPr>
        <p:spPr>
          <a:xfrm>
            <a:off x="6834050" y="3288888"/>
            <a:ext cx="801823" cy="307777"/>
          </a:xfrm>
          <a:prstGeom prst="rect">
            <a:avLst/>
          </a:prstGeom>
        </p:spPr>
        <p:txBody>
          <a:bodyPr wrap="none">
            <a:spAutoFit/>
          </a:bodyPr>
          <a:lstStyle/>
          <a:p>
            <a:r>
              <a:rPr lang="en-ZA" sz="1400" dirty="0" err="1" smtClean="0">
                <a:solidFill>
                  <a:srgbClr val="FF0000"/>
                </a:solidFill>
              </a:rPr>
              <a:t>youtube</a:t>
            </a:r>
            <a:endParaRPr lang="en-ZA" dirty="0">
              <a:solidFill>
                <a:srgbClr val="FF0000"/>
              </a:solidFill>
            </a:endParaRPr>
          </a:p>
        </p:txBody>
      </p:sp>
      <p:pic>
        <p:nvPicPr>
          <p:cNvPr id="8" name="Picture 7"/>
          <p:cNvPicPr>
            <a:picLocks noChangeAspect="1"/>
          </p:cNvPicPr>
          <p:nvPr/>
        </p:nvPicPr>
        <p:blipFill>
          <a:blip r:embed="rId3"/>
          <a:stretch>
            <a:fillRect/>
          </a:stretch>
        </p:blipFill>
        <p:spPr>
          <a:xfrm>
            <a:off x="3406773" y="4070081"/>
            <a:ext cx="8096250" cy="2162175"/>
          </a:xfrm>
          <a:prstGeom prst="rect">
            <a:avLst/>
          </a:prstGeom>
        </p:spPr>
      </p:pic>
      <p:sp>
        <p:nvSpPr>
          <p:cNvPr id="9" name="Rectangle 8"/>
          <p:cNvSpPr/>
          <p:nvPr/>
        </p:nvSpPr>
        <p:spPr>
          <a:xfrm>
            <a:off x="3406044" y="6296976"/>
            <a:ext cx="1197444" cy="307777"/>
          </a:xfrm>
          <a:prstGeom prst="rect">
            <a:avLst/>
          </a:prstGeom>
        </p:spPr>
        <p:txBody>
          <a:bodyPr wrap="none">
            <a:spAutoFit/>
          </a:bodyPr>
          <a:lstStyle/>
          <a:p>
            <a:r>
              <a:rPr lang="en-US" sz="1400" dirty="0" err="1" smtClean="0">
                <a:solidFill>
                  <a:srgbClr val="FF0000"/>
                </a:solidFill>
              </a:rPr>
              <a:t>Researchgate</a:t>
            </a:r>
            <a:endParaRPr lang="en-ZA" dirty="0">
              <a:solidFill>
                <a:srgbClr val="FF0000"/>
              </a:solidFill>
            </a:endParaRPr>
          </a:p>
        </p:txBody>
      </p:sp>
    </p:spTree>
    <p:extLst>
      <p:ext uri="{BB962C8B-B14F-4D97-AF65-F5344CB8AC3E}">
        <p14:creationId xmlns:p14="http://schemas.microsoft.com/office/powerpoint/2010/main" val="10129378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ontent analysis, thematic analysis and grounded theory - ppt downlo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1383" y="269964"/>
            <a:ext cx="6862044" cy="514653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894775" y="5576956"/>
            <a:ext cx="2455260" cy="307777"/>
          </a:xfrm>
          <a:prstGeom prst="rect">
            <a:avLst/>
          </a:prstGeom>
          <a:noFill/>
        </p:spPr>
        <p:txBody>
          <a:bodyPr wrap="square" rtlCol="0">
            <a:spAutoFit/>
          </a:bodyPr>
          <a:lstStyle/>
          <a:p>
            <a:r>
              <a:rPr lang="en-ZA" sz="1400" dirty="0" smtClean="0">
                <a:solidFill>
                  <a:srgbClr val="FF0000"/>
                </a:solidFill>
              </a:rPr>
              <a:t>Johnston, 2019 via </a:t>
            </a:r>
            <a:r>
              <a:rPr lang="en-ZA" sz="1400" dirty="0" err="1" smtClean="0">
                <a:solidFill>
                  <a:srgbClr val="FF0000"/>
                </a:solidFill>
              </a:rPr>
              <a:t>Slideplayer</a:t>
            </a:r>
            <a:endParaRPr lang="en-ZA" dirty="0">
              <a:solidFill>
                <a:srgbClr val="FF0000"/>
              </a:solidFill>
            </a:endParaRPr>
          </a:p>
        </p:txBody>
      </p:sp>
    </p:spTree>
    <p:extLst>
      <p:ext uri="{BB962C8B-B14F-4D97-AF65-F5344CB8AC3E}">
        <p14:creationId xmlns:p14="http://schemas.microsoft.com/office/powerpoint/2010/main" val="39771522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1484310" y="885825"/>
            <a:ext cx="10018713" cy="4905375"/>
          </a:xfrm>
        </p:spPr>
        <p:txBody>
          <a:bodyPr anchor="t">
            <a:normAutofit/>
          </a:bodyPr>
          <a:lstStyle/>
          <a:p>
            <a:pPr marL="0" indent="0">
              <a:buNone/>
            </a:pPr>
            <a:r>
              <a:rPr lang="en-US" sz="2000" b="1" dirty="0">
                <a:latin typeface="Arial Narrow" panose="020B0606020202030204" pitchFamily="34" charset="0"/>
              </a:rPr>
              <a:t>Qualitative data analysis methods </a:t>
            </a:r>
            <a:r>
              <a:rPr lang="en-US" sz="2000" b="1" dirty="0" smtClean="0">
                <a:latin typeface="Arial Narrow" panose="020B0606020202030204" pitchFamily="34" charset="0"/>
              </a:rPr>
              <a:t>– Grounded theory</a:t>
            </a:r>
            <a:endParaRPr lang="en-US" sz="2000" b="1" dirty="0">
              <a:latin typeface="Arial Narrow" panose="020B0606020202030204" pitchFamily="34" charset="0"/>
            </a:endParaRPr>
          </a:p>
          <a:p>
            <a:r>
              <a:rPr lang="en-ZA" dirty="0"/>
              <a:t>Grounded theory is used to generate </a:t>
            </a:r>
            <a:r>
              <a:rPr lang="en-ZA" i="1" dirty="0"/>
              <a:t>theory</a:t>
            </a:r>
            <a:r>
              <a:rPr lang="en-ZA" dirty="0"/>
              <a:t> from collected qualitative </a:t>
            </a:r>
            <a:r>
              <a:rPr lang="en-ZA" dirty="0" smtClean="0"/>
              <a:t>data.</a:t>
            </a:r>
          </a:p>
          <a:p>
            <a:r>
              <a:rPr lang="en-US" sz="2000" dirty="0" smtClean="0">
                <a:latin typeface="Arial Narrow" panose="020B0606020202030204" pitchFamily="34" charset="0"/>
              </a:rPr>
              <a:t>It can be used as a standalone technique or as a research design.</a:t>
            </a:r>
            <a:endParaRPr lang="en-ZA" sz="2000" dirty="0">
              <a:latin typeface="Arial Narrow" panose="020B0606020202030204" pitchFamily="34" charset="0"/>
            </a:endParaRPr>
          </a:p>
        </p:txBody>
      </p:sp>
      <p:sp>
        <p:nvSpPr>
          <p:cNvPr id="2" name="Footer Placeholder 1"/>
          <p:cNvSpPr>
            <a:spLocks noGrp="1"/>
          </p:cNvSpPr>
          <p:nvPr>
            <p:ph type="ftr" sz="quarter" idx="11"/>
          </p:nvPr>
        </p:nvSpPr>
        <p:spPr/>
        <p:txBody>
          <a:bodyPr/>
          <a:lstStyle/>
          <a:p>
            <a:r>
              <a:rPr lang="en-US" smtClean="0"/>
              <a:t>Dr Alveen Singh - Dept of IT, DUT</a:t>
            </a:r>
            <a:endParaRPr lang="en-ZA"/>
          </a:p>
        </p:txBody>
      </p:sp>
      <p:sp>
        <p:nvSpPr>
          <p:cNvPr id="4" name="Slide Number Placeholder 3"/>
          <p:cNvSpPr>
            <a:spLocks noGrp="1"/>
          </p:cNvSpPr>
          <p:nvPr>
            <p:ph type="sldNum" sz="quarter" idx="12"/>
          </p:nvPr>
        </p:nvSpPr>
        <p:spPr/>
        <p:txBody>
          <a:bodyPr/>
          <a:lstStyle/>
          <a:p>
            <a:fld id="{F9D8934E-928E-4C38-807A-CB32A0A7C43F}" type="slidenum">
              <a:rPr lang="en-ZA" smtClean="0"/>
              <a:t>11</a:t>
            </a:fld>
            <a:endParaRPr lang="en-ZA"/>
          </a:p>
        </p:txBody>
      </p:sp>
    </p:spTree>
    <p:extLst>
      <p:ext uri="{BB962C8B-B14F-4D97-AF65-F5344CB8AC3E}">
        <p14:creationId xmlns:p14="http://schemas.microsoft.com/office/powerpoint/2010/main" val="30331407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1484311" y="885825"/>
            <a:ext cx="5632770" cy="4905375"/>
          </a:xfrm>
        </p:spPr>
        <p:txBody>
          <a:bodyPr anchor="t">
            <a:normAutofit/>
          </a:bodyPr>
          <a:lstStyle/>
          <a:p>
            <a:pPr marL="0" indent="0">
              <a:buNone/>
            </a:pPr>
            <a:r>
              <a:rPr lang="en-US" b="1" dirty="0" smtClean="0">
                <a:solidFill>
                  <a:srgbClr val="0070C0"/>
                </a:solidFill>
                <a:latin typeface="Arial Narrow" panose="020B0606020202030204" pitchFamily="34" charset="0"/>
              </a:rPr>
              <a:t>GT as a technique</a:t>
            </a:r>
          </a:p>
          <a:p>
            <a:pPr marL="342900" indent="-342900">
              <a:buFont typeface="+mj-lt"/>
              <a:buAutoNum type="arabicPeriod"/>
            </a:pPr>
            <a:r>
              <a:rPr lang="en-US" sz="1800" dirty="0" smtClean="0">
                <a:latin typeface="Arial Narrow" panose="020B0606020202030204" pitchFamily="34" charset="0"/>
              </a:rPr>
              <a:t>Data collection from interview, observation, images, audio </a:t>
            </a:r>
          </a:p>
          <a:p>
            <a:pPr marL="342900" indent="-342900">
              <a:buFont typeface="+mj-lt"/>
              <a:buAutoNum type="arabicPeriod"/>
            </a:pPr>
            <a:r>
              <a:rPr lang="en-US" sz="1800" dirty="0">
                <a:latin typeface="Arial Narrow" panose="020B0606020202030204" pitchFamily="34" charset="0"/>
              </a:rPr>
              <a:t>	</a:t>
            </a:r>
            <a:r>
              <a:rPr lang="en-US" sz="1800" dirty="0" smtClean="0">
                <a:latin typeface="Arial Narrow" panose="020B0606020202030204" pitchFamily="34" charset="0"/>
              </a:rPr>
              <a:t>recordings, voice recordings, narratives etc.</a:t>
            </a:r>
          </a:p>
          <a:p>
            <a:pPr marL="342900" indent="-342900">
              <a:buFont typeface="+mj-lt"/>
              <a:buAutoNum type="arabicPeriod"/>
            </a:pPr>
            <a:r>
              <a:rPr lang="en-US" sz="1800" dirty="0" smtClean="0">
                <a:latin typeface="Arial Narrow" panose="020B0606020202030204" pitchFamily="34" charset="0"/>
              </a:rPr>
              <a:t>Transcribe the data into text format.</a:t>
            </a:r>
          </a:p>
          <a:p>
            <a:pPr marL="342900" indent="-342900">
              <a:buFont typeface="+mj-lt"/>
              <a:buAutoNum type="arabicPeriod"/>
            </a:pPr>
            <a:r>
              <a:rPr lang="en-US" sz="1800" dirty="0" smtClean="0">
                <a:latin typeface="Arial Narrow" panose="020B0606020202030204" pitchFamily="34" charset="0"/>
              </a:rPr>
              <a:t>Data coding to </a:t>
            </a:r>
            <a:r>
              <a:rPr lang="en-US" sz="1800" dirty="0">
                <a:latin typeface="Arial Narrow" panose="020B0606020202030204" pitchFamily="34" charset="0"/>
              </a:rPr>
              <a:t>identify certain patterns, categories and </a:t>
            </a:r>
            <a:r>
              <a:rPr lang="en-US" sz="1800" dirty="0" smtClean="0">
                <a:latin typeface="Arial Narrow" panose="020B0606020202030204" pitchFamily="34" charset="0"/>
              </a:rPr>
              <a:t>themes</a:t>
            </a:r>
          </a:p>
          <a:p>
            <a:pPr marL="342900" indent="-342900">
              <a:buFont typeface="+mj-lt"/>
              <a:buAutoNum type="arabicPeriod"/>
            </a:pPr>
            <a:r>
              <a:rPr lang="en-US" sz="1800" dirty="0" smtClean="0">
                <a:latin typeface="Arial Narrow" panose="020B0606020202030204" pitchFamily="34" charset="0"/>
              </a:rPr>
              <a:t>Data collection again, only more </a:t>
            </a:r>
            <a:r>
              <a:rPr lang="en-US" sz="1800" i="1" dirty="0" smtClean="0">
                <a:latin typeface="Arial Narrow" panose="020B0606020202030204" pitchFamily="34" charset="0"/>
              </a:rPr>
              <a:t>targeted</a:t>
            </a:r>
            <a:r>
              <a:rPr lang="en-US" sz="1800" dirty="0" smtClean="0">
                <a:latin typeface="Arial Narrow" panose="020B0606020202030204" pitchFamily="34" charset="0"/>
              </a:rPr>
              <a:t> now that themes are in place</a:t>
            </a:r>
          </a:p>
          <a:p>
            <a:pPr marL="342900" indent="-342900">
              <a:buFont typeface="+mj-lt"/>
              <a:buAutoNum type="arabicPeriod"/>
            </a:pPr>
            <a:r>
              <a:rPr lang="en-US" sz="1800" dirty="0" smtClean="0">
                <a:latin typeface="Arial Narrow" panose="020B0606020202030204" pitchFamily="34" charset="0"/>
              </a:rPr>
              <a:t>Data analysis and generate theory</a:t>
            </a:r>
          </a:p>
          <a:p>
            <a:pPr marL="342900" indent="-342900">
              <a:buFont typeface="+mj-lt"/>
              <a:buAutoNum type="arabicPeriod"/>
            </a:pPr>
            <a:r>
              <a:rPr lang="en-US" sz="1800" dirty="0" smtClean="0">
                <a:latin typeface="Arial Narrow" panose="020B0606020202030204" pitchFamily="34" charset="0"/>
              </a:rPr>
              <a:t>Validate results to ensure replicability</a:t>
            </a:r>
            <a:endParaRPr lang="en-ZA" sz="1800" dirty="0">
              <a:latin typeface="Arial Narrow" panose="020B0606020202030204" pitchFamily="34" charset="0"/>
            </a:endParaRPr>
          </a:p>
        </p:txBody>
      </p:sp>
      <p:sp>
        <p:nvSpPr>
          <p:cNvPr id="2" name="Footer Placeholder 1"/>
          <p:cNvSpPr>
            <a:spLocks noGrp="1"/>
          </p:cNvSpPr>
          <p:nvPr>
            <p:ph type="ftr" sz="quarter" idx="11"/>
          </p:nvPr>
        </p:nvSpPr>
        <p:spPr/>
        <p:txBody>
          <a:bodyPr/>
          <a:lstStyle/>
          <a:p>
            <a:r>
              <a:rPr lang="en-US" smtClean="0"/>
              <a:t>Dr Alveen Singh - Dept of IT, DUT</a:t>
            </a:r>
            <a:endParaRPr lang="en-ZA"/>
          </a:p>
        </p:txBody>
      </p:sp>
      <p:sp>
        <p:nvSpPr>
          <p:cNvPr id="4" name="Slide Number Placeholder 3"/>
          <p:cNvSpPr>
            <a:spLocks noGrp="1"/>
          </p:cNvSpPr>
          <p:nvPr>
            <p:ph type="sldNum" sz="quarter" idx="12"/>
          </p:nvPr>
        </p:nvSpPr>
        <p:spPr/>
        <p:txBody>
          <a:bodyPr/>
          <a:lstStyle/>
          <a:p>
            <a:fld id="{F9D8934E-928E-4C38-807A-CB32A0A7C43F}" type="slidenum">
              <a:rPr lang="en-ZA" smtClean="0"/>
              <a:t>12</a:t>
            </a:fld>
            <a:endParaRPr lang="en-ZA"/>
          </a:p>
        </p:txBody>
      </p:sp>
      <p:pic>
        <p:nvPicPr>
          <p:cNvPr id="3" name="Picture 2"/>
          <p:cNvPicPr>
            <a:picLocks noChangeAspect="1"/>
          </p:cNvPicPr>
          <p:nvPr/>
        </p:nvPicPr>
        <p:blipFill>
          <a:blip r:embed="rId2"/>
          <a:stretch>
            <a:fillRect/>
          </a:stretch>
        </p:blipFill>
        <p:spPr>
          <a:xfrm>
            <a:off x="7345944" y="885825"/>
            <a:ext cx="3744013" cy="4722495"/>
          </a:xfrm>
          <a:prstGeom prst="rect">
            <a:avLst/>
          </a:prstGeom>
        </p:spPr>
      </p:pic>
      <p:sp>
        <p:nvSpPr>
          <p:cNvPr id="7" name="Rectangle 6"/>
          <p:cNvSpPr/>
          <p:nvPr/>
        </p:nvSpPr>
        <p:spPr>
          <a:xfrm>
            <a:off x="9217950" y="5821411"/>
            <a:ext cx="1152880" cy="307777"/>
          </a:xfrm>
          <a:prstGeom prst="rect">
            <a:avLst/>
          </a:prstGeom>
        </p:spPr>
        <p:txBody>
          <a:bodyPr wrap="none">
            <a:spAutoFit/>
          </a:bodyPr>
          <a:lstStyle/>
          <a:p>
            <a:r>
              <a:rPr lang="en-US" sz="1400" dirty="0" err="1" smtClean="0">
                <a:solidFill>
                  <a:srgbClr val="FF0000"/>
                </a:solidFill>
              </a:rPr>
              <a:t>Maxqda.com</a:t>
            </a:r>
            <a:endParaRPr lang="en-ZA" dirty="0">
              <a:solidFill>
                <a:srgbClr val="FF0000"/>
              </a:solidFill>
            </a:endParaRPr>
          </a:p>
        </p:txBody>
      </p:sp>
    </p:spTree>
    <p:extLst>
      <p:ext uri="{BB962C8B-B14F-4D97-AF65-F5344CB8AC3E}">
        <p14:creationId xmlns:p14="http://schemas.microsoft.com/office/powerpoint/2010/main" val="11316037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Overview of the Grounded Theory method Data Collection in the field...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7579" y="211454"/>
            <a:ext cx="4449306" cy="629602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613564" y="6199703"/>
            <a:ext cx="1197444" cy="307777"/>
          </a:xfrm>
          <a:prstGeom prst="rect">
            <a:avLst/>
          </a:prstGeom>
        </p:spPr>
        <p:txBody>
          <a:bodyPr wrap="none">
            <a:spAutoFit/>
          </a:bodyPr>
          <a:lstStyle/>
          <a:p>
            <a:r>
              <a:rPr lang="en-US" sz="1400" dirty="0" err="1" smtClean="0">
                <a:solidFill>
                  <a:srgbClr val="FF0000"/>
                </a:solidFill>
              </a:rPr>
              <a:t>Researchgate</a:t>
            </a:r>
            <a:endParaRPr lang="en-ZA" dirty="0">
              <a:solidFill>
                <a:srgbClr val="FF0000"/>
              </a:solidFill>
            </a:endParaRPr>
          </a:p>
        </p:txBody>
      </p:sp>
      <p:sp>
        <p:nvSpPr>
          <p:cNvPr id="2" name="Left Arrow 1"/>
          <p:cNvSpPr/>
          <p:nvPr/>
        </p:nvSpPr>
        <p:spPr>
          <a:xfrm>
            <a:off x="6740434" y="696686"/>
            <a:ext cx="1497875" cy="287383"/>
          </a:xfrm>
          <a:prstGeom prst="lef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ZA"/>
          </a:p>
        </p:txBody>
      </p:sp>
      <p:sp>
        <p:nvSpPr>
          <p:cNvPr id="4" name="Dodecagon 3"/>
          <p:cNvSpPr/>
          <p:nvPr/>
        </p:nvSpPr>
        <p:spPr>
          <a:xfrm>
            <a:off x="8238309" y="640079"/>
            <a:ext cx="365760" cy="400595"/>
          </a:xfrm>
          <a:prstGeom prst="dodecagon">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1</a:t>
            </a:r>
            <a:endParaRPr lang="en-ZA" dirty="0"/>
          </a:p>
        </p:txBody>
      </p:sp>
      <p:sp>
        <p:nvSpPr>
          <p:cNvPr id="6" name="Left Arrow 5"/>
          <p:cNvSpPr/>
          <p:nvPr/>
        </p:nvSpPr>
        <p:spPr>
          <a:xfrm rot="8703782">
            <a:off x="2265112" y="5231900"/>
            <a:ext cx="799127" cy="284983"/>
          </a:xfrm>
          <a:prstGeom prst="leftArrow">
            <a:avLst>
              <a:gd name="adj1" fmla="val 50000"/>
              <a:gd name="adj2" fmla="val 53030"/>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ZA"/>
          </a:p>
        </p:txBody>
      </p:sp>
      <p:sp>
        <p:nvSpPr>
          <p:cNvPr id="7" name="Dodecagon 6"/>
          <p:cNvSpPr/>
          <p:nvPr/>
        </p:nvSpPr>
        <p:spPr>
          <a:xfrm>
            <a:off x="2011819" y="5512859"/>
            <a:ext cx="365760" cy="400595"/>
          </a:xfrm>
          <a:prstGeom prst="dodecagon">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2</a:t>
            </a:r>
            <a:endParaRPr lang="en-ZA" dirty="0"/>
          </a:p>
        </p:txBody>
      </p:sp>
    </p:spTree>
    <p:extLst>
      <p:ext uri="{BB962C8B-B14F-4D97-AF65-F5344CB8AC3E}">
        <p14:creationId xmlns:p14="http://schemas.microsoft.com/office/powerpoint/2010/main" val="283663891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1295400" y="376236"/>
            <a:ext cx="5455919" cy="3503295"/>
          </a:xfrm>
        </p:spPr>
        <p:txBody>
          <a:bodyPr anchor="t">
            <a:normAutofit/>
          </a:bodyPr>
          <a:lstStyle/>
          <a:p>
            <a:pPr marL="0" indent="0">
              <a:buNone/>
            </a:pPr>
            <a:r>
              <a:rPr lang="en-US" b="1" dirty="0" smtClean="0">
                <a:solidFill>
                  <a:srgbClr val="0070C0"/>
                </a:solidFill>
                <a:latin typeface="Arial Narrow" panose="020B0606020202030204" pitchFamily="34" charset="0"/>
              </a:rPr>
              <a:t>Coding</a:t>
            </a:r>
          </a:p>
          <a:p>
            <a:pPr marL="0" indent="0">
              <a:buNone/>
            </a:pPr>
            <a:r>
              <a:rPr lang="en-US" sz="2000" b="1" dirty="0" smtClean="0">
                <a:solidFill>
                  <a:srgbClr val="0070C0"/>
                </a:solidFill>
                <a:latin typeface="Arial Narrow" panose="020B0606020202030204" pitchFamily="34" charset="0"/>
              </a:rPr>
              <a:t>Three main steps to coding</a:t>
            </a:r>
          </a:p>
          <a:p>
            <a:pPr marL="0" indent="0" algn="just">
              <a:buNone/>
            </a:pPr>
            <a:r>
              <a:rPr lang="en-US" sz="1800" b="1" dirty="0" smtClean="0">
                <a:solidFill>
                  <a:srgbClr val="FF0000"/>
                </a:solidFill>
                <a:latin typeface="Arial Narrow" panose="020B0606020202030204" pitchFamily="34" charset="0"/>
              </a:rPr>
              <a:t>Open coding: </a:t>
            </a:r>
            <a:r>
              <a:rPr lang="en-US" sz="1800" b="1" dirty="0" smtClean="0">
                <a:latin typeface="Arial Narrow" panose="020B0606020202030204" pitchFamily="34" charset="0"/>
              </a:rPr>
              <a:t>divide the transcripts into parts each uniquely labeled. “Open up”.</a:t>
            </a:r>
          </a:p>
          <a:p>
            <a:pPr marL="0" indent="0" algn="just">
              <a:buNone/>
            </a:pPr>
            <a:r>
              <a:rPr lang="en-US" sz="1800" b="1" dirty="0" smtClean="0">
                <a:solidFill>
                  <a:srgbClr val="FF0000"/>
                </a:solidFill>
                <a:latin typeface="Arial Narrow" panose="020B0606020202030204" pitchFamily="34" charset="0"/>
              </a:rPr>
              <a:t>Axial coding: </a:t>
            </a:r>
            <a:r>
              <a:rPr lang="en-US" sz="1800" b="1" dirty="0" smtClean="0">
                <a:latin typeface="Arial Narrow" panose="020B0606020202030204" pitchFamily="34" charset="0"/>
              </a:rPr>
              <a:t>draw relationships between codes and organize them into categories. Create “axes” around which data can be grouped</a:t>
            </a:r>
          </a:p>
          <a:p>
            <a:pPr marL="0" indent="0" algn="just">
              <a:buNone/>
            </a:pPr>
            <a:r>
              <a:rPr lang="en-US" sz="1800" b="1" dirty="0" smtClean="0">
                <a:solidFill>
                  <a:srgbClr val="FF0000"/>
                </a:solidFill>
                <a:latin typeface="Arial Narrow" panose="020B0606020202030204" pitchFamily="34" charset="0"/>
              </a:rPr>
              <a:t>Selective coding: </a:t>
            </a:r>
            <a:r>
              <a:rPr lang="en-US" sz="1800" b="1" dirty="0" smtClean="0">
                <a:latin typeface="Arial Narrow" panose="020B0606020202030204" pitchFamily="34" charset="0"/>
              </a:rPr>
              <a:t>categories are connected into one core category. This forms the theory and the contribution of the research.</a:t>
            </a:r>
            <a:endParaRPr lang="en-ZA" sz="1800" b="1" dirty="0">
              <a:latin typeface="Arial Narrow" panose="020B0606020202030204" pitchFamily="34" charset="0"/>
            </a:endParaRPr>
          </a:p>
        </p:txBody>
      </p:sp>
      <p:sp>
        <p:nvSpPr>
          <p:cNvPr id="4" name="Slide Number Placeholder 3"/>
          <p:cNvSpPr>
            <a:spLocks noGrp="1"/>
          </p:cNvSpPr>
          <p:nvPr>
            <p:ph type="sldNum" sz="quarter" idx="12"/>
          </p:nvPr>
        </p:nvSpPr>
        <p:spPr/>
        <p:txBody>
          <a:bodyPr/>
          <a:lstStyle/>
          <a:p>
            <a:fld id="{F9D8934E-928E-4C38-807A-CB32A0A7C43F}" type="slidenum">
              <a:rPr lang="en-ZA" smtClean="0"/>
              <a:t>14</a:t>
            </a:fld>
            <a:endParaRPr lang="en-ZA"/>
          </a:p>
        </p:txBody>
      </p:sp>
      <p:pic>
        <p:nvPicPr>
          <p:cNvPr id="3" name="Picture 2"/>
          <p:cNvPicPr>
            <a:picLocks noChangeAspect="1"/>
          </p:cNvPicPr>
          <p:nvPr/>
        </p:nvPicPr>
        <p:blipFill>
          <a:blip r:embed="rId2"/>
          <a:stretch>
            <a:fillRect/>
          </a:stretch>
        </p:blipFill>
        <p:spPr>
          <a:xfrm>
            <a:off x="7020113" y="376236"/>
            <a:ext cx="4482910" cy="5924551"/>
          </a:xfrm>
          <a:prstGeom prst="rect">
            <a:avLst/>
          </a:prstGeom>
        </p:spPr>
      </p:pic>
      <p:sp>
        <p:nvSpPr>
          <p:cNvPr id="7" name="Rectangle 6"/>
          <p:cNvSpPr/>
          <p:nvPr/>
        </p:nvSpPr>
        <p:spPr>
          <a:xfrm>
            <a:off x="8328564" y="6340475"/>
            <a:ext cx="1219886" cy="307777"/>
          </a:xfrm>
          <a:prstGeom prst="rect">
            <a:avLst/>
          </a:prstGeom>
        </p:spPr>
        <p:txBody>
          <a:bodyPr wrap="none">
            <a:spAutoFit/>
          </a:bodyPr>
          <a:lstStyle/>
          <a:p>
            <a:r>
              <a:rPr lang="en-US" sz="1400" dirty="0" smtClean="0">
                <a:solidFill>
                  <a:srgbClr val="FF0000"/>
                </a:solidFill>
              </a:rPr>
              <a:t>Mendez, 2014</a:t>
            </a:r>
            <a:endParaRPr lang="en-ZA" dirty="0">
              <a:solidFill>
                <a:srgbClr val="FF0000"/>
              </a:solidFill>
            </a:endParaRPr>
          </a:p>
        </p:txBody>
      </p:sp>
      <p:pic>
        <p:nvPicPr>
          <p:cNvPr id="5" name="Picture 4"/>
          <p:cNvPicPr>
            <a:picLocks noChangeAspect="1"/>
          </p:cNvPicPr>
          <p:nvPr/>
        </p:nvPicPr>
        <p:blipFill>
          <a:blip r:embed="rId3"/>
          <a:stretch>
            <a:fillRect/>
          </a:stretch>
        </p:blipFill>
        <p:spPr>
          <a:xfrm>
            <a:off x="899160" y="3879531"/>
            <a:ext cx="2664142" cy="1147518"/>
          </a:xfrm>
          <a:prstGeom prst="rect">
            <a:avLst/>
          </a:prstGeom>
        </p:spPr>
      </p:pic>
      <p:pic>
        <p:nvPicPr>
          <p:cNvPr id="8" name="Picture 7"/>
          <p:cNvPicPr>
            <a:picLocks noChangeAspect="1"/>
          </p:cNvPicPr>
          <p:nvPr/>
        </p:nvPicPr>
        <p:blipFill>
          <a:blip r:embed="rId4"/>
          <a:stretch>
            <a:fillRect/>
          </a:stretch>
        </p:blipFill>
        <p:spPr>
          <a:xfrm>
            <a:off x="1883849" y="5226257"/>
            <a:ext cx="2676319" cy="1147518"/>
          </a:xfrm>
          <a:prstGeom prst="rect">
            <a:avLst/>
          </a:prstGeom>
        </p:spPr>
      </p:pic>
      <p:pic>
        <p:nvPicPr>
          <p:cNvPr id="9" name="Picture 8"/>
          <p:cNvPicPr>
            <a:picLocks noChangeAspect="1"/>
          </p:cNvPicPr>
          <p:nvPr/>
        </p:nvPicPr>
        <p:blipFill>
          <a:blip r:embed="rId5"/>
          <a:stretch>
            <a:fillRect/>
          </a:stretch>
        </p:blipFill>
        <p:spPr>
          <a:xfrm>
            <a:off x="5029472" y="5532275"/>
            <a:ext cx="2637675" cy="1130948"/>
          </a:xfrm>
          <a:prstGeom prst="rect">
            <a:avLst/>
          </a:prstGeom>
        </p:spPr>
      </p:pic>
      <p:sp>
        <p:nvSpPr>
          <p:cNvPr id="10" name="Rectangle 9"/>
          <p:cNvSpPr/>
          <p:nvPr/>
        </p:nvSpPr>
        <p:spPr>
          <a:xfrm>
            <a:off x="2877789" y="6494363"/>
            <a:ext cx="1145570" cy="307777"/>
          </a:xfrm>
          <a:prstGeom prst="rect">
            <a:avLst/>
          </a:prstGeom>
        </p:spPr>
        <p:txBody>
          <a:bodyPr wrap="none">
            <a:spAutoFit/>
          </a:bodyPr>
          <a:lstStyle/>
          <a:p>
            <a:r>
              <a:rPr lang="en-US" sz="1400" dirty="0" err="1" smtClean="0">
                <a:solidFill>
                  <a:srgbClr val="FF0000"/>
                </a:solidFill>
              </a:rPr>
              <a:t>Devtool.com</a:t>
            </a:r>
            <a:endParaRPr lang="en-ZA" dirty="0">
              <a:solidFill>
                <a:srgbClr val="FF0000"/>
              </a:solidFill>
            </a:endParaRPr>
          </a:p>
        </p:txBody>
      </p:sp>
    </p:spTree>
    <p:extLst>
      <p:ext uri="{BB962C8B-B14F-4D97-AF65-F5344CB8AC3E}">
        <p14:creationId xmlns:p14="http://schemas.microsoft.com/office/powerpoint/2010/main" val="329684997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1484310" y="885825"/>
            <a:ext cx="10018713" cy="4905375"/>
          </a:xfrm>
        </p:spPr>
        <p:txBody>
          <a:bodyPr anchor="t">
            <a:normAutofit/>
          </a:bodyPr>
          <a:lstStyle/>
          <a:p>
            <a:pPr marL="0" indent="0">
              <a:buNone/>
            </a:pPr>
            <a:r>
              <a:rPr lang="en-US" sz="2000" b="1" dirty="0" smtClean="0">
                <a:solidFill>
                  <a:srgbClr val="0070C0"/>
                </a:solidFill>
                <a:latin typeface="Arial Narrow" panose="020B0606020202030204" pitchFamily="34" charset="0"/>
              </a:rPr>
              <a:t>Software tools for support qualitative analysis include </a:t>
            </a:r>
            <a:r>
              <a:rPr lang="en-US" sz="2000" b="1" dirty="0" err="1" smtClean="0">
                <a:solidFill>
                  <a:srgbClr val="0070C0"/>
                </a:solidFill>
                <a:latin typeface="Arial Narrow" panose="020B0606020202030204" pitchFamily="34" charset="0"/>
              </a:rPr>
              <a:t>Nvivo</a:t>
            </a:r>
            <a:r>
              <a:rPr lang="en-US" sz="2000" b="1" dirty="0" smtClean="0">
                <a:solidFill>
                  <a:srgbClr val="0070C0"/>
                </a:solidFill>
                <a:latin typeface="Arial Narrow" panose="020B0606020202030204" pitchFamily="34" charset="0"/>
              </a:rPr>
              <a:t> and </a:t>
            </a:r>
            <a:r>
              <a:rPr lang="en-US" sz="2000" b="1" dirty="0" err="1" smtClean="0">
                <a:solidFill>
                  <a:srgbClr val="0070C0"/>
                </a:solidFill>
                <a:latin typeface="Arial Narrow" panose="020B0606020202030204" pitchFamily="34" charset="0"/>
              </a:rPr>
              <a:t>AtlasTi</a:t>
            </a:r>
            <a:r>
              <a:rPr lang="en-US" sz="2000" b="1" dirty="0" smtClean="0">
                <a:solidFill>
                  <a:srgbClr val="0070C0"/>
                </a:solidFill>
                <a:latin typeface="Arial Narrow" panose="020B0606020202030204" pitchFamily="34" charset="0"/>
              </a:rPr>
              <a:t>.</a:t>
            </a:r>
            <a:endParaRPr lang="en-ZA" sz="2000" b="1" dirty="0">
              <a:solidFill>
                <a:srgbClr val="0070C0"/>
              </a:solidFill>
              <a:latin typeface="Arial Narrow" panose="020B0606020202030204" pitchFamily="34" charset="0"/>
            </a:endParaRPr>
          </a:p>
        </p:txBody>
      </p:sp>
      <p:sp>
        <p:nvSpPr>
          <p:cNvPr id="2" name="Footer Placeholder 1"/>
          <p:cNvSpPr>
            <a:spLocks noGrp="1"/>
          </p:cNvSpPr>
          <p:nvPr>
            <p:ph type="ftr" sz="quarter" idx="11"/>
          </p:nvPr>
        </p:nvSpPr>
        <p:spPr/>
        <p:txBody>
          <a:bodyPr/>
          <a:lstStyle/>
          <a:p>
            <a:r>
              <a:rPr lang="en-US" smtClean="0"/>
              <a:t>Dr Alveen Singh - Dept of IT, DUT</a:t>
            </a:r>
            <a:endParaRPr lang="en-ZA"/>
          </a:p>
        </p:txBody>
      </p:sp>
      <p:sp>
        <p:nvSpPr>
          <p:cNvPr id="4" name="Slide Number Placeholder 3"/>
          <p:cNvSpPr>
            <a:spLocks noGrp="1"/>
          </p:cNvSpPr>
          <p:nvPr>
            <p:ph type="sldNum" sz="quarter" idx="12"/>
          </p:nvPr>
        </p:nvSpPr>
        <p:spPr/>
        <p:txBody>
          <a:bodyPr/>
          <a:lstStyle/>
          <a:p>
            <a:fld id="{F9D8934E-928E-4C38-807A-CB32A0A7C43F}" type="slidenum">
              <a:rPr lang="en-ZA" smtClean="0"/>
              <a:t>15</a:t>
            </a:fld>
            <a:endParaRPr lang="en-ZA"/>
          </a:p>
        </p:txBody>
      </p:sp>
      <p:pic>
        <p:nvPicPr>
          <p:cNvPr id="8194" name="Picture 2" descr="Open Coding - ATLAS.ti for Qualitative Research - ULibraries Research  Guides at University of Uta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6388" y="2703305"/>
            <a:ext cx="9595958" cy="1732487"/>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9374675" y="5197523"/>
            <a:ext cx="1197444" cy="307777"/>
          </a:xfrm>
          <a:prstGeom prst="rect">
            <a:avLst/>
          </a:prstGeom>
        </p:spPr>
        <p:txBody>
          <a:bodyPr wrap="none">
            <a:spAutoFit/>
          </a:bodyPr>
          <a:lstStyle/>
          <a:p>
            <a:r>
              <a:rPr lang="en-US" sz="1400" dirty="0" err="1" smtClean="0">
                <a:solidFill>
                  <a:srgbClr val="FF0000"/>
                </a:solidFill>
              </a:rPr>
              <a:t>Researchgate</a:t>
            </a:r>
            <a:endParaRPr lang="en-ZA" dirty="0">
              <a:solidFill>
                <a:srgbClr val="FF0000"/>
              </a:solidFill>
            </a:endParaRPr>
          </a:p>
        </p:txBody>
      </p:sp>
    </p:spTree>
    <p:extLst>
      <p:ext uri="{BB962C8B-B14F-4D97-AF65-F5344CB8AC3E}">
        <p14:creationId xmlns:p14="http://schemas.microsoft.com/office/powerpoint/2010/main" val="351928221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9339B4A-3334-40B8-B9D1-9FE2C92E888A}" type="slidenum">
              <a:rPr lang="en-ZA" smtClean="0"/>
              <a:t>16</a:t>
            </a:fld>
            <a:endParaRPr lang="en-ZA"/>
          </a:p>
        </p:txBody>
      </p:sp>
      <p:graphicFrame>
        <p:nvGraphicFramePr>
          <p:cNvPr id="7" name="Table 6"/>
          <p:cNvGraphicFramePr>
            <a:graphicFrameLocks noGrp="1"/>
          </p:cNvGraphicFramePr>
          <p:nvPr>
            <p:extLst/>
          </p:nvPr>
        </p:nvGraphicFramePr>
        <p:xfrm>
          <a:off x="1816098" y="657226"/>
          <a:ext cx="8890002" cy="4957611"/>
        </p:xfrm>
        <a:graphic>
          <a:graphicData uri="http://schemas.openxmlformats.org/drawingml/2006/table">
            <a:tbl>
              <a:tblPr firstRow="1" firstCol="1" bandRow="1"/>
              <a:tblGrid>
                <a:gridCol w="2075392">
                  <a:extLst>
                    <a:ext uri="{9D8B030D-6E8A-4147-A177-3AD203B41FA5}">
                      <a16:colId xmlns:a16="http://schemas.microsoft.com/office/drawing/2014/main" val="3935835663"/>
                    </a:ext>
                  </a:extLst>
                </a:gridCol>
                <a:gridCol w="6814610">
                  <a:extLst>
                    <a:ext uri="{9D8B030D-6E8A-4147-A177-3AD203B41FA5}">
                      <a16:colId xmlns:a16="http://schemas.microsoft.com/office/drawing/2014/main" val="163659171"/>
                    </a:ext>
                  </a:extLst>
                </a:gridCol>
              </a:tblGrid>
              <a:tr h="260183">
                <a:tc>
                  <a:txBody>
                    <a:bodyPr/>
                    <a:lstStyle/>
                    <a:p>
                      <a:pPr algn="just">
                        <a:spcAft>
                          <a:spcPts val="0"/>
                        </a:spcAft>
                      </a:pPr>
                      <a:r>
                        <a:rPr lang="en-GB" sz="1800">
                          <a:effectLst/>
                          <a:latin typeface="Gill Sans MT" panose="020B0502020104020203" pitchFamily="34" charset="0"/>
                          <a:ea typeface="Times New Roman" panose="02020603050405020304" pitchFamily="18" charset="0"/>
                          <a:cs typeface="Arial" panose="020B0604020202020204" pitchFamily="34" charset="0"/>
                        </a:rPr>
                        <a:t>Participant </a:t>
                      </a:r>
                      <a:endParaRPr lang="en-ZA" sz="2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GB" sz="1800">
                          <a:effectLst/>
                          <a:latin typeface="Gill Sans MT" panose="020B0502020104020203" pitchFamily="34" charset="0"/>
                          <a:ea typeface="Times New Roman" panose="02020603050405020304" pitchFamily="18" charset="0"/>
                          <a:cs typeface="Arial" panose="020B0604020202020204" pitchFamily="34" charset="0"/>
                        </a:rPr>
                        <a:t>Response</a:t>
                      </a:r>
                      <a:endParaRPr lang="en-ZA" sz="2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65336837"/>
                  </a:ext>
                </a:extLst>
              </a:tr>
              <a:tr h="1300914">
                <a:tc>
                  <a:txBody>
                    <a:bodyPr/>
                    <a:lstStyle/>
                    <a:p>
                      <a:pPr algn="just">
                        <a:spcAft>
                          <a:spcPts val="0"/>
                        </a:spcAft>
                      </a:pPr>
                      <a:r>
                        <a:rPr lang="en-GB" sz="1800" dirty="0">
                          <a:effectLst/>
                          <a:latin typeface="Gill Sans MT" panose="020B0502020104020203" pitchFamily="34" charset="0"/>
                          <a:ea typeface="Times New Roman" panose="02020603050405020304" pitchFamily="18" charset="0"/>
                          <a:cs typeface="Arial" panose="020B0604020202020204" pitchFamily="34" charset="0"/>
                        </a:rPr>
                        <a:t>Student 1</a:t>
                      </a:r>
                      <a:endParaRPr lang="en-ZA" sz="2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GB" sz="1800">
                          <a:effectLst/>
                          <a:latin typeface="Gill Sans MT" panose="020B0502020104020203" pitchFamily="34" charset="0"/>
                          <a:ea typeface="Times New Roman" panose="02020603050405020304" pitchFamily="18" charset="0"/>
                          <a:cs typeface="Arial" panose="020B0604020202020204" pitchFamily="34" charset="0"/>
                        </a:rPr>
                        <a:t>The complexity is too much. From high school to first year the work is too much. The university must make a plan and sort us out with data. We need more data so we can work from residence and home.</a:t>
                      </a:r>
                      <a:endParaRPr lang="en-ZA" sz="2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36641444"/>
                  </a:ext>
                </a:extLst>
              </a:tr>
              <a:tr h="1821280">
                <a:tc>
                  <a:txBody>
                    <a:bodyPr/>
                    <a:lstStyle/>
                    <a:p>
                      <a:pPr algn="just">
                        <a:spcAft>
                          <a:spcPts val="0"/>
                        </a:spcAft>
                      </a:pPr>
                      <a:r>
                        <a:rPr lang="en-GB" sz="1800">
                          <a:effectLst/>
                          <a:latin typeface="Gill Sans MT" panose="020B0502020104020203" pitchFamily="34" charset="0"/>
                          <a:ea typeface="Times New Roman" panose="02020603050405020304" pitchFamily="18" charset="0"/>
                          <a:cs typeface="Arial" panose="020B0604020202020204" pitchFamily="34" charset="0"/>
                        </a:rPr>
                        <a:t>Student 2</a:t>
                      </a:r>
                      <a:endParaRPr lang="en-ZA" sz="2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GB" sz="1800">
                          <a:effectLst/>
                          <a:latin typeface="Gill Sans MT" panose="020B0502020104020203" pitchFamily="34" charset="0"/>
                          <a:ea typeface="Times New Roman" panose="02020603050405020304" pitchFamily="18" charset="0"/>
                          <a:cs typeface="Arial" panose="020B0604020202020204" pitchFamily="34" charset="0"/>
                        </a:rPr>
                        <a:t>I will make it better in programming if I can practice more. The time is not enough time in open access. My parents are not working and data is hard so I can’t practice from home and I stay very far from campus so I can’t travel late or on weekends.</a:t>
                      </a:r>
                      <a:endParaRPr lang="en-ZA" sz="2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5416633"/>
                  </a:ext>
                </a:extLst>
              </a:tr>
              <a:tr h="1561097">
                <a:tc>
                  <a:txBody>
                    <a:bodyPr/>
                    <a:lstStyle/>
                    <a:p>
                      <a:pPr algn="just">
                        <a:spcAft>
                          <a:spcPts val="0"/>
                        </a:spcAft>
                      </a:pPr>
                      <a:r>
                        <a:rPr lang="en-GB" sz="1800">
                          <a:effectLst/>
                          <a:latin typeface="Gill Sans MT" panose="020B0502020104020203" pitchFamily="34" charset="0"/>
                          <a:ea typeface="Times New Roman" panose="02020603050405020304" pitchFamily="18" charset="0"/>
                          <a:cs typeface="Arial" panose="020B0604020202020204" pitchFamily="34" charset="0"/>
                        </a:rPr>
                        <a:t>Student 3</a:t>
                      </a:r>
                      <a:endParaRPr lang="en-ZA" sz="2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GB" sz="1800" dirty="0">
                          <a:effectLst/>
                          <a:latin typeface="Gill Sans MT" panose="020B0502020104020203" pitchFamily="34" charset="0"/>
                          <a:ea typeface="Times New Roman" panose="02020603050405020304" pitchFamily="18" charset="0"/>
                          <a:cs typeface="Arial" panose="020B0604020202020204" pitchFamily="34" charset="0"/>
                        </a:rPr>
                        <a:t>We need more tuition. Our lecturers are not very good and they don’t understand that we need time to learn and get used to programming. It is not easy for us and first time is hard. </a:t>
                      </a:r>
                      <a:r>
                        <a:rPr lang="en-GB" sz="1800" dirty="0" err="1">
                          <a:effectLst/>
                          <a:latin typeface="Gill Sans MT" panose="020B0502020104020203" pitchFamily="34" charset="0"/>
                          <a:ea typeface="Times New Roman" panose="02020603050405020304" pitchFamily="18" charset="0"/>
                          <a:cs typeface="Arial" panose="020B0604020202020204" pitchFamily="34" charset="0"/>
                        </a:rPr>
                        <a:t>Wifi</a:t>
                      </a:r>
                      <a:r>
                        <a:rPr lang="en-GB" sz="1800" dirty="0">
                          <a:effectLst/>
                          <a:latin typeface="Gill Sans MT" panose="020B0502020104020203" pitchFamily="34" charset="0"/>
                          <a:ea typeface="Times New Roman" panose="02020603050405020304" pitchFamily="18" charset="0"/>
                          <a:cs typeface="Arial" panose="020B0604020202020204" pitchFamily="34" charset="0"/>
                        </a:rPr>
                        <a:t> is bad.</a:t>
                      </a:r>
                      <a:endParaRPr lang="en-ZA" sz="2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67328667"/>
                  </a:ext>
                </a:extLst>
              </a:tr>
            </a:tbl>
          </a:graphicData>
        </a:graphic>
      </p:graphicFrame>
      <p:sp>
        <p:nvSpPr>
          <p:cNvPr id="2" name="Footer Placeholder 1"/>
          <p:cNvSpPr>
            <a:spLocks noGrp="1"/>
          </p:cNvSpPr>
          <p:nvPr>
            <p:ph type="ftr" sz="quarter" idx="11"/>
          </p:nvPr>
        </p:nvSpPr>
        <p:spPr/>
        <p:txBody>
          <a:bodyPr/>
          <a:lstStyle/>
          <a:p>
            <a:r>
              <a:rPr lang="en-ZA" smtClean="0"/>
              <a:t>PRESE4R</a:t>
            </a:r>
            <a:endParaRPr lang="en-ZA"/>
          </a:p>
        </p:txBody>
      </p:sp>
    </p:spTree>
    <p:extLst>
      <p:ext uri="{BB962C8B-B14F-4D97-AF65-F5344CB8AC3E}">
        <p14:creationId xmlns:p14="http://schemas.microsoft.com/office/powerpoint/2010/main" val="25676036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19339B4A-3334-40B8-B9D1-9FE2C92E888A}" type="slidenum">
              <a:rPr lang="en-ZA" smtClean="0"/>
              <a:t>17</a:t>
            </a:fld>
            <a:endParaRPr lang="en-ZA"/>
          </a:p>
        </p:txBody>
      </p:sp>
      <p:graphicFrame>
        <p:nvGraphicFramePr>
          <p:cNvPr id="4" name="Table 3"/>
          <p:cNvGraphicFramePr>
            <a:graphicFrameLocks noGrp="1"/>
          </p:cNvGraphicFramePr>
          <p:nvPr>
            <p:extLst/>
          </p:nvPr>
        </p:nvGraphicFramePr>
        <p:xfrm>
          <a:off x="2023754" y="1158674"/>
          <a:ext cx="8890002" cy="4957611"/>
        </p:xfrm>
        <a:graphic>
          <a:graphicData uri="http://schemas.openxmlformats.org/drawingml/2006/table">
            <a:tbl>
              <a:tblPr firstRow="1" firstCol="1" bandRow="1"/>
              <a:tblGrid>
                <a:gridCol w="2075392">
                  <a:extLst>
                    <a:ext uri="{9D8B030D-6E8A-4147-A177-3AD203B41FA5}">
                      <a16:colId xmlns:a16="http://schemas.microsoft.com/office/drawing/2014/main" val="3935835663"/>
                    </a:ext>
                  </a:extLst>
                </a:gridCol>
                <a:gridCol w="6814610">
                  <a:extLst>
                    <a:ext uri="{9D8B030D-6E8A-4147-A177-3AD203B41FA5}">
                      <a16:colId xmlns:a16="http://schemas.microsoft.com/office/drawing/2014/main" val="163659171"/>
                    </a:ext>
                  </a:extLst>
                </a:gridCol>
              </a:tblGrid>
              <a:tr h="260183">
                <a:tc>
                  <a:txBody>
                    <a:bodyPr/>
                    <a:lstStyle/>
                    <a:p>
                      <a:pPr algn="just">
                        <a:spcAft>
                          <a:spcPts val="0"/>
                        </a:spcAft>
                      </a:pPr>
                      <a:r>
                        <a:rPr lang="en-GB" sz="1800">
                          <a:effectLst/>
                          <a:latin typeface="Gill Sans MT" panose="020B0502020104020203" pitchFamily="34" charset="0"/>
                          <a:ea typeface="Times New Roman" panose="02020603050405020304" pitchFamily="18" charset="0"/>
                          <a:cs typeface="Arial" panose="020B0604020202020204" pitchFamily="34" charset="0"/>
                        </a:rPr>
                        <a:t>Participant </a:t>
                      </a:r>
                      <a:endParaRPr lang="en-ZA" sz="2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GB" sz="1800">
                          <a:effectLst/>
                          <a:latin typeface="Gill Sans MT" panose="020B0502020104020203" pitchFamily="34" charset="0"/>
                          <a:ea typeface="Times New Roman" panose="02020603050405020304" pitchFamily="18" charset="0"/>
                          <a:cs typeface="Arial" panose="020B0604020202020204" pitchFamily="34" charset="0"/>
                        </a:rPr>
                        <a:t>Response</a:t>
                      </a:r>
                      <a:endParaRPr lang="en-ZA" sz="2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65336837"/>
                  </a:ext>
                </a:extLst>
              </a:tr>
              <a:tr h="1300914">
                <a:tc>
                  <a:txBody>
                    <a:bodyPr/>
                    <a:lstStyle/>
                    <a:p>
                      <a:pPr algn="just">
                        <a:spcAft>
                          <a:spcPts val="0"/>
                        </a:spcAft>
                      </a:pPr>
                      <a:r>
                        <a:rPr lang="en-GB" sz="1800" dirty="0">
                          <a:effectLst/>
                          <a:latin typeface="Gill Sans MT" panose="020B0502020104020203" pitchFamily="34" charset="0"/>
                          <a:ea typeface="Times New Roman" panose="02020603050405020304" pitchFamily="18" charset="0"/>
                          <a:cs typeface="Arial" panose="020B0604020202020204" pitchFamily="34" charset="0"/>
                        </a:rPr>
                        <a:t>Student 1</a:t>
                      </a:r>
                      <a:endParaRPr lang="en-ZA" sz="2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GB" sz="1800" dirty="0">
                          <a:effectLst/>
                          <a:latin typeface="Gill Sans MT" panose="020B0502020104020203" pitchFamily="34" charset="0"/>
                          <a:ea typeface="Times New Roman" panose="02020603050405020304" pitchFamily="18" charset="0"/>
                          <a:cs typeface="Arial" panose="020B0604020202020204" pitchFamily="34" charset="0"/>
                        </a:rPr>
                        <a:t>The </a:t>
                      </a:r>
                      <a:r>
                        <a:rPr lang="en-GB" sz="1800" dirty="0">
                          <a:effectLst>
                            <a:glow rad="127000">
                              <a:srgbClr val="FFFF00"/>
                            </a:glow>
                          </a:effectLst>
                          <a:latin typeface="Gill Sans MT" panose="020B0502020104020203" pitchFamily="34" charset="0"/>
                          <a:ea typeface="Times New Roman" panose="02020603050405020304" pitchFamily="18" charset="0"/>
                          <a:cs typeface="Arial" panose="020B0604020202020204" pitchFamily="34" charset="0"/>
                        </a:rPr>
                        <a:t>complexity is too much</a:t>
                      </a:r>
                      <a:r>
                        <a:rPr lang="en-GB" sz="1800" dirty="0">
                          <a:effectLst/>
                          <a:latin typeface="Gill Sans MT" panose="020B0502020104020203" pitchFamily="34" charset="0"/>
                          <a:ea typeface="Times New Roman" panose="02020603050405020304" pitchFamily="18" charset="0"/>
                          <a:cs typeface="Arial" panose="020B0604020202020204" pitchFamily="34" charset="0"/>
                        </a:rPr>
                        <a:t>. From high school to first year the </a:t>
                      </a:r>
                      <a:r>
                        <a:rPr lang="en-GB" sz="1800" dirty="0">
                          <a:effectLst>
                            <a:glow rad="127000">
                              <a:srgbClr val="FFFF00"/>
                            </a:glow>
                          </a:effectLst>
                          <a:latin typeface="Gill Sans MT" panose="020B0502020104020203" pitchFamily="34" charset="0"/>
                          <a:ea typeface="Times New Roman" panose="02020603050405020304" pitchFamily="18" charset="0"/>
                          <a:cs typeface="Arial" panose="020B0604020202020204" pitchFamily="34" charset="0"/>
                        </a:rPr>
                        <a:t>work is too much</a:t>
                      </a:r>
                      <a:r>
                        <a:rPr lang="en-GB" sz="1800" dirty="0">
                          <a:effectLst/>
                          <a:latin typeface="Gill Sans MT" panose="020B0502020104020203" pitchFamily="34" charset="0"/>
                          <a:ea typeface="Times New Roman" panose="02020603050405020304" pitchFamily="18" charset="0"/>
                          <a:cs typeface="Arial" panose="020B0604020202020204" pitchFamily="34" charset="0"/>
                        </a:rPr>
                        <a:t>. The university must make a plan and </a:t>
                      </a:r>
                      <a:r>
                        <a:rPr lang="en-GB" sz="1800" dirty="0">
                          <a:effectLst>
                            <a:glow rad="127000">
                              <a:srgbClr val="00B0F0"/>
                            </a:glow>
                          </a:effectLst>
                          <a:latin typeface="Gill Sans MT" panose="020B0502020104020203" pitchFamily="34" charset="0"/>
                          <a:ea typeface="Times New Roman" panose="02020603050405020304" pitchFamily="18" charset="0"/>
                          <a:cs typeface="Arial" panose="020B0604020202020204" pitchFamily="34" charset="0"/>
                        </a:rPr>
                        <a:t>sort us out with data</a:t>
                      </a:r>
                      <a:r>
                        <a:rPr lang="en-GB" sz="1800" dirty="0">
                          <a:effectLst/>
                          <a:latin typeface="Gill Sans MT" panose="020B0502020104020203" pitchFamily="34" charset="0"/>
                          <a:ea typeface="Times New Roman" panose="02020603050405020304" pitchFamily="18" charset="0"/>
                          <a:cs typeface="Arial" panose="020B0604020202020204" pitchFamily="34" charset="0"/>
                        </a:rPr>
                        <a:t>. We need </a:t>
                      </a:r>
                      <a:r>
                        <a:rPr lang="en-GB" sz="1800" dirty="0">
                          <a:effectLst>
                            <a:glow rad="127000">
                              <a:srgbClr val="00B0F0"/>
                            </a:glow>
                          </a:effectLst>
                          <a:latin typeface="Gill Sans MT" panose="020B0502020104020203" pitchFamily="34" charset="0"/>
                          <a:ea typeface="Times New Roman" panose="02020603050405020304" pitchFamily="18" charset="0"/>
                          <a:cs typeface="Arial" panose="020B0604020202020204" pitchFamily="34" charset="0"/>
                        </a:rPr>
                        <a:t>more data</a:t>
                      </a:r>
                      <a:r>
                        <a:rPr lang="en-GB" sz="1800" dirty="0">
                          <a:effectLst/>
                          <a:latin typeface="Gill Sans MT" panose="020B0502020104020203" pitchFamily="34" charset="0"/>
                          <a:ea typeface="Times New Roman" panose="02020603050405020304" pitchFamily="18" charset="0"/>
                          <a:cs typeface="Arial" panose="020B0604020202020204" pitchFamily="34" charset="0"/>
                        </a:rPr>
                        <a:t> so </a:t>
                      </a:r>
                      <a:r>
                        <a:rPr lang="en-GB" sz="1800" dirty="0">
                          <a:effectLst>
                            <a:glow rad="127000">
                              <a:srgbClr val="92D050"/>
                            </a:glow>
                          </a:effectLst>
                          <a:latin typeface="Gill Sans MT" panose="020B0502020104020203" pitchFamily="34" charset="0"/>
                          <a:ea typeface="Times New Roman" panose="02020603050405020304" pitchFamily="18" charset="0"/>
                          <a:cs typeface="Arial" panose="020B0604020202020204" pitchFamily="34" charset="0"/>
                        </a:rPr>
                        <a:t>we can work from residence and home</a:t>
                      </a:r>
                      <a:r>
                        <a:rPr lang="en-GB" sz="1800" dirty="0">
                          <a:effectLst/>
                          <a:latin typeface="Gill Sans MT" panose="020B0502020104020203" pitchFamily="34" charset="0"/>
                          <a:ea typeface="Times New Roman" panose="02020603050405020304" pitchFamily="18" charset="0"/>
                          <a:cs typeface="Arial" panose="020B0604020202020204" pitchFamily="34" charset="0"/>
                        </a:rPr>
                        <a:t>.</a:t>
                      </a:r>
                      <a:endParaRPr lang="en-ZA" sz="2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36641444"/>
                  </a:ext>
                </a:extLst>
              </a:tr>
              <a:tr h="1821280">
                <a:tc>
                  <a:txBody>
                    <a:bodyPr/>
                    <a:lstStyle/>
                    <a:p>
                      <a:pPr algn="just">
                        <a:spcAft>
                          <a:spcPts val="0"/>
                        </a:spcAft>
                      </a:pPr>
                      <a:r>
                        <a:rPr lang="en-GB" sz="1800">
                          <a:effectLst/>
                          <a:latin typeface="Gill Sans MT" panose="020B0502020104020203" pitchFamily="34" charset="0"/>
                          <a:ea typeface="Times New Roman" panose="02020603050405020304" pitchFamily="18" charset="0"/>
                          <a:cs typeface="Arial" panose="020B0604020202020204" pitchFamily="34" charset="0"/>
                        </a:rPr>
                        <a:t>Student 2</a:t>
                      </a:r>
                      <a:endParaRPr lang="en-ZA" sz="2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GB" sz="1800" dirty="0">
                          <a:effectLst/>
                          <a:latin typeface="Gill Sans MT" panose="020B0502020104020203" pitchFamily="34" charset="0"/>
                          <a:ea typeface="Times New Roman" panose="02020603050405020304" pitchFamily="18" charset="0"/>
                          <a:cs typeface="Arial" panose="020B0604020202020204" pitchFamily="34" charset="0"/>
                        </a:rPr>
                        <a:t>I will make it better in programming </a:t>
                      </a:r>
                      <a:r>
                        <a:rPr lang="en-GB" sz="1800" dirty="0">
                          <a:effectLst>
                            <a:glow rad="127000">
                              <a:srgbClr val="FFFF00"/>
                            </a:glow>
                          </a:effectLst>
                          <a:latin typeface="Gill Sans MT" panose="020B0502020104020203" pitchFamily="34" charset="0"/>
                          <a:ea typeface="Times New Roman" panose="02020603050405020304" pitchFamily="18" charset="0"/>
                          <a:cs typeface="Arial" panose="020B0604020202020204" pitchFamily="34" charset="0"/>
                        </a:rPr>
                        <a:t>if I can practice more</a:t>
                      </a:r>
                      <a:r>
                        <a:rPr lang="en-GB" sz="1800" dirty="0">
                          <a:effectLst/>
                          <a:latin typeface="Gill Sans MT" panose="020B0502020104020203" pitchFamily="34" charset="0"/>
                          <a:ea typeface="Times New Roman" panose="02020603050405020304" pitchFamily="18" charset="0"/>
                          <a:cs typeface="Arial" panose="020B0604020202020204" pitchFamily="34" charset="0"/>
                        </a:rPr>
                        <a:t>. The time is </a:t>
                      </a:r>
                      <a:r>
                        <a:rPr lang="en-GB" sz="1800" dirty="0">
                          <a:effectLst>
                            <a:glow rad="127000">
                              <a:srgbClr val="92D050"/>
                            </a:glow>
                          </a:effectLst>
                          <a:latin typeface="Gill Sans MT" panose="020B0502020104020203" pitchFamily="34" charset="0"/>
                          <a:ea typeface="Times New Roman" panose="02020603050405020304" pitchFamily="18" charset="0"/>
                          <a:cs typeface="Arial" panose="020B0604020202020204" pitchFamily="34" charset="0"/>
                        </a:rPr>
                        <a:t>not enough time in open access</a:t>
                      </a:r>
                      <a:r>
                        <a:rPr lang="en-GB" sz="1800" dirty="0">
                          <a:effectLst/>
                          <a:latin typeface="Gill Sans MT" panose="020B0502020104020203" pitchFamily="34" charset="0"/>
                          <a:ea typeface="Times New Roman" panose="02020603050405020304" pitchFamily="18" charset="0"/>
                          <a:cs typeface="Arial" panose="020B0604020202020204" pitchFamily="34" charset="0"/>
                        </a:rPr>
                        <a:t>. My parents are not working and </a:t>
                      </a:r>
                      <a:r>
                        <a:rPr lang="en-GB" sz="1800" dirty="0">
                          <a:effectLst>
                            <a:glow rad="127000">
                              <a:srgbClr val="00B0F0"/>
                            </a:glow>
                          </a:effectLst>
                          <a:latin typeface="Gill Sans MT" panose="020B0502020104020203" pitchFamily="34" charset="0"/>
                          <a:ea typeface="Times New Roman" panose="02020603050405020304" pitchFamily="18" charset="0"/>
                          <a:cs typeface="Arial" panose="020B0604020202020204" pitchFamily="34" charset="0"/>
                        </a:rPr>
                        <a:t>data is hard</a:t>
                      </a:r>
                      <a:r>
                        <a:rPr lang="en-GB" sz="1800" dirty="0">
                          <a:effectLst/>
                          <a:latin typeface="Gill Sans MT" panose="020B0502020104020203" pitchFamily="34" charset="0"/>
                          <a:ea typeface="Times New Roman" panose="02020603050405020304" pitchFamily="18" charset="0"/>
                          <a:cs typeface="Arial" panose="020B0604020202020204" pitchFamily="34" charset="0"/>
                        </a:rPr>
                        <a:t> so </a:t>
                      </a:r>
                      <a:r>
                        <a:rPr lang="en-GB" sz="1800" dirty="0">
                          <a:effectLst>
                            <a:glow rad="127000">
                              <a:srgbClr val="92D050"/>
                            </a:glow>
                          </a:effectLst>
                          <a:latin typeface="Gill Sans MT" panose="020B0502020104020203" pitchFamily="34" charset="0"/>
                          <a:ea typeface="Times New Roman" panose="02020603050405020304" pitchFamily="18" charset="0"/>
                          <a:cs typeface="Arial" panose="020B0604020202020204" pitchFamily="34" charset="0"/>
                        </a:rPr>
                        <a:t>I can’t practice from home </a:t>
                      </a:r>
                      <a:r>
                        <a:rPr lang="en-GB" sz="1800" dirty="0">
                          <a:effectLst/>
                          <a:latin typeface="Gill Sans MT" panose="020B0502020104020203" pitchFamily="34" charset="0"/>
                          <a:ea typeface="Times New Roman" panose="02020603050405020304" pitchFamily="18" charset="0"/>
                          <a:cs typeface="Arial" panose="020B0604020202020204" pitchFamily="34" charset="0"/>
                        </a:rPr>
                        <a:t>and I stay very far from campus so I can’t travel late or on weekends.</a:t>
                      </a:r>
                      <a:endParaRPr lang="en-ZA" sz="2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5416633"/>
                  </a:ext>
                </a:extLst>
              </a:tr>
              <a:tr h="1561097">
                <a:tc>
                  <a:txBody>
                    <a:bodyPr/>
                    <a:lstStyle/>
                    <a:p>
                      <a:pPr algn="just">
                        <a:spcAft>
                          <a:spcPts val="0"/>
                        </a:spcAft>
                      </a:pPr>
                      <a:r>
                        <a:rPr lang="en-GB" sz="1800">
                          <a:effectLst/>
                          <a:latin typeface="Gill Sans MT" panose="020B0502020104020203" pitchFamily="34" charset="0"/>
                          <a:ea typeface="Times New Roman" panose="02020603050405020304" pitchFamily="18" charset="0"/>
                          <a:cs typeface="Arial" panose="020B0604020202020204" pitchFamily="34" charset="0"/>
                        </a:rPr>
                        <a:t>Student 3</a:t>
                      </a:r>
                      <a:endParaRPr lang="en-ZA" sz="2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GB" sz="1800" dirty="0">
                          <a:effectLst/>
                          <a:latin typeface="Gill Sans MT" panose="020B0502020104020203" pitchFamily="34" charset="0"/>
                          <a:ea typeface="Times New Roman" panose="02020603050405020304" pitchFamily="18" charset="0"/>
                          <a:cs typeface="Arial" panose="020B0604020202020204" pitchFamily="34" charset="0"/>
                        </a:rPr>
                        <a:t>We need </a:t>
                      </a:r>
                      <a:r>
                        <a:rPr lang="en-GB" sz="1800" dirty="0">
                          <a:effectLst>
                            <a:glow rad="127000">
                              <a:srgbClr val="FFC000"/>
                            </a:glow>
                          </a:effectLst>
                          <a:latin typeface="Gill Sans MT" panose="020B0502020104020203" pitchFamily="34" charset="0"/>
                          <a:ea typeface="Times New Roman" panose="02020603050405020304" pitchFamily="18" charset="0"/>
                          <a:cs typeface="Arial" panose="020B0604020202020204" pitchFamily="34" charset="0"/>
                        </a:rPr>
                        <a:t>more tuition</a:t>
                      </a:r>
                      <a:r>
                        <a:rPr lang="en-GB" sz="1800" dirty="0">
                          <a:effectLst/>
                          <a:latin typeface="Gill Sans MT" panose="020B0502020104020203" pitchFamily="34" charset="0"/>
                          <a:ea typeface="Times New Roman" panose="02020603050405020304" pitchFamily="18" charset="0"/>
                          <a:cs typeface="Arial" panose="020B0604020202020204" pitchFamily="34" charset="0"/>
                        </a:rPr>
                        <a:t>. Our </a:t>
                      </a:r>
                      <a:r>
                        <a:rPr lang="en-GB" sz="1800" dirty="0">
                          <a:effectLst>
                            <a:glow rad="127000">
                              <a:srgbClr val="FF0000"/>
                            </a:glow>
                          </a:effectLst>
                          <a:latin typeface="Gill Sans MT" panose="020B0502020104020203" pitchFamily="34" charset="0"/>
                          <a:ea typeface="Times New Roman" panose="02020603050405020304" pitchFamily="18" charset="0"/>
                          <a:cs typeface="Arial" panose="020B0604020202020204" pitchFamily="34" charset="0"/>
                        </a:rPr>
                        <a:t>lecturers are not very good </a:t>
                      </a:r>
                      <a:r>
                        <a:rPr lang="en-GB" sz="1800" dirty="0">
                          <a:effectLst/>
                          <a:latin typeface="Gill Sans MT" panose="020B0502020104020203" pitchFamily="34" charset="0"/>
                          <a:ea typeface="Times New Roman" panose="02020603050405020304" pitchFamily="18" charset="0"/>
                          <a:cs typeface="Arial" panose="020B0604020202020204" pitchFamily="34" charset="0"/>
                        </a:rPr>
                        <a:t>and they don’t understand that we need </a:t>
                      </a:r>
                      <a:r>
                        <a:rPr lang="en-GB" sz="1800" dirty="0">
                          <a:effectLst>
                            <a:glow rad="127000">
                              <a:srgbClr val="FFFF00"/>
                            </a:glow>
                          </a:effectLst>
                          <a:latin typeface="Gill Sans MT" panose="020B0502020104020203" pitchFamily="34" charset="0"/>
                          <a:ea typeface="Times New Roman" panose="02020603050405020304" pitchFamily="18" charset="0"/>
                          <a:cs typeface="Arial" panose="020B0604020202020204" pitchFamily="34" charset="0"/>
                        </a:rPr>
                        <a:t>time to learn and get used to programming</a:t>
                      </a:r>
                      <a:r>
                        <a:rPr lang="en-GB" sz="1800" dirty="0">
                          <a:effectLst/>
                          <a:latin typeface="Gill Sans MT" panose="020B0502020104020203" pitchFamily="34" charset="0"/>
                          <a:ea typeface="Times New Roman" panose="02020603050405020304" pitchFamily="18" charset="0"/>
                          <a:cs typeface="Arial" panose="020B0604020202020204" pitchFamily="34" charset="0"/>
                        </a:rPr>
                        <a:t>. It is </a:t>
                      </a:r>
                      <a:r>
                        <a:rPr lang="en-GB" sz="1800" dirty="0">
                          <a:effectLst>
                            <a:glow rad="127000">
                              <a:srgbClr val="FFFF00"/>
                            </a:glow>
                          </a:effectLst>
                          <a:latin typeface="Gill Sans MT" panose="020B0502020104020203" pitchFamily="34" charset="0"/>
                          <a:ea typeface="Times New Roman" panose="02020603050405020304" pitchFamily="18" charset="0"/>
                          <a:cs typeface="Arial" panose="020B0604020202020204" pitchFamily="34" charset="0"/>
                        </a:rPr>
                        <a:t>not easy for us </a:t>
                      </a:r>
                      <a:r>
                        <a:rPr lang="en-GB" sz="1800" dirty="0">
                          <a:effectLst/>
                          <a:latin typeface="Gill Sans MT" panose="020B0502020104020203" pitchFamily="34" charset="0"/>
                          <a:ea typeface="Times New Roman" panose="02020603050405020304" pitchFamily="18" charset="0"/>
                          <a:cs typeface="Arial" panose="020B0604020202020204" pitchFamily="34" charset="0"/>
                        </a:rPr>
                        <a:t>and </a:t>
                      </a:r>
                      <a:r>
                        <a:rPr lang="en-GB" sz="1800" dirty="0">
                          <a:effectLst>
                            <a:glow rad="127000">
                              <a:srgbClr val="FFFF00"/>
                            </a:glow>
                          </a:effectLst>
                          <a:latin typeface="Gill Sans MT" panose="020B0502020104020203" pitchFamily="34" charset="0"/>
                          <a:ea typeface="Times New Roman" panose="02020603050405020304" pitchFamily="18" charset="0"/>
                          <a:cs typeface="Arial" panose="020B0604020202020204" pitchFamily="34" charset="0"/>
                        </a:rPr>
                        <a:t>first time is hard</a:t>
                      </a:r>
                      <a:r>
                        <a:rPr lang="en-GB" sz="1800" dirty="0">
                          <a:effectLst/>
                          <a:latin typeface="Gill Sans MT" panose="020B0502020104020203" pitchFamily="34" charset="0"/>
                          <a:ea typeface="Times New Roman" panose="02020603050405020304" pitchFamily="18" charset="0"/>
                          <a:cs typeface="Arial" panose="020B0604020202020204" pitchFamily="34" charset="0"/>
                        </a:rPr>
                        <a:t>. </a:t>
                      </a:r>
                      <a:r>
                        <a:rPr lang="en-GB" sz="1800" dirty="0" err="1">
                          <a:effectLst>
                            <a:glow rad="127000">
                              <a:schemeClr val="accent4">
                                <a:lumMod val="60000"/>
                                <a:lumOff val="40000"/>
                              </a:schemeClr>
                            </a:glow>
                          </a:effectLst>
                          <a:latin typeface="Gill Sans MT" panose="020B0502020104020203" pitchFamily="34" charset="0"/>
                          <a:ea typeface="Times New Roman" panose="02020603050405020304" pitchFamily="18" charset="0"/>
                          <a:cs typeface="Arial" panose="020B0604020202020204" pitchFamily="34" charset="0"/>
                        </a:rPr>
                        <a:t>Wifi</a:t>
                      </a:r>
                      <a:r>
                        <a:rPr lang="en-GB" sz="1800" dirty="0">
                          <a:effectLst>
                            <a:glow rad="127000">
                              <a:schemeClr val="accent4">
                                <a:lumMod val="60000"/>
                                <a:lumOff val="40000"/>
                              </a:schemeClr>
                            </a:glow>
                          </a:effectLst>
                          <a:latin typeface="Gill Sans MT" panose="020B0502020104020203" pitchFamily="34" charset="0"/>
                          <a:ea typeface="Times New Roman" panose="02020603050405020304" pitchFamily="18" charset="0"/>
                          <a:cs typeface="Arial" panose="020B0604020202020204" pitchFamily="34" charset="0"/>
                        </a:rPr>
                        <a:t> is bad</a:t>
                      </a:r>
                      <a:r>
                        <a:rPr lang="en-GB" sz="1800" dirty="0">
                          <a:effectLst/>
                          <a:latin typeface="Gill Sans MT" panose="020B0502020104020203" pitchFamily="34" charset="0"/>
                          <a:ea typeface="Times New Roman" panose="02020603050405020304" pitchFamily="18" charset="0"/>
                          <a:cs typeface="Arial" panose="020B0604020202020204" pitchFamily="34" charset="0"/>
                        </a:rPr>
                        <a:t>.</a:t>
                      </a:r>
                      <a:endParaRPr lang="en-ZA" sz="2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67328667"/>
                  </a:ext>
                </a:extLst>
              </a:tr>
            </a:tbl>
          </a:graphicData>
        </a:graphic>
      </p:graphicFrame>
      <p:sp>
        <p:nvSpPr>
          <p:cNvPr id="5" name="TextBox 4"/>
          <p:cNvSpPr txBox="1"/>
          <p:nvPr/>
        </p:nvSpPr>
        <p:spPr>
          <a:xfrm>
            <a:off x="2454273" y="424066"/>
            <a:ext cx="8890001" cy="400110"/>
          </a:xfrm>
          <a:prstGeom prst="rect">
            <a:avLst/>
          </a:prstGeom>
          <a:noFill/>
        </p:spPr>
        <p:txBody>
          <a:bodyPr wrap="square" rtlCol="0">
            <a:spAutoFit/>
          </a:bodyPr>
          <a:lstStyle/>
          <a:p>
            <a:r>
              <a:rPr lang="en-US" sz="2000" dirty="0" smtClean="0">
                <a:solidFill>
                  <a:srgbClr val="0070C0"/>
                </a:solidFill>
              </a:rPr>
              <a:t>Open coding - </a:t>
            </a:r>
            <a:r>
              <a:rPr lang="en-US" sz="2000" dirty="0">
                <a:solidFill>
                  <a:srgbClr val="0070C0"/>
                </a:solidFill>
                <a:latin typeface="Arial Rounded MT Bold" panose="020F0704030504030204" pitchFamily="34" charset="0"/>
              </a:rPr>
              <a:t>create labels for the terms and concepts found in the data</a:t>
            </a:r>
            <a:r>
              <a:rPr lang="en-US" sz="2000" dirty="0" smtClean="0">
                <a:solidFill>
                  <a:srgbClr val="0070C0"/>
                </a:solidFill>
              </a:rPr>
              <a:t> </a:t>
            </a:r>
            <a:endParaRPr lang="en-ZA" sz="2000" dirty="0">
              <a:solidFill>
                <a:srgbClr val="0070C0"/>
              </a:solidFill>
            </a:endParaRPr>
          </a:p>
        </p:txBody>
      </p:sp>
      <p:sp>
        <p:nvSpPr>
          <p:cNvPr id="6" name="Footer Placeholder 5"/>
          <p:cNvSpPr>
            <a:spLocks noGrp="1"/>
          </p:cNvSpPr>
          <p:nvPr>
            <p:ph type="ftr" sz="quarter" idx="11"/>
          </p:nvPr>
        </p:nvSpPr>
        <p:spPr/>
        <p:txBody>
          <a:bodyPr/>
          <a:lstStyle/>
          <a:p>
            <a:r>
              <a:rPr lang="en-ZA" smtClean="0"/>
              <a:t>PRESE4R</a:t>
            </a:r>
            <a:endParaRPr lang="en-ZA"/>
          </a:p>
        </p:txBody>
      </p:sp>
    </p:spTree>
    <p:extLst>
      <p:ext uri="{BB962C8B-B14F-4D97-AF65-F5344CB8AC3E}">
        <p14:creationId xmlns:p14="http://schemas.microsoft.com/office/powerpoint/2010/main" val="268942132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19339B4A-3334-40B8-B9D1-9FE2C92E888A}" type="slidenum">
              <a:rPr lang="en-ZA" smtClean="0"/>
              <a:t>18</a:t>
            </a:fld>
            <a:endParaRPr lang="en-ZA"/>
          </a:p>
        </p:txBody>
      </p:sp>
      <p:graphicFrame>
        <p:nvGraphicFramePr>
          <p:cNvPr id="4" name="Table 3"/>
          <p:cNvGraphicFramePr>
            <a:graphicFrameLocks noGrp="1"/>
          </p:cNvGraphicFramePr>
          <p:nvPr>
            <p:extLst/>
          </p:nvPr>
        </p:nvGraphicFramePr>
        <p:xfrm>
          <a:off x="1676400" y="904876"/>
          <a:ext cx="9275456" cy="4772024"/>
        </p:xfrm>
        <a:graphic>
          <a:graphicData uri="http://schemas.openxmlformats.org/drawingml/2006/table">
            <a:tbl>
              <a:tblPr firstRow="1" firstCol="1" bandRow="1"/>
              <a:tblGrid>
                <a:gridCol w="1476577">
                  <a:extLst>
                    <a:ext uri="{9D8B030D-6E8A-4147-A177-3AD203B41FA5}">
                      <a16:colId xmlns:a16="http://schemas.microsoft.com/office/drawing/2014/main" val="2034903864"/>
                    </a:ext>
                  </a:extLst>
                </a:gridCol>
                <a:gridCol w="4848383">
                  <a:extLst>
                    <a:ext uri="{9D8B030D-6E8A-4147-A177-3AD203B41FA5}">
                      <a16:colId xmlns:a16="http://schemas.microsoft.com/office/drawing/2014/main" val="3567839626"/>
                    </a:ext>
                  </a:extLst>
                </a:gridCol>
                <a:gridCol w="2950496">
                  <a:extLst>
                    <a:ext uri="{9D8B030D-6E8A-4147-A177-3AD203B41FA5}">
                      <a16:colId xmlns:a16="http://schemas.microsoft.com/office/drawing/2014/main" val="3623810495"/>
                    </a:ext>
                  </a:extLst>
                </a:gridCol>
              </a:tblGrid>
              <a:tr h="251159">
                <a:tc>
                  <a:txBody>
                    <a:bodyPr/>
                    <a:lstStyle/>
                    <a:p>
                      <a:pPr algn="just">
                        <a:spcAft>
                          <a:spcPts val="0"/>
                        </a:spcAft>
                      </a:pPr>
                      <a:r>
                        <a:rPr lang="en-GB" sz="1600">
                          <a:effectLst/>
                          <a:latin typeface="Gill Sans MT" panose="020B0502020104020203" pitchFamily="34" charset="0"/>
                          <a:ea typeface="Times New Roman" panose="02020603050405020304" pitchFamily="18" charset="0"/>
                          <a:cs typeface="Arial" panose="020B0604020202020204" pitchFamily="34" charset="0"/>
                        </a:rPr>
                        <a:t>Participant </a:t>
                      </a:r>
                      <a:endParaRPr lang="en-ZA"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GB" sz="1600">
                          <a:effectLst/>
                          <a:latin typeface="Gill Sans MT" panose="020B0502020104020203" pitchFamily="34" charset="0"/>
                          <a:ea typeface="Times New Roman" panose="02020603050405020304" pitchFamily="18" charset="0"/>
                          <a:cs typeface="Arial" panose="020B0604020202020204" pitchFamily="34" charset="0"/>
                        </a:rPr>
                        <a:t>Response</a:t>
                      </a:r>
                      <a:endParaRPr lang="en-ZA"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GB" sz="1600" i="1" dirty="0">
                          <a:effectLst/>
                          <a:latin typeface="Gill Sans MT" panose="020B0502020104020203" pitchFamily="34" charset="0"/>
                          <a:ea typeface="Times New Roman" panose="02020603050405020304" pitchFamily="18" charset="0"/>
                          <a:cs typeface="Arial" panose="020B0604020202020204" pitchFamily="34" charset="0"/>
                        </a:rPr>
                        <a:t>Open coding</a:t>
                      </a:r>
                      <a:endParaRPr lang="en-ZA"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5845372"/>
                  </a:ext>
                </a:extLst>
              </a:tr>
              <a:tr h="1255796">
                <a:tc>
                  <a:txBody>
                    <a:bodyPr/>
                    <a:lstStyle/>
                    <a:p>
                      <a:pPr algn="just">
                        <a:spcAft>
                          <a:spcPts val="0"/>
                        </a:spcAft>
                      </a:pPr>
                      <a:r>
                        <a:rPr lang="en-GB" sz="1600">
                          <a:effectLst/>
                          <a:latin typeface="Gill Sans MT" panose="020B0502020104020203" pitchFamily="34" charset="0"/>
                          <a:ea typeface="Times New Roman" panose="02020603050405020304" pitchFamily="18" charset="0"/>
                          <a:cs typeface="Arial" panose="020B0604020202020204" pitchFamily="34" charset="0"/>
                        </a:rPr>
                        <a:t>Student 1</a:t>
                      </a:r>
                      <a:endParaRPr lang="en-ZA"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GB" sz="1600">
                          <a:effectLst/>
                          <a:latin typeface="Gill Sans MT" panose="020B0502020104020203" pitchFamily="34" charset="0"/>
                          <a:ea typeface="Times New Roman" panose="02020603050405020304" pitchFamily="18" charset="0"/>
                          <a:cs typeface="Arial" panose="020B0604020202020204" pitchFamily="34" charset="0"/>
                        </a:rPr>
                        <a:t>The complexity is too much. From high school to first year the work is too much. The university must make a plan and sort us out with data. We need more data so we can work from residence and home.</a:t>
                      </a:r>
                      <a:endParaRPr lang="en-ZA"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GB" sz="1600" dirty="0">
                          <a:effectLst>
                            <a:glow rad="127000">
                              <a:srgbClr val="FFFF00"/>
                            </a:glow>
                          </a:effectLst>
                          <a:latin typeface="Gill Sans MT" panose="020B0502020104020203" pitchFamily="34" charset="0"/>
                          <a:ea typeface="Times New Roman" panose="02020603050405020304" pitchFamily="18" charset="0"/>
                          <a:cs typeface="Arial" panose="020B0604020202020204" pitchFamily="34" charset="0"/>
                        </a:rPr>
                        <a:t>Work complexity is high </a:t>
                      </a:r>
                      <a:endParaRPr lang="en-ZA" sz="1600" dirty="0">
                        <a:effectLst>
                          <a:glow rad="127000">
                            <a:srgbClr val="FFFF00"/>
                          </a:glow>
                        </a:effectLst>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GB" sz="1600" dirty="0">
                          <a:effectLst>
                            <a:glow rad="127000">
                              <a:srgbClr val="00B0F0"/>
                            </a:glow>
                          </a:effectLst>
                          <a:latin typeface="Gill Sans MT" panose="020B0502020104020203" pitchFamily="34" charset="0"/>
                          <a:ea typeface="Times New Roman" panose="02020603050405020304" pitchFamily="18" charset="0"/>
                          <a:cs typeface="Arial" panose="020B0604020202020204" pitchFamily="34" charset="0"/>
                        </a:rPr>
                        <a:t>Need for data </a:t>
                      </a:r>
                      <a:endParaRPr lang="en-ZA" sz="1600" dirty="0">
                        <a:effectLst>
                          <a:glow rad="127000">
                            <a:srgbClr val="00B0F0"/>
                          </a:glow>
                        </a:effectLst>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GB" sz="1600" dirty="0">
                          <a:effectLst/>
                          <a:latin typeface="Gill Sans MT" panose="020B0502020104020203" pitchFamily="34" charset="0"/>
                          <a:ea typeface="Times New Roman" panose="02020603050405020304" pitchFamily="18" charset="0"/>
                          <a:cs typeface="Arial" panose="020B0604020202020204" pitchFamily="34" charset="0"/>
                        </a:rPr>
                        <a:t> </a:t>
                      </a:r>
                      <a:endParaRPr lang="en-ZA"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93856585"/>
                  </a:ext>
                </a:extLst>
              </a:tr>
              <a:tr h="1758114">
                <a:tc>
                  <a:txBody>
                    <a:bodyPr/>
                    <a:lstStyle/>
                    <a:p>
                      <a:pPr algn="just">
                        <a:spcAft>
                          <a:spcPts val="0"/>
                        </a:spcAft>
                      </a:pPr>
                      <a:r>
                        <a:rPr lang="en-GB" sz="1600">
                          <a:effectLst/>
                          <a:latin typeface="Gill Sans MT" panose="020B0502020104020203" pitchFamily="34" charset="0"/>
                          <a:ea typeface="Times New Roman" panose="02020603050405020304" pitchFamily="18" charset="0"/>
                          <a:cs typeface="Arial" panose="020B0604020202020204" pitchFamily="34" charset="0"/>
                        </a:rPr>
                        <a:t>Student 2</a:t>
                      </a:r>
                      <a:endParaRPr lang="en-ZA"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GB" sz="1600">
                          <a:effectLst/>
                          <a:latin typeface="Gill Sans MT" panose="020B0502020104020203" pitchFamily="34" charset="0"/>
                          <a:ea typeface="Times New Roman" panose="02020603050405020304" pitchFamily="18" charset="0"/>
                          <a:cs typeface="Arial" panose="020B0604020202020204" pitchFamily="34" charset="0"/>
                        </a:rPr>
                        <a:t>I will make it better in programming if I can practice more. The time is not enough time in open access. My parents are not working and data is hard so I can’t practice from home and I stay very far from campus so I can’t travel late or on weekends.</a:t>
                      </a:r>
                      <a:endParaRPr lang="en-ZA"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GB" sz="1600" dirty="0">
                          <a:effectLst>
                            <a:glow rad="127000">
                              <a:srgbClr val="FFFF00"/>
                            </a:glow>
                          </a:effectLst>
                          <a:latin typeface="Gill Sans MT" panose="020B0502020104020203" pitchFamily="34" charset="0"/>
                          <a:ea typeface="Times New Roman" panose="02020603050405020304" pitchFamily="18" charset="0"/>
                          <a:cs typeface="Arial" panose="020B0604020202020204" pitchFamily="34" charset="0"/>
                        </a:rPr>
                        <a:t>More practice in programming </a:t>
                      </a:r>
                      <a:endParaRPr lang="en-ZA" sz="1600" dirty="0">
                        <a:effectLst>
                          <a:glow rad="127000">
                            <a:srgbClr val="FFFF00"/>
                          </a:glow>
                        </a:effectLst>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GB" sz="1600" dirty="0">
                          <a:effectLst>
                            <a:glow rad="127000">
                              <a:srgbClr val="92D050"/>
                            </a:glow>
                          </a:effectLst>
                          <a:latin typeface="Gill Sans MT" panose="020B0502020104020203" pitchFamily="34" charset="0"/>
                          <a:ea typeface="Times New Roman" panose="02020603050405020304" pitchFamily="18" charset="0"/>
                          <a:cs typeface="Arial" panose="020B0604020202020204" pitchFamily="34" charset="0"/>
                        </a:rPr>
                        <a:t>Limited open access (computer labs?)</a:t>
                      </a:r>
                      <a:endParaRPr lang="en-ZA" sz="1600" dirty="0">
                        <a:effectLst>
                          <a:glow rad="127000">
                            <a:srgbClr val="92D050"/>
                          </a:glow>
                        </a:effectLst>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GB" sz="1600" dirty="0">
                          <a:effectLst>
                            <a:glow rad="127000">
                              <a:srgbClr val="00B0F0"/>
                            </a:glow>
                          </a:effectLst>
                          <a:latin typeface="Gill Sans MT" panose="020B0502020104020203" pitchFamily="34" charset="0"/>
                          <a:ea typeface="Times New Roman" panose="02020603050405020304" pitchFamily="18" charset="0"/>
                          <a:cs typeface="Arial" panose="020B0604020202020204" pitchFamily="34" charset="0"/>
                        </a:rPr>
                        <a:t>No data at home</a:t>
                      </a:r>
                      <a:endParaRPr lang="en-ZA" sz="1600" dirty="0">
                        <a:effectLst>
                          <a:glow rad="127000">
                            <a:srgbClr val="00B0F0"/>
                          </a:glow>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97231406"/>
                  </a:ext>
                </a:extLst>
              </a:tr>
              <a:tr h="1506955">
                <a:tc>
                  <a:txBody>
                    <a:bodyPr/>
                    <a:lstStyle/>
                    <a:p>
                      <a:pPr algn="just">
                        <a:spcAft>
                          <a:spcPts val="0"/>
                        </a:spcAft>
                      </a:pPr>
                      <a:r>
                        <a:rPr lang="en-GB" sz="1600">
                          <a:effectLst/>
                          <a:latin typeface="Gill Sans MT" panose="020B0502020104020203" pitchFamily="34" charset="0"/>
                          <a:ea typeface="Times New Roman" panose="02020603050405020304" pitchFamily="18" charset="0"/>
                          <a:cs typeface="Arial" panose="020B0604020202020204" pitchFamily="34" charset="0"/>
                        </a:rPr>
                        <a:t>Student 3</a:t>
                      </a:r>
                      <a:endParaRPr lang="en-ZA"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GB" sz="1600">
                          <a:effectLst/>
                          <a:latin typeface="Gill Sans MT" panose="020B0502020104020203" pitchFamily="34" charset="0"/>
                          <a:ea typeface="Times New Roman" panose="02020603050405020304" pitchFamily="18" charset="0"/>
                          <a:cs typeface="Arial" panose="020B0604020202020204" pitchFamily="34" charset="0"/>
                        </a:rPr>
                        <a:t>We need more tuition. Our lecturers are not very good and they don’t understand that we need time to learn and get used to programming. It is not easy for us and first time is hard. Wifi is bad.</a:t>
                      </a:r>
                      <a:endParaRPr lang="en-ZA"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GB" sz="1600" dirty="0">
                          <a:effectLst>
                            <a:glow rad="127000">
                              <a:srgbClr val="FFC000"/>
                            </a:glow>
                          </a:effectLst>
                          <a:latin typeface="Gill Sans MT" panose="020B0502020104020203" pitchFamily="34" charset="0"/>
                          <a:ea typeface="Times New Roman" panose="02020603050405020304" pitchFamily="18" charset="0"/>
                          <a:cs typeface="Arial" panose="020B0604020202020204" pitchFamily="34" charset="0"/>
                        </a:rPr>
                        <a:t>More tuition </a:t>
                      </a:r>
                      <a:endParaRPr lang="en-ZA" sz="1600" dirty="0">
                        <a:effectLst>
                          <a:glow rad="127000">
                            <a:srgbClr val="FFC000"/>
                          </a:glow>
                        </a:effectLst>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GB" sz="1600" dirty="0">
                          <a:effectLst>
                            <a:glow rad="127000">
                              <a:srgbClr val="FF0000"/>
                            </a:glow>
                          </a:effectLst>
                          <a:latin typeface="Gill Sans MT" panose="020B0502020104020203" pitchFamily="34" charset="0"/>
                          <a:ea typeface="Times New Roman" panose="02020603050405020304" pitchFamily="18" charset="0"/>
                          <a:cs typeface="Arial" panose="020B0604020202020204" pitchFamily="34" charset="0"/>
                        </a:rPr>
                        <a:t>Poor lecturers</a:t>
                      </a:r>
                      <a:endParaRPr lang="en-ZA" sz="1600" dirty="0">
                        <a:effectLst>
                          <a:glow rad="127000">
                            <a:srgbClr val="FF0000"/>
                          </a:glow>
                        </a:effectLst>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GB" sz="1600" dirty="0">
                          <a:effectLst>
                            <a:glow rad="127000">
                              <a:srgbClr val="FFFF00"/>
                            </a:glow>
                          </a:effectLst>
                          <a:latin typeface="Gill Sans MT" panose="020B0502020104020203" pitchFamily="34" charset="0"/>
                          <a:ea typeface="Times New Roman" panose="02020603050405020304" pitchFamily="18" charset="0"/>
                          <a:cs typeface="Arial" panose="020B0604020202020204" pitchFamily="34" charset="0"/>
                        </a:rPr>
                        <a:t>Difficult for first years</a:t>
                      </a:r>
                      <a:endParaRPr lang="en-ZA" sz="1600" dirty="0">
                        <a:effectLst>
                          <a:glow rad="127000">
                            <a:srgbClr val="FFFF00"/>
                          </a:glow>
                        </a:effectLst>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GB" sz="1600" dirty="0" err="1">
                          <a:effectLst>
                            <a:glow rad="127000">
                              <a:schemeClr val="accent4">
                                <a:lumMod val="60000"/>
                                <a:lumOff val="40000"/>
                              </a:schemeClr>
                            </a:glow>
                          </a:effectLst>
                          <a:latin typeface="Gill Sans MT" panose="020B0502020104020203" pitchFamily="34" charset="0"/>
                          <a:ea typeface="Times New Roman" panose="02020603050405020304" pitchFamily="18" charset="0"/>
                          <a:cs typeface="Arial" panose="020B0604020202020204" pitchFamily="34" charset="0"/>
                        </a:rPr>
                        <a:t>Wifi</a:t>
                      </a:r>
                      <a:r>
                        <a:rPr lang="en-GB" sz="1600" dirty="0">
                          <a:effectLst>
                            <a:glow rad="127000">
                              <a:schemeClr val="accent4">
                                <a:lumMod val="60000"/>
                                <a:lumOff val="40000"/>
                              </a:schemeClr>
                            </a:glow>
                          </a:effectLst>
                          <a:latin typeface="Gill Sans MT" panose="020B0502020104020203" pitchFamily="34" charset="0"/>
                          <a:ea typeface="Times New Roman" panose="02020603050405020304" pitchFamily="18" charset="0"/>
                          <a:cs typeface="Arial" panose="020B0604020202020204" pitchFamily="34" charset="0"/>
                        </a:rPr>
                        <a:t> (connectivity) is poor</a:t>
                      </a:r>
                      <a:endParaRPr lang="en-ZA" sz="1600" dirty="0">
                        <a:effectLst>
                          <a:glow rad="127000">
                            <a:schemeClr val="accent4">
                              <a:lumMod val="60000"/>
                              <a:lumOff val="40000"/>
                            </a:schemeClr>
                          </a:glow>
                        </a:effectLst>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GB" sz="1600" dirty="0">
                          <a:effectLst/>
                          <a:latin typeface="Gill Sans MT" panose="020B0502020104020203" pitchFamily="34" charset="0"/>
                          <a:ea typeface="Times New Roman" panose="02020603050405020304" pitchFamily="18" charset="0"/>
                          <a:cs typeface="Arial" panose="020B0604020202020204" pitchFamily="34" charset="0"/>
                        </a:rPr>
                        <a:t> </a:t>
                      </a:r>
                      <a:endParaRPr lang="en-ZA"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7920385"/>
                  </a:ext>
                </a:extLst>
              </a:tr>
            </a:tbl>
          </a:graphicData>
        </a:graphic>
      </p:graphicFrame>
      <p:sp>
        <p:nvSpPr>
          <p:cNvPr id="5" name="Footer Placeholder 4"/>
          <p:cNvSpPr>
            <a:spLocks noGrp="1"/>
          </p:cNvSpPr>
          <p:nvPr>
            <p:ph type="ftr" sz="quarter" idx="11"/>
          </p:nvPr>
        </p:nvSpPr>
        <p:spPr/>
        <p:txBody>
          <a:bodyPr/>
          <a:lstStyle/>
          <a:p>
            <a:r>
              <a:rPr lang="en-ZA" smtClean="0"/>
              <a:t>PRESE4R</a:t>
            </a:r>
            <a:endParaRPr lang="en-ZA"/>
          </a:p>
        </p:txBody>
      </p:sp>
    </p:spTree>
    <p:extLst>
      <p:ext uri="{BB962C8B-B14F-4D97-AF65-F5344CB8AC3E}">
        <p14:creationId xmlns:p14="http://schemas.microsoft.com/office/powerpoint/2010/main" val="109434113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19339B4A-3334-40B8-B9D1-9FE2C92E888A}" type="slidenum">
              <a:rPr lang="en-ZA" smtClean="0"/>
              <a:t>19</a:t>
            </a:fld>
            <a:endParaRPr lang="en-ZA"/>
          </a:p>
        </p:txBody>
      </p:sp>
      <p:sp>
        <p:nvSpPr>
          <p:cNvPr id="4" name="TextBox 3"/>
          <p:cNvSpPr txBox="1"/>
          <p:nvPr/>
        </p:nvSpPr>
        <p:spPr>
          <a:xfrm>
            <a:off x="1866901" y="424066"/>
            <a:ext cx="9477374" cy="707886"/>
          </a:xfrm>
          <a:prstGeom prst="rect">
            <a:avLst/>
          </a:prstGeom>
          <a:noFill/>
        </p:spPr>
        <p:txBody>
          <a:bodyPr wrap="square" rtlCol="0">
            <a:spAutoFit/>
          </a:bodyPr>
          <a:lstStyle/>
          <a:p>
            <a:pPr algn="ctr"/>
            <a:r>
              <a:rPr lang="en-US" sz="2000" dirty="0" smtClean="0">
                <a:solidFill>
                  <a:srgbClr val="0070C0"/>
                </a:solidFill>
              </a:rPr>
              <a:t>Axial coding - </a:t>
            </a:r>
            <a:r>
              <a:rPr lang="en-US" sz="2000" dirty="0">
                <a:solidFill>
                  <a:srgbClr val="0070C0"/>
                </a:solidFill>
                <a:latin typeface="Arial Rounded MT Bold" panose="020F0704030504030204" pitchFamily="34" charset="0"/>
              </a:rPr>
              <a:t>identification of more important codes and those codes that can be combined. </a:t>
            </a:r>
            <a:endParaRPr lang="en-ZA" sz="2000" dirty="0">
              <a:solidFill>
                <a:srgbClr val="0070C0"/>
              </a:solidFill>
            </a:endParaRPr>
          </a:p>
        </p:txBody>
      </p:sp>
      <p:graphicFrame>
        <p:nvGraphicFramePr>
          <p:cNvPr id="5" name="Table 4"/>
          <p:cNvGraphicFramePr>
            <a:graphicFrameLocks noGrp="1"/>
          </p:cNvGraphicFramePr>
          <p:nvPr>
            <p:extLst/>
          </p:nvPr>
        </p:nvGraphicFramePr>
        <p:xfrm>
          <a:off x="2522538" y="1581150"/>
          <a:ext cx="2950496" cy="4772024"/>
        </p:xfrm>
        <a:graphic>
          <a:graphicData uri="http://schemas.openxmlformats.org/drawingml/2006/table">
            <a:tbl>
              <a:tblPr firstRow="1" firstCol="1" bandRow="1"/>
              <a:tblGrid>
                <a:gridCol w="2950496">
                  <a:extLst>
                    <a:ext uri="{9D8B030D-6E8A-4147-A177-3AD203B41FA5}">
                      <a16:colId xmlns:a16="http://schemas.microsoft.com/office/drawing/2014/main" val="1028190968"/>
                    </a:ext>
                  </a:extLst>
                </a:gridCol>
              </a:tblGrid>
              <a:tr h="251159">
                <a:tc>
                  <a:txBody>
                    <a:bodyPr/>
                    <a:lstStyle/>
                    <a:p>
                      <a:pPr algn="ctr">
                        <a:spcAft>
                          <a:spcPts val="0"/>
                        </a:spcAft>
                      </a:pPr>
                      <a:r>
                        <a:rPr lang="en-GB" sz="1600" i="1" dirty="0">
                          <a:effectLst/>
                          <a:latin typeface="Gill Sans MT" panose="020B0502020104020203" pitchFamily="34" charset="0"/>
                          <a:ea typeface="Times New Roman" panose="02020603050405020304" pitchFamily="18" charset="0"/>
                          <a:cs typeface="Arial" panose="020B0604020202020204" pitchFamily="34" charset="0"/>
                        </a:rPr>
                        <a:t>Open coding</a:t>
                      </a:r>
                      <a:endParaRPr lang="en-ZA"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36261714"/>
                  </a:ext>
                </a:extLst>
              </a:tr>
              <a:tr h="1255796">
                <a:tc>
                  <a:txBody>
                    <a:bodyPr/>
                    <a:lstStyle/>
                    <a:p>
                      <a:pPr>
                        <a:spcAft>
                          <a:spcPts val="0"/>
                        </a:spcAft>
                      </a:pPr>
                      <a:r>
                        <a:rPr lang="en-GB" sz="1600" dirty="0">
                          <a:effectLst>
                            <a:glow rad="127000">
                              <a:srgbClr val="FFFF00"/>
                            </a:glow>
                          </a:effectLst>
                          <a:latin typeface="Gill Sans MT" panose="020B0502020104020203" pitchFamily="34" charset="0"/>
                          <a:ea typeface="Times New Roman" panose="02020603050405020304" pitchFamily="18" charset="0"/>
                          <a:cs typeface="Arial" panose="020B0604020202020204" pitchFamily="34" charset="0"/>
                        </a:rPr>
                        <a:t>Work complexity is high </a:t>
                      </a:r>
                      <a:endParaRPr lang="en-ZA" sz="1600" dirty="0">
                        <a:effectLst>
                          <a:glow rad="127000">
                            <a:srgbClr val="FFFF00"/>
                          </a:glow>
                        </a:effectLst>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GB" sz="1600" dirty="0">
                          <a:effectLst>
                            <a:glow rad="127000">
                              <a:srgbClr val="00B0F0"/>
                            </a:glow>
                          </a:effectLst>
                          <a:latin typeface="Gill Sans MT" panose="020B0502020104020203" pitchFamily="34" charset="0"/>
                          <a:ea typeface="Times New Roman" panose="02020603050405020304" pitchFamily="18" charset="0"/>
                          <a:cs typeface="Arial" panose="020B0604020202020204" pitchFamily="34" charset="0"/>
                        </a:rPr>
                        <a:t>Need for data </a:t>
                      </a:r>
                      <a:endParaRPr lang="en-ZA" sz="1600" dirty="0">
                        <a:effectLst>
                          <a:glow rad="127000">
                            <a:srgbClr val="00B0F0"/>
                          </a:glow>
                        </a:effectLst>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GB" sz="1600" dirty="0">
                          <a:effectLst/>
                          <a:latin typeface="Gill Sans MT" panose="020B0502020104020203" pitchFamily="34" charset="0"/>
                          <a:ea typeface="Times New Roman" panose="02020603050405020304" pitchFamily="18" charset="0"/>
                          <a:cs typeface="Arial" panose="020B0604020202020204" pitchFamily="34" charset="0"/>
                        </a:rPr>
                        <a:t> </a:t>
                      </a:r>
                      <a:endParaRPr lang="en-ZA"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5738713"/>
                  </a:ext>
                </a:extLst>
              </a:tr>
              <a:tr h="1758114">
                <a:tc>
                  <a:txBody>
                    <a:bodyPr/>
                    <a:lstStyle/>
                    <a:p>
                      <a:pPr>
                        <a:spcAft>
                          <a:spcPts val="0"/>
                        </a:spcAft>
                      </a:pPr>
                      <a:r>
                        <a:rPr lang="en-GB" sz="1600" dirty="0">
                          <a:effectLst>
                            <a:glow rad="127000">
                              <a:srgbClr val="FFFF00"/>
                            </a:glow>
                          </a:effectLst>
                          <a:latin typeface="Gill Sans MT" panose="020B0502020104020203" pitchFamily="34" charset="0"/>
                          <a:ea typeface="Times New Roman" panose="02020603050405020304" pitchFamily="18" charset="0"/>
                          <a:cs typeface="Arial" panose="020B0604020202020204" pitchFamily="34" charset="0"/>
                        </a:rPr>
                        <a:t>More practice in programming </a:t>
                      </a:r>
                      <a:endParaRPr lang="en-ZA" sz="1600" dirty="0">
                        <a:effectLst>
                          <a:glow rad="127000">
                            <a:srgbClr val="FFFF00"/>
                          </a:glow>
                        </a:effectLst>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GB" sz="1600" dirty="0">
                          <a:effectLst>
                            <a:glow rad="127000">
                              <a:srgbClr val="92D050"/>
                            </a:glow>
                          </a:effectLst>
                          <a:latin typeface="Gill Sans MT" panose="020B0502020104020203" pitchFamily="34" charset="0"/>
                          <a:ea typeface="Times New Roman" panose="02020603050405020304" pitchFamily="18" charset="0"/>
                          <a:cs typeface="Arial" panose="020B0604020202020204" pitchFamily="34" charset="0"/>
                        </a:rPr>
                        <a:t>Limited open access (computer labs?)</a:t>
                      </a:r>
                      <a:endParaRPr lang="en-ZA" sz="1600" dirty="0">
                        <a:effectLst>
                          <a:glow rad="127000">
                            <a:srgbClr val="92D050"/>
                          </a:glow>
                        </a:effectLst>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GB" sz="1600" dirty="0">
                          <a:effectLst>
                            <a:glow rad="127000">
                              <a:srgbClr val="00B0F0"/>
                            </a:glow>
                          </a:effectLst>
                          <a:latin typeface="Gill Sans MT" panose="020B0502020104020203" pitchFamily="34" charset="0"/>
                          <a:ea typeface="Times New Roman" panose="02020603050405020304" pitchFamily="18" charset="0"/>
                          <a:cs typeface="Arial" panose="020B0604020202020204" pitchFamily="34" charset="0"/>
                        </a:rPr>
                        <a:t>No data at home</a:t>
                      </a:r>
                      <a:endParaRPr lang="en-ZA" sz="1600" dirty="0">
                        <a:effectLst>
                          <a:glow rad="127000">
                            <a:srgbClr val="00B0F0"/>
                          </a:glow>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9308818"/>
                  </a:ext>
                </a:extLst>
              </a:tr>
              <a:tr h="1506955">
                <a:tc>
                  <a:txBody>
                    <a:bodyPr/>
                    <a:lstStyle/>
                    <a:p>
                      <a:pPr>
                        <a:spcAft>
                          <a:spcPts val="0"/>
                        </a:spcAft>
                      </a:pPr>
                      <a:r>
                        <a:rPr lang="en-GB" sz="1600" dirty="0">
                          <a:effectLst>
                            <a:glow rad="127000">
                              <a:srgbClr val="FFC000"/>
                            </a:glow>
                          </a:effectLst>
                          <a:latin typeface="Gill Sans MT" panose="020B0502020104020203" pitchFamily="34" charset="0"/>
                          <a:ea typeface="Times New Roman" panose="02020603050405020304" pitchFamily="18" charset="0"/>
                          <a:cs typeface="Arial" panose="020B0604020202020204" pitchFamily="34" charset="0"/>
                        </a:rPr>
                        <a:t>More tuition </a:t>
                      </a:r>
                      <a:endParaRPr lang="en-ZA" sz="1600" dirty="0">
                        <a:effectLst>
                          <a:glow rad="127000">
                            <a:srgbClr val="FFC000"/>
                          </a:glow>
                        </a:effectLst>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GB" sz="1600" dirty="0">
                          <a:effectLst>
                            <a:glow rad="127000">
                              <a:srgbClr val="FF0000"/>
                            </a:glow>
                          </a:effectLst>
                          <a:latin typeface="Gill Sans MT" panose="020B0502020104020203" pitchFamily="34" charset="0"/>
                          <a:ea typeface="Times New Roman" panose="02020603050405020304" pitchFamily="18" charset="0"/>
                          <a:cs typeface="Arial" panose="020B0604020202020204" pitchFamily="34" charset="0"/>
                        </a:rPr>
                        <a:t>Poor lecturers</a:t>
                      </a:r>
                      <a:endParaRPr lang="en-ZA" sz="1600" dirty="0">
                        <a:effectLst>
                          <a:glow rad="127000">
                            <a:srgbClr val="FF0000"/>
                          </a:glow>
                        </a:effectLst>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GB" sz="1600" dirty="0">
                          <a:effectLst>
                            <a:glow rad="127000">
                              <a:srgbClr val="FFFF00"/>
                            </a:glow>
                          </a:effectLst>
                          <a:latin typeface="Gill Sans MT" panose="020B0502020104020203" pitchFamily="34" charset="0"/>
                          <a:ea typeface="Times New Roman" panose="02020603050405020304" pitchFamily="18" charset="0"/>
                          <a:cs typeface="Arial" panose="020B0604020202020204" pitchFamily="34" charset="0"/>
                        </a:rPr>
                        <a:t>Difficult for first years</a:t>
                      </a:r>
                      <a:endParaRPr lang="en-ZA" sz="1600" dirty="0">
                        <a:effectLst>
                          <a:glow rad="127000">
                            <a:srgbClr val="FFFF00"/>
                          </a:glow>
                        </a:effectLst>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GB" sz="1600" dirty="0" err="1">
                          <a:effectLst>
                            <a:glow rad="127000">
                              <a:schemeClr val="accent4">
                                <a:lumMod val="60000"/>
                                <a:lumOff val="40000"/>
                              </a:schemeClr>
                            </a:glow>
                          </a:effectLst>
                          <a:latin typeface="Gill Sans MT" panose="020B0502020104020203" pitchFamily="34" charset="0"/>
                          <a:ea typeface="Times New Roman" panose="02020603050405020304" pitchFamily="18" charset="0"/>
                          <a:cs typeface="Arial" panose="020B0604020202020204" pitchFamily="34" charset="0"/>
                        </a:rPr>
                        <a:t>Wifi</a:t>
                      </a:r>
                      <a:r>
                        <a:rPr lang="en-GB" sz="1600" dirty="0">
                          <a:effectLst>
                            <a:glow rad="127000">
                              <a:schemeClr val="accent4">
                                <a:lumMod val="60000"/>
                                <a:lumOff val="40000"/>
                              </a:schemeClr>
                            </a:glow>
                          </a:effectLst>
                          <a:latin typeface="Gill Sans MT" panose="020B0502020104020203" pitchFamily="34" charset="0"/>
                          <a:ea typeface="Times New Roman" panose="02020603050405020304" pitchFamily="18" charset="0"/>
                          <a:cs typeface="Arial" panose="020B0604020202020204" pitchFamily="34" charset="0"/>
                        </a:rPr>
                        <a:t> (connectivity) is poor</a:t>
                      </a:r>
                      <a:endParaRPr lang="en-ZA" sz="1600" dirty="0">
                        <a:effectLst>
                          <a:glow rad="127000">
                            <a:schemeClr val="accent4">
                              <a:lumMod val="60000"/>
                              <a:lumOff val="40000"/>
                            </a:schemeClr>
                          </a:glow>
                        </a:effectLst>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GB" sz="1600" dirty="0">
                          <a:effectLst/>
                          <a:latin typeface="Gill Sans MT" panose="020B0502020104020203" pitchFamily="34" charset="0"/>
                          <a:ea typeface="Times New Roman" panose="02020603050405020304" pitchFamily="18" charset="0"/>
                          <a:cs typeface="Arial" panose="020B0604020202020204" pitchFamily="34" charset="0"/>
                        </a:rPr>
                        <a:t> </a:t>
                      </a:r>
                      <a:endParaRPr lang="en-ZA"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0560147"/>
                  </a:ext>
                </a:extLst>
              </a:tr>
            </a:tbl>
          </a:graphicData>
        </a:graphic>
      </p:graphicFrame>
      <p:sp>
        <p:nvSpPr>
          <p:cNvPr id="6" name="TextBox 5"/>
          <p:cNvSpPr txBox="1"/>
          <p:nvPr/>
        </p:nvSpPr>
        <p:spPr>
          <a:xfrm>
            <a:off x="6291097" y="1818520"/>
            <a:ext cx="2623495" cy="4247317"/>
          </a:xfrm>
          <a:prstGeom prst="rect">
            <a:avLst/>
          </a:prstGeom>
          <a:noFill/>
        </p:spPr>
        <p:txBody>
          <a:bodyPr wrap="square" rtlCol="0">
            <a:spAutoFit/>
          </a:bodyPr>
          <a:lstStyle/>
          <a:p>
            <a:r>
              <a:rPr lang="en-US" dirty="0" smtClean="0"/>
              <a:t>Work complexity; more practice with programming; difficulty</a:t>
            </a:r>
          </a:p>
          <a:p>
            <a:endParaRPr lang="en-US" dirty="0"/>
          </a:p>
          <a:p>
            <a:r>
              <a:rPr lang="en-US" dirty="0" smtClean="0"/>
              <a:t>Available</a:t>
            </a:r>
            <a:r>
              <a:rPr lang="en-US" i="1" dirty="0" smtClean="0"/>
              <a:t> Data </a:t>
            </a:r>
          </a:p>
          <a:p>
            <a:endParaRPr lang="en-US" i="1" dirty="0"/>
          </a:p>
          <a:p>
            <a:r>
              <a:rPr lang="en-US" dirty="0" smtClean="0"/>
              <a:t>Access to labs</a:t>
            </a:r>
          </a:p>
          <a:p>
            <a:endParaRPr lang="en-US" dirty="0"/>
          </a:p>
          <a:p>
            <a:r>
              <a:rPr lang="en-US" dirty="0" smtClean="0"/>
              <a:t>Lecturers</a:t>
            </a:r>
          </a:p>
          <a:p>
            <a:endParaRPr lang="en-US" dirty="0"/>
          </a:p>
          <a:p>
            <a:r>
              <a:rPr lang="en-US" dirty="0" smtClean="0"/>
              <a:t>Tutors </a:t>
            </a:r>
          </a:p>
          <a:p>
            <a:endParaRPr lang="en-US" dirty="0"/>
          </a:p>
          <a:p>
            <a:r>
              <a:rPr lang="en-US" dirty="0" err="1"/>
              <a:t>wifi</a:t>
            </a:r>
            <a:endParaRPr lang="en-US" dirty="0"/>
          </a:p>
          <a:p>
            <a:endParaRPr lang="en-US" dirty="0"/>
          </a:p>
          <a:p>
            <a:endParaRPr lang="en-ZA" dirty="0"/>
          </a:p>
        </p:txBody>
      </p:sp>
      <p:sp>
        <p:nvSpPr>
          <p:cNvPr id="7" name="Up Arrow 6"/>
          <p:cNvSpPr/>
          <p:nvPr/>
        </p:nvSpPr>
        <p:spPr>
          <a:xfrm>
            <a:off x="9220200" y="1847850"/>
            <a:ext cx="266700" cy="34671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TextBox 7"/>
          <p:cNvSpPr txBox="1"/>
          <p:nvPr/>
        </p:nvSpPr>
        <p:spPr>
          <a:xfrm>
            <a:off x="8668697" y="5355325"/>
            <a:ext cx="1369706" cy="369332"/>
          </a:xfrm>
          <a:prstGeom prst="rect">
            <a:avLst/>
          </a:prstGeom>
          <a:noFill/>
        </p:spPr>
        <p:txBody>
          <a:bodyPr wrap="square" rtlCol="0">
            <a:spAutoFit/>
          </a:bodyPr>
          <a:lstStyle/>
          <a:p>
            <a:r>
              <a:rPr lang="en-US" dirty="0" smtClean="0">
                <a:solidFill>
                  <a:srgbClr val="0070C0"/>
                </a:solidFill>
              </a:rPr>
              <a:t>importance</a:t>
            </a:r>
            <a:endParaRPr lang="en-ZA" dirty="0">
              <a:solidFill>
                <a:srgbClr val="0070C0"/>
              </a:solidFill>
            </a:endParaRPr>
          </a:p>
        </p:txBody>
      </p:sp>
      <p:sp>
        <p:nvSpPr>
          <p:cNvPr id="9" name="Footer Placeholder 8"/>
          <p:cNvSpPr>
            <a:spLocks noGrp="1"/>
          </p:cNvSpPr>
          <p:nvPr>
            <p:ph type="ftr" sz="quarter" idx="11"/>
          </p:nvPr>
        </p:nvSpPr>
        <p:spPr/>
        <p:txBody>
          <a:bodyPr/>
          <a:lstStyle/>
          <a:p>
            <a:r>
              <a:rPr lang="en-ZA" smtClean="0"/>
              <a:t>PRESE4R</a:t>
            </a:r>
            <a:endParaRPr lang="en-ZA"/>
          </a:p>
        </p:txBody>
      </p:sp>
    </p:spTree>
    <p:extLst>
      <p:ext uri="{BB962C8B-B14F-4D97-AF65-F5344CB8AC3E}">
        <p14:creationId xmlns:p14="http://schemas.microsoft.com/office/powerpoint/2010/main" val="21296848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19339B4A-3334-40B8-B9D1-9FE2C92E888A}" type="slidenum">
              <a:rPr lang="en-ZA" smtClean="0"/>
              <a:t>20</a:t>
            </a:fld>
            <a:endParaRPr lang="en-ZA"/>
          </a:p>
        </p:txBody>
      </p:sp>
      <p:graphicFrame>
        <p:nvGraphicFramePr>
          <p:cNvPr id="4" name="Table 3"/>
          <p:cNvGraphicFramePr>
            <a:graphicFrameLocks noGrp="1"/>
          </p:cNvGraphicFramePr>
          <p:nvPr>
            <p:extLst/>
          </p:nvPr>
        </p:nvGraphicFramePr>
        <p:xfrm>
          <a:off x="533400" y="304799"/>
          <a:ext cx="10418456" cy="6134101"/>
        </p:xfrm>
        <a:graphic>
          <a:graphicData uri="http://schemas.openxmlformats.org/drawingml/2006/table">
            <a:tbl>
              <a:tblPr firstRow="1" firstCol="1" bandRow="1"/>
              <a:tblGrid>
                <a:gridCol w="1283818">
                  <a:extLst>
                    <a:ext uri="{9D8B030D-6E8A-4147-A177-3AD203B41FA5}">
                      <a16:colId xmlns:a16="http://schemas.microsoft.com/office/drawing/2014/main" val="1827743584"/>
                    </a:ext>
                  </a:extLst>
                </a:gridCol>
                <a:gridCol w="4215453">
                  <a:extLst>
                    <a:ext uri="{9D8B030D-6E8A-4147-A177-3AD203B41FA5}">
                      <a16:colId xmlns:a16="http://schemas.microsoft.com/office/drawing/2014/main" val="1578881500"/>
                    </a:ext>
                  </a:extLst>
                </a:gridCol>
                <a:gridCol w="2565326">
                  <a:extLst>
                    <a:ext uri="{9D8B030D-6E8A-4147-A177-3AD203B41FA5}">
                      <a16:colId xmlns:a16="http://schemas.microsoft.com/office/drawing/2014/main" val="28688611"/>
                    </a:ext>
                  </a:extLst>
                </a:gridCol>
                <a:gridCol w="2353859">
                  <a:extLst>
                    <a:ext uri="{9D8B030D-6E8A-4147-A177-3AD203B41FA5}">
                      <a16:colId xmlns:a16="http://schemas.microsoft.com/office/drawing/2014/main" val="2265770848"/>
                    </a:ext>
                  </a:extLst>
                </a:gridCol>
              </a:tblGrid>
              <a:tr h="322847">
                <a:tc>
                  <a:txBody>
                    <a:bodyPr/>
                    <a:lstStyle/>
                    <a:p>
                      <a:pPr algn="just">
                        <a:spcAft>
                          <a:spcPts val="0"/>
                        </a:spcAft>
                      </a:pPr>
                      <a:r>
                        <a:rPr lang="en-GB" sz="1800" dirty="0">
                          <a:effectLst/>
                          <a:latin typeface="Gill Sans MT" panose="020B0502020104020203" pitchFamily="34" charset="0"/>
                          <a:ea typeface="Times New Roman" panose="02020603050405020304" pitchFamily="18" charset="0"/>
                          <a:cs typeface="Arial" panose="020B0604020202020204" pitchFamily="34" charset="0"/>
                        </a:rPr>
                        <a:t>Participant </a:t>
                      </a:r>
                      <a:endParaRPr lang="en-Z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GB" sz="1800">
                          <a:effectLst/>
                          <a:latin typeface="Gill Sans MT" panose="020B0502020104020203" pitchFamily="34" charset="0"/>
                          <a:ea typeface="Times New Roman" panose="02020603050405020304" pitchFamily="18" charset="0"/>
                          <a:cs typeface="Arial" panose="020B0604020202020204" pitchFamily="34" charset="0"/>
                        </a:rPr>
                        <a:t>Response</a:t>
                      </a:r>
                      <a:endParaRPr lang="en-ZA"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GB" sz="1800" i="1">
                          <a:effectLst/>
                          <a:latin typeface="Gill Sans MT" panose="020B0502020104020203" pitchFamily="34" charset="0"/>
                          <a:ea typeface="Times New Roman" panose="02020603050405020304" pitchFamily="18" charset="0"/>
                          <a:cs typeface="Arial" panose="020B0604020202020204" pitchFamily="34" charset="0"/>
                        </a:rPr>
                        <a:t>Open coding</a:t>
                      </a:r>
                      <a:endParaRPr lang="en-ZA"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GB" sz="1800" i="1">
                          <a:effectLst/>
                          <a:latin typeface="Gill Sans MT" panose="020B0502020104020203" pitchFamily="34" charset="0"/>
                          <a:ea typeface="Times New Roman" panose="02020603050405020304" pitchFamily="18" charset="0"/>
                          <a:cs typeface="Arial" panose="020B0604020202020204" pitchFamily="34" charset="0"/>
                        </a:rPr>
                        <a:t>Axial coding </a:t>
                      </a:r>
                      <a:endParaRPr lang="en-ZA"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865464388"/>
                  </a:ext>
                </a:extLst>
              </a:tr>
              <a:tr h="1614237">
                <a:tc>
                  <a:txBody>
                    <a:bodyPr/>
                    <a:lstStyle/>
                    <a:p>
                      <a:pPr algn="just">
                        <a:spcAft>
                          <a:spcPts val="0"/>
                        </a:spcAft>
                      </a:pPr>
                      <a:r>
                        <a:rPr lang="en-GB" sz="1800" dirty="0">
                          <a:effectLst/>
                          <a:latin typeface="Gill Sans MT" panose="020B0502020104020203" pitchFamily="34" charset="0"/>
                          <a:ea typeface="Times New Roman" panose="02020603050405020304" pitchFamily="18" charset="0"/>
                          <a:cs typeface="Arial" panose="020B0604020202020204" pitchFamily="34" charset="0"/>
                        </a:rPr>
                        <a:t>Student 1</a:t>
                      </a:r>
                      <a:endParaRPr lang="en-Z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GB" sz="1800" dirty="0">
                          <a:effectLst/>
                          <a:latin typeface="Gill Sans MT" panose="020B0502020104020203" pitchFamily="34" charset="0"/>
                          <a:ea typeface="Times New Roman" panose="02020603050405020304" pitchFamily="18" charset="0"/>
                          <a:cs typeface="Arial" panose="020B0604020202020204" pitchFamily="34" charset="0"/>
                        </a:rPr>
                        <a:t>The complexity is too much. From high school to first year the work is too much. The university must make a plan and sort us out with data. We need more data so we can work from residence and home.</a:t>
                      </a:r>
                      <a:endParaRPr lang="en-Z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GB" sz="1800" dirty="0">
                          <a:effectLst/>
                          <a:latin typeface="Gill Sans MT" panose="020B0502020104020203" pitchFamily="34" charset="0"/>
                          <a:ea typeface="Times New Roman" panose="02020603050405020304" pitchFamily="18" charset="0"/>
                          <a:cs typeface="Arial" panose="020B0604020202020204" pitchFamily="34" charset="0"/>
                        </a:rPr>
                        <a:t>Work complexity is high </a:t>
                      </a:r>
                      <a:endParaRPr lang="en-Z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GB" sz="1800" dirty="0">
                          <a:effectLst/>
                          <a:latin typeface="Gill Sans MT" panose="020B0502020104020203" pitchFamily="34" charset="0"/>
                          <a:ea typeface="Times New Roman" panose="02020603050405020304" pitchFamily="18" charset="0"/>
                          <a:cs typeface="Arial" panose="020B0604020202020204" pitchFamily="34" charset="0"/>
                        </a:rPr>
                        <a:t>Need for data </a:t>
                      </a:r>
                      <a:endParaRPr lang="en-Z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GB" sz="1800" dirty="0">
                          <a:effectLst/>
                          <a:latin typeface="Gill Sans MT" panose="020B0502020104020203" pitchFamily="34" charset="0"/>
                          <a:ea typeface="Times New Roman" panose="02020603050405020304" pitchFamily="18" charset="0"/>
                          <a:cs typeface="Arial" panose="020B0604020202020204" pitchFamily="34" charset="0"/>
                        </a:rPr>
                        <a:t> </a:t>
                      </a:r>
                      <a:endParaRPr lang="en-Z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3">
                  <a:txBody>
                    <a:bodyPr/>
                    <a:lstStyle/>
                    <a:p>
                      <a:pPr>
                        <a:spcAft>
                          <a:spcPts val="0"/>
                        </a:spcAft>
                      </a:pPr>
                      <a:endParaRPr lang="en-Z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GB" sz="1800" dirty="0">
                          <a:effectLst/>
                          <a:latin typeface="Gill Sans MT" panose="020B0502020104020203" pitchFamily="34" charset="0"/>
                          <a:ea typeface="Times New Roman" panose="02020603050405020304" pitchFamily="18" charset="0"/>
                          <a:cs typeface="Arial" panose="020B0604020202020204" pitchFamily="34" charset="0"/>
                        </a:rPr>
                        <a:t>A difficulty in adapting to required level of study  </a:t>
                      </a:r>
                      <a:endParaRPr lang="en-GB" sz="1800" dirty="0" smtClean="0">
                        <a:effectLst/>
                        <a:latin typeface="Gill Sans MT" panose="020B0502020104020203" pitchFamily="34" charset="0"/>
                        <a:ea typeface="Times New Roman" panose="02020603050405020304" pitchFamily="18" charset="0"/>
                        <a:cs typeface="Arial" panose="020B0604020202020204" pitchFamily="34" charset="0"/>
                      </a:endParaRPr>
                    </a:p>
                    <a:p>
                      <a:pPr>
                        <a:spcAft>
                          <a:spcPts val="0"/>
                        </a:spcAft>
                      </a:pPr>
                      <a:endParaRPr lang="en-GB" sz="1800" dirty="0" smtClean="0">
                        <a:effectLst/>
                        <a:latin typeface="Gill Sans MT" panose="020B0502020104020203" pitchFamily="34" charset="0"/>
                        <a:ea typeface="Times New Roman" panose="02020603050405020304" pitchFamily="18" charset="0"/>
                        <a:cs typeface="Arial" panose="020B0604020202020204" pitchFamily="34" charset="0"/>
                      </a:endParaRPr>
                    </a:p>
                    <a:p>
                      <a:pPr>
                        <a:spcAft>
                          <a:spcPts val="0"/>
                        </a:spcAft>
                      </a:pPr>
                      <a:endParaRPr lang="en-GB" sz="1800" dirty="0" smtClean="0">
                        <a:effectLst/>
                        <a:latin typeface="Gill Sans MT" panose="020B0502020104020203" pitchFamily="34" charset="0"/>
                        <a:ea typeface="Times New Roman" panose="02020603050405020304" pitchFamily="18" charset="0"/>
                        <a:cs typeface="Arial" panose="020B0604020202020204" pitchFamily="34" charset="0"/>
                      </a:endParaRPr>
                    </a:p>
                    <a:p>
                      <a:pPr>
                        <a:spcAft>
                          <a:spcPts val="0"/>
                        </a:spcAft>
                      </a:pPr>
                      <a:endParaRPr lang="en-GB" sz="1800" dirty="0" smtClean="0">
                        <a:effectLst/>
                        <a:latin typeface="Gill Sans MT" panose="020B0502020104020203" pitchFamily="34" charset="0"/>
                        <a:ea typeface="Times New Roman" panose="02020603050405020304" pitchFamily="18" charset="0"/>
                        <a:cs typeface="Arial" panose="020B0604020202020204" pitchFamily="34" charset="0"/>
                      </a:endParaRPr>
                    </a:p>
                    <a:p>
                      <a:pPr>
                        <a:spcAft>
                          <a:spcPts val="0"/>
                        </a:spcAft>
                      </a:pPr>
                      <a:endParaRPr lang="en-GB" sz="1800" dirty="0" smtClean="0">
                        <a:effectLst/>
                        <a:latin typeface="Gill Sans MT" panose="020B0502020104020203" pitchFamily="34" charset="0"/>
                        <a:ea typeface="Times New Roman" panose="02020603050405020304" pitchFamily="18" charset="0"/>
                        <a:cs typeface="Arial" panose="020B0604020202020204" pitchFamily="34" charset="0"/>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sz="1800" dirty="0" smtClean="0">
                          <a:effectLst/>
                          <a:latin typeface="Gill Sans MT" panose="020B0502020104020203" pitchFamily="34" charset="0"/>
                          <a:ea typeface="Times New Roman" panose="02020603050405020304" pitchFamily="18" charset="0"/>
                          <a:cs typeface="Arial" panose="020B0604020202020204" pitchFamily="34" charset="0"/>
                        </a:rPr>
                        <a:t>A need to provide more connectivity options </a:t>
                      </a:r>
                    </a:p>
                    <a:p>
                      <a:pPr>
                        <a:spcAft>
                          <a:spcPts val="0"/>
                        </a:spcAft>
                      </a:pPr>
                      <a:endParaRPr lang="en-GB" sz="1800" dirty="0" smtClean="0">
                        <a:effectLst/>
                        <a:latin typeface="Gill Sans MT" panose="020B0502020104020203" pitchFamily="34" charset="0"/>
                        <a:ea typeface="Times New Roman" panose="02020603050405020304" pitchFamily="18" charset="0"/>
                        <a:cs typeface="Arial" panose="020B0604020202020204" pitchFamily="34" charset="0"/>
                      </a:endParaRPr>
                    </a:p>
                    <a:p>
                      <a:pPr>
                        <a:spcAft>
                          <a:spcPts val="0"/>
                        </a:spcAft>
                      </a:pPr>
                      <a:endParaRPr lang="en-GB" sz="1800" dirty="0" smtClean="0">
                        <a:effectLst/>
                        <a:latin typeface="Gill Sans MT" panose="020B0502020104020203" pitchFamily="34" charset="0"/>
                        <a:ea typeface="Times New Roman" panose="02020603050405020304" pitchFamily="18" charset="0"/>
                        <a:cs typeface="Arial" panose="020B0604020202020204" pitchFamily="34" charset="0"/>
                      </a:endParaRPr>
                    </a:p>
                    <a:p>
                      <a:pPr>
                        <a:spcAft>
                          <a:spcPts val="0"/>
                        </a:spcAft>
                      </a:pPr>
                      <a:endParaRPr lang="en-GB" sz="1800" dirty="0" smtClean="0">
                        <a:effectLst/>
                        <a:latin typeface="Gill Sans MT" panose="020B0502020104020203" pitchFamily="34" charset="0"/>
                        <a:ea typeface="Times New Roman" panose="02020603050405020304" pitchFamily="18" charset="0"/>
                        <a:cs typeface="Arial" panose="020B0604020202020204" pitchFamily="34" charset="0"/>
                      </a:endParaRPr>
                    </a:p>
                    <a:p>
                      <a:pPr>
                        <a:spcAft>
                          <a:spcPts val="0"/>
                        </a:spcAft>
                      </a:pPr>
                      <a:r>
                        <a:rPr lang="en-GB" sz="1800" dirty="0" smtClean="0">
                          <a:effectLst/>
                          <a:latin typeface="Gill Sans MT" panose="020B0502020104020203" pitchFamily="34" charset="0"/>
                          <a:ea typeface="Times New Roman" panose="02020603050405020304" pitchFamily="18" charset="0"/>
                          <a:cs typeface="Arial" panose="020B0604020202020204" pitchFamily="34" charset="0"/>
                        </a:rPr>
                        <a:t>Faculty</a:t>
                      </a:r>
                      <a:r>
                        <a:rPr lang="en-GB" sz="1800" baseline="0" dirty="0" smtClean="0">
                          <a:effectLst/>
                          <a:latin typeface="Gill Sans MT" panose="020B0502020104020203" pitchFamily="34" charset="0"/>
                          <a:ea typeface="Times New Roman" panose="02020603050405020304" pitchFamily="18" charset="0"/>
                          <a:cs typeface="Arial" panose="020B0604020202020204" pitchFamily="34" charset="0"/>
                        </a:rPr>
                        <a:t> capacity building </a:t>
                      </a:r>
                      <a:endParaRPr lang="en-GB" sz="1800" dirty="0" smtClean="0">
                        <a:effectLst/>
                        <a:latin typeface="Gill Sans MT" panose="020B0502020104020203" pitchFamily="34" charset="0"/>
                        <a:ea typeface="Times New Roman" panose="02020603050405020304" pitchFamily="18" charset="0"/>
                        <a:cs typeface="Arial" panose="020B0604020202020204" pitchFamily="34" charset="0"/>
                      </a:endParaRPr>
                    </a:p>
                    <a:p>
                      <a:pPr>
                        <a:spcAft>
                          <a:spcPts val="0"/>
                        </a:spcAft>
                      </a:pPr>
                      <a:endParaRPr lang="en-GB" sz="1800" dirty="0" smtClean="0">
                        <a:effectLst/>
                        <a:latin typeface="Gill Sans MT" panose="020B0502020104020203" pitchFamily="34" charset="0"/>
                        <a:ea typeface="Times New Roman" panose="02020603050405020304" pitchFamily="18" charset="0"/>
                        <a:cs typeface="Arial" panose="020B0604020202020204" pitchFamily="34" charset="0"/>
                      </a:endParaRPr>
                    </a:p>
                    <a:p>
                      <a:pPr>
                        <a:spcAft>
                          <a:spcPts val="0"/>
                        </a:spcAft>
                      </a:pPr>
                      <a:endParaRPr lang="en-GB" sz="1800" dirty="0" smtClean="0">
                        <a:effectLst/>
                        <a:latin typeface="Gill Sans MT" panose="020B0502020104020203" pitchFamily="34" charset="0"/>
                        <a:ea typeface="Times New Roman" panose="02020603050405020304" pitchFamily="18" charset="0"/>
                        <a:cs typeface="Arial" panose="020B0604020202020204" pitchFamily="34" charset="0"/>
                      </a:endParaRPr>
                    </a:p>
                    <a:p>
                      <a:pPr>
                        <a:spcAft>
                          <a:spcPts val="0"/>
                        </a:spcAft>
                      </a:pPr>
                      <a:endParaRPr lang="en-GB" sz="1800" dirty="0" smtClean="0">
                        <a:effectLst/>
                        <a:latin typeface="Gill Sans MT" panose="020B0502020104020203" pitchFamily="34" charset="0"/>
                        <a:ea typeface="Times New Roman" panose="02020603050405020304" pitchFamily="18" charset="0"/>
                        <a:cs typeface="Arial" panose="020B0604020202020204" pitchFamily="34" charset="0"/>
                      </a:endParaRPr>
                    </a:p>
                    <a:p>
                      <a:pPr>
                        <a:spcAft>
                          <a:spcPts val="0"/>
                        </a:spcAft>
                      </a:pPr>
                      <a:endParaRPr lang="en-Z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GB" sz="1800" dirty="0">
                          <a:effectLst/>
                          <a:latin typeface="Gill Sans MT" panose="020B0502020104020203" pitchFamily="34" charset="0"/>
                          <a:ea typeface="Times New Roman" panose="02020603050405020304" pitchFamily="18" charset="0"/>
                          <a:cs typeface="Arial" panose="020B0604020202020204" pitchFamily="34" charset="0"/>
                        </a:rPr>
                        <a:t> </a:t>
                      </a:r>
                      <a:endParaRPr lang="en-Z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808523197"/>
                  </a:ext>
                </a:extLst>
              </a:tr>
              <a:tr h="2259932">
                <a:tc>
                  <a:txBody>
                    <a:bodyPr/>
                    <a:lstStyle/>
                    <a:p>
                      <a:pPr algn="just">
                        <a:spcAft>
                          <a:spcPts val="0"/>
                        </a:spcAft>
                      </a:pPr>
                      <a:r>
                        <a:rPr lang="en-GB" sz="1800">
                          <a:effectLst/>
                          <a:latin typeface="Gill Sans MT" panose="020B0502020104020203" pitchFamily="34" charset="0"/>
                          <a:ea typeface="Times New Roman" panose="02020603050405020304" pitchFamily="18" charset="0"/>
                          <a:cs typeface="Arial" panose="020B0604020202020204" pitchFamily="34" charset="0"/>
                        </a:rPr>
                        <a:t>Student 2</a:t>
                      </a:r>
                      <a:endParaRPr lang="en-ZA"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GB" sz="1800">
                          <a:effectLst/>
                          <a:latin typeface="Gill Sans MT" panose="020B0502020104020203" pitchFamily="34" charset="0"/>
                          <a:ea typeface="Times New Roman" panose="02020603050405020304" pitchFamily="18" charset="0"/>
                          <a:cs typeface="Arial" panose="020B0604020202020204" pitchFamily="34" charset="0"/>
                        </a:rPr>
                        <a:t>I will make it better in programming if I can practice more. The time is not enough time in open access. My parents are not working and data is hard so I can’t practice from home and I stay very far from campus so I can’t travel late or on weekends.</a:t>
                      </a:r>
                      <a:endParaRPr lang="en-ZA"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GB" sz="1800" dirty="0">
                          <a:effectLst/>
                          <a:latin typeface="Gill Sans MT" panose="020B0502020104020203" pitchFamily="34" charset="0"/>
                          <a:ea typeface="Times New Roman" panose="02020603050405020304" pitchFamily="18" charset="0"/>
                          <a:cs typeface="Arial" panose="020B0604020202020204" pitchFamily="34" charset="0"/>
                        </a:rPr>
                        <a:t>More practice in programming </a:t>
                      </a:r>
                      <a:endParaRPr lang="en-Z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GB" sz="1800" dirty="0">
                          <a:effectLst/>
                          <a:latin typeface="Gill Sans MT" panose="020B0502020104020203" pitchFamily="34" charset="0"/>
                          <a:ea typeface="Times New Roman" panose="02020603050405020304" pitchFamily="18" charset="0"/>
                          <a:cs typeface="Arial" panose="020B0604020202020204" pitchFamily="34" charset="0"/>
                        </a:rPr>
                        <a:t>Limited open access (computer labs?)</a:t>
                      </a:r>
                      <a:endParaRPr lang="en-Z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GB" sz="1800" dirty="0">
                          <a:effectLst/>
                          <a:latin typeface="Gill Sans MT" panose="020B0502020104020203" pitchFamily="34" charset="0"/>
                          <a:ea typeface="Times New Roman" panose="02020603050405020304" pitchFamily="18" charset="0"/>
                          <a:cs typeface="Arial" panose="020B0604020202020204" pitchFamily="34" charset="0"/>
                        </a:rPr>
                        <a:t>No data at home</a:t>
                      </a:r>
                      <a:endParaRPr lang="en-Z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ZA"/>
                    </a:p>
                  </a:txBody>
                  <a:tcPr/>
                </a:tc>
                <a:extLst>
                  <a:ext uri="{0D108BD9-81ED-4DB2-BD59-A6C34878D82A}">
                    <a16:rowId xmlns:a16="http://schemas.microsoft.com/office/drawing/2014/main" val="267201263"/>
                  </a:ext>
                </a:extLst>
              </a:tr>
              <a:tr h="1937085">
                <a:tc>
                  <a:txBody>
                    <a:bodyPr/>
                    <a:lstStyle/>
                    <a:p>
                      <a:pPr algn="just">
                        <a:spcAft>
                          <a:spcPts val="0"/>
                        </a:spcAft>
                      </a:pPr>
                      <a:r>
                        <a:rPr lang="en-GB" sz="1800">
                          <a:effectLst/>
                          <a:latin typeface="Gill Sans MT" panose="020B0502020104020203" pitchFamily="34" charset="0"/>
                          <a:ea typeface="Times New Roman" panose="02020603050405020304" pitchFamily="18" charset="0"/>
                          <a:cs typeface="Arial" panose="020B0604020202020204" pitchFamily="34" charset="0"/>
                        </a:rPr>
                        <a:t>Student 3</a:t>
                      </a:r>
                      <a:endParaRPr lang="en-ZA"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GB" sz="1800">
                          <a:effectLst/>
                          <a:latin typeface="Gill Sans MT" panose="020B0502020104020203" pitchFamily="34" charset="0"/>
                          <a:ea typeface="Times New Roman" panose="02020603050405020304" pitchFamily="18" charset="0"/>
                          <a:cs typeface="Arial" panose="020B0604020202020204" pitchFamily="34" charset="0"/>
                        </a:rPr>
                        <a:t>We need more tuition. Our lecturers are not very good and they don’t understand that we need time to learn and get used to programming. It is not easy for us and first time is hard. Wifi is bad.</a:t>
                      </a:r>
                      <a:endParaRPr lang="en-ZA"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GB" sz="1800" dirty="0">
                          <a:effectLst/>
                          <a:latin typeface="Gill Sans MT" panose="020B0502020104020203" pitchFamily="34" charset="0"/>
                          <a:ea typeface="Times New Roman" panose="02020603050405020304" pitchFamily="18" charset="0"/>
                          <a:cs typeface="Arial" panose="020B0604020202020204" pitchFamily="34" charset="0"/>
                        </a:rPr>
                        <a:t>More tuition </a:t>
                      </a:r>
                      <a:endParaRPr lang="en-Z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GB" sz="1800" dirty="0">
                          <a:effectLst/>
                          <a:latin typeface="Gill Sans MT" panose="020B0502020104020203" pitchFamily="34" charset="0"/>
                          <a:ea typeface="Times New Roman" panose="02020603050405020304" pitchFamily="18" charset="0"/>
                          <a:cs typeface="Arial" panose="020B0604020202020204" pitchFamily="34" charset="0"/>
                        </a:rPr>
                        <a:t>Poor lecturers</a:t>
                      </a:r>
                      <a:endParaRPr lang="en-Z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GB" sz="1800" dirty="0">
                          <a:effectLst/>
                          <a:latin typeface="Gill Sans MT" panose="020B0502020104020203" pitchFamily="34" charset="0"/>
                          <a:ea typeface="Times New Roman" panose="02020603050405020304" pitchFamily="18" charset="0"/>
                          <a:cs typeface="Arial" panose="020B0604020202020204" pitchFamily="34" charset="0"/>
                        </a:rPr>
                        <a:t>Difficult for first years</a:t>
                      </a:r>
                      <a:endParaRPr lang="en-Z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GB" sz="1800" dirty="0" err="1">
                          <a:effectLst/>
                          <a:latin typeface="Gill Sans MT" panose="020B0502020104020203" pitchFamily="34" charset="0"/>
                          <a:ea typeface="Times New Roman" panose="02020603050405020304" pitchFamily="18" charset="0"/>
                          <a:cs typeface="Arial" panose="020B0604020202020204" pitchFamily="34" charset="0"/>
                        </a:rPr>
                        <a:t>Wifi</a:t>
                      </a:r>
                      <a:r>
                        <a:rPr lang="en-GB" sz="1800" dirty="0">
                          <a:effectLst/>
                          <a:latin typeface="Gill Sans MT" panose="020B0502020104020203" pitchFamily="34" charset="0"/>
                          <a:ea typeface="Times New Roman" panose="02020603050405020304" pitchFamily="18" charset="0"/>
                          <a:cs typeface="Arial" panose="020B0604020202020204" pitchFamily="34" charset="0"/>
                        </a:rPr>
                        <a:t> (connectivity) is poor</a:t>
                      </a:r>
                      <a:endParaRPr lang="en-Z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GB" sz="1800" dirty="0">
                          <a:effectLst/>
                          <a:latin typeface="Gill Sans MT" panose="020B0502020104020203" pitchFamily="34" charset="0"/>
                          <a:ea typeface="Times New Roman" panose="02020603050405020304" pitchFamily="18" charset="0"/>
                          <a:cs typeface="Arial" panose="020B0604020202020204" pitchFamily="34" charset="0"/>
                        </a:rPr>
                        <a:t> </a:t>
                      </a:r>
                      <a:endParaRPr lang="en-Z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ZA"/>
                    </a:p>
                  </a:txBody>
                  <a:tcPr/>
                </a:tc>
                <a:extLst>
                  <a:ext uri="{0D108BD9-81ED-4DB2-BD59-A6C34878D82A}">
                    <a16:rowId xmlns:a16="http://schemas.microsoft.com/office/drawing/2014/main" val="4191093195"/>
                  </a:ext>
                </a:extLst>
              </a:tr>
            </a:tbl>
          </a:graphicData>
        </a:graphic>
      </p:graphicFrame>
      <p:sp>
        <p:nvSpPr>
          <p:cNvPr id="5" name="Footer Placeholder 4"/>
          <p:cNvSpPr>
            <a:spLocks noGrp="1"/>
          </p:cNvSpPr>
          <p:nvPr>
            <p:ph type="ftr" sz="quarter" idx="11"/>
          </p:nvPr>
        </p:nvSpPr>
        <p:spPr/>
        <p:txBody>
          <a:bodyPr/>
          <a:lstStyle/>
          <a:p>
            <a:r>
              <a:rPr lang="en-ZA" smtClean="0"/>
              <a:t>PRESE4R</a:t>
            </a:r>
            <a:endParaRPr lang="en-ZA"/>
          </a:p>
        </p:txBody>
      </p:sp>
    </p:spTree>
    <p:extLst>
      <p:ext uri="{BB962C8B-B14F-4D97-AF65-F5344CB8AC3E}">
        <p14:creationId xmlns:p14="http://schemas.microsoft.com/office/powerpoint/2010/main" val="12000928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Dr Alveen Singh - Dept of IT, DUT</a:t>
            </a:r>
            <a:endParaRPr lang="en-ZA"/>
          </a:p>
        </p:txBody>
      </p:sp>
      <p:sp>
        <p:nvSpPr>
          <p:cNvPr id="4" name="Slide Number Placeholder 3"/>
          <p:cNvSpPr>
            <a:spLocks noGrp="1"/>
          </p:cNvSpPr>
          <p:nvPr>
            <p:ph type="sldNum" sz="quarter" idx="12"/>
          </p:nvPr>
        </p:nvSpPr>
        <p:spPr/>
        <p:txBody>
          <a:bodyPr/>
          <a:lstStyle/>
          <a:p>
            <a:fld id="{F9D8934E-928E-4C38-807A-CB32A0A7C43F}" type="slidenum">
              <a:rPr lang="en-ZA" smtClean="0"/>
              <a:t>21</a:t>
            </a:fld>
            <a:endParaRPr lang="en-ZA"/>
          </a:p>
        </p:txBody>
      </p:sp>
      <p:pic>
        <p:nvPicPr>
          <p:cNvPr id="3" name="Picture 2"/>
          <p:cNvPicPr>
            <a:picLocks noChangeAspect="1"/>
          </p:cNvPicPr>
          <p:nvPr/>
        </p:nvPicPr>
        <p:blipFill>
          <a:blip r:embed="rId2"/>
          <a:stretch>
            <a:fillRect/>
          </a:stretch>
        </p:blipFill>
        <p:spPr>
          <a:xfrm>
            <a:off x="2407598" y="439814"/>
            <a:ext cx="7413538" cy="5529496"/>
          </a:xfrm>
          <a:prstGeom prst="rect">
            <a:avLst/>
          </a:prstGeom>
        </p:spPr>
      </p:pic>
      <p:sp>
        <p:nvSpPr>
          <p:cNvPr id="7" name="Rectangle 6"/>
          <p:cNvSpPr/>
          <p:nvPr/>
        </p:nvSpPr>
        <p:spPr>
          <a:xfrm>
            <a:off x="9281431" y="5911949"/>
            <a:ext cx="986167" cy="307777"/>
          </a:xfrm>
          <a:prstGeom prst="rect">
            <a:avLst/>
          </a:prstGeom>
        </p:spPr>
        <p:txBody>
          <a:bodyPr wrap="none">
            <a:spAutoFit/>
          </a:bodyPr>
          <a:lstStyle/>
          <a:p>
            <a:r>
              <a:rPr lang="en-US" sz="1400" dirty="0" err="1" smtClean="0">
                <a:solidFill>
                  <a:srgbClr val="FF0000"/>
                </a:solidFill>
              </a:rPr>
              <a:t>Nvivo.com</a:t>
            </a:r>
            <a:endParaRPr lang="en-ZA" dirty="0">
              <a:solidFill>
                <a:srgbClr val="FF0000"/>
              </a:solidFill>
            </a:endParaRPr>
          </a:p>
        </p:txBody>
      </p:sp>
    </p:spTree>
    <p:extLst>
      <p:ext uri="{BB962C8B-B14F-4D97-AF65-F5344CB8AC3E}">
        <p14:creationId xmlns:p14="http://schemas.microsoft.com/office/powerpoint/2010/main" val="295510119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484311" y="685801"/>
            <a:ext cx="10018713" cy="883920"/>
          </a:xfrm>
        </p:spPr>
        <p:txBody>
          <a:bodyPr/>
          <a:lstStyle/>
          <a:p>
            <a:r>
              <a:rPr lang="en-US" b="1" dirty="0" err="1" smtClean="0">
                <a:solidFill>
                  <a:srgbClr val="0070C0"/>
                </a:solidFill>
                <a:latin typeface="Arial Black" panose="020B0A04020102020204" pitchFamily="34" charset="0"/>
              </a:rPr>
              <a:t>Analysing</a:t>
            </a:r>
            <a:r>
              <a:rPr lang="en-US" b="1" dirty="0" smtClean="0">
                <a:solidFill>
                  <a:srgbClr val="0070C0"/>
                </a:solidFill>
                <a:latin typeface="Arial Black" panose="020B0A04020102020204" pitchFamily="34" charset="0"/>
              </a:rPr>
              <a:t> quantitative data</a:t>
            </a:r>
            <a:endParaRPr lang="en-ZA" b="1" dirty="0">
              <a:solidFill>
                <a:srgbClr val="0070C0"/>
              </a:solidFill>
              <a:latin typeface="Arial Black" panose="020B0A04020102020204" pitchFamily="34" charset="0"/>
            </a:endParaRPr>
          </a:p>
        </p:txBody>
      </p:sp>
      <p:sp>
        <p:nvSpPr>
          <p:cNvPr id="5" name="Content Placeholder 4"/>
          <p:cNvSpPr>
            <a:spLocks noGrp="1"/>
          </p:cNvSpPr>
          <p:nvPr>
            <p:ph idx="1"/>
          </p:nvPr>
        </p:nvSpPr>
        <p:spPr>
          <a:xfrm>
            <a:off x="1484310" y="1569721"/>
            <a:ext cx="10018713" cy="4221479"/>
          </a:xfrm>
        </p:spPr>
        <p:txBody>
          <a:bodyPr anchor="t">
            <a:normAutofit/>
          </a:bodyPr>
          <a:lstStyle/>
          <a:p>
            <a:r>
              <a:rPr lang="en-US" sz="2000" dirty="0" smtClean="0">
                <a:latin typeface="Arial Narrow" panose="020B0606020202030204" pitchFamily="34" charset="0"/>
              </a:rPr>
              <a:t>Quantitative data analysis involves numbers</a:t>
            </a:r>
          </a:p>
          <a:p>
            <a:r>
              <a:rPr lang="en-US" sz="2000" dirty="0" smtClean="0">
                <a:latin typeface="Arial Narrow" panose="020B0606020202030204" pitchFamily="34" charset="0"/>
              </a:rPr>
              <a:t>Collected data has to be transformed into numerical format</a:t>
            </a:r>
          </a:p>
          <a:p>
            <a:r>
              <a:rPr lang="en-US" sz="2000" dirty="0" smtClean="0">
                <a:latin typeface="Arial Narrow" panose="020B0606020202030204" pitchFamily="34" charset="0"/>
              </a:rPr>
              <a:t>This data should be </a:t>
            </a:r>
            <a:r>
              <a:rPr lang="en-US" sz="2000" i="1" dirty="0" smtClean="0">
                <a:latin typeface="Arial Narrow" panose="020B0606020202030204" pitchFamily="34" charset="0"/>
              </a:rPr>
              <a:t>cleaned</a:t>
            </a:r>
            <a:r>
              <a:rPr lang="en-US" sz="2000" dirty="0" smtClean="0">
                <a:latin typeface="Arial Narrow" panose="020B0606020202030204" pitchFamily="34" charset="0"/>
              </a:rPr>
              <a:t> and arranged </a:t>
            </a:r>
          </a:p>
          <a:p>
            <a:r>
              <a:rPr lang="en-US" sz="2000" dirty="0" smtClean="0">
                <a:latin typeface="Arial Narrow" panose="020B0606020202030204" pitchFamily="34" charset="0"/>
              </a:rPr>
              <a:t>Thereafter, analysis may be performed using statistics and other mathematical methods </a:t>
            </a:r>
            <a:endParaRPr lang="en-ZA" sz="2000" dirty="0">
              <a:latin typeface="Arial Narrow" panose="020B0606020202030204" pitchFamily="34" charset="0"/>
            </a:endParaRPr>
          </a:p>
        </p:txBody>
      </p:sp>
      <p:sp>
        <p:nvSpPr>
          <p:cNvPr id="2" name="Footer Placeholder 1"/>
          <p:cNvSpPr>
            <a:spLocks noGrp="1"/>
          </p:cNvSpPr>
          <p:nvPr>
            <p:ph type="ftr" sz="quarter" idx="11"/>
          </p:nvPr>
        </p:nvSpPr>
        <p:spPr/>
        <p:txBody>
          <a:bodyPr/>
          <a:lstStyle/>
          <a:p>
            <a:r>
              <a:rPr lang="en-US" smtClean="0"/>
              <a:t>Dr Alveen Singh - Dept of IT, DUT</a:t>
            </a:r>
            <a:endParaRPr lang="en-ZA"/>
          </a:p>
        </p:txBody>
      </p:sp>
      <p:sp>
        <p:nvSpPr>
          <p:cNvPr id="4" name="Slide Number Placeholder 3"/>
          <p:cNvSpPr>
            <a:spLocks noGrp="1"/>
          </p:cNvSpPr>
          <p:nvPr>
            <p:ph type="sldNum" sz="quarter" idx="12"/>
          </p:nvPr>
        </p:nvSpPr>
        <p:spPr/>
        <p:txBody>
          <a:bodyPr/>
          <a:lstStyle/>
          <a:p>
            <a:fld id="{F9D8934E-928E-4C38-807A-CB32A0A7C43F}" type="slidenum">
              <a:rPr lang="en-ZA" smtClean="0"/>
              <a:t>22</a:t>
            </a:fld>
            <a:endParaRPr lang="en-ZA"/>
          </a:p>
        </p:txBody>
      </p:sp>
    </p:spTree>
    <p:extLst>
      <p:ext uri="{BB962C8B-B14F-4D97-AF65-F5344CB8AC3E}">
        <p14:creationId xmlns:p14="http://schemas.microsoft.com/office/powerpoint/2010/main" val="138365348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1484310" y="885825"/>
            <a:ext cx="10018713" cy="2710815"/>
          </a:xfrm>
        </p:spPr>
        <p:txBody>
          <a:bodyPr anchor="t">
            <a:normAutofit/>
          </a:bodyPr>
          <a:lstStyle/>
          <a:p>
            <a:pPr marL="0" indent="0">
              <a:buNone/>
            </a:pPr>
            <a:r>
              <a:rPr lang="en-US" sz="2000" b="1" dirty="0" smtClean="0">
                <a:solidFill>
                  <a:srgbClr val="0070C0"/>
                </a:solidFill>
                <a:latin typeface="Arial Narrow" panose="020B0606020202030204" pitchFamily="34" charset="0"/>
              </a:rPr>
              <a:t>Statistics</a:t>
            </a:r>
          </a:p>
          <a:p>
            <a:pPr marL="0" indent="0">
              <a:buNone/>
            </a:pPr>
            <a:r>
              <a:rPr lang="en-US" sz="2000" dirty="0" smtClean="0">
                <a:latin typeface="Arial Narrow" panose="020B0606020202030204" pitchFamily="34" charset="0"/>
              </a:rPr>
              <a:t>Is concerned with describing, interpreting and analyzing numerical data</a:t>
            </a:r>
          </a:p>
          <a:p>
            <a:pPr marL="0" indent="0">
              <a:buNone/>
            </a:pPr>
            <a:r>
              <a:rPr lang="en-US" sz="2000" dirty="0" smtClean="0">
                <a:latin typeface="Arial Narrow" panose="020B0606020202030204" pitchFamily="34" charset="0"/>
              </a:rPr>
              <a:t>There </a:t>
            </a:r>
            <a:r>
              <a:rPr lang="en-US" sz="2000" dirty="0">
                <a:latin typeface="Arial Narrow" panose="020B0606020202030204" pitchFamily="34" charset="0"/>
              </a:rPr>
              <a:t>are two main types of statistics, </a:t>
            </a:r>
            <a:r>
              <a:rPr lang="en-US" b="1" dirty="0">
                <a:solidFill>
                  <a:srgbClr val="0070C0"/>
                </a:solidFill>
                <a:latin typeface="Arial Narrow" panose="020B0606020202030204" pitchFamily="34" charset="0"/>
              </a:rPr>
              <a:t>descriptive and inferential</a:t>
            </a:r>
            <a:r>
              <a:rPr lang="en-US" sz="2000" dirty="0">
                <a:latin typeface="Arial Narrow" panose="020B0606020202030204" pitchFamily="34" charset="0"/>
              </a:rPr>
              <a:t>. </a:t>
            </a:r>
            <a:endParaRPr lang="en-US" sz="2000" dirty="0" smtClean="0">
              <a:latin typeface="Arial Narrow" panose="020B0606020202030204" pitchFamily="34" charset="0"/>
            </a:endParaRPr>
          </a:p>
          <a:p>
            <a:pPr marL="0" indent="0">
              <a:buNone/>
            </a:pPr>
            <a:r>
              <a:rPr lang="en-US" sz="2000" dirty="0" smtClean="0">
                <a:latin typeface="Arial Narrow" panose="020B0606020202030204" pitchFamily="34" charset="0"/>
              </a:rPr>
              <a:t>Descriptive </a:t>
            </a:r>
            <a:r>
              <a:rPr lang="en-US" sz="2000" dirty="0">
                <a:latin typeface="Arial Narrow" panose="020B0606020202030204" pitchFamily="34" charset="0"/>
              </a:rPr>
              <a:t>statistics aims to describe the </a:t>
            </a:r>
            <a:r>
              <a:rPr lang="en-US" sz="2000" dirty="0" smtClean="0">
                <a:latin typeface="Arial Narrow" panose="020B0606020202030204" pitchFamily="34" charset="0"/>
              </a:rPr>
              <a:t>data e.g. </a:t>
            </a:r>
            <a:r>
              <a:rPr lang="en-US" sz="2000" dirty="0" smtClean="0">
                <a:latin typeface="Arial Narrow" panose="020B0606020202030204" pitchFamily="34" charset="0"/>
              </a:rPr>
              <a:t>average</a:t>
            </a:r>
            <a:r>
              <a:rPr lang="en-US" sz="2000" dirty="0" smtClean="0">
                <a:latin typeface="Arial Narrow" panose="020B0606020202030204" pitchFamily="34" charset="0"/>
              </a:rPr>
              <a:t> mark</a:t>
            </a:r>
            <a:endParaRPr lang="en-US" sz="2000" dirty="0" smtClean="0">
              <a:latin typeface="Arial Narrow" panose="020B0606020202030204" pitchFamily="34" charset="0"/>
            </a:endParaRPr>
          </a:p>
          <a:p>
            <a:pPr marL="0" indent="0">
              <a:buNone/>
            </a:pPr>
            <a:r>
              <a:rPr lang="en-US" sz="2000" dirty="0" smtClean="0">
                <a:latin typeface="Arial Narrow" panose="020B0606020202030204" pitchFamily="34" charset="0"/>
              </a:rPr>
              <a:t> </a:t>
            </a:r>
            <a:r>
              <a:rPr lang="en-US" sz="2000" dirty="0">
                <a:latin typeface="Arial Narrow" panose="020B0606020202030204" pitchFamily="34" charset="0"/>
              </a:rPr>
              <a:t>Inferential statistics </a:t>
            </a:r>
            <a:r>
              <a:rPr lang="en-US" sz="2000" dirty="0" smtClean="0">
                <a:latin typeface="Arial Narrow" panose="020B0606020202030204" pitchFamily="34" charset="0"/>
              </a:rPr>
              <a:t>prove </a:t>
            </a:r>
            <a:r>
              <a:rPr lang="en-US" sz="2000" dirty="0">
                <a:latin typeface="Arial Narrow" panose="020B0606020202030204" pitchFamily="34" charset="0"/>
              </a:rPr>
              <a:t>that the results are genuine i.e. not fake or doctored and that the results can be generalized to the population. </a:t>
            </a:r>
          </a:p>
          <a:p>
            <a:pPr marL="0" indent="0">
              <a:buNone/>
            </a:pPr>
            <a:endParaRPr lang="en-ZA" sz="2000" dirty="0">
              <a:solidFill>
                <a:srgbClr val="0070C0"/>
              </a:solidFill>
              <a:latin typeface="Arial Narrow" panose="020B0606020202030204" pitchFamily="34" charset="0"/>
            </a:endParaRPr>
          </a:p>
        </p:txBody>
      </p:sp>
      <p:sp>
        <p:nvSpPr>
          <p:cNvPr id="2" name="Footer Placeholder 1"/>
          <p:cNvSpPr>
            <a:spLocks noGrp="1"/>
          </p:cNvSpPr>
          <p:nvPr>
            <p:ph type="ftr" sz="quarter" idx="11"/>
          </p:nvPr>
        </p:nvSpPr>
        <p:spPr/>
        <p:txBody>
          <a:bodyPr/>
          <a:lstStyle/>
          <a:p>
            <a:r>
              <a:rPr lang="en-US" smtClean="0"/>
              <a:t>Dr Alveen Singh - Dept of IT, DUT</a:t>
            </a:r>
            <a:endParaRPr lang="en-ZA"/>
          </a:p>
        </p:txBody>
      </p:sp>
      <p:sp>
        <p:nvSpPr>
          <p:cNvPr id="4" name="Slide Number Placeholder 3"/>
          <p:cNvSpPr>
            <a:spLocks noGrp="1"/>
          </p:cNvSpPr>
          <p:nvPr>
            <p:ph type="sldNum" sz="quarter" idx="12"/>
          </p:nvPr>
        </p:nvSpPr>
        <p:spPr/>
        <p:txBody>
          <a:bodyPr/>
          <a:lstStyle/>
          <a:p>
            <a:fld id="{F9D8934E-928E-4C38-807A-CB32A0A7C43F}" type="slidenum">
              <a:rPr lang="en-ZA" smtClean="0"/>
              <a:t>23</a:t>
            </a:fld>
            <a:endParaRPr lang="en-ZA"/>
          </a:p>
        </p:txBody>
      </p:sp>
      <p:pic>
        <p:nvPicPr>
          <p:cNvPr id="3" name="Picture 2"/>
          <p:cNvPicPr>
            <a:picLocks noChangeAspect="1"/>
          </p:cNvPicPr>
          <p:nvPr/>
        </p:nvPicPr>
        <p:blipFill>
          <a:blip r:embed="rId2"/>
          <a:stretch>
            <a:fillRect/>
          </a:stretch>
        </p:blipFill>
        <p:spPr>
          <a:xfrm>
            <a:off x="1484310" y="3777004"/>
            <a:ext cx="3118250" cy="1909763"/>
          </a:xfrm>
          <a:prstGeom prst="rect">
            <a:avLst/>
          </a:prstGeom>
        </p:spPr>
      </p:pic>
      <p:sp>
        <p:nvSpPr>
          <p:cNvPr id="7" name="Rectangle 6"/>
          <p:cNvSpPr/>
          <p:nvPr/>
        </p:nvSpPr>
        <p:spPr>
          <a:xfrm>
            <a:off x="1484310" y="5713242"/>
            <a:ext cx="2480615" cy="369332"/>
          </a:xfrm>
          <a:prstGeom prst="rect">
            <a:avLst/>
          </a:prstGeom>
        </p:spPr>
        <p:txBody>
          <a:bodyPr wrap="none">
            <a:spAutoFit/>
          </a:bodyPr>
          <a:lstStyle/>
          <a:p>
            <a:r>
              <a:rPr lang="en-US" dirty="0" err="1" smtClean="0">
                <a:solidFill>
                  <a:srgbClr val="FF0000"/>
                </a:solidFill>
              </a:rPr>
              <a:t>Datadriveninvestor.com</a:t>
            </a:r>
            <a:endParaRPr lang="en-ZA" dirty="0">
              <a:solidFill>
                <a:srgbClr val="FF0000"/>
              </a:solidFill>
            </a:endParaRPr>
          </a:p>
        </p:txBody>
      </p:sp>
      <p:pic>
        <p:nvPicPr>
          <p:cNvPr id="8" name="Picture 7"/>
          <p:cNvPicPr>
            <a:picLocks noChangeAspect="1"/>
          </p:cNvPicPr>
          <p:nvPr/>
        </p:nvPicPr>
        <p:blipFill>
          <a:blip r:embed="rId3"/>
          <a:stretch>
            <a:fillRect/>
          </a:stretch>
        </p:blipFill>
        <p:spPr>
          <a:xfrm>
            <a:off x="5052894" y="3340231"/>
            <a:ext cx="6391694" cy="2596626"/>
          </a:xfrm>
          <a:prstGeom prst="rect">
            <a:avLst/>
          </a:prstGeom>
        </p:spPr>
      </p:pic>
      <p:sp>
        <p:nvSpPr>
          <p:cNvPr id="9" name="Rectangle 8"/>
          <p:cNvSpPr/>
          <p:nvPr/>
        </p:nvSpPr>
        <p:spPr>
          <a:xfrm>
            <a:off x="7477237" y="6080216"/>
            <a:ext cx="1343638" cy="369332"/>
          </a:xfrm>
          <a:prstGeom prst="rect">
            <a:avLst/>
          </a:prstGeom>
        </p:spPr>
        <p:txBody>
          <a:bodyPr wrap="none">
            <a:spAutoFit/>
          </a:bodyPr>
          <a:lstStyle/>
          <a:p>
            <a:r>
              <a:rPr lang="en-US" dirty="0" err="1" smtClean="0">
                <a:solidFill>
                  <a:srgbClr val="FF0000"/>
                </a:solidFill>
              </a:rPr>
              <a:t>Datatab.net</a:t>
            </a:r>
            <a:endParaRPr lang="en-ZA" dirty="0">
              <a:solidFill>
                <a:srgbClr val="FF0000"/>
              </a:solidFill>
            </a:endParaRPr>
          </a:p>
        </p:txBody>
      </p:sp>
    </p:spTree>
    <p:extLst>
      <p:ext uri="{BB962C8B-B14F-4D97-AF65-F5344CB8AC3E}">
        <p14:creationId xmlns:p14="http://schemas.microsoft.com/office/powerpoint/2010/main" val="46409361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1484310" y="885825"/>
            <a:ext cx="4026865" cy="4905375"/>
          </a:xfrm>
        </p:spPr>
        <p:txBody>
          <a:bodyPr anchor="t">
            <a:normAutofit/>
          </a:bodyPr>
          <a:lstStyle/>
          <a:p>
            <a:pPr marL="0" indent="0">
              <a:buNone/>
            </a:pPr>
            <a:r>
              <a:rPr lang="en-US" sz="2000" b="1" dirty="0" smtClean="0">
                <a:solidFill>
                  <a:srgbClr val="0070C0"/>
                </a:solidFill>
                <a:latin typeface="Arial Narrow" panose="020B0606020202030204" pitchFamily="34" charset="0"/>
              </a:rPr>
              <a:t>1. Descriptive </a:t>
            </a:r>
            <a:r>
              <a:rPr lang="en-US" sz="2000" b="1" dirty="0" smtClean="0">
                <a:solidFill>
                  <a:srgbClr val="0070C0"/>
                </a:solidFill>
                <a:latin typeface="Arial Narrow" panose="020B0606020202030204" pitchFamily="34" charset="0"/>
              </a:rPr>
              <a:t>statistics</a:t>
            </a:r>
          </a:p>
          <a:p>
            <a:r>
              <a:rPr lang="en-US" sz="2000" dirty="0">
                <a:latin typeface="Arial Narrow" panose="020B0606020202030204" pitchFamily="34" charset="0"/>
              </a:rPr>
              <a:t>Descriptive statistics is used to organize, summarize and describe data. </a:t>
            </a:r>
            <a:endParaRPr lang="en-US" sz="2000" dirty="0" smtClean="0">
              <a:latin typeface="Arial Narrow" panose="020B0606020202030204" pitchFamily="34" charset="0"/>
            </a:endParaRPr>
          </a:p>
          <a:p>
            <a:r>
              <a:rPr lang="en-US" sz="2000" dirty="0" smtClean="0">
                <a:latin typeface="Arial Narrow" panose="020B0606020202030204" pitchFamily="34" charset="0"/>
              </a:rPr>
              <a:t>Two categories</a:t>
            </a:r>
            <a:endParaRPr lang="en-ZA" sz="2000" dirty="0">
              <a:latin typeface="Arial Narrow" panose="020B0606020202030204" pitchFamily="34" charset="0"/>
            </a:endParaRPr>
          </a:p>
        </p:txBody>
      </p:sp>
      <p:sp>
        <p:nvSpPr>
          <p:cNvPr id="4" name="Slide Number Placeholder 3"/>
          <p:cNvSpPr>
            <a:spLocks noGrp="1"/>
          </p:cNvSpPr>
          <p:nvPr>
            <p:ph type="sldNum" sz="quarter" idx="12"/>
          </p:nvPr>
        </p:nvSpPr>
        <p:spPr/>
        <p:txBody>
          <a:bodyPr/>
          <a:lstStyle/>
          <a:p>
            <a:fld id="{F9D8934E-928E-4C38-807A-CB32A0A7C43F}" type="slidenum">
              <a:rPr lang="en-ZA" smtClean="0"/>
              <a:t>24</a:t>
            </a:fld>
            <a:endParaRPr lang="en-ZA"/>
          </a:p>
        </p:txBody>
      </p:sp>
      <p:pic>
        <p:nvPicPr>
          <p:cNvPr id="3" name="Picture 2"/>
          <p:cNvPicPr>
            <a:picLocks noChangeAspect="1"/>
          </p:cNvPicPr>
          <p:nvPr/>
        </p:nvPicPr>
        <p:blipFill>
          <a:blip r:embed="rId2"/>
          <a:stretch>
            <a:fillRect/>
          </a:stretch>
        </p:blipFill>
        <p:spPr>
          <a:xfrm>
            <a:off x="6938492" y="267516"/>
            <a:ext cx="4472679" cy="3354509"/>
          </a:xfrm>
          <a:prstGeom prst="rect">
            <a:avLst/>
          </a:prstGeom>
        </p:spPr>
      </p:pic>
      <p:sp>
        <p:nvSpPr>
          <p:cNvPr id="7" name="Rectangle 6"/>
          <p:cNvSpPr/>
          <p:nvPr/>
        </p:nvSpPr>
        <p:spPr>
          <a:xfrm>
            <a:off x="9965689" y="3551360"/>
            <a:ext cx="986167" cy="369332"/>
          </a:xfrm>
          <a:prstGeom prst="rect">
            <a:avLst/>
          </a:prstGeom>
        </p:spPr>
        <p:txBody>
          <a:bodyPr wrap="none">
            <a:spAutoFit/>
          </a:bodyPr>
          <a:lstStyle/>
          <a:p>
            <a:r>
              <a:rPr lang="en-US" dirty="0" err="1" smtClean="0">
                <a:solidFill>
                  <a:srgbClr val="FF0000"/>
                </a:solidFill>
              </a:rPr>
              <a:t>dataflair</a:t>
            </a:r>
            <a:endParaRPr lang="en-ZA" dirty="0">
              <a:solidFill>
                <a:srgbClr val="FF0000"/>
              </a:solidFill>
            </a:endParaRPr>
          </a:p>
        </p:txBody>
      </p:sp>
      <p:pic>
        <p:nvPicPr>
          <p:cNvPr id="5" name="Picture 4"/>
          <p:cNvPicPr>
            <a:picLocks noChangeAspect="1"/>
          </p:cNvPicPr>
          <p:nvPr/>
        </p:nvPicPr>
        <p:blipFill>
          <a:blip r:embed="rId3"/>
          <a:stretch>
            <a:fillRect/>
          </a:stretch>
        </p:blipFill>
        <p:spPr>
          <a:xfrm>
            <a:off x="1951331" y="3920692"/>
            <a:ext cx="7223501" cy="2733867"/>
          </a:xfrm>
          <a:prstGeom prst="rect">
            <a:avLst/>
          </a:prstGeom>
        </p:spPr>
      </p:pic>
      <p:sp>
        <p:nvSpPr>
          <p:cNvPr id="8" name="Rectangle 7"/>
          <p:cNvSpPr/>
          <p:nvPr/>
        </p:nvSpPr>
        <p:spPr>
          <a:xfrm>
            <a:off x="9194204" y="6049693"/>
            <a:ext cx="1606530" cy="369332"/>
          </a:xfrm>
          <a:prstGeom prst="rect">
            <a:avLst/>
          </a:prstGeom>
        </p:spPr>
        <p:txBody>
          <a:bodyPr wrap="none">
            <a:spAutoFit/>
          </a:bodyPr>
          <a:lstStyle/>
          <a:p>
            <a:r>
              <a:rPr lang="en-US" dirty="0" err="1" smtClean="0">
                <a:solidFill>
                  <a:srgbClr val="FF0000"/>
                </a:solidFill>
              </a:rPr>
              <a:t>Geeksforgeeks</a:t>
            </a:r>
            <a:endParaRPr lang="en-ZA" dirty="0">
              <a:solidFill>
                <a:srgbClr val="FF0000"/>
              </a:solidFill>
            </a:endParaRPr>
          </a:p>
        </p:txBody>
      </p:sp>
    </p:spTree>
    <p:extLst>
      <p:ext uri="{BB962C8B-B14F-4D97-AF65-F5344CB8AC3E}">
        <p14:creationId xmlns:p14="http://schemas.microsoft.com/office/powerpoint/2010/main" val="69679839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a:xfrm>
            <a:off x="1484312" y="1051561"/>
            <a:ext cx="4895055" cy="4739640"/>
          </a:xfrm>
        </p:spPr>
        <p:txBody>
          <a:bodyPr anchor="t">
            <a:normAutofit lnSpcReduction="10000"/>
          </a:bodyPr>
          <a:lstStyle/>
          <a:p>
            <a:pPr lvl="0"/>
            <a:r>
              <a:rPr lang="en-ZA" sz="2000" dirty="0">
                <a:latin typeface="Arial Rounded MT Bold" panose="020F0704030504030204" pitchFamily="34" charset="0"/>
              </a:rPr>
              <a:t>Mean – average of a range of numbers</a:t>
            </a:r>
          </a:p>
          <a:p>
            <a:pPr lvl="0"/>
            <a:r>
              <a:rPr lang="en-ZA" sz="2000" dirty="0">
                <a:latin typeface="Arial Rounded MT Bold" panose="020F0704030504030204" pitchFamily="34" charset="0"/>
              </a:rPr>
              <a:t>Median – middle point of a range of numbers (if those numbers sorted)</a:t>
            </a:r>
          </a:p>
          <a:p>
            <a:pPr lvl="0"/>
            <a:r>
              <a:rPr lang="en-ZA" sz="2000" dirty="0">
                <a:latin typeface="Arial Rounded MT Bold" panose="020F0704030504030204" pitchFamily="34" charset="0"/>
              </a:rPr>
              <a:t>Mode – the number that appears most </a:t>
            </a:r>
            <a:r>
              <a:rPr lang="en-ZA" sz="2000" dirty="0" smtClean="0">
                <a:latin typeface="Arial Rounded MT Bold" panose="020F0704030504030204" pitchFamily="34" charset="0"/>
              </a:rPr>
              <a:t>often</a:t>
            </a:r>
          </a:p>
          <a:p>
            <a:pPr marL="0" lvl="0" indent="0">
              <a:buNone/>
            </a:pPr>
            <a:endParaRPr lang="en-ZA" sz="2000" dirty="0" smtClean="0">
              <a:latin typeface="Arial Rounded MT Bold" panose="020F0704030504030204" pitchFamily="34" charset="0"/>
            </a:endParaRPr>
          </a:p>
          <a:p>
            <a:pPr lvl="0"/>
            <a:r>
              <a:rPr lang="en-ZA" sz="2000" dirty="0">
                <a:latin typeface="Arial Rounded MT Bold" panose="020F0704030504030204" pitchFamily="34" charset="0"/>
              </a:rPr>
              <a:t>Range – the difference between the largest and the smallest number</a:t>
            </a:r>
          </a:p>
          <a:p>
            <a:pPr lvl="0"/>
            <a:r>
              <a:rPr lang="en-ZA" sz="2000" dirty="0">
                <a:latin typeface="Arial Rounded MT Bold" panose="020F0704030504030204" pitchFamily="34" charset="0"/>
              </a:rPr>
              <a:t>Standard deviation and variance – these indicate how dispersed a range of numbers are. In other words, how close (or far) all the numbers are to (or from) the mean.</a:t>
            </a:r>
          </a:p>
          <a:p>
            <a:pPr lvl="0"/>
            <a:endParaRPr lang="en-ZA" sz="2000" dirty="0">
              <a:latin typeface="Arial Rounded MT Bold" panose="020F0704030504030204" pitchFamily="34" charset="0"/>
            </a:endParaRPr>
          </a:p>
          <a:p>
            <a:endParaRPr lang="en-ZA" dirty="0"/>
          </a:p>
        </p:txBody>
      </p:sp>
      <p:sp>
        <p:nvSpPr>
          <p:cNvPr id="2" name="Footer Placeholder 1"/>
          <p:cNvSpPr>
            <a:spLocks noGrp="1"/>
          </p:cNvSpPr>
          <p:nvPr>
            <p:ph type="ftr" sz="quarter" idx="11"/>
          </p:nvPr>
        </p:nvSpPr>
        <p:spPr/>
        <p:txBody>
          <a:bodyPr/>
          <a:lstStyle/>
          <a:p>
            <a:r>
              <a:rPr lang="en-US" smtClean="0"/>
              <a:t>Dr Alveen Singh - Dept of IT, DUT</a:t>
            </a:r>
            <a:endParaRPr lang="en-ZA"/>
          </a:p>
        </p:txBody>
      </p:sp>
      <p:sp>
        <p:nvSpPr>
          <p:cNvPr id="4" name="Slide Number Placeholder 3"/>
          <p:cNvSpPr>
            <a:spLocks noGrp="1"/>
          </p:cNvSpPr>
          <p:nvPr>
            <p:ph type="sldNum" sz="quarter" idx="12"/>
          </p:nvPr>
        </p:nvSpPr>
        <p:spPr/>
        <p:txBody>
          <a:bodyPr/>
          <a:lstStyle/>
          <a:p>
            <a:fld id="{F9D8934E-928E-4C38-807A-CB32A0A7C43F}" type="slidenum">
              <a:rPr lang="en-ZA" smtClean="0"/>
              <a:t>25</a:t>
            </a:fld>
            <a:endParaRPr lang="en-ZA"/>
          </a:p>
        </p:txBody>
      </p:sp>
      <p:pic>
        <p:nvPicPr>
          <p:cNvPr id="8" name="Picture 7" descr="Difference between Descriptive and Inferential statistics - GeeksforGeek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87887" y="1647803"/>
            <a:ext cx="5342620" cy="2792957"/>
          </a:xfrm>
          <a:prstGeom prst="rect">
            <a:avLst/>
          </a:prstGeom>
          <a:noFill/>
          <a:ln>
            <a:noFill/>
          </a:ln>
        </p:spPr>
      </p:pic>
    </p:spTree>
    <p:extLst>
      <p:ext uri="{BB962C8B-B14F-4D97-AF65-F5344CB8AC3E}">
        <p14:creationId xmlns:p14="http://schemas.microsoft.com/office/powerpoint/2010/main" val="12325321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1484311" y="885825"/>
            <a:ext cx="4459290" cy="2787015"/>
          </a:xfrm>
        </p:spPr>
        <p:txBody>
          <a:bodyPr anchor="t">
            <a:normAutofit fontScale="92500" lnSpcReduction="20000"/>
          </a:bodyPr>
          <a:lstStyle/>
          <a:p>
            <a:pPr marL="0" indent="0">
              <a:buNone/>
            </a:pPr>
            <a:r>
              <a:rPr lang="en-US" b="1" dirty="0" smtClean="0">
                <a:solidFill>
                  <a:srgbClr val="0070C0"/>
                </a:solidFill>
                <a:latin typeface="Arial Narrow" panose="020B0606020202030204" pitchFamily="34" charset="0"/>
              </a:rPr>
              <a:t>Skewness</a:t>
            </a:r>
          </a:p>
          <a:p>
            <a:r>
              <a:rPr lang="en-US" sz="2000" dirty="0">
                <a:latin typeface="Arial Narrow" panose="020B0606020202030204" pitchFamily="34" charset="0"/>
              </a:rPr>
              <a:t>Skewness shows the </a:t>
            </a:r>
            <a:r>
              <a:rPr lang="en-US" sz="2000" dirty="0" smtClean="0">
                <a:latin typeface="Arial Narrow" panose="020B0606020202030204" pitchFamily="34" charset="0"/>
              </a:rPr>
              <a:t>distribution </a:t>
            </a:r>
            <a:r>
              <a:rPr lang="en-US" sz="2000" dirty="0">
                <a:latin typeface="Arial Narrow" panose="020B0606020202030204" pitchFamily="34" charset="0"/>
              </a:rPr>
              <a:t>of data from the </a:t>
            </a:r>
            <a:r>
              <a:rPr lang="en-US" sz="2000" dirty="0" smtClean="0">
                <a:latin typeface="Arial Narrow" panose="020B0606020202030204" pitchFamily="34" charset="0"/>
              </a:rPr>
              <a:t>mean</a:t>
            </a:r>
          </a:p>
          <a:p>
            <a:r>
              <a:rPr lang="en-US" sz="2000" dirty="0" smtClean="0">
                <a:latin typeface="Arial Narrow" panose="020B0606020202030204" pitchFamily="34" charset="0"/>
              </a:rPr>
              <a:t>Normal distribution – Bell </a:t>
            </a:r>
            <a:r>
              <a:rPr lang="en-US" sz="2000" dirty="0" smtClean="0">
                <a:latin typeface="Arial Narrow" panose="020B0606020202030204" pitchFamily="34" charset="0"/>
              </a:rPr>
              <a:t>curve, little to no skew</a:t>
            </a:r>
            <a:endParaRPr lang="en-US" sz="2000" dirty="0" smtClean="0">
              <a:latin typeface="Arial Narrow" panose="020B0606020202030204" pitchFamily="34" charset="0"/>
            </a:endParaRPr>
          </a:p>
          <a:p>
            <a:r>
              <a:rPr lang="en-US" sz="2000" dirty="0" smtClean="0">
                <a:latin typeface="Arial Narrow" panose="020B0606020202030204" pitchFamily="34" charset="0"/>
              </a:rPr>
              <a:t>Positive skew</a:t>
            </a:r>
          </a:p>
          <a:p>
            <a:r>
              <a:rPr lang="en-US" sz="2000" dirty="0" smtClean="0">
                <a:latin typeface="Arial Narrow" panose="020B0606020202030204" pitchFamily="34" charset="0"/>
              </a:rPr>
              <a:t>Negative skew</a:t>
            </a:r>
          </a:p>
          <a:p>
            <a:r>
              <a:rPr lang="en-US" sz="2000" dirty="0" smtClean="0">
                <a:latin typeface="Arial Narrow" panose="020B0606020202030204" pitchFamily="34" charset="0"/>
              </a:rPr>
              <a:t>SKEW function in Excel</a:t>
            </a:r>
            <a:endParaRPr lang="en-ZA" sz="2000" dirty="0">
              <a:latin typeface="Arial Narrow" panose="020B0606020202030204" pitchFamily="34" charset="0"/>
            </a:endParaRPr>
          </a:p>
        </p:txBody>
      </p:sp>
      <p:sp>
        <p:nvSpPr>
          <p:cNvPr id="4" name="Slide Number Placeholder 3"/>
          <p:cNvSpPr>
            <a:spLocks noGrp="1"/>
          </p:cNvSpPr>
          <p:nvPr>
            <p:ph type="sldNum" sz="quarter" idx="12"/>
          </p:nvPr>
        </p:nvSpPr>
        <p:spPr/>
        <p:txBody>
          <a:bodyPr/>
          <a:lstStyle/>
          <a:p>
            <a:fld id="{F9D8934E-928E-4C38-807A-CB32A0A7C43F}" type="slidenum">
              <a:rPr lang="en-ZA" smtClean="0"/>
              <a:t>26</a:t>
            </a:fld>
            <a:endParaRPr lang="en-ZA"/>
          </a:p>
        </p:txBody>
      </p:sp>
      <p:sp>
        <p:nvSpPr>
          <p:cNvPr id="8" name="AutoShape 4" descr="normal distribution with mean median mode at cen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pic>
        <p:nvPicPr>
          <p:cNvPr id="10" name="Picture 9"/>
          <p:cNvPicPr>
            <a:picLocks noChangeAspect="1"/>
          </p:cNvPicPr>
          <p:nvPr/>
        </p:nvPicPr>
        <p:blipFill>
          <a:blip r:embed="rId2"/>
          <a:stretch>
            <a:fillRect/>
          </a:stretch>
        </p:blipFill>
        <p:spPr>
          <a:xfrm>
            <a:off x="8294381" y="2279332"/>
            <a:ext cx="2657475" cy="2009775"/>
          </a:xfrm>
          <a:prstGeom prst="rect">
            <a:avLst/>
          </a:prstGeom>
        </p:spPr>
      </p:pic>
      <p:pic>
        <p:nvPicPr>
          <p:cNvPr id="11" name="Picture 10"/>
          <p:cNvPicPr>
            <a:picLocks noChangeAspect="1"/>
          </p:cNvPicPr>
          <p:nvPr/>
        </p:nvPicPr>
        <p:blipFill>
          <a:blip r:embed="rId3"/>
          <a:stretch>
            <a:fillRect/>
          </a:stretch>
        </p:blipFill>
        <p:spPr>
          <a:xfrm>
            <a:off x="8294381" y="4626134"/>
            <a:ext cx="2657475" cy="2009775"/>
          </a:xfrm>
          <a:prstGeom prst="rect">
            <a:avLst/>
          </a:prstGeom>
        </p:spPr>
      </p:pic>
      <p:pic>
        <p:nvPicPr>
          <p:cNvPr id="13" name="Picture 12"/>
          <p:cNvPicPr>
            <a:picLocks noChangeAspect="1"/>
          </p:cNvPicPr>
          <p:nvPr/>
        </p:nvPicPr>
        <p:blipFill>
          <a:blip r:embed="rId4"/>
          <a:stretch>
            <a:fillRect/>
          </a:stretch>
        </p:blipFill>
        <p:spPr>
          <a:xfrm>
            <a:off x="8230565" y="88346"/>
            <a:ext cx="2511742" cy="1968663"/>
          </a:xfrm>
          <a:prstGeom prst="rect">
            <a:avLst/>
          </a:prstGeom>
        </p:spPr>
      </p:pic>
      <p:sp>
        <p:nvSpPr>
          <p:cNvPr id="14" name="Rectangle 13"/>
          <p:cNvSpPr/>
          <p:nvPr/>
        </p:nvSpPr>
        <p:spPr>
          <a:xfrm>
            <a:off x="6508619" y="6296153"/>
            <a:ext cx="1721946" cy="369332"/>
          </a:xfrm>
          <a:prstGeom prst="rect">
            <a:avLst/>
          </a:prstGeom>
        </p:spPr>
        <p:txBody>
          <a:bodyPr wrap="none">
            <a:spAutoFit/>
          </a:bodyPr>
          <a:lstStyle/>
          <a:p>
            <a:r>
              <a:rPr lang="en-US" dirty="0" err="1" smtClean="0">
                <a:solidFill>
                  <a:srgbClr val="FF0000"/>
                </a:solidFill>
              </a:rPr>
              <a:t>Mathsisfun.com</a:t>
            </a:r>
            <a:endParaRPr lang="en-ZA" dirty="0">
              <a:solidFill>
                <a:srgbClr val="FF0000"/>
              </a:solidFill>
            </a:endParaRPr>
          </a:p>
        </p:txBody>
      </p:sp>
      <p:pic>
        <p:nvPicPr>
          <p:cNvPr id="15" name="Picture 14"/>
          <p:cNvPicPr>
            <a:picLocks noChangeAspect="1"/>
          </p:cNvPicPr>
          <p:nvPr/>
        </p:nvPicPr>
        <p:blipFill>
          <a:blip r:embed="rId5"/>
          <a:stretch>
            <a:fillRect/>
          </a:stretch>
        </p:blipFill>
        <p:spPr>
          <a:xfrm>
            <a:off x="307975" y="4488021"/>
            <a:ext cx="3562350" cy="2286000"/>
          </a:xfrm>
          <a:prstGeom prst="rect">
            <a:avLst/>
          </a:prstGeom>
        </p:spPr>
      </p:pic>
      <p:pic>
        <p:nvPicPr>
          <p:cNvPr id="5" name="Picture 4"/>
          <p:cNvPicPr>
            <a:picLocks noChangeAspect="1"/>
          </p:cNvPicPr>
          <p:nvPr/>
        </p:nvPicPr>
        <p:blipFill rotWithShape="1">
          <a:blip r:embed="rId6"/>
          <a:srcRect b="20865"/>
          <a:stretch/>
        </p:blipFill>
        <p:spPr>
          <a:xfrm>
            <a:off x="10807387" y="411509"/>
            <a:ext cx="1263781" cy="1078811"/>
          </a:xfrm>
          <a:prstGeom prst="rect">
            <a:avLst/>
          </a:prstGeom>
        </p:spPr>
      </p:pic>
      <p:sp>
        <p:nvSpPr>
          <p:cNvPr id="7" name="TextBox 6"/>
          <p:cNvSpPr txBox="1"/>
          <p:nvPr/>
        </p:nvSpPr>
        <p:spPr>
          <a:xfrm>
            <a:off x="3622767" y="3753394"/>
            <a:ext cx="4476946" cy="1477328"/>
          </a:xfrm>
          <a:prstGeom prst="rect">
            <a:avLst/>
          </a:prstGeom>
          <a:noFill/>
        </p:spPr>
        <p:txBody>
          <a:bodyPr wrap="square" rtlCol="0">
            <a:spAutoFit/>
          </a:bodyPr>
          <a:lstStyle/>
          <a:p>
            <a:pPr algn="just"/>
            <a:r>
              <a:rPr lang="en-US" dirty="0">
                <a:solidFill>
                  <a:srgbClr val="0070C0"/>
                </a:solidFill>
                <a:latin typeface="Arial Narrow" panose="020B0606020202030204" pitchFamily="34" charset="0"/>
              </a:rPr>
              <a:t>L</a:t>
            </a:r>
            <a:r>
              <a:rPr lang="en-US" dirty="0" smtClean="0">
                <a:solidFill>
                  <a:srgbClr val="0070C0"/>
                </a:solidFill>
                <a:latin typeface="Arial Narrow" panose="020B0606020202030204" pitchFamily="34" charset="0"/>
              </a:rPr>
              <a:t>inear </a:t>
            </a:r>
            <a:r>
              <a:rPr lang="en-US" dirty="0">
                <a:solidFill>
                  <a:srgbClr val="0070C0"/>
                </a:solidFill>
                <a:latin typeface="Arial Narrow" panose="020B0606020202030204" pitchFamily="34" charset="0"/>
              </a:rPr>
              <a:t>models work on the assumption that the distribution of the independent variable and the target variable are similar. Therefore, knowing about the skewness of data helps </a:t>
            </a:r>
            <a:r>
              <a:rPr lang="en-US" dirty="0" smtClean="0">
                <a:solidFill>
                  <a:srgbClr val="0070C0"/>
                </a:solidFill>
                <a:latin typeface="Arial Narrow" panose="020B0606020202030204" pitchFamily="34" charset="0"/>
              </a:rPr>
              <a:t>in </a:t>
            </a:r>
            <a:r>
              <a:rPr lang="en-US" dirty="0">
                <a:solidFill>
                  <a:srgbClr val="0070C0"/>
                </a:solidFill>
                <a:latin typeface="Arial Narrow" panose="020B0606020202030204" pitchFamily="34" charset="0"/>
              </a:rPr>
              <a:t>creating better linear </a:t>
            </a:r>
            <a:r>
              <a:rPr lang="en-US" dirty="0" smtClean="0">
                <a:solidFill>
                  <a:srgbClr val="0070C0"/>
                </a:solidFill>
                <a:latin typeface="Arial Narrow" panose="020B0606020202030204" pitchFamily="34" charset="0"/>
              </a:rPr>
              <a:t>models</a:t>
            </a:r>
            <a:r>
              <a:rPr lang="en-US" dirty="0"/>
              <a:t> </a:t>
            </a:r>
            <a:r>
              <a:rPr lang="en-US" sz="1600" dirty="0"/>
              <a:t>(https://</a:t>
            </a:r>
            <a:r>
              <a:rPr lang="en-US" sz="1600" dirty="0" err="1"/>
              <a:t>www.analyticsvidhya.com</a:t>
            </a:r>
            <a:r>
              <a:rPr lang="en-US" sz="1600" dirty="0" smtClean="0"/>
              <a:t>/)</a:t>
            </a:r>
            <a:endParaRPr lang="en-ZA" sz="1600" dirty="0"/>
          </a:p>
        </p:txBody>
      </p:sp>
    </p:spTree>
    <p:extLst>
      <p:ext uri="{BB962C8B-B14F-4D97-AF65-F5344CB8AC3E}">
        <p14:creationId xmlns:p14="http://schemas.microsoft.com/office/powerpoint/2010/main" val="154321167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603673" y="1417255"/>
            <a:ext cx="6909245" cy="4069145"/>
          </a:xfrm>
          <a:prstGeom prst="rect">
            <a:avLst/>
          </a:prstGeom>
        </p:spPr>
      </p:pic>
      <p:sp>
        <p:nvSpPr>
          <p:cNvPr id="6" name="Rectangle 5"/>
          <p:cNvSpPr/>
          <p:nvPr/>
        </p:nvSpPr>
        <p:spPr>
          <a:xfrm>
            <a:off x="7477237" y="6080216"/>
            <a:ext cx="2520049" cy="369332"/>
          </a:xfrm>
          <a:prstGeom prst="rect">
            <a:avLst/>
          </a:prstGeom>
        </p:spPr>
        <p:txBody>
          <a:bodyPr wrap="none">
            <a:spAutoFit/>
          </a:bodyPr>
          <a:lstStyle/>
          <a:p>
            <a:r>
              <a:rPr lang="en-US" dirty="0" smtClean="0">
                <a:solidFill>
                  <a:srgbClr val="FF0000"/>
                </a:solidFill>
              </a:rPr>
              <a:t>Jason and Warren, 2020</a:t>
            </a:r>
            <a:endParaRPr lang="en-ZA" dirty="0">
              <a:solidFill>
                <a:srgbClr val="FF0000"/>
              </a:solidFill>
            </a:endParaRPr>
          </a:p>
        </p:txBody>
      </p:sp>
    </p:spTree>
    <p:extLst>
      <p:ext uri="{BB962C8B-B14F-4D97-AF65-F5344CB8AC3E}">
        <p14:creationId xmlns:p14="http://schemas.microsoft.com/office/powerpoint/2010/main" val="189678027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1484310" y="885825"/>
            <a:ext cx="10018713" cy="4905375"/>
          </a:xfrm>
        </p:spPr>
        <p:txBody>
          <a:bodyPr anchor="t">
            <a:normAutofit/>
          </a:bodyPr>
          <a:lstStyle/>
          <a:p>
            <a:pPr marL="0" indent="0">
              <a:buNone/>
            </a:pPr>
            <a:r>
              <a:rPr lang="en-US" b="1" dirty="0" smtClean="0">
                <a:solidFill>
                  <a:srgbClr val="0070C0"/>
                </a:solidFill>
                <a:latin typeface="Arial Narrow" panose="020B0606020202030204" pitchFamily="34" charset="0"/>
              </a:rPr>
              <a:t>2. Inferential </a:t>
            </a:r>
            <a:r>
              <a:rPr lang="en-US" b="1" dirty="0" smtClean="0">
                <a:solidFill>
                  <a:srgbClr val="0070C0"/>
                </a:solidFill>
                <a:latin typeface="Arial Narrow" panose="020B0606020202030204" pitchFamily="34" charset="0"/>
              </a:rPr>
              <a:t>Statistics</a:t>
            </a:r>
          </a:p>
          <a:p>
            <a:r>
              <a:rPr lang="en-US" sz="2000" dirty="0">
                <a:latin typeface="Arial Narrow" panose="020B0606020202030204" pitchFamily="34" charset="0"/>
              </a:rPr>
              <a:t>Inferential statistics allow for the researcher to make inferences about the population but based on the sample. </a:t>
            </a:r>
            <a:endParaRPr lang="en-US" sz="2000" dirty="0" smtClean="0">
              <a:latin typeface="Arial Narrow" panose="020B0606020202030204" pitchFamily="34" charset="0"/>
            </a:endParaRPr>
          </a:p>
          <a:p>
            <a:endParaRPr lang="en-ZA" sz="2000" dirty="0">
              <a:latin typeface="Arial Narrow" panose="020B0606020202030204" pitchFamily="34" charset="0"/>
            </a:endParaRPr>
          </a:p>
        </p:txBody>
      </p:sp>
      <p:sp>
        <p:nvSpPr>
          <p:cNvPr id="2" name="Footer Placeholder 1"/>
          <p:cNvSpPr>
            <a:spLocks noGrp="1"/>
          </p:cNvSpPr>
          <p:nvPr>
            <p:ph type="ftr" sz="quarter" idx="11"/>
          </p:nvPr>
        </p:nvSpPr>
        <p:spPr/>
        <p:txBody>
          <a:bodyPr/>
          <a:lstStyle/>
          <a:p>
            <a:r>
              <a:rPr lang="en-US" smtClean="0"/>
              <a:t>Dr Alveen Singh - Dept of IT, DUT</a:t>
            </a:r>
            <a:endParaRPr lang="en-ZA"/>
          </a:p>
        </p:txBody>
      </p:sp>
      <p:sp>
        <p:nvSpPr>
          <p:cNvPr id="4" name="Slide Number Placeholder 3"/>
          <p:cNvSpPr>
            <a:spLocks noGrp="1"/>
          </p:cNvSpPr>
          <p:nvPr>
            <p:ph type="sldNum" sz="quarter" idx="12"/>
          </p:nvPr>
        </p:nvSpPr>
        <p:spPr/>
        <p:txBody>
          <a:bodyPr/>
          <a:lstStyle/>
          <a:p>
            <a:fld id="{F9D8934E-928E-4C38-807A-CB32A0A7C43F}" type="slidenum">
              <a:rPr lang="en-ZA" smtClean="0"/>
              <a:t>28</a:t>
            </a:fld>
            <a:endParaRPr lang="en-ZA"/>
          </a:p>
        </p:txBody>
      </p:sp>
      <p:pic>
        <p:nvPicPr>
          <p:cNvPr id="3" name="Picture 2"/>
          <p:cNvPicPr>
            <a:picLocks noChangeAspect="1"/>
          </p:cNvPicPr>
          <p:nvPr/>
        </p:nvPicPr>
        <p:blipFill rotWithShape="1">
          <a:blip r:embed="rId2"/>
          <a:srcRect l="13143" t="23546" r="11557" b="10909"/>
          <a:stretch/>
        </p:blipFill>
        <p:spPr>
          <a:xfrm>
            <a:off x="8185796" y="2194561"/>
            <a:ext cx="2941320" cy="2560320"/>
          </a:xfrm>
          <a:prstGeom prst="rect">
            <a:avLst/>
          </a:prstGeom>
        </p:spPr>
      </p:pic>
    </p:spTree>
    <p:extLst>
      <p:ext uri="{BB962C8B-B14F-4D97-AF65-F5344CB8AC3E}">
        <p14:creationId xmlns:p14="http://schemas.microsoft.com/office/powerpoint/2010/main" val="385105936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1484311" y="885825"/>
            <a:ext cx="5617529" cy="4905375"/>
          </a:xfrm>
        </p:spPr>
        <p:txBody>
          <a:bodyPr anchor="t">
            <a:normAutofit/>
          </a:bodyPr>
          <a:lstStyle/>
          <a:p>
            <a:pPr marL="0" indent="0">
              <a:buNone/>
            </a:pPr>
            <a:r>
              <a:rPr lang="en-US" b="1" dirty="0" smtClean="0">
                <a:solidFill>
                  <a:srgbClr val="0070C0"/>
                </a:solidFill>
                <a:latin typeface="Arial Narrow" panose="020B0606020202030204" pitchFamily="34" charset="0"/>
              </a:rPr>
              <a:t>Hypothesis testing</a:t>
            </a:r>
          </a:p>
          <a:p>
            <a:pPr marL="0" indent="0">
              <a:buNone/>
            </a:pPr>
            <a:endParaRPr lang="en-US" sz="2000" dirty="0">
              <a:latin typeface="Arial Narrow" panose="020B0606020202030204" pitchFamily="34" charset="0"/>
            </a:endParaRPr>
          </a:p>
          <a:p>
            <a:pPr marL="0" indent="0">
              <a:buNone/>
            </a:pPr>
            <a:r>
              <a:rPr lang="en-US" sz="2000" dirty="0">
                <a:latin typeface="Arial Narrow" panose="020B0606020202030204" pitchFamily="34" charset="0"/>
              </a:rPr>
              <a:t>One type of Inferential statistics is hypothesis testing. Based on the examples above, a hypothesis might be stated as</a:t>
            </a:r>
          </a:p>
          <a:p>
            <a:pPr marL="0" indent="0">
              <a:buNone/>
            </a:pPr>
            <a:r>
              <a:rPr lang="en-US" sz="2000" dirty="0" err="1">
                <a:latin typeface="Arial Narrow" panose="020B0606020202030204" pitchFamily="34" charset="0"/>
              </a:rPr>
              <a:t>H1o</a:t>
            </a:r>
            <a:r>
              <a:rPr lang="en-US" sz="2000" dirty="0">
                <a:latin typeface="Arial Narrow" panose="020B0606020202030204" pitchFamily="34" charset="0"/>
              </a:rPr>
              <a:t>: There is no difference is marks between those students with laptops and those without</a:t>
            </a:r>
          </a:p>
          <a:p>
            <a:pPr marL="0" indent="0">
              <a:buNone/>
            </a:pPr>
            <a:r>
              <a:rPr lang="en-US" sz="2000" dirty="0" err="1">
                <a:latin typeface="Arial Narrow" panose="020B0606020202030204" pitchFamily="34" charset="0"/>
              </a:rPr>
              <a:t>H1a</a:t>
            </a:r>
            <a:r>
              <a:rPr lang="en-US" sz="2000" dirty="0">
                <a:latin typeface="Arial Narrow" panose="020B0606020202030204" pitchFamily="34" charset="0"/>
              </a:rPr>
              <a:t>: There is a difference in marks between those students with laptops and those </a:t>
            </a:r>
            <a:r>
              <a:rPr lang="en-US" sz="2000" dirty="0" smtClean="0">
                <a:latin typeface="Arial Narrow" panose="020B0606020202030204" pitchFamily="34" charset="0"/>
              </a:rPr>
              <a:t>without</a:t>
            </a:r>
          </a:p>
          <a:p>
            <a:pPr marL="0" indent="0">
              <a:buNone/>
            </a:pPr>
            <a:endParaRPr lang="en-US" sz="2000" dirty="0">
              <a:latin typeface="Arial Narrow" panose="020B0606020202030204" pitchFamily="34" charset="0"/>
            </a:endParaRPr>
          </a:p>
          <a:p>
            <a:pPr marL="0" indent="0">
              <a:buNone/>
            </a:pPr>
            <a:r>
              <a:rPr lang="en-US" sz="2000" dirty="0">
                <a:latin typeface="Arial Narrow" panose="020B0606020202030204" pitchFamily="34" charset="0"/>
              </a:rPr>
              <a:t>Statistics inform the researcher which hypothesis is true and which are false.</a:t>
            </a:r>
          </a:p>
          <a:p>
            <a:pPr marL="0" indent="0">
              <a:buNone/>
            </a:pPr>
            <a:endParaRPr lang="en-ZA" sz="2000" dirty="0">
              <a:latin typeface="Arial Narrow" panose="020B0606020202030204" pitchFamily="34" charset="0"/>
            </a:endParaRPr>
          </a:p>
        </p:txBody>
      </p:sp>
      <p:sp>
        <p:nvSpPr>
          <p:cNvPr id="2" name="Footer Placeholder 1"/>
          <p:cNvSpPr>
            <a:spLocks noGrp="1"/>
          </p:cNvSpPr>
          <p:nvPr>
            <p:ph type="ftr" sz="quarter" idx="11"/>
          </p:nvPr>
        </p:nvSpPr>
        <p:spPr/>
        <p:txBody>
          <a:bodyPr/>
          <a:lstStyle/>
          <a:p>
            <a:r>
              <a:rPr lang="en-US" smtClean="0"/>
              <a:t>Dr Alveen Singh - Dept of IT, DUT</a:t>
            </a:r>
            <a:endParaRPr lang="en-ZA"/>
          </a:p>
        </p:txBody>
      </p:sp>
      <p:sp>
        <p:nvSpPr>
          <p:cNvPr id="4" name="Slide Number Placeholder 3"/>
          <p:cNvSpPr>
            <a:spLocks noGrp="1"/>
          </p:cNvSpPr>
          <p:nvPr>
            <p:ph type="sldNum" sz="quarter" idx="12"/>
          </p:nvPr>
        </p:nvSpPr>
        <p:spPr/>
        <p:txBody>
          <a:bodyPr/>
          <a:lstStyle/>
          <a:p>
            <a:fld id="{F9D8934E-928E-4C38-807A-CB32A0A7C43F}" type="slidenum">
              <a:rPr lang="en-ZA" smtClean="0"/>
              <a:t>29</a:t>
            </a:fld>
            <a:endParaRPr lang="en-ZA"/>
          </a:p>
        </p:txBody>
      </p:sp>
      <p:pic>
        <p:nvPicPr>
          <p:cNvPr id="3" name="Picture 2"/>
          <p:cNvPicPr>
            <a:picLocks noChangeAspect="1"/>
          </p:cNvPicPr>
          <p:nvPr/>
        </p:nvPicPr>
        <p:blipFill>
          <a:blip r:embed="rId2"/>
          <a:stretch>
            <a:fillRect/>
          </a:stretch>
        </p:blipFill>
        <p:spPr>
          <a:xfrm>
            <a:off x="7226534" y="885825"/>
            <a:ext cx="4276489" cy="2680335"/>
          </a:xfrm>
          <a:prstGeom prst="rect">
            <a:avLst/>
          </a:prstGeom>
        </p:spPr>
      </p:pic>
    </p:spTree>
    <p:extLst>
      <p:ext uri="{BB962C8B-B14F-4D97-AF65-F5344CB8AC3E}">
        <p14:creationId xmlns:p14="http://schemas.microsoft.com/office/powerpoint/2010/main" val="139079453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705394"/>
            <a:ext cx="10018713" cy="5085807"/>
          </a:xfrm>
        </p:spPr>
        <p:txBody>
          <a:bodyPr anchor="t">
            <a:normAutofit/>
          </a:bodyPr>
          <a:lstStyle/>
          <a:p>
            <a:pPr marL="0" indent="0">
              <a:buNone/>
            </a:pPr>
            <a:r>
              <a:rPr lang="en-US" dirty="0" smtClean="0">
                <a:latin typeface="Arial Rounded MT Bold" panose="020F0704030504030204" pitchFamily="34" charset="0"/>
              </a:rPr>
              <a:t>The hypothesis is written </a:t>
            </a:r>
            <a:r>
              <a:rPr lang="en-US" dirty="0">
                <a:latin typeface="Arial Rounded MT Bold" panose="020F0704030504030204" pitchFamily="34" charset="0"/>
              </a:rPr>
              <a:t>as a </a:t>
            </a:r>
            <a:r>
              <a:rPr lang="en-US" dirty="0" smtClean="0">
                <a:latin typeface="Arial Rounded MT Bold" panose="020F0704030504030204" pitchFamily="34" charset="0"/>
              </a:rPr>
              <a:t>statement: </a:t>
            </a:r>
            <a:endParaRPr lang="en-US" dirty="0">
              <a:latin typeface="Arial Rounded MT Bold" panose="020F0704030504030204" pitchFamily="34" charset="0"/>
            </a:endParaRPr>
          </a:p>
          <a:p>
            <a:endParaRPr lang="en-US" dirty="0">
              <a:latin typeface="Arial Rounded MT Bold" panose="020F0704030504030204" pitchFamily="34" charset="0"/>
            </a:endParaRPr>
          </a:p>
          <a:p>
            <a:pPr marL="0" indent="0" algn="ctr">
              <a:buNone/>
            </a:pPr>
            <a:r>
              <a:rPr lang="en-US" dirty="0" smtClean="0">
                <a:latin typeface="Arial Rounded MT Bold" panose="020F0704030504030204" pitchFamily="34" charset="0"/>
              </a:rPr>
              <a:t> If </a:t>
            </a:r>
            <a:r>
              <a:rPr lang="en-US" dirty="0">
                <a:latin typeface="Arial Rounded MT Bold" panose="020F0704030504030204" pitchFamily="34" charset="0"/>
              </a:rPr>
              <a:t>I &lt;</a:t>
            </a:r>
            <a:r>
              <a:rPr lang="en-US" dirty="0">
                <a:solidFill>
                  <a:srgbClr val="0070C0"/>
                </a:solidFill>
                <a:latin typeface="Arial Rounded MT Bold" panose="020F0704030504030204" pitchFamily="34" charset="0"/>
              </a:rPr>
              <a:t>do </a:t>
            </a:r>
            <a:r>
              <a:rPr lang="en-US" dirty="0">
                <a:solidFill>
                  <a:srgbClr val="00B050"/>
                </a:solidFill>
                <a:latin typeface="Arial Rounded MT Bold" panose="020F0704030504030204" pitchFamily="34" charset="0"/>
              </a:rPr>
              <a:t>this</a:t>
            </a:r>
            <a:r>
              <a:rPr lang="en-US" dirty="0">
                <a:solidFill>
                  <a:srgbClr val="0070C0"/>
                </a:solidFill>
                <a:latin typeface="Arial Rounded MT Bold" panose="020F0704030504030204" pitchFamily="34" charset="0"/>
              </a:rPr>
              <a:t> to an independent variable</a:t>
            </a:r>
            <a:r>
              <a:rPr lang="en-US" dirty="0">
                <a:latin typeface="Arial Rounded MT Bold" panose="020F0704030504030204" pitchFamily="34" charset="0"/>
              </a:rPr>
              <a:t>&gt; </a:t>
            </a:r>
            <a:endParaRPr lang="en-US" dirty="0" smtClean="0">
              <a:latin typeface="Arial Rounded MT Bold" panose="020F0704030504030204" pitchFamily="34" charset="0"/>
            </a:endParaRPr>
          </a:p>
          <a:p>
            <a:pPr marL="0" indent="0" algn="ctr">
              <a:buNone/>
            </a:pPr>
            <a:r>
              <a:rPr lang="en-US" dirty="0" smtClean="0">
                <a:latin typeface="Arial Rounded MT Bold" panose="020F0704030504030204" pitchFamily="34" charset="0"/>
              </a:rPr>
              <a:t>then </a:t>
            </a:r>
          </a:p>
          <a:p>
            <a:pPr marL="0" indent="0" algn="ctr">
              <a:buNone/>
            </a:pPr>
            <a:r>
              <a:rPr lang="en-US" dirty="0" smtClean="0">
                <a:latin typeface="Arial Rounded MT Bold" panose="020F0704030504030204" pitchFamily="34" charset="0"/>
              </a:rPr>
              <a:t>&lt;</a:t>
            </a:r>
            <a:r>
              <a:rPr lang="en-US" dirty="0">
                <a:solidFill>
                  <a:srgbClr val="7030A0"/>
                </a:solidFill>
                <a:latin typeface="Arial Rounded MT Bold" panose="020F0704030504030204" pitchFamily="34" charset="0"/>
              </a:rPr>
              <a:t>it</a:t>
            </a:r>
            <a:r>
              <a:rPr lang="en-US" dirty="0">
                <a:solidFill>
                  <a:srgbClr val="FFC000"/>
                </a:solidFill>
                <a:latin typeface="Arial Rounded MT Bold" panose="020F0704030504030204" pitchFamily="34" charset="0"/>
              </a:rPr>
              <a:t> </a:t>
            </a:r>
            <a:r>
              <a:rPr lang="en-US" dirty="0">
                <a:solidFill>
                  <a:srgbClr val="00B050"/>
                </a:solidFill>
                <a:latin typeface="Arial Rounded MT Bold" panose="020F0704030504030204" pitchFamily="34" charset="0"/>
              </a:rPr>
              <a:t>will result </a:t>
            </a:r>
            <a:r>
              <a:rPr lang="en-US" dirty="0">
                <a:solidFill>
                  <a:srgbClr val="7030A0"/>
                </a:solidFill>
                <a:latin typeface="Arial Rounded MT Bold" panose="020F0704030504030204" pitchFamily="34" charset="0"/>
              </a:rPr>
              <a:t>in this change to the dependent variable</a:t>
            </a:r>
            <a:r>
              <a:rPr lang="en-US" dirty="0" smtClean="0">
                <a:latin typeface="Arial Rounded MT Bold" panose="020F0704030504030204" pitchFamily="34" charset="0"/>
              </a:rPr>
              <a:t>&gt;</a:t>
            </a:r>
          </a:p>
          <a:p>
            <a:pPr marL="0" indent="0" algn="ctr">
              <a:buNone/>
            </a:pPr>
            <a:endParaRPr lang="en-US" dirty="0" smtClean="0">
              <a:latin typeface="Arial Rounded MT Bold" panose="020F0704030504030204" pitchFamily="34" charset="0"/>
            </a:endParaRPr>
          </a:p>
          <a:p>
            <a:pPr marL="0" indent="0" algn="ctr">
              <a:buNone/>
            </a:pPr>
            <a:r>
              <a:rPr lang="en-US" sz="2000" dirty="0" smtClean="0">
                <a:solidFill>
                  <a:srgbClr val="FF0000"/>
                </a:solidFill>
                <a:latin typeface="Arial Rounded MT Bold" panose="020F0704030504030204" pitchFamily="34" charset="0"/>
              </a:rPr>
              <a:t>e.g.</a:t>
            </a:r>
            <a:endParaRPr lang="en-US" sz="2000" dirty="0">
              <a:solidFill>
                <a:srgbClr val="FF0000"/>
              </a:solidFill>
              <a:latin typeface="Arial Rounded MT Bold" panose="020F0704030504030204" pitchFamily="34" charset="0"/>
            </a:endParaRPr>
          </a:p>
          <a:p>
            <a:pPr marL="0" indent="0" algn="ctr">
              <a:buNone/>
            </a:pPr>
            <a:r>
              <a:rPr lang="en-US" dirty="0">
                <a:latin typeface="Arial Rounded MT Bold" panose="020F0704030504030204" pitchFamily="34" charset="0"/>
              </a:rPr>
              <a:t>If the &lt;</a:t>
            </a:r>
            <a:r>
              <a:rPr lang="en-US" dirty="0">
                <a:solidFill>
                  <a:srgbClr val="0070C0"/>
                </a:solidFill>
                <a:latin typeface="Arial Rounded MT Bold" panose="020F0704030504030204" pitchFamily="34" charset="0"/>
              </a:rPr>
              <a:t>computer laboratory time is increased</a:t>
            </a:r>
            <a:r>
              <a:rPr lang="en-US" dirty="0">
                <a:latin typeface="Arial Rounded MT Bold" panose="020F0704030504030204" pitchFamily="34" charset="0"/>
              </a:rPr>
              <a:t>&gt; </a:t>
            </a:r>
            <a:endParaRPr lang="en-US" dirty="0" smtClean="0">
              <a:latin typeface="Arial Rounded MT Bold" panose="020F0704030504030204" pitchFamily="34" charset="0"/>
            </a:endParaRPr>
          </a:p>
          <a:p>
            <a:pPr marL="0" indent="0" algn="ctr">
              <a:buNone/>
            </a:pPr>
            <a:r>
              <a:rPr lang="en-US" dirty="0" smtClean="0">
                <a:latin typeface="Arial Rounded MT Bold" panose="020F0704030504030204" pitchFamily="34" charset="0"/>
              </a:rPr>
              <a:t>then </a:t>
            </a:r>
            <a:r>
              <a:rPr lang="en-US" dirty="0">
                <a:latin typeface="Arial Rounded MT Bold" panose="020F0704030504030204" pitchFamily="34" charset="0"/>
              </a:rPr>
              <a:t>the </a:t>
            </a:r>
            <a:endParaRPr lang="en-US" dirty="0" smtClean="0">
              <a:latin typeface="Arial Rounded MT Bold" panose="020F0704030504030204" pitchFamily="34" charset="0"/>
            </a:endParaRPr>
          </a:p>
          <a:p>
            <a:pPr marL="0" indent="0" algn="ctr">
              <a:buNone/>
            </a:pPr>
            <a:r>
              <a:rPr lang="en-US" dirty="0" smtClean="0">
                <a:latin typeface="Arial Rounded MT Bold" panose="020F0704030504030204" pitchFamily="34" charset="0"/>
              </a:rPr>
              <a:t>&lt;</a:t>
            </a:r>
            <a:r>
              <a:rPr lang="en-US" dirty="0">
                <a:solidFill>
                  <a:srgbClr val="7030A0"/>
                </a:solidFill>
                <a:latin typeface="Arial Rounded MT Bold" panose="020F0704030504030204" pitchFamily="34" charset="0"/>
              </a:rPr>
              <a:t>final mark for programming module will increase</a:t>
            </a:r>
            <a:r>
              <a:rPr lang="en-US" dirty="0">
                <a:latin typeface="Arial Rounded MT Bold" panose="020F0704030504030204" pitchFamily="34" charset="0"/>
              </a:rPr>
              <a:t>&gt; </a:t>
            </a:r>
          </a:p>
        </p:txBody>
      </p:sp>
      <p:sp>
        <p:nvSpPr>
          <p:cNvPr id="5" name="Slide Number Placeholder 4"/>
          <p:cNvSpPr>
            <a:spLocks noGrp="1"/>
          </p:cNvSpPr>
          <p:nvPr>
            <p:ph type="sldNum" sz="quarter" idx="12"/>
          </p:nvPr>
        </p:nvSpPr>
        <p:spPr/>
        <p:txBody>
          <a:bodyPr/>
          <a:lstStyle/>
          <a:p>
            <a:fld id="{19339B4A-3334-40B8-B9D1-9FE2C92E888A}" type="slidenum">
              <a:rPr lang="en-ZA" smtClean="0"/>
              <a:t>30</a:t>
            </a:fld>
            <a:endParaRPr lang="en-ZA"/>
          </a:p>
        </p:txBody>
      </p:sp>
      <p:sp>
        <p:nvSpPr>
          <p:cNvPr id="2" name="Footer Placeholder 1"/>
          <p:cNvSpPr>
            <a:spLocks noGrp="1"/>
          </p:cNvSpPr>
          <p:nvPr>
            <p:ph type="ftr" sz="quarter" idx="11"/>
          </p:nvPr>
        </p:nvSpPr>
        <p:spPr/>
        <p:txBody>
          <a:bodyPr/>
          <a:lstStyle/>
          <a:p>
            <a:r>
              <a:rPr lang="en-ZA" smtClean="0"/>
              <a:t>PRESE4R</a:t>
            </a:r>
            <a:endParaRPr lang="en-ZA"/>
          </a:p>
        </p:txBody>
      </p:sp>
    </p:spTree>
    <p:extLst>
      <p:ext uri="{BB962C8B-B14F-4D97-AF65-F5344CB8AC3E}">
        <p14:creationId xmlns:p14="http://schemas.microsoft.com/office/powerpoint/2010/main" val="3295281555"/>
      </p:ext>
    </p:extLst>
  </p:cSld>
  <p:clrMapOvr>
    <a:masterClrMapping/>
  </p:clrMapOvr>
  <mc:AlternateContent xmlns:mc="http://schemas.openxmlformats.org/markup-compatibility/2006" xmlns:p14="http://schemas.microsoft.com/office/powerpoint/2010/main">
    <mc:Choice Requires="p14">
      <p:transition spd="slow" p14:dur="2000" advTm="95202"/>
    </mc:Choice>
    <mc:Fallback xmlns="">
      <p:transition spd="slow" advTm="95202"/>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1473201"/>
            <a:ext cx="10018713" cy="4318000"/>
          </a:xfrm>
        </p:spPr>
        <p:txBody>
          <a:bodyPr anchor="t"/>
          <a:lstStyle/>
          <a:p>
            <a:r>
              <a:rPr lang="en-US" dirty="0" smtClean="0">
                <a:solidFill>
                  <a:srgbClr val="0070C0"/>
                </a:solidFill>
                <a:latin typeface="Arial Rounded MT Bold" panose="020F0704030504030204" pitchFamily="34" charset="0"/>
              </a:rPr>
              <a:t>The researcher develops a </a:t>
            </a:r>
            <a:r>
              <a:rPr lang="en-US" dirty="0" smtClean="0">
                <a:solidFill>
                  <a:srgbClr val="C00000"/>
                </a:solidFill>
                <a:latin typeface="Arial Rounded MT Bold" panose="020F0704030504030204" pitchFamily="34" charset="0"/>
              </a:rPr>
              <a:t>hypothesis</a:t>
            </a:r>
            <a:r>
              <a:rPr lang="en-US" dirty="0" smtClean="0">
                <a:solidFill>
                  <a:srgbClr val="0070C0"/>
                </a:solidFill>
                <a:latin typeface="Arial Rounded MT Bold" panose="020F0704030504030204" pitchFamily="34" charset="0"/>
              </a:rPr>
              <a:t> and a </a:t>
            </a:r>
            <a:r>
              <a:rPr lang="en-US" dirty="0" smtClean="0">
                <a:solidFill>
                  <a:srgbClr val="C00000"/>
                </a:solidFill>
                <a:latin typeface="Arial Rounded MT Bold" panose="020F0704030504030204" pitchFamily="34" charset="0"/>
              </a:rPr>
              <a:t>null-hypothesis</a:t>
            </a:r>
          </a:p>
          <a:p>
            <a:r>
              <a:rPr lang="en-US" dirty="0" smtClean="0">
                <a:solidFill>
                  <a:srgbClr val="C00000"/>
                </a:solidFill>
                <a:latin typeface="Arial Rounded MT Bold" panose="020F0704030504030204" pitchFamily="34" charset="0"/>
              </a:rPr>
              <a:t>Null hypothesis</a:t>
            </a:r>
          </a:p>
          <a:p>
            <a:pPr lvl="1"/>
            <a:r>
              <a:rPr lang="en-GB" b="1" dirty="0" smtClean="0"/>
              <a:t>H</a:t>
            </a:r>
            <a:r>
              <a:rPr lang="en-GB" b="1" baseline="-25000" dirty="0" smtClean="0"/>
              <a:t>0</a:t>
            </a:r>
          </a:p>
          <a:p>
            <a:pPr lvl="1"/>
            <a:r>
              <a:rPr lang="en-US" sz="2800" dirty="0">
                <a:solidFill>
                  <a:srgbClr val="C00000"/>
                </a:solidFill>
                <a:latin typeface="Arial Rounded MT Bold" panose="020F0704030504030204" pitchFamily="34" charset="0"/>
              </a:rPr>
              <a:t>the assumption that nothing will </a:t>
            </a:r>
            <a:r>
              <a:rPr lang="en-US" sz="2800" dirty="0" smtClean="0">
                <a:solidFill>
                  <a:srgbClr val="C00000"/>
                </a:solidFill>
                <a:latin typeface="Arial Rounded MT Bold" panose="020F0704030504030204" pitchFamily="34" charset="0"/>
              </a:rPr>
              <a:t>change</a:t>
            </a:r>
          </a:p>
          <a:p>
            <a:pPr lvl="1"/>
            <a:endParaRPr lang="en-US" dirty="0">
              <a:solidFill>
                <a:srgbClr val="C00000"/>
              </a:solidFill>
              <a:latin typeface="Arial Rounded MT Bold" panose="020F0704030504030204" pitchFamily="34" charset="0"/>
            </a:endParaRPr>
          </a:p>
          <a:p>
            <a:r>
              <a:rPr lang="en-US" dirty="0" smtClean="0">
                <a:solidFill>
                  <a:srgbClr val="00B050"/>
                </a:solidFill>
                <a:latin typeface="Arial Rounded MT Bold" panose="020F0704030504030204" pitchFamily="34" charset="0"/>
              </a:rPr>
              <a:t>Alternative Hypothesis</a:t>
            </a:r>
          </a:p>
          <a:p>
            <a:pPr lvl="1"/>
            <a:r>
              <a:rPr lang="en-GB" b="1" dirty="0" smtClean="0"/>
              <a:t>H</a:t>
            </a:r>
            <a:r>
              <a:rPr lang="en-GB" b="1" baseline="-25000" dirty="0" smtClean="0"/>
              <a:t>1</a:t>
            </a:r>
          </a:p>
          <a:p>
            <a:pPr lvl="1"/>
            <a:r>
              <a:rPr lang="en-US" dirty="0">
                <a:solidFill>
                  <a:srgbClr val="00B050"/>
                </a:solidFill>
                <a:latin typeface="Arial Rounded MT Bold" panose="020F0704030504030204" pitchFamily="34" charset="0"/>
              </a:rPr>
              <a:t>is some other hypothesis that is, the </a:t>
            </a:r>
            <a:r>
              <a:rPr lang="en-US" i="1" dirty="0">
                <a:solidFill>
                  <a:srgbClr val="00B050"/>
                </a:solidFill>
                <a:latin typeface="Arial Rounded MT Bold" panose="020F0704030504030204" pitchFamily="34" charset="0"/>
              </a:rPr>
              <a:t>opposite</a:t>
            </a:r>
            <a:r>
              <a:rPr lang="en-US" dirty="0">
                <a:solidFill>
                  <a:srgbClr val="00B050"/>
                </a:solidFill>
                <a:latin typeface="Arial Rounded MT Bold" panose="020F0704030504030204" pitchFamily="34" charset="0"/>
              </a:rPr>
              <a:t> of the null hypothesis. </a:t>
            </a:r>
          </a:p>
          <a:p>
            <a:pPr lvl="1"/>
            <a:endParaRPr lang="en-ZA" dirty="0">
              <a:solidFill>
                <a:srgbClr val="C00000"/>
              </a:solidFill>
              <a:latin typeface="Arial Rounded MT Bold" panose="020F0704030504030204" pitchFamily="34" charset="0"/>
            </a:endParaRPr>
          </a:p>
        </p:txBody>
      </p:sp>
      <p:sp>
        <p:nvSpPr>
          <p:cNvPr id="5" name="Slide Number Placeholder 4"/>
          <p:cNvSpPr>
            <a:spLocks noGrp="1"/>
          </p:cNvSpPr>
          <p:nvPr>
            <p:ph type="sldNum" sz="quarter" idx="12"/>
          </p:nvPr>
        </p:nvSpPr>
        <p:spPr/>
        <p:txBody>
          <a:bodyPr/>
          <a:lstStyle/>
          <a:p>
            <a:fld id="{19339B4A-3334-40B8-B9D1-9FE2C92E888A}" type="slidenum">
              <a:rPr lang="en-ZA" smtClean="0"/>
              <a:t>31</a:t>
            </a:fld>
            <a:endParaRPr lang="en-ZA"/>
          </a:p>
        </p:txBody>
      </p:sp>
      <p:sp>
        <p:nvSpPr>
          <p:cNvPr id="9" name="TextBox 8"/>
          <p:cNvSpPr txBox="1"/>
          <p:nvPr/>
        </p:nvSpPr>
        <p:spPr>
          <a:xfrm>
            <a:off x="10027289" y="6488668"/>
            <a:ext cx="2419350" cy="369332"/>
          </a:xfrm>
          <a:prstGeom prst="rect">
            <a:avLst/>
          </a:prstGeom>
          <a:noFill/>
        </p:spPr>
        <p:txBody>
          <a:bodyPr wrap="square" rtlCol="0">
            <a:spAutoFit/>
          </a:bodyPr>
          <a:lstStyle/>
          <a:p>
            <a:r>
              <a:rPr lang="en-US" dirty="0" smtClean="0">
                <a:solidFill>
                  <a:srgbClr val="FF0000"/>
                </a:solidFill>
              </a:rPr>
              <a:t>You tube</a:t>
            </a:r>
            <a:endParaRPr lang="en-ZA" dirty="0">
              <a:solidFill>
                <a:srgbClr val="FF0000"/>
              </a:solidFill>
            </a:endParaRPr>
          </a:p>
        </p:txBody>
      </p:sp>
      <p:sp>
        <p:nvSpPr>
          <p:cNvPr id="2" name="Footer Placeholder 1"/>
          <p:cNvSpPr>
            <a:spLocks noGrp="1"/>
          </p:cNvSpPr>
          <p:nvPr>
            <p:ph type="ftr" sz="quarter" idx="11"/>
          </p:nvPr>
        </p:nvSpPr>
        <p:spPr/>
        <p:txBody>
          <a:bodyPr/>
          <a:lstStyle/>
          <a:p>
            <a:r>
              <a:rPr lang="en-ZA" smtClean="0"/>
              <a:t>PRESE4R</a:t>
            </a:r>
            <a:endParaRPr lang="en-ZA"/>
          </a:p>
        </p:txBody>
      </p:sp>
    </p:spTree>
    <p:extLst>
      <p:ext uri="{BB962C8B-B14F-4D97-AF65-F5344CB8AC3E}">
        <p14:creationId xmlns:p14="http://schemas.microsoft.com/office/powerpoint/2010/main" val="875190883"/>
      </p:ext>
    </p:extLst>
  </p:cSld>
  <p:clrMapOvr>
    <a:masterClrMapping/>
  </p:clrMapOvr>
  <mc:AlternateContent xmlns:mc="http://schemas.openxmlformats.org/markup-compatibility/2006" xmlns:p14="http://schemas.microsoft.com/office/powerpoint/2010/main">
    <mc:Choice Requires="p14">
      <p:transition spd="slow" p14:dur="2000" advTm="37514"/>
    </mc:Choice>
    <mc:Fallback xmlns="">
      <p:transition spd="slow" advTm="37514"/>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838201"/>
            <a:ext cx="10018713" cy="4953000"/>
          </a:xfrm>
        </p:spPr>
        <p:txBody>
          <a:bodyPr anchor="t">
            <a:normAutofit lnSpcReduction="10000"/>
          </a:bodyPr>
          <a:lstStyle/>
          <a:p>
            <a:pPr marL="0" indent="0" algn="ctr">
              <a:buNone/>
            </a:pPr>
            <a:r>
              <a:rPr lang="en-US" dirty="0" smtClean="0">
                <a:latin typeface="Arial Rounded MT Bold" panose="020F0704030504030204" pitchFamily="34" charset="0"/>
              </a:rPr>
              <a:t>the </a:t>
            </a:r>
            <a:r>
              <a:rPr lang="en-US" dirty="0">
                <a:latin typeface="Arial Rounded MT Bold" panose="020F0704030504030204" pitchFamily="34" charset="0"/>
              </a:rPr>
              <a:t>researcher </a:t>
            </a:r>
            <a:r>
              <a:rPr lang="en-US" dirty="0" smtClean="0">
                <a:latin typeface="Arial Rounded MT Bold" panose="020F0704030504030204" pitchFamily="34" charset="0"/>
              </a:rPr>
              <a:t>believes </a:t>
            </a:r>
            <a:r>
              <a:rPr lang="en-US" dirty="0">
                <a:latin typeface="Arial Rounded MT Bold" panose="020F0704030504030204" pitchFamily="34" charset="0"/>
              </a:rPr>
              <a:t>that the current average final mark of 65% can be improved if lab time is </a:t>
            </a:r>
            <a:r>
              <a:rPr lang="en-US" dirty="0" smtClean="0">
                <a:latin typeface="Arial Rounded MT Bold" panose="020F0704030504030204" pitchFamily="34" charset="0"/>
              </a:rPr>
              <a:t>increased</a:t>
            </a:r>
            <a:endParaRPr lang="en-US" dirty="0">
              <a:latin typeface="Arial Rounded MT Bold" panose="020F0704030504030204" pitchFamily="34" charset="0"/>
            </a:endParaRPr>
          </a:p>
          <a:p>
            <a:pPr marL="0" indent="0" algn="ctr">
              <a:buNone/>
            </a:pPr>
            <a:endParaRPr lang="en-US" dirty="0" smtClean="0">
              <a:latin typeface="Arial Rounded MT Bold" panose="020F0704030504030204" pitchFamily="34" charset="0"/>
            </a:endParaRPr>
          </a:p>
          <a:p>
            <a:pPr marL="0" indent="0">
              <a:buNone/>
            </a:pPr>
            <a:r>
              <a:rPr lang="en-US" dirty="0" smtClean="0">
                <a:latin typeface="Arial Rounded MT Bold" panose="020F0704030504030204" pitchFamily="34" charset="0"/>
              </a:rPr>
              <a:t>Hypothesis as below. The null (</a:t>
            </a:r>
            <a:r>
              <a:rPr lang="en-US" dirty="0" err="1" smtClean="0">
                <a:latin typeface="Arial Rounded MT Bold" panose="020F0704030504030204" pitchFamily="34" charset="0"/>
              </a:rPr>
              <a:t>H</a:t>
            </a:r>
            <a:r>
              <a:rPr lang="en-US" baseline="-25000" dirty="0" err="1" smtClean="0">
                <a:latin typeface="Arial Rounded MT Bold" panose="020F0704030504030204" pitchFamily="34" charset="0"/>
              </a:rPr>
              <a:t>0</a:t>
            </a:r>
            <a:r>
              <a:rPr lang="en-US" dirty="0" smtClean="0">
                <a:latin typeface="Arial Rounded MT Bold" panose="020F0704030504030204" pitchFamily="34" charset="0"/>
              </a:rPr>
              <a:t>) must be rejected. </a:t>
            </a:r>
            <a:endParaRPr lang="en-US" dirty="0">
              <a:latin typeface="Arial Rounded MT Bold" panose="020F0704030504030204" pitchFamily="34" charset="0"/>
            </a:endParaRPr>
          </a:p>
          <a:p>
            <a:endParaRPr lang="en-US" dirty="0">
              <a:latin typeface="Arial Rounded MT Bold" panose="020F0704030504030204" pitchFamily="34" charset="0"/>
            </a:endParaRPr>
          </a:p>
          <a:p>
            <a:pPr lvl="1"/>
            <a:r>
              <a:rPr lang="en-US" dirty="0">
                <a:solidFill>
                  <a:srgbClr val="C00000"/>
                </a:solidFill>
                <a:latin typeface="Arial Rounded MT Bold" panose="020F0704030504030204" pitchFamily="34" charset="0"/>
              </a:rPr>
              <a:t>H</a:t>
            </a:r>
            <a:r>
              <a:rPr lang="en-US" baseline="-25000" dirty="0">
                <a:solidFill>
                  <a:srgbClr val="C00000"/>
                </a:solidFill>
                <a:latin typeface="Arial Rounded MT Bold" panose="020F0704030504030204" pitchFamily="34" charset="0"/>
              </a:rPr>
              <a:t>0</a:t>
            </a:r>
            <a:r>
              <a:rPr lang="en-US" dirty="0">
                <a:solidFill>
                  <a:srgbClr val="C00000"/>
                </a:solidFill>
                <a:latin typeface="Arial Rounded MT Bold" panose="020F0704030504030204" pitchFamily="34" charset="0"/>
              </a:rPr>
              <a:t>: average final mark = 65% (no change)</a:t>
            </a:r>
          </a:p>
          <a:p>
            <a:pPr lvl="1"/>
            <a:endParaRPr lang="en-US" dirty="0">
              <a:latin typeface="Arial Rounded MT Bold" panose="020F0704030504030204" pitchFamily="34" charset="0"/>
            </a:endParaRPr>
          </a:p>
          <a:p>
            <a:pPr lvl="1"/>
            <a:r>
              <a:rPr lang="en-US" dirty="0">
                <a:solidFill>
                  <a:srgbClr val="00B050"/>
                </a:solidFill>
                <a:latin typeface="Arial Rounded MT Bold" panose="020F0704030504030204" pitchFamily="34" charset="0"/>
              </a:rPr>
              <a:t>H</a:t>
            </a:r>
            <a:r>
              <a:rPr lang="en-US" baseline="-25000" dirty="0">
                <a:solidFill>
                  <a:srgbClr val="00B050"/>
                </a:solidFill>
                <a:latin typeface="Arial Rounded MT Bold" panose="020F0704030504030204" pitchFamily="34" charset="0"/>
              </a:rPr>
              <a:t>1</a:t>
            </a:r>
            <a:r>
              <a:rPr lang="en-US" dirty="0">
                <a:solidFill>
                  <a:srgbClr val="00B050"/>
                </a:solidFill>
                <a:latin typeface="Arial Rounded MT Bold" panose="020F0704030504030204" pitchFamily="34" charset="0"/>
              </a:rPr>
              <a:t>: average final mark &gt; 65% (increase)</a:t>
            </a:r>
          </a:p>
          <a:p>
            <a:endParaRPr lang="en-US" dirty="0" smtClean="0">
              <a:latin typeface="Arial Rounded MT Bold" panose="020F0704030504030204" pitchFamily="34" charset="0"/>
            </a:endParaRPr>
          </a:p>
          <a:p>
            <a:r>
              <a:rPr lang="en-US" dirty="0">
                <a:solidFill>
                  <a:srgbClr val="0070C0"/>
                </a:solidFill>
                <a:latin typeface="Arial Rounded MT Bold" panose="020F0704030504030204" pitchFamily="34" charset="0"/>
                <a:cs typeface="Arial" panose="020B0604020202020204" pitchFamily="34" charset="0"/>
              </a:rPr>
              <a:t>The researcher must choose the most appropriate statistical test to reject the null hypothesis</a:t>
            </a:r>
            <a:endParaRPr lang="en-ZA" dirty="0">
              <a:solidFill>
                <a:srgbClr val="0070C0"/>
              </a:solidFill>
              <a:latin typeface="Arial" panose="020B0604020202020204" pitchFamily="34" charset="0"/>
              <a:cs typeface="Arial" panose="020B0604020202020204" pitchFamily="34" charset="0"/>
            </a:endParaRPr>
          </a:p>
          <a:p>
            <a:endParaRPr lang="en-ZA" dirty="0">
              <a:latin typeface="Arial Rounded MT Bold" panose="020F0704030504030204" pitchFamily="34" charset="0"/>
            </a:endParaRPr>
          </a:p>
        </p:txBody>
      </p:sp>
      <p:sp>
        <p:nvSpPr>
          <p:cNvPr id="5" name="Slide Number Placeholder 4"/>
          <p:cNvSpPr>
            <a:spLocks noGrp="1"/>
          </p:cNvSpPr>
          <p:nvPr>
            <p:ph type="sldNum" sz="quarter" idx="12"/>
          </p:nvPr>
        </p:nvSpPr>
        <p:spPr/>
        <p:txBody>
          <a:bodyPr/>
          <a:lstStyle/>
          <a:p>
            <a:fld id="{19339B4A-3334-40B8-B9D1-9FE2C92E888A}" type="slidenum">
              <a:rPr lang="en-ZA" smtClean="0"/>
              <a:t>32</a:t>
            </a:fld>
            <a:endParaRPr lang="en-ZA"/>
          </a:p>
        </p:txBody>
      </p:sp>
      <p:sp>
        <p:nvSpPr>
          <p:cNvPr id="2" name="Footer Placeholder 1"/>
          <p:cNvSpPr>
            <a:spLocks noGrp="1"/>
          </p:cNvSpPr>
          <p:nvPr>
            <p:ph type="ftr" sz="quarter" idx="11"/>
          </p:nvPr>
        </p:nvSpPr>
        <p:spPr/>
        <p:txBody>
          <a:bodyPr/>
          <a:lstStyle/>
          <a:p>
            <a:r>
              <a:rPr lang="en-ZA" smtClean="0"/>
              <a:t>PRESE4R</a:t>
            </a:r>
            <a:endParaRPr lang="en-ZA"/>
          </a:p>
        </p:txBody>
      </p:sp>
    </p:spTree>
    <p:extLst>
      <p:ext uri="{BB962C8B-B14F-4D97-AF65-F5344CB8AC3E}">
        <p14:creationId xmlns:p14="http://schemas.microsoft.com/office/powerpoint/2010/main" val="1931520047"/>
      </p:ext>
    </p:extLst>
  </p:cSld>
  <p:clrMapOvr>
    <a:masterClrMapping/>
  </p:clrMapOvr>
  <mc:AlternateContent xmlns:mc="http://schemas.openxmlformats.org/markup-compatibility/2006" xmlns:p14="http://schemas.microsoft.com/office/powerpoint/2010/main">
    <mc:Choice Requires="p14">
      <p:transition spd="slow" p14:dur="2000" advTm="80213"/>
    </mc:Choice>
    <mc:Fallback xmlns="">
      <p:transition spd="slow" advTm="80213"/>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Dr Alveen Singh - Dept of IT, DUT</a:t>
            </a:r>
            <a:endParaRPr lang="en-ZA"/>
          </a:p>
        </p:txBody>
      </p:sp>
      <p:sp>
        <p:nvSpPr>
          <p:cNvPr id="4" name="Slide Number Placeholder 3"/>
          <p:cNvSpPr>
            <a:spLocks noGrp="1"/>
          </p:cNvSpPr>
          <p:nvPr>
            <p:ph type="sldNum" sz="quarter" idx="12"/>
          </p:nvPr>
        </p:nvSpPr>
        <p:spPr/>
        <p:txBody>
          <a:bodyPr/>
          <a:lstStyle/>
          <a:p>
            <a:fld id="{F9D8934E-928E-4C38-807A-CB32A0A7C43F}" type="slidenum">
              <a:rPr lang="en-ZA" smtClean="0"/>
              <a:t>33</a:t>
            </a:fld>
            <a:endParaRPr lang="en-ZA"/>
          </a:p>
        </p:txBody>
      </p:sp>
      <p:pic>
        <p:nvPicPr>
          <p:cNvPr id="3" name="Picture 2"/>
          <p:cNvPicPr>
            <a:picLocks noChangeAspect="1"/>
          </p:cNvPicPr>
          <p:nvPr/>
        </p:nvPicPr>
        <p:blipFill>
          <a:blip r:embed="rId2"/>
          <a:stretch>
            <a:fillRect/>
          </a:stretch>
        </p:blipFill>
        <p:spPr>
          <a:xfrm>
            <a:off x="7437120" y="325180"/>
            <a:ext cx="4507863" cy="2936042"/>
          </a:xfrm>
          <a:prstGeom prst="rect">
            <a:avLst/>
          </a:prstGeom>
        </p:spPr>
      </p:pic>
      <p:sp>
        <p:nvSpPr>
          <p:cNvPr id="7" name="Rectangle 6"/>
          <p:cNvSpPr/>
          <p:nvPr/>
        </p:nvSpPr>
        <p:spPr>
          <a:xfrm>
            <a:off x="10204270" y="4388851"/>
            <a:ext cx="1298753" cy="369332"/>
          </a:xfrm>
          <a:prstGeom prst="rect">
            <a:avLst/>
          </a:prstGeom>
        </p:spPr>
        <p:txBody>
          <a:bodyPr wrap="none">
            <a:spAutoFit/>
          </a:bodyPr>
          <a:lstStyle/>
          <a:p>
            <a:r>
              <a:rPr lang="en-US" dirty="0" err="1" smtClean="0">
                <a:solidFill>
                  <a:srgbClr val="FF0000"/>
                </a:solidFill>
              </a:rPr>
              <a:t>Ecstep.com</a:t>
            </a:r>
            <a:endParaRPr lang="en-ZA" dirty="0">
              <a:solidFill>
                <a:srgbClr val="FF0000"/>
              </a:solidFill>
            </a:endParaRPr>
          </a:p>
        </p:txBody>
      </p:sp>
      <p:pic>
        <p:nvPicPr>
          <p:cNvPr id="5" name="Picture 4"/>
          <p:cNvPicPr>
            <a:picLocks noChangeAspect="1"/>
          </p:cNvPicPr>
          <p:nvPr/>
        </p:nvPicPr>
        <p:blipFill>
          <a:blip r:embed="rId3"/>
          <a:stretch>
            <a:fillRect/>
          </a:stretch>
        </p:blipFill>
        <p:spPr>
          <a:xfrm>
            <a:off x="838200" y="1431656"/>
            <a:ext cx="6400800" cy="4800600"/>
          </a:xfrm>
          <a:prstGeom prst="rect">
            <a:avLst/>
          </a:prstGeom>
        </p:spPr>
      </p:pic>
    </p:spTree>
    <p:extLst>
      <p:ext uri="{BB962C8B-B14F-4D97-AF65-F5344CB8AC3E}">
        <p14:creationId xmlns:p14="http://schemas.microsoft.com/office/powerpoint/2010/main" val="361299216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1484311" y="885825"/>
            <a:ext cx="10018712" cy="4905375"/>
          </a:xfrm>
        </p:spPr>
        <p:txBody>
          <a:bodyPr anchor="t">
            <a:normAutofit/>
          </a:bodyPr>
          <a:lstStyle/>
          <a:p>
            <a:pPr marL="0" indent="0" algn="ctr">
              <a:buNone/>
            </a:pPr>
            <a:r>
              <a:rPr lang="en-US" sz="2000" dirty="0" smtClean="0">
                <a:latin typeface="Arial Narrow" panose="020B0606020202030204" pitchFamily="34" charset="0"/>
              </a:rPr>
              <a:t>Before a choice of statistical technique can be made, the researcher needs to understand the different types of data that they are working with.</a:t>
            </a:r>
          </a:p>
          <a:p>
            <a:pPr marL="0" indent="0">
              <a:buNone/>
            </a:pPr>
            <a:endParaRPr lang="en-US" sz="2000" dirty="0" smtClean="0">
              <a:latin typeface="Arial Narrow" panose="020B0606020202030204" pitchFamily="34" charset="0"/>
            </a:endParaRPr>
          </a:p>
          <a:p>
            <a:pPr marL="0" indent="0">
              <a:buNone/>
            </a:pPr>
            <a:endParaRPr lang="en-ZA" sz="2000" dirty="0">
              <a:latin typeface="Arial Narrow" panose="020B0606020202030204" pitchFamily="34" charset="0"/>
            </a:endParaRPr>
          </a:p>
        </p:txBody>
      </p:sp>
      <p:sp>
        <p:nvSpPr>
          <p:cNvPr id="2" name="Footer Placeholder 1"/>
          <p:cNvSpPr>
            <a:spLocks noGrp="1"/>
          </p:cNvSpPr>
          <p:nvPr>
            <p:ph type="ftr" sz="quarter" idx="11"/>
          </p:nvPr>
        </p:nvSpPr>
        <p:spPr/>
        <p:txBody>
          <a:bodyPr/>
          <a:lstStyle/>
          <a:p>
            <a:r>
              <a:rPr lang="en-US" smtClean="0"/>
              <a:t>Dr Alveen Singh - Dept of IT, DUT</a:t>
            </a:r>
            <a:endParaRPr lang="en-ZA"/>
          </a:p>
        </p:txBody>
      </p:sp>
      <p:sp>
        <p:nvSpPr>
          <p:cNvPr id="4" name="Slide Number Placeholder 3"/>
          <p:cNvSpPr>
            <a:spLocks noGrp="1"/>
          </p:cNvSpPr>
          <p:nvPr>
            <p:ph type="sldNum" sz="quarter" idx="12"/>
          </p:nvPr>
        </p:nvSpPr>
        <p:spPr/>
        <p:txBody>
          <a:bodyPr/>
          <a:lstStyle/>
          <a:p>
            <a:fld id="{F9D8934E-928E-4C38-807A-CB32A0A7C43F}" type="slidenum">
              <a:rPr lang="en-ZA" smtClean="0"/>
              <a:t>34</a:t>
            </a:fld>
            <a:endParaRPr lang="en-ZA"/>
          </a:p>
        </p:txBody>
      </p:sp>
      <p:pic>
        <p:nvPicPr>
          <p:cNvPr id="7" name="Picture 6" descr="Image for post"/>
          <p:cNvPicPr/>
          <p:nvPr/>
        </p:nvPicPr>
        <p:blipFill rotWithShape="1">
          <a:blip r:embed="rId2">
            <a:extLst>
              <a:ext uri="{28A0092B-C50C-407E-A947-70E740481C1C}">
                <a14:useLocalDpi xmlns:a14="http://schemas.microsoft.com/office/drawing/2010/main" val="0"/>
              </a:ext>
            </a:extLst>
          </a:blip>
          <a:srcRect l="2391" t="13738" b="3121"/>
          <a:stretch/>
        </p:blipFill>
        <p:spPr bwMode="auto">
          <a:xfrm>
            <a:off x="3655005" y="2120265"/>
            <a:ext cx="5677323" cy="3763010"/>
          </a:xfrm>
          <a:prstGeom prst="rect">
            <a:avLst/>
          </a:prstGeom>
          <a:noFill/>
          <a:ln>
            <a:noFill/>
          </a:ln>
          <a:extLst>
            <a:ext uri="{53640926-AAD7-44D8-BBD7-CCE9431645EC}">
              <a14:shadowObscured xmlns:a14="http://schemas.microsoft.com/office/drawing/2010/main"/>
            </a:ext>
          </a:extLst>
        </p:spPr>
      </p:pic>
      <p:sp>
        <p:nvSpPr>
          <p:cNvPr id="8" name="Rectangle 7"/>
          <p:cNvSpPr/>
          <p:nvPr/>
        </p:nvSpPr>
        <p:spPr>
          <a:xfrm>
            <a:off x="10204270" y="4388851"/>
            <a:ext cx="1682192" cy="369332"/>
          </a:xfrm>
          <a:prstGeom prst="rect">
            <a:avLst/>
          </a:prstGeom>
        </p:spPr>
        <p:txBody>
          <a:bodyPr wrap="none">
            <a:spAutoFit/>
          </a:bodyPr>
          <a:lstStyle/>
          <a:p>
            <a:r>
              <a:rPr lang="en-US" dirty="0" err="1" smtClean="0">
                <a:solidFill>
                  <a:srgbClr val="FF0000"/>
                </a:solidFill>
              </a:rPr>
              <a:t>Ragunath</a:t>
            </a:r>
            <a:r>
              <a:rPr lang="en-US" dirty="0" smtClean="0">
                <a:solidFill>
                  <a:srgbClr val="FF0000"/>
                </a:solidFill>
              </a:rPr>
              <a:t>, 2019</a:t>
            </a:r>
            <a:endParaRPr lang="en-ZA" dirty="0">
              <a:solidFill>
                <a:srgbClr val="FF0000"/>
              </a:solidFill>
            </a:endParaRPr>
          </a:p>
        </p:txBody>
      </p:sp>
    </p:spTree>
    <p:extLst>
      <p:ext uri="{BB962C8B-B14F-4D97-AF65-F5344CB8AC3E}">
        <p14:creationId xmlns:p14="http://schemas.microsoft.com/office/powerpoint/2010/main" val="44965299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1484310" y="885825"/>
            <a:ext cx="6044249" cy="4905375"/>
          </a:xfrm>
        </p:spPr>
        <p:txBody>
          <a:bodyPr anchor="t">
            <a:normAutofit/>
          </a:bodyPr>
          <a:lstStyle/>
          <a:p>
            <a:pPr marL="0" indent="0">
              <a:buNone/>
            </a:pPr>
            <a:r>
              <a:rPr lang="en-US" sz="2800" b="1" dirty="0">
                <a:latin typeface="Arial Narrow" panose="020B0606020202030204" pitchFamily="34" charset="0"/>
              </a:rPr>
              <a:t>Categorical data </a:t>
            </a:r>
            <a:r>
              <a:rPr lang="en-US" sz="2800" dirty="0">
                <a:latin typeface="Arial Narrow" panose="020B0606020202030204" pitchFamily="34" charset="0"/>
              </a:rPr>
              <a:t>must belong to a category first before being assigned a numerical format. </a:t>
            </a:r>
          </a:p>
          <a:p>
            <a:pPr marL="0" indent="0">
              <a:buNone/>
            </a:pPr>
            <a:r>
              <a:rPr lang="en-US" sz="2000" dirty="0">
                <a:latin typeface="Arial Narrow" panose="020B0606020202030204" pitchFamily="34" charset="0"/>
              </a:rPr>
              <a:t>For example, </a:t>
            </a:r>
          </a:p>
          <a:p>
            <a:pPr marL="0" indent="0">
              <a:buNone/>
            </a:pPr>
            <a:r>
              <a:rPr lang="en-US" sz="2000" dirty="0">
                <a:latin typeface="Arial Narrow" panose="020B0606020202030204" pitchFamily="34" charset="0"/>
              </a:rPr>
              <a:t>final mark between 0 and 50 is </a:t>
            </a:r>
            <a:r>
              <a:rPr lang="en-US" sz="2000" dirty="0">
                <a:solidFill>
                  <a:srgbClr val="0070C0"/>
                </a:solidFill>
                <a:latin typeface="Arial Narrow" panose="020B0606020202030204" pitchFamily="34" charset="0"/>
              </a:rPr>
              <a:t>category 1, </a:t>
            </a:r>
          </a:p>
          <a:p>
            <a:pPr marL="0" indent="0">
              <a:buNone/>
            </a:pPr>
            <a:r>
              <a:rPr lang="en-US" sz="2000" dirty="0">
                <a:latin typeface="Arial Narrow" panose="020B0606020202030204" pitchFamily="34" charset="0"/>
              </a:rPr>
              <a:t>between 49 and 60 is </a:t>
            </a:r>
            <a:r>
              <a:rPr lang="en-US" sz="2000" dirty="0">
                <a:solidFill>
                  <a:srgbClr val="FFC000"/>
                </a:solidFill>
                <a:latin typeface="Arial Narrow" panose="020B0606020202030204" pitchFamily="34" charset="0"/>
              </a:rPr>
              <a:t>category 2</a:t>
            </a:r>
            <a:r>
              <a:rPr lang="en-US" sz="2000" dirty="0">
                <a:latin typeface="Arial Narrow" panose="020B0606020202030204" pitchFamily="34" charset="0"/>
              </a:rPr>
              <a:t>, and </a:t>
            </a:r>
          </a:p>
          <a:p>
            <a:pPr marL="0" indent="0">
              <a:buNone/>
            </a:pPr>
            <a:r>
              <a:rPr lang="en-US" sz="2000" dirty="0">
                <a:latin typeface="Arial Narrow" panose="020B0606020202030204" pitchFamily="34" charset="0"/>
              </a:rPr>
              <a:t>between 59 and 101 is </a:t>
            </a:r>
            <a:r>
              <a:rPr lang="en-US" sz="2000" dirty="0">
                <a:solidFill>
                  <a:srgbClr val="FF0000"/>
                </a:solidFill>
                <a:latin typeface="Arial Narrow" panose="020B0606020202030204" pitchFamily="34" charset="0"/>
              </a:rPr>
              <a:t>category 3</a:t>
            </a:r>
            <a:r>
              <a:rPr lang="en-US" sz="2000" dirty="0">
                <a:latin typeface="Arial Narrow" panose="020B0606020202030204" pitchFamily="34" charset="0"/>
              </a:rPr>
              <a:t>.</a:t>
            </a:r>
          </a:p>
          <a:p>
            <a:pPr marL="0" indent="0">
              <a:buNone/>
            </a:pPr>
            <a:r>
              <a:rPr lang="en-US" sz="2000" dirty="0">
                <a:latin typeface="Arial Narrow" panose="020B0606020202030204" pitchFamily="34" charset="0"/>
              </a:rPr>
              <a:t>In other words, the final marks of all students have been placed into categories and assigned a numerical value of either 1, 2 or 3. </a:t>
            </a:r>
          </a:p>
          <a:p>
            <a:endParaRPr lang="en-ZA" sz="2000" dirty="0">
              <a:latin typeface="Arial Narrow" panose="020B0606020202030204" pitchFamily="34" charset="0"/>
            </a:endParaRPr>
          </a:p>
        </p:txBody>
      </p:sp>
      <p:sp>
        <p:nvSpPr>
          <p:cNvPr id="2" name="Footer Placeholder 1"/>
          <p:cNvSpPr>
            <a:spLocks noGrp="1"/>
          </p:cNvSpPr>
          <p:nvPr>
            <p:ph type="ftr" sz="quarter" idx="11"/>
          </p:nvPr>
        </p:nvSpPr>
        <p:spPr/>
        <p:txBody>
          <a:bodyPr/>
          <a:lstStyle/>
          <a:p>
            <a:r>
              <a:rPr lang="en-US" smtClean="0"/>
              <a:t>Dr Alveen Singh - Dept of IT, DUT</a:t>
            </a:r>
            <a:endParaRPr lang="en-ZA"/>
          </a:p>
        </p:txBody>
      </p:sp>
      <p:sp>
        <p:nvSpPr>
          <p:cNvPr id="4" name="Slide Number Placeholder 3"/>
          <p:cNvSpPr>
            <a:spLocks noGrp="1"/>
          </p:cNvSpPr>
          <p:nvPr>
            <p:ph type="sldNum" sz="quarter" idx="12"/>
          </p:nvPr>
        </p:nvSpPr>
        <p:spPr/>
        <p:txBody>
          <a:bodyPr/>
          <a:lstStyle/>
          <a:p>
            <a:fld id="{F9D8934E-928E-4C38-807A-CB32A0A7C43F}" type="slidenum">
              <a:rPr lang="en-ZA" smtClean="0"/>
              <a:t>35</a:t>
            </a:fld>
            <a:endParaRPr lang="en-ZA"/>
          </a:p>
        </p:txBody>
      </p:sp>
      <p:pic>
        <p:nvPicPr>
          <p:cNvPr id="5" name="Picture 4"/>
          <p:cNvPicPr>
            <a:picLocks noChangeAspect="1"/>
          </p:cNvPicPr>
          <p:nvPr/>
        </p:nvPicPr>
        <p:blipFill>
          <a:blip r:embed="rId2"/>
          <a:stretch>
            <a:fillRect/>
          </a:stretch>
        </p:blipFill>
        <p:spPr>
          <a:xfrm>
            <a:off x="7669843" y="2747963"/>
            <a:ext cx="3973225" cy="1900238"/>
          </a:xfrm>
          <a:prstGeom prst="rect">
            <a:avLst/>
          </a:prstGeom>
        </p:spPr>
      </p:pic>
    </p:spTree>
    <p:extLst>
      <p:ext uri="{BB962C8B-B14F-4D97-AF65-F5344CB8AC3E}">
        <p14:creationId xmlns:p14="http://schemas.microsoft.com/office/powerpoint/2010/main" val="202784650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1484311" y="885825"/>
            <a:ext cx="6013769" cy="4905375"/>
          </a:xfrm>
        </p:spPr>
        <p:txBody>
          <a:bodyPr anchor="t">
            <a:normAutofit/>
          </a:bodyPr>
          <a:lstStyle/>
          <a:p>
            <a:pPr marL="0" indent="0">
              <a:buNone/>
            </a:pPr>
            <a:r>
              <a:rPr lang="en-US" sz="2000" dirty="0">
                <a:latin typeface="Arial Narrow" panose="020B0606020202030204" pitchFamily="34" charset="0"/>
              </a:rPr>
              <a:t> </a:t>
            </a:r>
            <a:r>
              <a:rPr lang="en-US" b="1" dirty="0">
                <a:latin typeface="Arial Narrow" panose="020B0606020202030204" pitchFamily="34" charset="0"/>
              </a:rPr>
              <a:t>Interval data </a:t>
            </a:r>
            <a:r>
              <a:rPr lang="en-US" dirty="0" smtClean="0">
                <a:latin typeface="Arial Narrow" panose="020B0606020202030204" pitchFamily="34" charset="0"/>
              </a:rPr>
              <a:t>naturally </a:t>
            </a:r>
            <a:r>
              <a:rPr lang="en-US" dirty="0">
                <a:latin typeface="Arial Narrow" panose="020B0606020202030204" pitchFamily="34" charset="0"/>
              </a:rPr>
              <a:t>exists as numbers (for example final mark). Interval data has a ranking and the options are equally spaced apart. </a:t>
            </a:r>
            <a:endParaRPr lang="en-US" sz="2000" dirty="0" smtClean="0">
              <a:latin typeface="Arial Narrow" panose="020B0606020202030204" pitchFamily="34" charset="0"/>
            </a:endParaRPr>
          </a:p>
          <a:p>
            <a:pPr marL="0" indent="0">
              <a:buNone/>
            </a:pPr>
            <a:r>
              <a:rPr lang="en-US" sz="2000" dirty="0" smtClean="0">
                <a:latin typeface="Arial Narrow" panose="020B0606020202030204" pitchFamily="34" charset="0"/>
              </a:rPr>
              <a:t>Zero </a:t>
            </a:r>
            <a:r>
              <a:rPr lang="en-US" sz="2000" dirty="0">
                <a:latin typeface="Arial Narrow" panose="020B0606020202030204" pitchFamily="34" charset="0"/>
              </a:rPr>
              <a:t>point is arbitrary that is, a zero is a value and not a null or missing value. </a:t>
            </a:r>
            <a:endParaRPr lang="en-US" sz="2000" dirty="0" smtClean="0">
              <a:latin typeface="Arial Narrow" panose="020B0606020202030204" pitchFamily="34" charset="0"/>
            </a:endParaRPr>
          </a:p>
          <a:p>
            <a:pPr marL="0" indent="0">
              <a:buNone/>
            </a:pPr>
            <a:r>
              <a:rPr lang="en-US" sz="2000" dirty="0" smtClean="0">
                <a:latin typeface="Arial Narrow" panose="020B0606020202030204" pitchFamily="34" charset="0"/>
              </a:rPr>
              <a:t>Consider </a:t>
            </a:r>
            <a:r>
              <a:rPr lang="en-US" sz="2000" dirty="0">
                <a:latin typeface="Arial Narrow" panose="020B0606020202030204" pitchFamily="34" charset="0"/>
              </a:rPr>
              <a:t>a temperature reading: -2; -1; 0; 1; 2. Zero temperature is an actual data value and the options are equally spaced apart. </a:t>
            </a:r>
            <a:endParaRPr lang="en-ZA" sz="2000" dirty="0">
              <a:latin typeface="Arial Narrow" panose="020B0606020202030204" pitchFamily="34" charset="0"/>
            </a:endParaRPr>
          </a:p>
        </p:txBody>
      </p:sp>
      <p:sp>
        <p:nvSpPr>
          <p:cNvPr id="2" name="Footer Placeholder 1"/>
          <p:cNvSpPr>
            <a:spLocks noGrp="1"/>
          </p:cNvSpPr>
          <p:nvPr>
            <p:ph type="ftr" sz="quarter" idx="11"/>
          </p:nvPr>
        </p:nvSpPr>
        <p:spPr/>
        <p:txBody>
          <a:bodyPr/>
          <a:lstStyle/>
          <a:p>
            <a:r>
              <a:rPr lang="en-US" smtClean="0"/>
              <a:t>Dr Alveen Singh - Dept of IT, DUT</a:t>
            </a:r>
            <a:endParaRPr lang="en-ZA"/>
          </a:p>
        </p:txBody>
      </p:sp>
      <p:sp>
        <p:nvSpPr>
          <p:cNvPr id="4" name="Slide Number Placeholder 3"/>
          <p:cNvSpPr>
            <a:spLocks noGrp="1"/>
          </p:cNvSpPr>
          <p:nvPr>
            <p:ph type="sldNum" sz="quarter" idx="12"/>
          </p:nvPr>
        </p:nvSpPr>
        <p:spPr/>
        <p:txBody>
          <a:bodyPr/>
          <a:lstStyle/>
          <a:p>
            <a:fld id="{F9D8934E-928E-4C38-807A-CB32A0A7C43F}" type="slidenum">
              <a:rPr lang="en-ZA" smtClean="0"/>
              <a:t>36</a:t>
            </a:fld>
            <a:endParaRPr lang="en-ZA"/>
          </a:p>
        </p:txBody>
      </p:sp>
      <p:pic>
        <p:nvPicPr>
          <p:cNvPr id="5" name="Picture 4"/>
          <p:cNvPicPr>
            <a:picLocks noChangeAspect="1"/>
          </p:cNvPicPr>
          <p:nvPr/>
        </p:nvPicPr>
        <p:blipFill>
          <a:blip r:embed="rId2"/>
          <a:stretch>
            <a:fillRect/>
          </a:stretch>
        </p:blipFill>
        <p:spPr>
          <a:xfrm>
            <a:off x="7015397" y="3567112"/>
            <a:ext cx="4822906" cy="2893744"/>
          </a:xfrm>
          <a:prstGeom prst="rect">
            <a:avLst/>
          </a:prstGeom>
        </p:spPr>
      </p:pic>
    </p:spTree>
    <p:extLst>
      <p:ext uri="{BB962C8B-B14F-4D97-AF65-F5344CB8AC3E}">
        <p14:creationId xmlns:p14="http://schemas.microsoft.com/office/powerpoint/2010/main" val="306234541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1484311" y="885825"/>
            <a:ext cx="6013769" cy="4905375"/>
          </a:xfrm>
        </p:spPr>
        <p:txBody>
          <a:bodyPr anchor="t">
            <a:normAutofit/>
          </a:bodyPr>
          <a:lstStyle/>
          <a:p>
            <a:pPr marL="0" indent="0">
              <a:buNone/>
            </a:pPr>
            <a:r>
              <a:rPr lang="en-US" b="1" dirty="0">
                <a:latin typeface="Arial Narrow" panose="020B0606020202030204" pitchFamily="34" charset="0"/>
              </a:rPr>
              <a:t>Ratio data </a:t>
            </a:r>
            <a:r>
              <a:rPr lang="en-US" dirty="0">
                <a:latin typeface="Arial Narrow" panose="020B0606020202030204" pitchFamily="34" charset="0"/>
              </a:rPr>
              <a:t>is similar to interval data with the exception that a zero value means no or null instances of that option. </a:t>
            </a:r>
            <a:endParaRPr lang="en-US" dirty="0" smtClean="0">
              <a:latin typeface="Arial Narrow" panose="020B0606020202030204" pitchFamily="34" charset="0"/>
            </a:endParaRPr>
          </a:p>
          <a:p>
            <a:pPr marL="0" indent="0">
              <a:buNone/>
            </a:pPr>
            <a:r>
              <a:rPr lang="en-US" sz="2000" dirty="0" smtClean="0">
                <a:latin typeface="Arial Narrow" panose="020B0606020202030204" pitchFamily="34" charset="0"/>
              </a:rPr>
              <a:t>Stated </a:t>
            </a:r>
            <a:r>
              <a:rPr lang="en-US" sz="2000" dirty="0">
                <a:latin typeface="Arial Narrow" panose="020B0606020202030204" pitchFamily="34" charset="0"/>
              </a:rPr>
              <a:t>differently, zero means that there is nothing of that variable in the sample. </a:t>
            </a:r>
            <a:endParaRPr lang="en-US" sz="2000" dirty="0" smtClean="0">
              <a:latin typeface="Arial Narrow" panose="020B0606020202030204" pitchFamily="34" charset="0"/>
            </a:endParaRPr>
          </a:p>
          <a:p>
            <a:pPr marL="0" indent="0">
              <a:buNone/>
            </a:pPr>
            <a:r>
              <a:rPr lang="en-US" sz="2000" dirty="0" smtClean="0">
                <a:latin typeface="Arial Narrow" panose="020B0606020202030204" pitchFamily="34" charset="0"/>
              </a:rPr>
              <a:t>Ratio </a:t>
            </a:r>
            <a:r>
              <a:rPr lang="en-US" sz="2000" dirty="0">
                <a:latin typeface="Arial Narrow" panose="020B0606020202030204" pitchFamily="34" charset="0"/>
              </a:rPr>
              <a:t>data is evenly spaced and it is ranked. </a:t>
            </a:r>
            <a:endParaRPr lang="en-ZA" sz="2000" dirty="0">
              <a:latin typeface="Arial Narrow" panose="020B0606020202030204" pitchFamily="34" charset="0"/>
            </a:endParaRPr>
          </a:p>
        </p:txBody>
      </p:sp>
      <p:sp>
        <p:nvSpPr>
          <p:cNvPr id="2" name="Footer Placeholder 1"/>
          <p:cNvSpPr>
            <a:spLocks noGrp="1"/>
          </p:cNvSpPr>
          <p:nvPr>
            <p:ph type="ftr" sz="quarter" idx="11"/>
          </p:nvPr>
        </p:nvSpPr>
        <p:spPr/>
        <p:txBody>
          <a:bodyPr/>
          <a:lstStyle/>
          <a:p>
            <a:r>
              <a:rPr lang="en-US" smtClean="0"/>
              <a:t>Dr Alveen Singh - Dept of IT, DUT</a:t>
            </a:r>
            <a:endParaRPr lang="en-ZA"/>
          </a:p>
        </p:txBody>
      </p:sp>
      <p:sp>
        <p:nvSpPr>
          <p:cNvPr id="4" name="Slide Number Placeholder 3"/>
          <p:cNvSpPr>
            <a:spLocks noGrp="1"/>
          </p:cNvSpPr>
          <p:nvPr>
            <p:ph type="sldNum" sz="quarter" idx="12"/>
          </p:nvPr>
        </p:nvSpPr>
        <p:spPr/>
        <p:txBody>
          <a:bodyPr/>
          <a:lstStyle/>
          <a:p>
            <a:fld id="{F9D8934E-928E-4C38-807A-CB32A0A7C43F}" type="slidenum">
              <a:rPr lang="en-ZA" smtClean="0"/>
              <a:t>37</a:t>
            </a:fld>
            <a:endParaRPr lang="en-ZA"/>
          </a:p>
        </p:txBody>
      </p:sp>
      <p:pic>
        <p:nvPicPr>
          <p:cNvPr id="3" name="Picture 2"/>
          <p:cNvPicPr>
            <a:picLocks noChangeAspect="1"/>
          </p:cNvPicPr>
          <p:nvPr/>
        </p:nvPicPr>
        <p:blipFill>
          <a:blip r:embed="rId2"/>
          <a:stretch>
            <a:fillRect/>
          </a:stretch>
        </p:blipFill>
        <p:spPr>
          <a:xfrm>
            <a:off x="7908618" y="4163377"/>
            <a:ext cx="3495675" cy="1304925"/>
          </a:xfrm>
          <a:prstGeom prst="rect">
            <a:avLst/>
          </a:prstGeom>
        </p:spPr>
      </p:pic>
      <p:sp>
        <p:nvSpPr>
          <p:cNvPr id="7" name="TextBox 6"/>
          <p:cNvSpPr txBox="1"/>
          <p:nvPr/>
        </p:nvSpPr>
        <p:spPr>
          <a:xfrm>
            <a:off x="7711440" y="3748404"/>
            <a:ext cx="4294503" cy="369332"/>
          </a:xfrm>
          <a:prstGeom prst="rect">
            <a:avLst/>
          </a:prstGeom>
          <a:noFill/>
        </p:spPr>
        <p:txBody>
          <a:bodyPr wrap="square" rtlCol="0">
            <a:spAutoFit/>
          </a:bodyPr>
          <a:lstStyle/>
          <a:p>
            <a:r>
              <a:rPr lang="en-US" b="1" dirty="0" smtClean="0">
                <a:solidFill>
                  <a:srgbClr val="0070C0"/>
                </a:solidFill>
              </a:rPr>
              <a:t>How many Blue dots are in the sample</a:t>
            </a:r>
            <a:r>
              <a:rPr lang="en-US" dirty="0" smtClean="0"/>
              <a:t>?</a:t>
            </a:r>
            <a:endParaRPr lang="en-ZA" dirty="0"/>
          </a:p>
        </p:txBody>
      </p:sp>
    </p:spTree>
    <p:extLst>
      <p:ext uri="{BB962C8B-B14F-4D97-AF65-F5344CB8AC3E}">
        <p14:creationId xmlns:p14="http://schemas.microsoft.com/office/powerpoint/2010/main" val="59792019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1484311" y="885825"/>
            <a:ext cx="6013769" cy="4905375"/>
          </a:xfrm>
        </p:spPr>
        <p:txBody>
          <a:bodyPr anchor="t">
            <a:normAutofit/>
          </a:bodyPr>
          <a:lstStyle/>
          <a:p>
            <a:pPr marL="0" indent="0">
              <a:buNone/>
            </a:pPr>
            <a:r>
              <a:rPr lang="en-US" sz="2000" dirty="0">
                <a:latin typeface="Arial Narrow" panose="020B0606020202030204" pitchFamily="34" charset="0"/>
              </a:rPr>
              <a:t>Categorical data can be either </a:t>
            </a:r>
            <a:r>
              <a:rPr lang="en-US" sz="2000" b="1" dirty="0">
                <a:latin typeface="Arial Narrow" panose="020B0606020202030204" pitchFamily="34" charset="0"/>
              </a:rPr>
              <a:t>ordinal or nominal</a:t>
            </a:r>
            <a:r>
              <a:rPr lang="en-US" sz="2000" dirty="0">
                <a:latin typeface="Arial Narrow" panose="020B0606020202030204" pitchFamily="34" charset="0"/>
              </a:rPr>
              <a:t>. </a:t>
            </a:r>
            <a:endParaRPr lang="en-US" sz="2000" dirty="0" smtClean="0">
              <a:latin typeface="Arial Narrow" panose="020B0606020202030204" pitchFamily="34" charset="0"/>
            </a:endParaRPr>
          </a:p>
          <a:p>
            <a:pPr marL="0" indent="0">
              <a:buNone/>
            </a:pPr>
            <a:r>
              <a:rPr lang="en-US" sz="2000" b="1" dirty="0" smtClean="0">
                <a:latin typeface="Arial Narrow" panose="020B0606020202030204" pitchFamily="34" charset="0"/>
              </a:rPr>
              <a:t>Nominal </a:t>
            </a:r>
            <a:r>
              <a:rPr lang="en-US" sz="2000" dirty="0">
                <a:latin typeface="Arial Narrow" panose="020B0606020202030204" pitchFamily="34" charset="0"/>
              </a:rPr>
              <a:t>data does not have a ranking or natural order. All data are equal but different. For example, data about gender, race and marital status do not have a ranking and one response cannot be better than the other. </a:t>
            </a:r>
            <a:endParaRPr lang="en-US" sz="2000" dirty="0" smtClean="0">
              <a:latin typeface="Arial Narrow" panose="020B0606020202030204" pitchFamily="34" charset="0"/>
            </a:endParaRPr>
          </a:p>
          <a:p>
            <a:pPr marL="0" indent="0">
              <a:buNone/>
            </a:pPr>
            <a:endParaRPr lang="en-US" sz="2000" dirty="0">
              <a:latin typeface="Arial Narrow" panose="020B0606020202030204" pitchFamily="34" charset="0"/>
            </a:endParaRPr>
          </a:p>
          <a:p>
            <a:pPr marL="0" indent="0">
              <a:buNone/>
            </a:pPr>
            <a:r>
              <a:rPr lang="en-US" sz="2000" b="1" dirty="0" smtClean="0">
                <a:latin typeface="Arial Narrow" panose="020B0606020202030204" pitchFamily="34" charset="0"/>
              </a:rPr>
              <a:t>Ordinal </a:t>
            </a:r>
            <a:r>
              <a:rPr lang="en-US" sz="2000" b="1" dirty="0">
                <a:latin typeface="Arial Narrow" panose="020B0606020202030204" pitchFamily="34" charset="0"/>
              </a:rPr>
              <a:t>data </a:t>
            </a:r>
            <a:r>
              <a:rPr lang="en-US" sz="2000" dirty="0">
                <a:latin typeface="Arial Narrow" panose="020B0606020202030204" pitchFamily="34" charset="0"/>
              </a:rPr>
              <a:t>does have a ranking and a difference. For example, level of agreement can be “disagree, neutral or agree”. The data collected for level of agreement is a category but, the difference between the options (disagree, agree and neutral) cannot be numerically measured. They can be ordered and logically ranked. </a:t>
            </a:r>
            <a:endParaRPr lang="en-ZA" sz="2000" dirty="0">
              <a:latin typeface="Arial Narrow" panose="020B0606020202030204" pitchFamily="34" charset="0"/>
            </a:endParaRPr>
          </a:p>
        </p:txBody>
      </p:sp>
      <p:sp>
        <p:nvSpPr>
          <p:cNvPr id="2" name="Footer Placeholder 1"/>
          <p:cNvSpPr>
            <a:spLocks noGrp="1"/>
          </p:cNvSpPr>
          <p:nvPr>
            <p:ph type="ftr" sz="quarter" idx="11"/>
          </p:nvPr>
        </p:nvSpPr>
        <p:spPr/>
        <p:txBody>
          <a:bodyPr/>
          <a:lstStyle/>
          <a:p>
            <a:r>
              <a:rPr lang="en-US" smtClean="0"/>
              <a:t>Dr Alveen Singh - Dept of IT, DUT</a:t>
            </a:r>
            <a:endParaRPr lang="en-ZA"/>
          </a:p>
        </p:txBody>
      </p:sp>
      <p:sp>
        <p:nvSpPr>
          <p:cNvPr id="4" name="Slide Number Placeholder 3"/>
          <p:cNvSpPr>
            <a:spLocks noGrp="1"/>
          </p:cNvSpPr>
          <p:nvPr>
            <p:ph type="sldNum" sz="quarter" idx="12"/>
          </p:nvPr>
        </p:nvSpPr>
        <p:spPr/>
        <p:txBody>
          <a:bodyPr/>
          <a:lstStyle/>
          <a:p>
            <a:fld id="{F9D8934E-928E-4C38-807A-CB32A0A7C43F}" type="slidenum">
              <a:rPr lang="en-ZA" smtClean="0"/>
              <a:t>38</a:t>
            </a:fld>
            <a:endParaRPr lang="en-ZA"/>
          </a:p>
        </p:txBody>
      </p:sp>
      <p:pic>
        <p:nvPicPr>
          <p:cNvPr id="5" name="Picture 4"/>
          <p:cNvPicPr>
            <a:picLocks noChangeAspect="1"/>
          </p:cNvPicPr>
          <p:nvPr/>
        </p:nvPicPr>
        <p:blipFill>
          <a:blip r:embed="rId2"/>
          <a:stretch>
            <a:fillRect/>
          </a:stretch>
        </p:blipFill>
        <p:spPr>
          <a:xfrm>
            <a:off x="7498080" y="601028"/>
            <a:ext cx="4450080" cy="2925928"/>
          </a:xfrm>
          <a:prstGeom prst="rect">
            <a:avLst/>
          </a:prstGeom>
        </p:spPr>
      </p:pic>
      <p:sp>
        <p:nvSpPr>
          <p:cNvPr id="8" name="Rectangle 7"/>
          <p:cNvSpPr/>
          <p:nvPr/>
        </p:nvSpPr>
        <p:spPr>
          <a:xfrm>
            <a:off x="8705886" y="3526956"/>
            <a:ext cx="2034468" cy="369332"/>
          </a:xfrm>
          <a:prstGeom prst="rect">
            <a:avLst/>
          </a:prstGeom>
        </p:spPr>
        <p:txBody>
          <a:bodyPr wrap="none">
            <a:spAutoFit/>
          </a:bodyPr>
          <a:lstStyle/>
          <a:p>
            <a:r>
              <a:rPr lang="en-US" dirty="0" err="1" smtClean="0">
                <a:solidFill>
                  <a:srgbClr val="FF0000"/>
                </a:solidFill>
              </a:rPr>
              <a:t>Careerfoundry.com</a:t>
            </a:r>
            <a:endParaRPr lang="en-ZA" dirty="0">
              <a:solidFill>
                <a:srgbClr val="FF0000"/>
              </a:solidFill>
            </a:endParaRPr>
          </a:p>
        </p:txBody>
      </p:sp>
      <p:pic>
        <p:nvPicPr>
          <p:cNvPr id="15362" name="Picture 2" descr="Ordinal Data: Definition, Analysis and Examples | QuestionPro"/>
          <p:cNvPicPr>
            <a:picLocks noChangeAspect="1" noChangeArrowheads="1"/>
          </p:cNvPicPr>
          <p:nvPr/>
        </p:nvPicPr>
        <p:blipFill rotWithShape="1">
          <a:blip r:embed="rId3">
            <a:extLst>
              <a:ext uri="{28A0092B-C50C-407E-A947-70E740481C1C}">
                <a14:useLocalDpi xmlns:a14="http://schemas.microsoft.com/office/drawing/2010/main" val="0"/>
              </a:ext>
            </a:extLst>
          </a:blip>
          <a:srcRect l="8383" t="14821" r="10481" b="6526"/>
          <a:stretch/>
        </p:blipFill>
        <p:spPr bwMode="auto">
          <a:xfrm>
            <a:off x="7498080" y="4293158"/>
            <a:ext cx="3779520" cy="2159726"/>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5876936" y="5856700"/>
            <a:ext cx="1393330" cy="369332"/>
          </a:xfrm>
          <a:prstGeom prst="rect">
            <a:avLst/>
          </a:prstGeom>
        </p:spPr>
        <p:txBody>
          <a:bodyPr wrap="none">
            <a:spAutoFit/>
          </a:bodyPr>
          <a:lstStyle/>
          <a:p>
            <a:r>
              <a:rPr lang="en-US" dirty="0" err="1" smtClean="0">
                <a:solidFill>
                  <a:srgbClr val="FF0000"/>
                </a:solidFill>
              </a:rPr>
              <a:t>QuestionPro</a:t>
            </a:r>
            <a:endParaRPr lang="en-ZA" dirty="0">
              <a:solidFill>
                <a:srgbClr val="FF0000"/>
              </a:solidFill>
            </a:endParaRPr>
          </a:p>
        </p:txBody>
      </p:sp>
    </p:spTree>
    <p:extLst>
      <p:ext uri="{BB962C8B-B14F-4D97-AF65-F5344CB8AC3E}">
        <p14:creationId xmlns:p14="http://schemas.microsoft.com/office/powerpoint/2010/main" val="184930476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Dr Alveen Singh - Dept of IT, DUT</a:t>
            </a:r>
            <a:endParaRPr lang="en-ZA"/>
          </a:p>
        </p:txBody>
      </p:sp>
      <p:sp>
        <p:nvSpPr>
          <p:cNvPr id="4" name="Slide Number Placeholder 3"/>
          <p:cNvSpPr>
            <a:spLocks noGrp="1"/>
          </p:cNvSpPr>
          <p:nvPr>
            <p:ph type="sldNum" sz="quarter" idx="12"/>
          </p:nvPr>
        </p:nvSpPr>
        <p:spPr/>
        <p:txBody>
          <a:bodyPr/>
          <a:lstStyle/>
          <a:p>
            <a:fld id="{F9D8934E-928E-4C38-807A-CB32A0A7C43F}" type="slidenum">
              <a:rPr lang="en-ZA" smtClean="0"/>
              <a:t>39</a:t>
            </a:fld>
            <a:endParaRPr lang="en-ZA"/>
          </a:p>
        </p:txBody>
      </p:sp>
      <p:pic>
        <p:nvPicPr>
          <p:cNvPr id="14338" name="Picture 2" descr="Nominal, Ordinal, Interval and Ratio Data | Microbe No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4539" y="503872"/>
            <a:ext cx="9939655" cy="521832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8142144" y="6170442"/>
            <a:ext cx="1276311" cy="307777"/>
          </a:xfrm>
          <a:prstGeom prst="rect">
            <a:avLst/>
          </a:prstGeom>
        </p:spPr>
        <p:txBody>
          <a:bodyPr wrap="none">
            <a:spAutoFit/>
          </a:bodyPr>
          <a:lstStyle/>
          <a:p>
            <a:r>
              <a:rPr lang="en-ZA" sz="1400" dirty="0" smtClean="0">
                <a:solidFill>
                  <a:srgbClr val="FF0000"/>
                </a:solidFill>
              </a:rPr>
              <a:t>Microbe Notes</a:t>
            </a:r>
            <a:endParaRPr lang="en-ZA" dirty="0">
              <a:solidFill>
                <a:srgbClr val="FF0000"/>
              </a:solidFill>
            </a:endParaRPr>
          </a:p>
        </p:txBody>
      </p:sp>
    </p:spTree>
    <p:extLst>
      <p:ext uri="{BB962C8B-B14F-4D97-AF65-F5344CB8AC3E}">
        <p14:creationId xmlns:p14="http://schemas.microsoft.com/office/powerpoint/2010/main" val="203425328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1484310" y="885825"/>
            <a:ext cx="10018713" cy="4905375"/>
          </a:xfrm>
        </p:spPr>
        <p:txBody>
          <a:bodyPr anchor="t">
            <a:normAutofit/>
          </a:bodyPr>
          <a:lstStyle/>
          <a:p>
            <a:pPr marL="0" indent="0">
              <a:buNone/>
            </a:pPr>
            <a:r>
              <a:rPr lang="en-US" sz="2000" b="1" dirty="0" smtClean="0">
                <a:latin typeface="Arial Narrow" panose="020B0606020202030204" pitchFamily="34" charset="0"/>
              </a:rPr>
              <a:t>Mixed methods</a:t>
            </a:r>
          </a:p>
          <a:p>
            <a:r>
              <a:rPr lang="en-US" sz="2000" dirty="0" smtClean="0">
                <a:latin typeface="Arial Narrow" panose="020B0606020202030204" pitchFamily="34" charset="0"/>
              </a:rPr>
              <a:t>As the name suggests, a combination of qualitative and quantitative analysis</a:t>
            </a:r>
          </a:p>
          <a:p>
            <a:r>
              <a:rPr lang="en-US" sz="2000" dirty="0">
                <a:latin typeface="Arial Narrow" panose="020B0606020202030204" pitchFamily="34" charset="0"/>
              </a:rPr>
              <a:t>Qualitative data can be sorted and arranged into categories which can then be assigned numerical </a:t>
            </a:r>
            <a:r>
              <a:rPr lang="en-US" sz="2000" dirty="0" smtClean="0">
                <a:latin typeface="Arial Narrow" panose="020B0606020202030204" pitchFamily="34" charset="0"/>
              </a:rPr>
              <a:t>values </a:t>
            </a:r>
          </a:p>
          <a:p>
            <a:r>
              <a:rPr lang="en-US" sz="2000" dirty="0" smtClean="0">
                <a:latin typeface="Arial Narrow" panose="020B0606020202030204" pitchFamily="34" charset="0"/>
              </a:rPr>
              <a:t>Thereafter</a:t>
            </a:r>
            <a:r>
              <a:rPr lang="en-US" sz="2000" dirty="0">
                <a:latin typeface="Arial Narrow" panose="020B0606020202030204" pitchFamily="34" charset="0"/>
              </a:rPr>
              <a:t>, statistical analysis can be performed on the data </a:t>
            </a:r>
          </a:p>
          <a:p>
            <a:pPr marL="0" indent="0">
              <a:buNone/>
            </a:pPr>
            <a:endParaRPr lang="en-ZA" sz="2000" dirty="0">
              <a:latin typeface="Arial Narrow" panose="020B0606020202030204" pitchFamily="34" charset="0"/>
            </a:endParaRPr>
          </a:p>
        </p:txBody>
      </p:sp>
      <p:sp>
        <p:nvSpPr>
          <p:cNvPr id="2" name="Footer Placeholder 1"/>
          <p:cNvSpPr>
            <a:spLocks noGrp="1"/>
          </p:cNvSpPr>
          <p:nvPr>
            <p:ph type="ftr" sz="quarter" idx="11"/>
          </p:nvPr>
        </p:nvSpPr>
        <p:spPr/>
        <p:txBody>
          <a:bodyPr/>
          <a:lstStyle/>
          <a:p>
            <a:r>
              <a:rPr lang="en-US" smtClean="0"/>
              <a:t>Dr Alveen Singh - Dept of IT, DUT</a:t>
            </a:r>
            <a:endParaRPr lang="en-ZA"/>
          </a:p>
        </p:txBody>
      </p:sp>
      <p:sp>
        <p:nvSpPr>
          <p:cNvPr id="4" name="Slide Number Placeholder 3"/>
          <p:cNvSpPr>
            <a:spLocks noGrp="1"/>
          </p:cNvSpPr>
          <p:nvPr>
            <p:ph type="sldNum" sz="quarter" idx="12"/>
          </p:nvPr>
        </p:nvSpPr>
        <p:spPr/>
        <p:txBody>
          <a:bodyPr/>
          <a:lstStyle/>
          <a:p>
            <a:fld id="{F9D8934E-928E-4C38-807A-CB32A0A7C43F}" type="slidenum">
              <a:rPr lang="en-ZA" smtClean="0"/>
              <a:t>40</a:t>
            </a:fld>
            <a:endParaRPr lang="en-ZA"/>
          </a:p>
        </p:txBody>
      </p:sp>
      <p:pic>
        <p:nvPicPr>
          <p:cNvPr id="3" name="Picture 2"/>
          <p:cNvPicPr>
            <a:picLocks noChangeAspect="1"/>
          </p:cNvPicPr>
          <p:nvPr/>
        </p:nvPicPr>
        <p:blipFill>
          <a:blip r:embed="rId2"/>
          <a:stretch>
            <a:fillRect/>
          </a:stretch>
        </p:blipFill>
        <p:spPr>
          <a:xfrm>
            <a:off x="7183090" y="3262043"/>
            <a:ext cx="4184997" cy="2970213"/>
          </a:xfrm>
          <a:prstGeom prst="rect">
            <a:avLst/>
          </a:prstGeom>
        </p:spPr>
      </p:pic>
      <p:sp>
        <p:nvSpPr>
          <p:cNvPr id="7" name="Rectangle 6"/>
          <p:cNvSpPr/>
          <p:nvPr/>
        </p:nvSpPr>
        <p:spPr>
          <a:xfrm>
            <a:off x="8142144" y="6170442"/>
            <a:ext cx="1372492" cy="307777"/>
          </a:xfrm>
          <a:prstGeom prst="rect">
            <a:avLst/>
          </a:prstGeom>
        </p:spPr>
        <p:txBody>
          <a:bodyPr wrap="none">
            <a:spAutoFit/>
          </a:bodyPr>
          <a:lstStyle/>
          <a:p>
            <a:r>
              <a:rPr lang="en-ZA" sz="1400" dirty="0" err="1" smtClean="0">
                <a:solidFill>
                  <a:srgbClr val="FF0000"/>
                </a:solidFill>
              </a:rPr>
              <a:t>Studyaids.co.uk</a:t>
            </a:r>
            <a:endParaRPr lang="en-ZA" dirty="0">
              <a:solidFill>
                <a:srgbClr val="FF0000"/>
              </a:solidFill>
            </a:endParaRPr>
          </a:p>
        </p:txBody>
      </p:sp>
    </p:spTree>
    <p:extLst>
      <p:ext uri="{BB962C8B-B14F-4D97-AF65-F5344CB8AC3E}">
        <p14:creationId xmlns:p14="http://schemas.microsoft.com/office/powerpoint/2010/main" val="38789375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1581151"/>
            <a:ext cx="10018713" cy="4210050"/>
          </a:xfrm>
        </p:spPr>
        <p:txBody>
          <a:bodyPr anchor="t">
            <a:normAutofit/>
          </a:bodyPr>
          <a:lstStyle/>
          <a:p>
            <a:pPr marL="0" indent="0">
              <a:buNone/>
            </a:pPr>
            <a:r>
              <a:rPr lang="en-US" dirty="0" smtClean="0">
                <a:latin typeface="Arial Rounded MT Bold" panose="020F0704030504030204" pitchFamily="34" charset="0"/>
              </a:rPr>
              <a:t>Please read the lecture note for this section.</a:t>
            </a:r>
          </a:p>
          <a:p>
            <a:pPr marL="0" indent="0">
              <a:buNone/>
            </a:pPr>
            <a:r>
              <a:rPr lang="en-US" dirty="0" smtClean="0">
                <a:latin typeface="Arial Rounded MT Bold" panose="020F0704030504030204" pitchFamily="34" charset="0"/>
              </a:rPr>
              <a:t>Available on Moodle.</a:t>
            </a:r>
          </a:p>
          <a:p>
            <a:pPr marL="0" indent="0">
              <a:buNone/>
            </a:pPr>
            <a:r>
              <a:rPr lang="en-US" dirty="0" smtClean="0">
                <a:latin typeface="Arial Rounded MT Bold" panose="020F0704030504030204" pitchFamily="34" charset="0"/>
              </a:rPr>
              <a:t>Questions and comments are welcome: </a:t>
            </a:r>
            <a:r>
              <a:rPr lang="en-US" dirty="0" err="1" smtClean="0">
                <a:latin typeface="Arial Rounded MT Bold" panose="020F0704030504030204" pitchFamily="34" charset="0"/>
                <a:hlinkClick r:id="rId2"/>
              </a:rPr>
              <a:t>alveens@dut.ac.za</a:t>
            </a:r>
            <a:r>
              <a:rPr lang="en-US" dirty="0" smtClean="0">
                <a:latin typeface="Arial Rounded MT Bold" panose="020F0704030504030204" pitchFamily="34" charset="0"/>
              </a:rPr>
              <a:t> </a:t>
            </a:r>
          </a:p>
        </p:txBody>
      </p:sp>
      <p:sp>
        <p:nvSpPr>
          <p:cNvPr id="2" name="Footer Placeholder 1"/>
          <p:cNvSpPr>
            <a:spLocks noGrp="1"/>
          </p:cNvSpPr>
          <p:nvPr>
            <p:ph type="ftr" sz="quarter" idx="11"/>
          </p:nvPr>
        </p:nvSpPr>
        <p:spPr/>
        <p:txBody>
          <a:bodyPr/>
          <a:lstStyle/>
          <a:p>
            <a:r>
              <a:rPr lang="en-US" smtClean="0"/>
              <a:t>Dr Alveen Singh - Dept of IT, DUT</a:t>
            </a:r>
            <a:endParaRPr lang="en-ZA"/>
          </a:p>
        </p:txBody>
      </p:sp>
      <p:sp>
        <p:nvSpPr>
          <p:cNvPr id="4" name="Slide Number Placeholder 3"/>
          <p:cNvSpPr>
            <a:spLocks noGrp="1"/>
          </p:cNvSpPr>
          <p:nvPr>
            <p:ph type="sldNum" sz="quarter" idx="12"/>
          </p:nvPr>
        </p:nvSpPr>
        <p:spPr/>
        <p:txBody>
          <a:bodyPr/>
          <a:lstStyle/>
          <a:p>
            <a:fld id="{F9D8934E-928E-4C38-807A-CB32A0A7C43F}" type="slidenum">
              <a:rPr lang="en-ZA" smtClean="0"/>
              <a:t>41</a:t>
            </a:fld>
            <a:endParaRPr lang="en-ZA"/>
          </a:p>
        </p:txBody>
      </p:sp>
    </p:spTree>
    <p:extLst>
      <p:ext uri="{BB962C8B-B14F-4D97-AF65-F5344CB8AC3E}">
        <p14:creationId xmlns:p14="http://schemas.microsoft.com/office/powerpoint/2010/main" val="28947129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Parallax</Template>
  <TotalTime>1928</TotalTime>
  <Words>2364</Words>
  <Application>Microsoft Office PowerPoint</Application>
  <PresentationFormat>Widescreen</PresentationFormat>
  <Paragraphs>336</Paragraphs>
  <Slides>41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Arial</vt:lpstr>
      <vt:lpstr>Arial Black</vt:lpstr>
      <vt:lpstr>Arial Narrow</vt:lpstr>
      <vt:lpstr>Arial Rounded MT Bold</vt:lpstr>
      <vt:lpstr>Corbel</vt:lpstr>
      <vt:lpstr>Gill Sans MT</vt:lpstr>
      <vt:lpstr>Times New Roman</vt:lpstr>
      <vt:lpstr>Parallax</vt:lpstr>
      <vt:lpstr>Data analysis</vt:lpstr>
      <vt:lpstr>Introduction</vt:lpstr>
      <vt:lpstr>PowerPoint Presentation</vt:lpstr>
      <vt:lpstr>PowerPoint Presentation</vt:lpstr>
      <vt:lpstr>Structured and unstructured data</vt:lpstr>
      <vt:lpstr>PowerPoint Presentation</vt:lpstr>
      <vt:lpstr>2. Analysing qualitative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Analysing quantitative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Alveen Singh</dc:creator>
  <cp:lastModifiedBy>Alveen Singh</cp:lastModifiedBy>
  <cp:revision>41</cp:revision>
  <dcterms:created xsi:type="dcterms:W3CDTF">2021-03-04T08:54:00Z</dcterms:created>
  <dcterms:modified xsi:type="dcterms:W3CDTF">2022-05-03T08:55:59Z</dcterms:modified>
</cp:coreProperties>
</file>