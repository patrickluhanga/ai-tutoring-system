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89" r:id="rId8"/>
    <p:sldId id="290" r:id="rId9"/>
    <p:sldId id="275" r:id="rId10"/>
    <p:sldId id="291" r:id="rId11"/>
    <p:sldId id="276" r:id="rId12"/>
    <p:sldId id="277" r:id="rId13"/>
    <p:sldId id="292" r:id="rId14"/>
    <p:sldId id="293" r:id="rId15"/>
    <p:sldId id="278" r:id="rId16"/>
    <p:sldId id="279" r:id="rId17"/>
    <p:sldId id="280" r:id="rId18"/>
    <p:sldId id="262" r:id="rId19"/>
    <p:sldId id="281" r:id="rId20"/>
    <p:sldId id="263" r:id="rId21"/>
    <p:sldId id="264" r:id="rId22"/>
    <p:sldId id="265" r:id="rId23"/>
    <p:sldId id="266" r:id="rId24"/>
    <p:sldId id="267" r:id="rId25"/>
    <p:sldId id="268" r:id="rId26"/>
    <p:sldId id="282" r:id="rId27"/>
    <p:sldId id="283" r:id="rId28"/>
    <p:sldId id="284" r:id="rId29"/>
    <p:sldId id="285" r:id="rId30"/>
    <p:sldId id="286" r:id="rId31"/>
    <p:sldId id="287" r:id="rId32"/>
    <p:sldId id="269" r:id="rId33"/>
    <p:sldId id="294" r:id="rId34"/>
    <p:sldId id="288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veen Singh" userId="6daf11db-8a8e-4669-8f9d-4d2596173bbf" providerId="ADAL" clId="{97BA4A0E-4D91-4359-96BE-991BE2B74EA0}"/>
    <pc:docChg chg="undo custSel addSld modSld">
      <pc:chgData name="Alveen Singh" userId="6daf11db-8a8e-4669-8f9d-4d2596173bbf" providerId="ADAL" clId="{97BA4A0E-4D91-4359-96BE-991BE2B74EA0}" dt="2023-03-06T13:04:29.833" v="176" actId="20577"/>
      <pc:docMkLst>
        <pc:docMk/>
      </pc:docMkLst>
      <pc:sldChg chg="modSp">
        <pc:chgData name="Alveen Singh" userId="6daf11db-8a8e-4669-8f9d-4d2596173bbf" providerId="ADAL" clId="{97BA4A0E-4D91-4359-96BE-991BE2B74EA0}" dt="2023-03-01T10:37:43.407" v="19" actId="20577"/>
        <pc:sldMkLst>
          <pc:docMk/>
          <pc:sldMk cId="2334617872" sldId="256"/>
        </pc:sldMkLst>
        <pc:spChg chg="mod">
          <ac:chgData name="Alveen Singh" userId="6daf11db-8a8e-4669-8f9d-4d2596173bbf" providerId="ADAL" clId="{97BA4A0E-4D91-4359-96BE-991BE2B74EA0}" dt="2023-03-01T10:37:43.407" v="19" actId="20577"/>
          <ac:spMkLst>
            <pc:docMk/>
            <pc:sldMk cId="2334617872" sldId="256"/>
            <ac:spMk id="3" creationId="{00000000-0000-0000-0000-000000000000}"/>
          </ac:spMkLst>
        </pc:spChg>
      </pc:sldChg>
      <pc:sldChg chg="modSp">
        <pc:chgData name="Alveen Singh" userId="6daf11db-8a8e-4669-8f9d-4d2596173bbf" providerId="ADAL" clId="{97BA4A0E-4D91-4359-96BE-991BE2B74EA0}" dt="2023-03-06T12:54:13.234" v="73" actId="20577"/>
        <pc:sldMkLst>
          <pc:docMk/>
          <pc:sldMk cId="2064738201" sldId="268"/>
        </pc:sldMkLst>
        <pc:spChg chg="mod">
          <ac:chgData name="Alveen Singh" userId="6daf11db-8a8e-4669-8f9d-4d2596173bbf" providerId="ADAL" clId="{97BA4A0E-4D91-4359-96BE-991BE2B74EA0}" dt="2023-03-06T12:54:13.234" v="73" actId="20577"/>
          <ac:spMkLst>
            <pc:docMk/>
            <pc:sldMk cId="2064738201" sldId="268"/>
            <ac:spMk id="3" creationId="{00000000-0000-0000-0000-000000000000}"/>
          </ac:spMkLst>
        </pc:spChg>
      </pc:sldChg>
      <pc:sldChg chg="modSp">
        <pc:chgData name="Alveen Singh" userId="6daf11db-8a8e-4669-8f9d-4d2596173bbf" providerId="ADAL" clId="{97BA4A0E-4D91-4359-96BE-991BE2B74EA0}" dt="2023-03-06T13:04:29.833" v="176" actId="20577"/>
        <pc:sldMkLst>
          <pc:docMk/>
          <pc:sldMk cId="1239808725" sldId="275"/>
        </pc:sldMkLst>
        <pc:spChg chg="mod">
          <ac:chgData name="Alveen Singh" userId="6daf11db-8a8e-4669-8f9d-4d2596173bbf" providerId="ADAL" clId="{97BA4A0E-4D91-4359-96BE-991BE2B74EA0}" dt="2023-03-06T13:04:29.833" v="176" actId="20577"/>
          <ac:spMkLst>
            <pc:docMk/>
            <pc:sldMk cId="1239808725" sldId="275"/>
            <ac:spMk id="3" creationId="{00000000-0000-0000-0000-000000000000}"/>
          </ac:spMkLst>
        </pc:spChg>
      </pc:sldChg>
      <pc:sldChg chg="modSp">
        <pc:chgData name="Alveen Singh" userId="6daf11db-8a8e-4669-8f9d-4d2596173bbf" providerId="ADAL" clId="{97BA4A0E-4D91-4359-96BE-991BE2B74EA0}" dt="2023-03-06T12:30:14.587" v="20" actId="207"/>
        <pc:sldMkLst>
          <pc:docMk/>
          <pc:sldMk cId="2259974128" sldId="276"/>
        </pc:sldMkLst>
        <pc:spChg chg="mod">
          <ac:chgData name="Alveen Singh" userId="6daf11db-8a8e-4669-8f9d-4d2596173bbf" providerId="ADAL" clId="{97BA4A0E-4D91-4359-96BE-991BE2B74EA0}" dt="2023-03-06T12:30:14.587" v="20" actId="207"/>
          <ac:spMkLst>
            <pc:docMk/>
            <pc:sldMk cId="2259974128" sldId="276"/>
            <ac:spMk id="3" creationId="{00000000-0000-0000-0000-000000000000}"/>
          </ac:spMkLst>
        </pc:spChg>
      </pc:sldChg>
      <pc:sldChg chg="modSp">
        <pc:chgData name="Alveen Singh" userId="6daf11db-8a8e-4669-8f9d-4d2596173bbf" providerId="ADAL" clId="{97BA4A0E-4D91-4359-96BE-991BE2B74EA0}" dt="2023-03-06T12:51:09.216" v="65" actId="20577"/>
        <pc:sldMkLst>
          <pc:docMk/>
          <pc:sldMk cId="1737330957" sldId="278"/>
        </pc:sldMkLst>
        <pc:spChg chg="mod">
          <ac:chgData name="Alveen Singh" userId="6daf11db-8a8e-4669-8f9d-4d2596173bbf" providerId="ADAL" clId="{97BA4A0E-4D91-4359-96BE-991BE2B74EA0}" dt="2023-03-06T12:51:09.216" v="65" actId="20577"/>
          <ac:spMkLst>
            <pc:docMk/>
            <pc:sldMk cId="1737330957" sldId="278"/>
            <ac:spMk id="3" creationId="{00000000-0000-0000-0000-000000000000}"/>
          </ac:spMkLst>
        </pc:spChg>
      </pc:sldChg>
      <pc:sldChg chg="modSp add">
        <pc:chgData name="Alveen Singh" userId="6daf11db-8a8e-4669-8f9d-4d2596173bbf" providerId="ADAL" clId="{97BA4A0E-4D91-4359-96BE-991BE2B74EA0}" dt="2023-03-06T12:48:16.924" v="38"/>
        <pc:sldMkLst>
          <pc:docMk/>
          <pc:sldMk cId="94586945" sldId="292"/>
        </pc:sldMkLst>
        <pc:spChg chg="mod">
          <ac:chgData name="Alveen Singh" userId="6daf11db-8a8e-4669-8f9d-4d2596173bbf" providerId="ADAL" clId="{97BA4A0E-4D91-4359-96BE-991BE2B74EA0}" dt="2023-03-06T12:46:03.600" v="33" actId="20577"/>
          <ac:spMkLst>
            <pc:docMk/>
            <pc:sldMk cId="94586945" sldId="292"/>
            <ac:spMk id="2" creationId="{F03F1C4D-7E13-4C7E-85AA-72672B3ACC25}"/>
          </ac:spMkLst>
        </pc:spChg>
        <pc:spChg chg="mod">
          <ac:chgData name="Alveen Singh" userId="6daf11db-8a8e-4669-8f9d-4d2596173bbf" providerId="ADAL" clId="{97BA4A0E-4D91-4359-96BE-991BE2B74EA0}" dt="2023-03-06T12:48:16.924" v="38"/>
          <ac:spMkLst>
            <pc:docMk/>
            <pc:sldMk cId="94586945" sldId="292"/>
            <ac:spMk id="3" creationId="{3E2FD406-B307-4A8D-AD72-AD19021417F0}"/>
          </ac:spMkLst>
        </pc:spChg>
      </pc:sldChg>
      <pc:sldChg chg="modSp add">
        <pc:chgData name="Alveen Singh" userId="6daf11db-8a8e-4669-8f9d-4d2596173bbf" providerId="ADAL" clId="{97BA4A0E-4D91-4359-96BE-991BE2B74EA0}" dt="2023-03-06T12:51:02.062" v="60" actId="5793"/>
        <pc:sldMkLst>
          <pc:docMk/>
          <pc:sldMk cId="2139022131" sldId="293"/>
        </pc:sldMkLst>
        <pc:spChg chg="mod">
          <ac:chgData name="Alveen Singh" userId="6daf11db-8a8e-4669-8f9d-4d2596173bbf" providerId="ADAL" clId="{97BA4A0E-4D91-4359-96BE-991BE2B74EA0}" dt="2023-03-06T12:50:54.238" v="57" actId="20577"/>
          <ac:spMkLst>
            <pc:docMk/>
            <pc:sldMk cId="2139022131" sldId="293"/>
            <ac:spMk id="2" creationId="{23A2664F-6C43-4BBC-8CEE-FC7897FD3AC9}"/>
          </ac:spMkLst>
        </pc:spChg>
        <pc:spChg chg="mod">
          <ac:chgData name="Alveen Singh" userId="6daf11db-8a8e-4669-8f9d-4d2596173bbf" providerId="ADAL" clId="{97BA4A0E-4D91-4359-96BE-991BE2B74EA0}" dt="2023-03-06T12:51:02.062" v="60" actId="5793"/>
          <ac:spMkLst>
            <pc:docMk/>
            <pc:sldMk cId="2139022131" sldId="293"/>
            <ac:spMk id="3" creationId="{DB750095-9404-4FCB-9573-5034D6C50637}"/>
          </ac:spMkLst>
        </pc:spChg>
      </pc:sldChg>
      <pc:sldChg chg="delSp modSp add">
        <pc:chgData name="Alveen Singh" userId="6daf11db-8a8e-4669-8f9d-4d2596173bbf" providerId="ADAL" clId="{97BA4A0E-4D91-4359-96BE-991BE2B74EA0}" dt="2023-03-06T13:01:37.907" v="132" actId="404"/>
        <pc:sldMkLst>
          <pc:docMk/>
          <pc:sldMk cId="3568236868" sldId="294"/>
        </pc:sldMkLst>
        <pc:spChg chg="del">
          <ac:chgData name="Alveen Singh" userId="6daf11db-8a8e-4669-8f9d-4d2596173bbf" providerId="ADAL" clId="{97BA4A0E-4D91-4359-96BE-991BE2B74EA0}" dt="2023-03-06T12:58:22.519" v="77" actId="478"/>
          <ac:spMkLst>
            <pc:docMk/>
            <pc:sldMk cId="3568236868" sldId="294"/>
            <ac:spMk id="2" creationId="{B157048D-A9FC-4676-A0F1-0D02E333438E}"/>
          </ac:spMkLst>
        </pc:spChg>
        <pc:spChg chg="mod">
          <ac:chgData name="Alveen Singh" userId="6daf11db-8a8e-4669-8f9d-4d2596173bbf" providerId="ADAL" clId="{97BA4A0E-4D91-4359-96BE-991BE2B74EA0}" dt="2023-03-06T13:01:37.907" v="132" actId="404"/>
          <ac:spMkLst>
            <pc:docMk/>
            <pc:sldMk cId="3568236868" sldId="294"/>
            <ac:spMk id="3" creationId="{107A6E50-06E9-4545-971A-004AB80196F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164251-8FEE-4B90-8137-D6B1E96F0AA3}" type="datetimeFigureOut">
              <a:rPr lang="en-ZA" smtClean="0"/>
              <a:t>2025/02/27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C4A124-C4BD-4E16-B7A7-16D3E30FC8B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46611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00338-1A38-4812-BFB1-99B7A4A19086}" type="datetime1">
              <a:rPr lang="en-ZA" smtClean="0"/>
              <a:t>2025/02/27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08662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6427E-C3CD-4C8D-BF36-D7E5F881E7A5}" type="datetime1">
              <a:rPr lang="en-ZA" smtClean="0"/>
              <a:t>2025/02/27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93141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D7C46-40F8-489A-909F-C7DD043D2AC1}" type="datetime1">
              <a:rPr lang="en-ZA" smtClean="0"/>
              <a:t>2025/02/27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36335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345B-C6E6-4DD6-B813-CC2FD0CA062D}" type="datetime1">
              <a:rPr lang="en-ZA" smtClean="0"/>
              <a:t>2025/02/27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68141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95A5-8B77-422E-ABE4-C547F648D087}" type="datetime1">
              <a:rPr lang="en-ZA" smtClean="0"/>
              <a:t>2025/02/27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57242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ABD80-3B19-44DD-B5D7-417A41EFD7DC}" type="datetime1">
              <a:rPr lang="en-ZA" smtClean="0"/>
              <a:t>2025/02/27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97860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0CC5B-A575-4BEF-A136-46DC05C22E86}" type="datetime1">
              <a:rPr lang="en-ZA" smtClean="0"/>
              <a:t>2025/02/27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99011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E1B4-4672-41EC-BB4E-1021AE30C4BB}" type="datetime1">
              <a:rPr lang="en-ZA" smtClean="0"/>
              <a:t>2025/02/27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00748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4CED8-6417-43AB-A001-2D4A451F2E78}" type="datetime1">
              <a:rPr lang="en-ZA" smtClean="0"/>
              <a:t>2025/02/27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26297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D3B1A-CA86-40A1-92AF-ED7FD8D4AD96}" type="datetime1">
              <a:rPr lang="en-ZA" smtClean="0"/>
              <a:t>2025/02/27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80369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14E1-220D-4E0C-A8CD-85323A869C42}" type="datetime1">
              <a:rPr lang="en-ZA" smtClean="0"/>
              <a:t>2025/02/27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823515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4A97A-4A30-4B4F-B34F-F8D8688DD73B}" type="datetime1">
              <a:rPr lang="en-ZA" smtClean="0"/>
              <a:t>2025/02/27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130209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187B6-40A8-495F-9631-186E4762D8C6}" type="datetime1">
              <a:rPr lang="en-ZA" smtClean="0"/>
              <a:t>2025/02/27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327880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741A3-C307-482F-A3D1-3A5CBA48A0F7}" type="datetime1">
              <a:rPr lang="en-ZA" smtClean="0"/>
              <a:t>2025/02/27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572516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DC4E7-D4D9-40F7-A973-10E9E2A965DD}" type="datetime1">
              <a:rPr lang="en-ZA" smtClean="0"/>
              <a:t>2025/02/27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567558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08338-0B11-4CD2-AEFF-BE2632649C0F}" type="datetime1">
              <a:rPr lang="en-ZA" smtClean="0"/>
              <a:t>2025/02/27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468372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96C80-E40A-4EF2-B6D7-492802A34FD3}" type="datetime1">
              <a:rPr lang="en-ZA" smtClean="0"/>
              <a:t>2025/02/27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75476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3594253-58CD-4841-8B58-80ACAC926865}" type="datetime1">
              <a:rPr lang="en-ZA" smtClean="0"/>
              <a:t>2025/02/27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92619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mailto:alveens@dut.ac.z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Stages for research</a:t>
            </a:r>
            <a:endParaRPr lang="en-Z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39202" y="4314825"/>
            <a:ext cx="6987645" cy="182245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Dr</a:t>
            </a:r>
            <a:r>
              <a:rPr lang="en-US" b="1" dirty="0">
                <a:solidFill>
                  <a:srgbClr val="0070C0"/>
                </a:solidFill>
              </a:rPr>
              <a:t> Alveen Singh</a:t>
            </a:r>
          </a:p>
          <a:p>
            <a:r>
              <a:rPr lang="en-US" b="1" dirty="0">
                <a:solidFill>
                  <a:srgbClr val="0070C0"/>
                </a:solidFill>
              </a:rPr>
              <a:t>Department of Information Technology</a:t>
            </a:r>
          </a:p>
          <a:p>
            <a:r>
              <a:rPr lang="en-US" b="1" dirty="0">
                <a:solidFill>
                  <a:srgbClr val="0070C0"/>
                </a:solidFill>
              </a:rPr>
              <a:t>Research skills/Project 3A</a:t>
            </a:r>
          </a:p>
          <a:p>
            <a:r>
              <a:rPr lang="en-US" b="1" dirty="0">
                <a:solidFill>
                  <a:srgbClr val="0070C0"/>
                </a:solidFill>
              </a:rPr>
              <a:t>Advanced Diploma in ICT/B. ICT</a:t>
            </a:r>
          </a:p>
          <a:p>
            <a:r>
              <a:rPr lang="en-US" b="1" dirty="0">
                <a:solidFill>
                  <a:srgbClr val="0070C0"/>
                </a:solidFill>
              </a:rPr>
              <a:t>Semester 1 2023</a:t>
            </a:r>
            <a:endParaRPr lang="en-ZA" b="1" dirty="0">
              <a:solidFill>
                <a:srgbClr val="0070C0"/>
              </a:solidFill>
            </a:endParaRPr>
          </a:p>
        </p:txBody>
      </p:sp>
      <p:pic>
        <p:nvPicPr>
          <p:cNvPr id="5" name="Picture 4" descr="A close up of a sign&#10;&#10;Description automatically generated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450" y="318611"/>
            <a:ext cx="4503829" cy="1405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617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Content</a:t>
            </a:r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457200" lvl="0" indent="-457200">
              <a:buFont typeface="+mj-lt"/>
              <a:buAutoNum type="arabicPeriod"/>
            </a:pPr>
            <a:r>
              <a:rPr lang="en-GB" b="1" dirty="0">
                <a:latin typeface="Arial Rounded MT Bold" panose="020F0704030504030204" pitchFamily="34" charset="0"/>
              </a:rPr>
              <a:t>The research process</a:t>
            </a:r>
            <a:endParaRPr lang="en-ZA" dirty="0">
              <a:latin typeface="Arial Rounded MT Bold" panose="020F0704030504030204" pitchFamily="34" charset="0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GB" b="1" dirty="0">
                <a:latin typeface="Arial Rounded MT Bold" panose="020F0704030504030204" pitchFamily="34" charset="0"/>
              </a:rPr>
              <a:t>Components of a research proposal</a:t>
            </a:r>
            <a:endParaRPr lang="en-ZA" dirty="0">
              <a:latin typeface="Arial Rounded MT Bold" panose="020F0704030504030204" pitchFamily="34" charset="0"/>
            </a:endParaRPr>
          </a:p>
          <a:p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07982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1. The research Process</a:t>
            </a:r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2362201"/>
            <a:ext cx="10018713" cy="3429000"/>
          </a:xfrm>
        </p:spPr>
        <p:txBody>
          <a:bodyPr anchor="t">
            <a:normAutofit fontScale="92500" lnSpcReduction="10000"/>
          </a:bodyPr>
          <a:lstStyle/>
          <a:p>
            <a:pPr algn="just"/>
            <a:r>
              <a:rPr lang="en-ZA" dirty="0">
                <a:latin typeface="Arial Rounded MT Bold" panose="020F0704030504030204" pitchFamily="34" charset="0"/>
              </a:rPr>
              <a:t>The basic steps that must followed</a:t>
            </a:r>
          </a:p>
          <a:p>
            <a:pPr marL="0" indent="0" algn="just">
              <a:buNone/>
            </a:pPr>
            <a:endParaRPr lang="en-ZA" dirty="0">
              <a:latin typeface="Arial Rounded MT Bold" panose="020F0704030504030204" pitchFamily="34" charset="0"/>
            </a:endParaRPr>
          </a:p>
          <a:p>
            <a:pPr algn="just"/>
            <a:r>
              <a:rPr lang="en-ZA" dirty="0">
                <a:latin typeface="Arial Rounded MT Bold" panose="020F0704030504030204" pitchFamily="34" charset="0"/>
              </a:rPr>
              <a:t>The steps are generic and essential stages, undertaken in a systemic manner</a:t>
            </a:r>
          </a:p>
          <a:p>
            <a:pPr marL="0" indent="0" algn="just">
              <a:buNone/>
            </a:pPr>
            <a:endParaRPr lang="en-ZA" dirty="0">
              <a:latin typeface="Arial Rounded MT Bold" panose="020F0704030504030204" pitchFamily="34" charset="0"/>
            </a:endParaRPr>
          </a:p>
          <a:p>
            <a:pPr algn="just"/>
            <a:r>
              <a:rPr lang="en-ZA" dirty="0">
                <a:latin typeface="Arial Rounded MT Bold" panose="020F0704030504030204" pitchFamily="34" charset="0"/>
              </a:rPr>
              <a:t>A sound research process ensures </a:t>
            </a:r>
          </a:p>
          <a:p>
            <a:pPr marL="0" indent="0" algn="just">
              <a:buNone/>
            </a:pPr>
            <a:r>
              <a:rPr lang="en-ZA" dirty="0">
                <a:solidFill>
                  <a:schemeClr val="accent6">
                    <a:lumMod val="75000"/>
                  </a:schemeClr>
                </a:solidFill>
                <a:latin typeface="Arial Rounded MT Bold" panose="020F0704030504030204" pitchFamily="34" charset="0"/>
              </a:rPr>
              <a:t>high quality </a:t>
            </a:r>
            <a:r>
              <a:rPr lang="en-ZA" dirty="0">
                <a:latin typeface="Arial Rounded MT Bold" panose="020F0704030504030204" pitchFamily="34" charset="0"/>
              </a:rPr>
              <a:t>and </a:t>
            </a:r>
            <a:r>
              <a:rPr lang="en-ZA" dirty="0">
                <a:solidFill>
                  <a:srgbClr val="00B050"/>
                </a:solidFill>
                <a:latin typeface="Arial Rounded MT Bold" panose="020F0704030504030204" pitchFamily="34" charset="0"/>
              </a:rPr>
              <a:t>plausible research</a:t>
            </a:r>
            <a:r>
              <a:rPr lang="en-ZA" dirty="0">
                <a:latin typeface="Arial Rounded MT Bold" panose="020F0704030504030204" pitchFamily="34" charset="0"/>
              </a:rPr>
              <a:t> </a:t>
            </a:r>
          </a:p>
          <a:p>
            <a:pPr marL="0" indent="0" algn="just">
              <a:buNone/>
            </a:pPr>
            <a:r>
              <a:rPr lang="en-ZA" dirty="0">
                <a:latin typeface="Arial Rounded MT Bold" panose="020F0704030504030204" pitchFamily="34" charset="0"/>
              </a:rPr>
              <a:t>as well as </a:t>
            </a:r>
            <a:r>
              <a:rPr lang="en-ZA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scientific rigour</a:t>
            </a:r>
            <a:r>
              <a:rPr lang="en-ZA" dirty="0">
                <a:latin typeface="Arial Rounded MT Bold" panose="020F0704030504030204" pitchFamily="34" charset="0"/>
              </a:rPr>
              <a:t>.</a:t>
            </a:r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3</a:t>
            </a:fld>
            <a:endParaRPr lang="en-ZA"/>
          </a:p>
        </p:txBody>
      </p:sp>
      <p:pic>
        <p:nvPicPr>
          <p:cNvPr id="1026" name="Picture 2" descr="Reconciling Scientific Rigour with the Service Imperative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3" t="16038" r="14284" b="15439"/>
          <a:stretch/>
        </p:blipFill>
        <p:spPr bwMode="auto">
          <a:xfrm>
            <a:off x="9749526" y="383177"/>
            <a:ext cx="1902543" cy="1349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0003330" y="1772862"/>
            <a:ext cx="13949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Lilford</a:t>
            </a: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2015</a:t>
            </a:r>
            <a:endParaRPr lang="en-ZA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8" name="Picture 4" descr="Rigorous Science: a How-To Guide | mBi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1685" y="3818932"/>
            <a:ext cx="2712471" cy="2619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7172434" y="6420397"/>
            <a:ext cx="35509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American society of microbiology</a:t>
            </a:r>
            <a:endParaRPr lang="en-ZA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343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085849"/>
            <a:ext cx="10018713" cy="4705351"/>
          </a:xfrm>
        </p:spPr>
        <p:txBody>
          <a:bodyPr anchor="t"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  <a:latin typeface="Arial Rounded MT Bold" panose="020F0704030504030204" pitchFamily="34" charset="0"/>
              </a:rPr>
              <a:t>Basic steps of the research process</a:t>
            </a:r>
            <a:r>
              <a:rPr lang="en-US" dirty="0">
                <a:latin typeface="Arial Rounded MT Bold" panose="020F0704030504030204" pitchFamily="34" charset="0"/>
              </a:rPr>
              <a:t>	</a:t>
            </a:r>
          </a:p>
          <a:p>
            <a:pPr marL="0" indent="0">
              <a:buNone/>
            </a:pPr>
            <a:endParaRPr lang="en-US" dirty="0">
              <a:latin typeface="Arial Rounded MT Bold" panose="020F0704030504030204" pitchFamily="34" charset="0"/>
            </a:endParaRPr>
          </a:p>
          <a:p>
            <a:r>
              <a:rPr lang="en-US" dirty="0">
                <a:latin typeface="Arial Rounded MT Bold" panose="020F0704030504030204" pitchFamily="34" charset="0"/>
              </a:rPr>
              <a:t>Identifying the problem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Review relevant literature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Draft research questions, objectives, and hypotheses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Determine the research strategy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Data collection and sampling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Data analysis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Writing up findings</a:t>
            </a:r>
          </a:p>
          <a:p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5" name="Oval Callout 4"/>
          <p:cNvSpPr/>
          <p:nvPr/>
        </p:nvSpPr>
        <p:spPr>
          <a:xfrm>
            <a:off x="9852399" y="2314520"/>
            <a:ext cx="2198914" cy="1306286"/>
          </a:xfrm>
          <a:prstGeom prst="wedgeEllipse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hermeneutic circle</a:t>
            </a:r>
            <a:endParaRPr lang="en-ZA" b="1" dirty="0">
              <a:solidFill>
                <a:srgbClr val="C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4</a:t>
            </a:fld>
            <a:endParaRPr lang="en-ZA"/>
          </a:p>
        </p:txBody>
      </p:sp>
      <p:pic>
        <p:nvPicPr>
          <p:cNvPr id="2052" name="Picture 4" descr="Hermeneutics for Designers | UX Boot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3985" y="3863066"/>
            <a:ext cx="3793454" cy="2634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7235790" y="6049693"/>
            <a:ext cx="14824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Timmer</a:t>
            </a: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2021</a:t>
            </a:r>
            <a:endParaRPr lang="en-ZA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1366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VU-Multa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0865" y="548594"/>
            <a:ext cx="6620463" cy="5392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402804" y="5998028"/>
            <a:ext cx="2242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</a:rPr>
              <a:t>Vumultun.com</a:t>
            </a:r>
            <a:r>
              <a:rPr lang="en-US" b="1" dirty="0">
                <a:solidFill>
                  <a:srgbClr val="C00000"/>
                </a:solidFill>
              </a:rPr>
              <a:t>, 2020</a:t>
            </a:r>
            <a:endParaRPr lang="en-ZA" b="1" dirty="0">
              <a:solidFill>
                <a:srgbClr val="C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3344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598715"/>
            <a:ext cx="10018713" cy="519248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1. Identify the problem</a:t>
            </a:r>
          </a:p>
          <a:p>
            <a:r>
              <a:rPr lang="en-US" sz="1900" dirty="0">
                <a:latin typeface="Arial Rounded MT Bold" panose="020F0704030504030204" pitchFamily="34" charset="0"/>
              </a:rPr>
              <a:t>A research problem is complicated and impacts on a </a:t>
            </a:r>
          </a:p>
          <a:p>
            <a:pPr marL="0" indent="0">
              <a:buNone/>
            </a:pPr>
            <a:r>
              <a:rPr lang="en-US" sz="1900" i="1" dirty="0">
                <a:solidFill>
                  <a:srgbClr val="7030A0"/>
                </a:solidFill>
                <a:latin typeface="Arial Rounded MT Bold" panose="020F0704030504030204" pitchFamily="34" charset="0"/>
              </a:rPr>
              <a:t>	group</a:t>
            </a:r>
          </a:p>
          <a:p>
            <a:r>
              <a:rPr lang="en-US" sz="1900" dirty="0">
                <a:latin typeface="Arial Rounded MT Bold" panose="020F0704030504030204" pitchFamily="34" charset="0"/>
              </a:rPr>
              <a:t>It is not a straightforward problem and the solution is not straightforward</a:t>
            </a:r>
          </a:p>
          <a:p>
            <a:r>
              <a:rPr lang="en-US" sz="1900" dirty="0">
                <a:latin typeface="Arial Rounded MT Bold" panose="020F0704030504030204" pitchFamily="34" charset="0"/>
              </a:rPr>
              <a:t>There are </a:t>
            </a:r>
            <a:r>
              <a:rPr lang="en-US" sz="1900" dirty="0">
                <a:solidFill>
                  <a:srgbClr val="7030A0"/>
                </a:solidFill>
                <a:latin typeface="Arial Rounded MT Bold" panose="020F0704030504030204" pitchFamily="34" charset="0"/>
              </a:rPr>
              <a:t>multiple solutions </a:t>
            </a:r>
            <a:r>
              <a:rPr lang="en-US" sz="1900" dirty="0">
                <a:latin typeface="Arial Rounded MT Bold" panose="020F0704030504030204" pitchFamily="34" charset="0"/>
              </a:rPr>
              <a:t>to a research problem</a:t>
            </a:r>
          </a:p>
          <a:p>
            <a:r>
              <a:rPr lang="en-US" sz="1900" dirty="0">
                <a:latin typeface="Arial Rounded MT Bold" panose="020F0704030504030204" pitchFamily="34" charset="0"/>
              </a:rPr>
              <a:t>For a research problem, there is a difference between the current situation and the ideal situation. </a:t>
            </a:r>
          </a:p>
          <a:p>
            <a:pPr lvl="1"/>
            <a:r>
              <a:rPr lang="en-US" sz="1700" dirty="0">
                <a:latin typeface="Arial Rounded MT Bold" panose="020F0704030504030204" pitchFamily="34" charset="0"/>
              </a:rPr>
              <a:t>The reasons for this difference are either unknown or not well understood. </a:t>
            </a:r>
          </a:p>
          <a:p>
            <a:r>
              <a:rPr lang="en-US" sz="1900" dirty="0">
                <a:latin typeface="Arial Rounded MT Bold" panose="020F0704030504030204" pitchFamily="34" charset="0"/>
              </a:rPr>
              <a:t>Once the problem is understood, a clear </a:t>
            </a:r>
            <a:r>
              <a:rPr lang="en-US" sz="1900" dirty="0">
                <a:solidFill>
                  <a:schemeClr val="accent4">
                    <a:lumMod val="50000"/>
                  </a:schemeClr>
                </a:solidFill>
                <a:latin typeface="Arial Rounded MT Bold" panose="020F0704030504030204" pitchFamily="34" charset="0"/>
              </a:rPr>
              <a:t>statement of the problem </a:t>
            </a:r>
            <a:r>
              <a:rPr lang="en-US" sz="1900" dirty="0">
                <a:latin typeface="Arial Rounded MT Bold" panose="020F0704030504030204" pitchFamily="34" charset="0"/>
              </a:rPr>
              <a:t>should be formulated. </a:t>
            </a:r>
            <a:endParaRPr lang="en-US" sz="19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  <a:p>
            <a:r>
              <a:rPr lang="en-US" sz="1900" dirty="0">
                <a:latin typeface="Arial Rounded MT Bold" panose="020F0704030504030204" pitchFamily="34" charset="0"/>
              </a:rPr>
              <a:t>Thereafter, the </a:t>
            </a:r>
            <a:r>
              <a:rPr lang="en-US" sz="19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research question</a:t>
            </a:r>
            <a:r>
              <a:rPr lang="en-US" sz="1900" dirty="0">
                <a:latin typeface="Arial Rounded MT Bold" panose="020F0704030504030204" pitchFamily="34" charset="0"/>
              </a:rPr>
              <a:t> and </a:t>
            </a:r>
            <a:r>
              <a:rPr lang="en-US" sz="19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objectives </a:t>
            </a:r>
          </a:p>
          <a:p>
            <a:pPr marL="0" indent="0">
              <a:buNone/>
            </a:pPr>
            <a:r>
              <a:rPr lang="en-US" sz="19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	</a:t>
            </a:r>
            <a:r>
              <a:rPr lang="en-US" sz="1900" dirty="0">
                <a:latin typeface="Arial Rounded MT Bold" panose="020F0704030504030204" pitchFamily="34" charset="0"/>
              </a:rPr>
              <a:t>can be formulated</a:t>
            </a:r>
            <a:endParaRPr lang="en-ZA" sz="1900" dirty="0">
              <a:latin typeface="Arial Rounded MT Bold" panose="020F07040305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Dr</a:t>
            </a:r>
            <a:r>
              <a:rPr lang="en-US" dirty="0"/>
              <a:t> Alveen Singh - </a:t>
            </a:r>
            <a:r>
              <a:rPr lang="en-US" dirty="0" err="1"/>
              <a:t>Dept</a:t>
            </a:r>
            <a:r>
              <a:rPr lang="en-US" dirty="0"/>
              <a:t> of IT - </a:t>
            </a:r>
            <a:r>
              <a:rPr lang="en-US" dirty="0" err="1"/>
              <a:t>DUT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6</a:t>
            </a:fld>
            <a:endParaRPr lang="en-ZA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0563" y="188730"/>
            <a:ext cx="2619375" cy="1743075"/>
          </a:xfrm>
          <a:prstGeom prst="rect">
            <a:avLst/>
          </a:prstGeom>
        </p:spPr>
      </p:pic>
      <p:pic>
        <p:nvPicPr>
          <p:cNvPr id="10244" name="Picture 4" descr="How to read more effectively — Quartz at Wor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0569" y="4991101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6732" y="5159287"/>
            <a:ext cx="2127400" cy="1415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628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Dr</a:t>
            </a:r>
            <a:r>
              <a:rPr lang="en-US" dirty="0"/>
              <a:t> Alveen Singh - </a:t>
            </a:r>
            <a:r>
              <a:rPr lang="en-US" dirty="0" err="1"/>
              <a:t>Dept</a:t>
            </a:r>
            <a:r>
              <a:rPr lang="en-US" dirty="0"/>
              <a:t> of IT</a:t>
            </a:r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7</a:t>
            </a:fld>
            <a:endParaRPr lang="en-ZA"/>
          </a:p>
        </p:txBody>
      </p:sp>
      <p:pic>
        <p:nvPicPr>
          <p:cNvPr id="3074" name="Picture 2" descr="Developing a Problem Statement - ppt video online download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66" b="19506"/>
          <a:stretch/>
        </p:blipFill>
        <p:spPr bwMode="auto">
          <a:xfrm>
            <a:off x="1542367" y="801188"/>
            <a:ext cx="9144000" cy="4624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7235790" y="6049693"/>
            <a:ext cx="1577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Parmiter</a:t>
            </a: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2016</a:t>
            </a:r>
            <a:endParaRPr lang="en-ZA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0818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84310" y="940527"/>
            <a:ext cx="10018713" cy="4850674"/>
          </a:xfrm>
        </p:spPr>
        <p:txBody>
          <a:bodyPr/>
          <a:lstStyle/>
          <a:p>
            <a:pPr marL="0" indent="0" algn="ctr">
              <a:buNone/>
            </a:pPr>
            <a:r>
              <a:rPr lang="en-ZA" sz="2000" dirty="0">
                <a:latin typeface="Arial Black" panose="020B0A04020102020204" pitchFamily="34" charset="0"/>
              </a:rPr>
              <a:t>The research problem should tell the reader about </a:t>
            </a:r>
          </a:p>
          <a:p>
            <a:pPr marL="0" indent="0" algn="ctr">
              <a:buNone/>
            </a:pPr>
            <a:endParaRPr lang="en-ZA" sz="2000" dirty="0">
              <a:solidFill>
                <a:srgbClr val="00B050"/>
              </a:solidFill>
              <a:latin typeface="Arial Rounded MT Bold" panose="020F0704030504030204" pitchFamily="34" charset="0"/>
            </a:endParaRPr>
          </a:p>
          <a:p>
            <a:pPr marL="0" indent="0" algn="ctr">
              <a:buNone/>
            </a:pPr>
            <a:r>
              <a:rPr lang="en-ZA" sz="2000" dirty="0">
                <a:solidFill>
                  <a:srgbClr val="00B050"/>
                </a:solidFill>
                <a:latin typeface="Arial Rounded MT Bold" panose="020F0704030504030204" pitchFamily="34" charset="0"/>
              </a:rPr>
              <a:t>“What is the problem?” </a:t>
            </a:r>
          </a:p>
          <a:p>
            <a:pPr marL="0" indent="0" algn="ctr">
              <a:buNone/>
            </a:pPr>
            <a:r>
              <a:rPr lang="en-ZA" sz="2000" dirty="0">
                <a:solidFill>
                  <a:srgbClr val="00B050"/>
                </a:solidFill>
                <a:latin typeface="Arial Rounded MT Bold" panose="020F0704030504030204" pitchFamily="34" charset="0"/>
              </a:rPr>
              <a:t>“Where is it occurring?” </a:t>
            </a:r>
          </a:p>
          <a:p>
            <a:pPr marL="0" indent="0" algn="ctr">
              <a:buNone/>
            </a:pPr>
            <a:r>
              <a:rPr lang="en-ZA" sz="2000" dirty="0">
                <a:solidFill>
                  <a:srgbClr val="00B050"/>
                </a:solidFill>
                <a:latin typeface="Arial Rounded MT Bold" panose="020F0704030504030204" pitchFamily="34" charset="0"/>
              </a:rPr>
              <a:t>“Why is it occurring” </a:t>
            </a:r>
          </a:p>
          <a:p>
            <a:pPr marL="0" indent="0" algn="ctr">
              <a:buNone/>
            </a:pPr>
            <a:r>
              <a:rPr lang="en-ZA" sz="2000" dirty="0">
                <a:solidFill>
                  <a:srgbClr val="00B050"/>
                </a:solidFill>
                <a:latin typeface="Arial Rounded MT Bold" panose="020F0704030504030204" pitchFamily="34" charset="0"/>
              </a:rPr>
              <a:t>“When is it occurring” </a:t>
            </a:r>
          </a:p>
          <a:p>
            <a:pPr marL="0" indent="0" algn="ctr">
              <a:buNone/>
            </a:pPr>
            <a:endParaRPr lang="en-ZA" sz="2000" dirty="0">
              <a:latin typeface="Arial Black" panose="020B0A04020102020204" pitchFamily="34" charset="0"/>
            </a:endParaRPr>
          </a:p>
          <a:p>
            <a:pPr marL="0" indent="0" algn="ctr">
              <a:buNone/>
            </a:pPr>
            <a:r>
              <a:rPr lang="en-ZA" sz="2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Remember that a reader might read the work 1000 years from today</a:t>
            </a:r>
          </a:p>
          <a:p>
            <a:pPr marL="0" indent="0" algn="ctr">
              <a:buNone/>
            </a:pPr>
            <a:endParaRPr lang="en-ZA" sz="2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  <a:p>
            <a:pPr marL="0" indent="0" algn="ctr">
              <a:buNone/>
            </a:pPr>
            <a:r>
              <a:rPr lang="en-ZA" sz="2000" dirty="0">
                <a:solidFill>
                  <a:schemeClr val="accent4">
                    <a:lumMod val="75000"/>
                  </a:schemeClr>
                </a:solidFill>
                <a:latin typeface="Bahnschrift Condensed" panose="020B0502040204020203" pitchFamily="34" charset="0"/>
              </a:rPr>
              <a:t>See example in lecture note</a:t>
            </a:r>
            <a:r>
              <a:rPr lang="en-ZA" sz="2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</a:t>
            </a:r>
          </a:p>
          <a:p>
            <a:endParaRPr lang="en-ZA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19387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696687"/>
            <a:ext cx="10018713" cy="5508170"/>
          </a:xfrm>
        </p:spPr>
        <p:txBody>
          <a:bodyPr anchor="t">
            <a:normAutofit/>
          </a:bodyPr>
          <a:lstStyle/>
          <a:p>
            <a:pPr marL="0" lvl="0" indent="0">
              <a:buNone/>
            </a:pP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2. </a:t>
            </a:r>
            <a:r>
              <a:rPr lang="en-ZA" b="1" dirty="0">
                <a:solidFill>
                  <a:srgbClr val="0070C0"/>
                </a:solidFill>
              </a:rPr>
              <a:t>Review of relevant literature</a:t>
            </a:r>
            <a:endParaRPr lang="en-ZA" dirty="0">
              <a:solidFill>
                <a:srgbClr val="0070C0"/>
              </a:solidFill>
            </a:endParaRPr>
          </a:p>
          <a:p>
            <a:r>
              <a:rPr lang="en-US" dirty="0">
                <a:latin typeface="Arial Rounded MT Bold" panose="020F0704030504030204" pitchFamily="34" charset="0"/>
              </a:rPr>
              <a:t>Why is it important </a:t>
            </a:r>
            <a:r>
              <a:rPr lang="en-US">
                <a:latin typeface="Arial Rounded MT Bold" panose="020F0704030504030204" pitchFamily="34" charset="0"/>
              </a:rPr>
              <a:t>to start here?</a:t>
            </a:r>
            <a:endParaRPr lang="en-US" dirty="0">
              <a:latin typeface="Arial Rounded MT Bold" panose="020F0704030504030204" pitchFamily="34" charset="0"/>
            </a:endParaRPr>
          </a:p>
          <a:p>
            <a:pPr lvl="1"/>
            <a:r>
              <a:rPr lang="en-US" sz="1800" dirty="0">
                <a:solidFill>
                  <a:srgbClr val="0070C0"/>
                </a:solidFill>
                <a:latin typeface="Arial Black" panose="020B0A04020102020204" pitchFamily="34" charset="0"/>
              </a:rPr>
              <a:t>To understand the state-of-the-art</a:t>
            </a:r>
          </a:p>
          <a:p>
            <a:pPr lvl="1"/>
            <a:r>
              <a:rPr lang="en-US" sz="1800" dirty="0">
                <a:solidFill>
                  <a:srgbClr val="0070C0"/>
                </a:solidFill>
                <a:latin typeface="Arial Black" panose="020B0A04020102020204" pitchFamily="34" charset="0"/>
              </a:rPr>
              <a:t>To understand what work has already been done</a:t>
            </a:r>
          </a:p>
          <a:p>
            <a:pPr lvl="2"/>
            <a:r>
              <a:rPr lang="en-US" sz="1600" dirty="0">
                <a:solidFill>
                  <a:srgbClr val="0070C0"/>
                </a:solidFill>
                <a:latin typeface="Arial Black" panose="020B0A04020102020204" pitchFamily="34" charset="0"/>
              </a:rPr>
              <a:t>and the effectiveness </a:t>
            </a:r>
          </a:p>
          <a:p>
            <a:pPr lvl="1"/>
            <a:r>
              <a:rPr lang="en-US" sz="1800" dirty="0">
                <a:solidFill>
                  <a:srgbClr val="0070C0"/>
                </a:solidFill>
                <a:latin typeface="Arial Black" panose="020B0A04020102020204" pitchFamily="34" charset="0"/>
              </a:rPr>
              <a:t>To prevent setting up research for problems that have already been solved</a:t>
            </a:r>
          </a:p>
          <a:p>
            <a:endParaRPr lang="en-US" dirty="0">
              <a:latin typeface="Arial Rounded MT Bold" panose="020F0704030504030204" pitchFamily="34" charset="0"/>
            </a:endParaRPr>
          </a:p>
          <a:p>
            <a:pPr marL="0" indent="0" algn="ctr">
              <a:buNone/>
            </a:pPr>
            <a:r>
              <a:rPr lang="en-ZA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“Such a review, not only provides exposure to a larger body of knowledge but also equips with enhanced knowledge to efficiently follow the research process. Through a proper review of the literature, the researcher may develop the coherence between the results of his study and those of the others” (</a:t>
            </a:r>
            <a:r>
              <a:rPr lang="en-ZA" sz="1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iedunote</a:t>
            </a:r>
            <a:r>
              <a:rPr lang="en-ZA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2021)</a:t>
            </a:r>
          </a:p>
          <a:p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Dr</a:t>
            </a:r>
            <a:r>
              <a:rPr lang="en-US" dirty="0"/>
              <a:t> Alveen Singh - </a:t>
            </a:r>
            <a:r>
              <a:rPr lang="en-US" dirty="0" err="1"/>
              <a:t>Dept</a:t>
            </a:r>
            <a:r>
              <a:rPr lang="en-US" dirty="0"/>
              <a:t> of IT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39808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10</a:t>
            </a:fld>
            <a:endParaRPr lang="en-ZA"/>
          </a:p>
        </p:txBody>
      </p:sp>
      <p:pic>
        <p:nvPicPr>
          <p:cNvPr id="4098" name="Picture 2" descr="Convince someone into believing something by Justbargaining | Fiver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3399" y="505927"/>
            <a:ext cx="2628457" cy="1471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Synonyms for STATE OF THE ART - Thesaurus.net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575"/>
          <a:stretch/>
        </p:blipFill>
        <p:spPr bwMode="auto">
          <a:xfrm>
            <a:off x="1633548" y="400594"/>
            <a:ext cx="4872846" cy="289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Visual template to harvest what's working, what's not working, and  solutions to advance both. | Visual note taking, Meeting facilitation,  Facilitati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1662" y="3089864"/>
            <a:ext cx="3721240" cy="2793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0262115" y="5883275"/>
            <a:ext cx="1119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Enz</a:t>
            </a: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2020</a:t>
            </a:r>
            <a:endParaRPr lang="en-ZA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04" name="Picture 8" descr="Team Work 101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829"/>
          <a:stretch/>
        </p:blipFill>
        <p:spPr bwMode="auto">
          <a:xfrm>
            <a:off x="1567932" y="3500844"/>
            <a:ext cx="3775986" cy="3209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5000827" y="6221829"/>
            <a:ext cx="13484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Liegel</a:t>
            </a: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2020</a:t>
            </a:r>
            <a:endParaRPr lang="en-ZA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753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085849"/>
            <a:ext cx="10018713" cy="4705351"/>
          </a:xfrm>
        </p:spPr>
        <p:txBody>
          <a:bodyPr anchor="t">
            <a:normAutofit fontScale="85000" lnSpcReduction="20000"/>
          </a:bodyPr>
          <a:lstStyle/>
          <a:p>
            <a:pPr marL="457200" indent="-457200">
              <a:buAutoNum type="arabicPeriod" startAt="3"/>
            </a:pP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Draft research questions, objectives, and hypotheses</a:t>
            </a:r>
            <a:endParaRPr lang="en-US" dirty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endParaRPr lang="en-US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 Rounded MT Bold" panose="020F0704030504030204" pitchFamily="34" charset="0"/>
              </a:rPr>
              <a:t>A 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research question </a:t>
            </a:r>
            <a:r>
              <a:rPr lang="en-US" dirty="0">
                <a:latin typeface="Arial Rounded MT Bold" panose="020F0704030504030204" pitchFamily="34" charset="0"/>
              </a:rPr>
              <a:t>is the mainstay of the </a:t>
            </a:r>
          </a:p>
          <a:p>
            <a:pPr marL="0" indent="0">
              <a:buNone/>
            </a:pPr>
            <a:r>
              <a:rPr lang="en-US" dirty="0">
                <a:latin typeface="Arial Rounded MT Bold" panose="020F0704030504030204" pitchFamily="34" charset="0"/>
              </a:rPr>
              <a:t>entire research undertaking</a:t>
            </a:r>
          </a:p>
          <a:p>
            <a:pPr marL="0" indent="0">
              <a:buNone/>
            </a:pPr>
            <a:endParaRPr lang="en-US" dirty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 Rounded MT Bold" panose="020F0704030504030204" pitchFamily="34" charset="0"/>
              </a:rPr>
              <a:t>The 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objectives</a:t>
            </a:r>
            <a:r>
              <a:rPr lang="en-US" dirty="0">
                <a:latin typeface="Arial Rounded MT Bold" panose="020F0704030504030204" pitchFamily="34" charset="0"/>
              </a:rPr>
              <a:t> are the </a:t>
            </a:r>
            <a:r>
              <a:rPr lang="en-US" i="1" dirty="0">
                <a:latin typeface="Arial Rounded MT Bold" panose="020F0704030504030204" pitchFamily="34" charset="0"/>
              </a:rPr>
              <a:t>milestones</a:t>
            </a:r>
            <a:r>
              <a:rPr lang="en-US" dirty="0">
                <a:latin typeface="Arial Rounded MT Bold" panose="020F0704030504030204" pitchFamily="34" charset="0"/>
              </a:rPr>
              <a:t> that need to be achieved </a:t>
            </a:r>
          </a:p>
          <a:p>
            <a:pPr marL="0" indent="0">
              <a:buNone/>
            </a:pPr>
            <a:r>
              <a:rPr lang="en-US" dirty="0">
                <a:latin typeface="Arial Rounded MT Bold" panose="020F0704030504030204" pitchFamily="34" charset="0"/>
              </a:rPr>
              <a:t>along the way</a:t>
            </a:r>
          </a:p>
          <a:p>
            <a:pPr marL="0" indent="0">
              <a:buNone/>
            </a:pPr>
            <a:endParaRPr lang="en-US" dirty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Hypothesis</a:t>
            </a:r>
            <a:r>
              <a:rPr lang="en-US" dirty="0">
                <a:latin typeface="Arial Rounded MT Bold" panose="020F0704030504030204" pitchFamily="34" charset="0"/>
              </a:rPr>
              <a:t> may be posed instead of research </a:t>
            </a:r>
          </a:p>
          <a:p>
            <a:pPr marL="0" indent="0">
              <a:buNone/>
            </a:pPr>
            <a:r>
              <a:rPr lang="en-US" dirty="0">
                <a:latin typeface="Arial Rounded MT Bold" panose="020F0704030504030204" pitchFamily="34" charset="0"/>
              </a:rPr>
              <a:t>questions </a:t>
            </a:r>
          </a:p>
          <a:p>
            <a:pPr marL="0" indent="0">
              <a:buNone/>
            </a:pPr>
            <a:r>
              <a:rPr lang="en-US" sz="1700" dirty="0">
                <a:latin typeface="Arial Black" panose="020B0A04020102020204" pitchFamily="34" charset="0"/>
              </a:rPr>
              <a:t>	these are statements that the researcher makes</a:t>
            </a:r>
          </a:p>
          <a:p>
            <a:pPr marL="0" indent="0">
              <a:buNone/>
            </a:pPr>
            <a:r>
              <a:rPr lang="en-US" sz="1700" dirty="0">
                <a:latin typeface="Arial Black" panose="020B0A04020102020204" pitchFamily="34" charset="0"/>
              </a:rPr>
              <a:t>	and each hypothesis can be proven true or false </a:t>
            </a:r>
          </a:p>
          <a:p>
            <a:pPr marL="0" indent="0">
              <a:buNone/>
            </a:pP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11</a:t>
            </a:fld>
            <a:endParaRPr lang="en-ZA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8745" y="1551486"/>
            <a:ext cx="2952750" cy="1543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696233" y="3105597"/>
            <a:ext cx="1313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Aruma.com</a:t>
            </a:r>
            <a:endParaRPr lang="en-ZA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24" name="Picture 4" descr="Difference Between Making a Hypothesis and Predic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3895" y="4053430"/>
            <a:ext cx="3657600" cy="2057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10016965" y="6138910"/>
            <a:ext cx="20737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Yourdictionary.com</a:t>
            </a:r>
            <a:endParaRPr lang="en-ZA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974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085849"/>
            <a:ext cx="10018713" cy="4705351"/>
          </a:xfrm>
        </p:spPr>
        <p:txBody>
          <a:bodyPr anchor="t"/>
          <a:lstStyle/>
          <a:p>
            <a:r>
              <a:rPr lang="en-US" dirty="0">
                <a:latin typeface="Arial Rounded MT Bold" panose="020F0704030504030204" pitchFamily="34" charset="0"/>
              </a:rPr>
              <a:t>The research question is stated beginning with:</a:t>
            </a:r>
          </a:p>
          <a:p>
            <a:pPr marL="0" indent="0">
              <a:buNone/>
            </a:pPr>
            <a:r>
              <a:rPr lang="en-US" dirty="0">
                <a:latin typeface="Arial Rounded MT Bold" panose="020F0704030504030204" pitchFamily="34" charset="0"/>
              </a:rPr>
              <a:t>	</a:t>
            </a: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how and why </a:t>
            </a:r>
            <a:r>
              <a:rPr lang="en-US" dirty="0">
                <a:latin typeface="Arial Rounded MT Bold" panose="020F0704030504030204" pitchFamily="34" charset="0"/>
              </a:rPr>
              <a:t>– qualitative research</a:t>
            </a:r>
          </a:p>
          <a:p>
            <a:pPr marL="0" indent="0">
              <a:buNone/>
            </a:pPr>
            <a:r>
              <a:rPr lang="en-US" dirty="0">
                <a:latin typeface="Arial Rounded MT Bold" panose="020F0704030504030204" pitchFamily="34" charset="0"/>
              </a:rPr>
              <a:t>	</a:t>
            </a:r>
            <a:r>
              <a:rPr lang="en-US" dirty="0">
                <a:solidFill>
                  <a:srgbClr val="7030A0"/>
                </a:solidFill>
                <a:latin typeface="Arial Rounded MT Bold" panose="020F0704030504030204" pitchFamily="34" charset="0"/>
              </a:rPr>
              <a:t>what</a:t>
            </a:r>
            <a:r>
              <a:rPr lang="en-US" dirty="0">
                <a:latin typeface="Arial Rounded MT Bold" panose="020F0704030504030204" pitchFamily="34" charset="0"/>
              </a:rPr>
              <a:t> – quantitative research</a:t>
            </a:r>
          </a:p>
          <a:p>
            <a:pPr marL="0" indent="0">
              <a:buNone/>
            </a:pPr>
            <a:endParaRPr lang="en-US" dirty="0">
              <a:latin typeface="Arial Rounded MT Bold" panose="020F0704030504030204" pitchFamily="34" charset="0"/>
            </a:endParaRPr>
          </a:p>
          <a:p>
            <a:r>
              <a:rPr lang="en-US" dirty="0">
                <a:latin typeface="Arial Rounded MT Bold" panose="020F0704030504030204" pitchFamily="34" charset="0"/>
              </a:rPr>
              <a:t>The research question should incorporate the </a:t>
            </a:r>
            <a:r>
              <a:rPr lang="en-US" dirty="0">
                <a:solidFill>
                  <a:srgbClr val="7030A0"/>
                </a:solidFill>
                <a:latin typeface="Arial Rounded MT Bold" panose="020F0704030504030204" pitchFamily="34" charset="0"/>
              </a:rPr>
              <a:t>variables or aspects</a:t>
            </a:r>
            <a:r>
              <a:rPr lang="en-US" dirty="0">
                <a:latin typeface="Arial Rounded MT Bold" panose="020F0704030504030204" pitchFamily="34" charset="0"/>
              </a:rPr>
              <a:t> of concern in the study</a:t>
            </a:r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12</a:t>
            </a:fld>
            <a:endParaRPr lang="en-ZA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7355" y="3609158"/>
            <a:ext cx="3198201" cy="30093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93902" y="6232256"/>
            <a:ext cx="19623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van de Sand, 2019</a:t>
            </a:r>
            <a:endParaRPr lang="en-ZA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341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F1C4D-7E13-4C7E-85AA-72672B3AC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Example RQs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FD406-B307-4A8D-AD72-AD1902141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the critical factors for successful implementation of an efficient on-line registration system?</a:t>
            </a:r>
          </a:p>
          <a:p>
            <a:r>
              <a:rPr lang="en-ZA" dirty="0"/>
              <a:t>Can ML assist in identifying useful predictors for reliability of mobile apps? </a:t>
            </a:r>
          </a:p>
          <a:p>
            <a:r>
              <a:rPr lang="en-US" dirty="0"/>
              <a:t>What is an effective approach for improved business analysis of public eservice systems?</a:t>
            </a:r>
            <a:endParaRPr lang="en-ZA" dirty="0"/>
          </a:p>
          <a:p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D9991B-6E19-472B-893F-7D624D282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C00CDB-61FE-4D2B-AFBC-DFC5AFEB9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4586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2664F-6C43-4BBC-8CEE-FC7897FD3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Example 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50095-9404-4FCB-9573-5034D6C50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H0: IoT based greenhouse environment monitoring will result in improved monitoring of environmental conditions </a:t>
            </a:r>
          </a:p>
          <a:p>
            <a:pPr marL="0" indent="0">
              <a:buNone/>
            </a:pPr>
            <a:endParaRPr lang="en-ZA" dirty="0"/>
          </a:p>
          <a:p>
            <a:r>
              <a:rPr lang="en-US" dirty="0"/>
              <a:t>H1: IoT based greenhouse environment monitoring will </a:t>
            </a:r>
            <a:r>
              <a:rPr lang="en-US" i="1" dirty="0"/>
              <a:t>not</a:t>
            </a:r>
            <a:r>
              <a:rPr lang="en-US" dirty="0"/>
              <a:t> result in improved monitoring of the environmental conditions </a:t>
            </a:r>
            <a:endParaRPr lang="en-ZA" dirty="0"/>
          </a:p>
          <a:p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C9B966-DE45-475A-B63E-8C58AB7DE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63CA13-77AA-490C-A911-87594C25D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39022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085849"/>
            <a:ext cx="10018713" cy="4705351"/>
          </a:xfrm>
        </p:spPr>
        <p:txBody>
          <a:bodyPr anchor="t"/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4.	Determine the research strategy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The researcher has several options</a:t>
            </a:r>
          </a:p>
          <a:p>
            <a:pPr lvl="1"/>
            <a:r>
              <a:rPr lang="en-US" dirty="0">
                <a:latin typeface="Arial Rounded MT Bold" panose="020F0704030504030204" pitchFamily="34" charset="0"/>
              </a:rPr>
              <a:t>Qualitative, quantitative, mixed, design research, experiment, survey, </a:t>
            </a:r>
          </a:p>
          <a:p>
            <a:endParaRPr lang="en-US" dirty="0">
              <a:latin typeface="Arial Rounded MT Bold" panose="020F0704030504030204" pitchFamily="34" charset="0"/>
            </a:endParaRPr>
          </a:p>
          <a:p>
            <a:r>
              <a:rPr lang="en-US" dirty="0">
                <a:latin typeface="Arial Rounded MT Bold" panose="020F0704030504030204" pitchFamily="34" charset="0"/>
              </a:rPr>
              <a:t>The research strategy should be carefully considered and planned as this is the vehicle to achieve the research objectives and eventually reach an answer for the research question</a:t>
            </a:r>
          </a:p>
          <a:p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15</a:t>
            </a:fld>
            <a:endParaRPr lang="en-ZA"/>
          </a:p>
        </p:txBody>
      </p:sp>
      <p:pic>
        <p:nvPicPr>
          <p:cNvPr id="6146" name="Picture 2" descr="How to Write Research Methodology: Overview, Tips, and Techniques « Guide 2  Research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95" b="9994"/>
          <a:stretch/>
        </p:blipFill>
        <p:spPr bwMode="auto">
          <a:xfrm>
            <a:off x="7075004" y="4338307"/>
            <a:ext cx="4279443" cy="2232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670452" y="6232256"/>
            <a:ext cx="14045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Surbhi</a:t>
            </a: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2016</a:t>
            </a:r>
            <a:endParaRPr lang="en-ZA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330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085849"/>
            <a:ext cx="10018713" cy="4705351"/>
          </a:xfrm>
        </p:spPr>
        <p:txBody>
          <a:bodyPr anchor="t"/>
          <a:lstStyle/>
          <a:p>
            <a:pPr marL="457200" indent="-457200">
              <a:buAutoNum type="arabicPeriod" startAt="5"/>
            </a:pP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Data collection (and sampling)</a:t>
            </a:r>
          </a:p>
          <a:p>
            <a:pPr marL="0" indent="0">
              <a:buNone/>
            </a:pPr>
            <a:endParaRPr lang="en-US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  <a:p>
            <a:r>
              <a:rPr lang="en-US" dirty="0">
                <a:latin typeface="Arial Rounded MT Bold" panose="020F0704030504030204" pitchFamily="34" charset="0"/>
              </a:rPr>
              <a:t>The main types of data are qualitative and quantitative. </a:t>
            </a:r>
          </a:p>
          <a:p>
            <a:pPr lvl="1"/>
            <a:r>
              <a:rPr lang="en-US" dirty="0">
                <a:solidFill>
                  <a:srgbClr val="7030A0"/>
                </a:solidFill>
                <a:latin typeface="Arial Rounded MT Bold" panose="020F0704030504030204" pitchFamily="34" charset="0"/>
              </a:rPr>
              <a:t>Qualitative</a:t>
            </a:r>
            <a:r>
              <a:rPr lang="en-US" dirty="0">
                <a:latin typeface="Arial Rounded MT Bold" panose="020F0704030504030204" pitchFamily="34" charset="0"/>
              </a:rPr>
              <a:t> data is usually collected from people, coded into some format, and then analyzed for the purpose of research</a:t>
            </a:r>
          </a:p>
          <a:p>
            <a:pPr lvl="1"/>
            <a:endParaRPr lang="en-US" dirty="0">
              <a:latin typeface="Arial Rounded MT Bold" panose="020F0704030504030204" pitchFamily="34" charset="0"/>
            </a:endParaRPr>
          </a:p>
          <a:p>
            <a:pPr lvl="1"/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Arial Rounded MT Bold" panose="020F0704030504030204" pitchFamily="34" charset="0"/>
              </a:rPr>
              <a:t>Quantitative</a:t>
            </a:r>
            <a:r>
              <a:rPr lang="en-US" dirty="0">
                <a:latin typeface="Arial Rounded MT Bold" panose="020F0704030504030204" pitchFamily="34" charset="0"/>
              </a:rPr>
              <a:t> data is usually numerical </a:t>
            </a:r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Dr</a:t>
            </a:r>
            <a:r>
              <a:rPr lang="en-US" dirty="0"/>
              <a:t> Alveen Singh - </a:t>
            </a:r>
            <a:r>
              <a:rPr lang="en-US" dirty="0" err="1"/>
              <a:t>Dept</a:t>
            </a:r>
            <a:r>
              <a:rPr lang="en-US" dirty="0"/>
              <a:t> of IT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16</a:t>
            </a:fld>
            <a:endParaRPr lang="en-ZA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8765" y="4546331"/>
            <a:ext cx="2705100" cy="16859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0087" y="4127864"/>
            <a:ext cx="4056256" cy="22816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86725" y="6409508"/>
            <a:ext cx="2627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Microcontrollers </a:t>
            </a:r>
            <a:r>
              <a:rPr lang="en-US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lab.com</a:t>
            </a:r>
            <a:endParaRPr lang="en-ZA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1261" y="138380"/>
            <a:ext cx="2619375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6584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085849"/>
            <a:ext cx="10018713" cy="4705351"/>
          </a:xfrm>
        </p:spPr>
        <p:txBody>
          <a:bodyPr anchor="t"/>
          <a:lstStyle/>
          <a:p>
            <a:pPr marL="0" indent="0">
              <a:buNone/>
            </a:pPr>
            <a:r>
              <a:rPr lang="en-US" dirty="0">
                <a:latin typeface="Arial Rounded MT Bold" panose="020F0704030504030204" pitchFamily="34" charset="0"/>
              </a:rPr>
              <a:t>Data collection can be either from a primary or secondary source. </a:t>
            </a:r>
          </a:p>
          <a:p>
            <a:pPr lvl="1"/>
            <a:r>
              <a:rPr lang="en-US" dirty="0">
                <a:latin typeface="Arial Rounded MT Bold" panose="020F0704030504030204" pitchFamily="34" charset="0"/>
              </a:rPr>
              <a:t>The secondary source includes data that has already been analyzed and is available in the form of reports, publications, online data bases and so on. </a:t>
            </a:r>
          </a:p>
          <a:p>
            <a:pPr marL="457200" lvl="1" indent="0">
              <a:buNone/>
            </a:pPr>
            <a:endParaRPr lang="en-US" dirty="0">
              <a:latin typeface="Arial Rounded MT Bold" panose="020F0704030504030204" pitchFamily="34" charset="0"/>
            </a:endParaRPr>
          </a:p>
          <a:p>
            <a:pPr lvl="1"/>
            <a:r>
              <a:rPr lang="en-US" dirty="0">
                <a:latin typeface="Arial Rounded MT Bold" panose="020F0704030504030204" pitchFamily="34" charset="0"/>
              </a:rPr>
              <a:t>Primary data is generated for the first time in a study. </a:t>
            </a:r>
          </a:p>
          <a:p>
            <a:pPr lvl="2"/>
            <a:r>
              <a:rPr lang="en-US" dirty="0">
                <a:latin typeface="Arial Rounded MT Bold" panose="020F0704030504030204" pitchFamily="34" charset="0"/>
              </a:rPr>
              <a:t>Online </a:t>
            </a:r>
            <a:r>
              <a:rPr lang="en-US" dirty="0" err="1">
                <a:latin typeface="Arial Rounded MT Bold" panose="020F0704030504030204" pitchFamily="34" charset="0"/>
              </a:rPr>
              <a:t>datasource</a:t>
            </a:r>
            <a:r>
              <a:rPr lang="en-US" dirty="0">
                <a:latin typeface="Arial Rounded MT Bold" panose="020F0704030504030204" pitchFamily="34" charset="0"/>
              </a:rPr>
              <a:t> (e.g. </a:t>
            </a:r>
            <a:r>
              <a:rPr lang="en-US" dirty="0" err="1">
                <a:latin typeface="Arial Rounded MT Bold" panose="020F0704030504030204" pitchFamily="34" charset="0"/>
              </a:rPr>
              <a:t>Kaggle</a:t>
            </a:r>
            <a:r>
              <a:rPr lang="en-US" dirty="0">
                <a:latin typeface="Arial Rounded MT Bold" panose="020F0704030504030204" pitchFamily="34" charset="0"/>
              </a:rPr>
              <a:t> for Data Science)</a:t>
            </a:r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792949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085849"/>
            <a:ext cx="10018713" cy="4705351"/>
          </a:xfrm>
        </p:spPr>
        <p:txBody>
          <a:bodyPr anchor="t">
            <a:normAutofit/>
          </a:bodyPr>
          <a:lstStyle/>
          <a:p>
            <a:r>
              <a:rPr lang="en-US" sz="1800" dirty="0">
                <a:latin typeface="Arial Rounded MT Bold" panose="020F0704030504030204" pitchFamily="34" charset="0"/>
              </a:rPr>
              <a:t>Sampling is the task of selecting a small number of items (sample) for the research from a much larger group (population). </a:t>
            </a:r>
          </a:p>
          <a:p>
            <a:r>
              <a:rPr lang="en-US" sz="1800" dirty="0">
                <a:latin typeface="Arial Rounded MT Bold" panose="020F0704030504030204" pitchFamily="34" charset="0"/>
              </a:rPr>
              <a:t>The research is conducted using the smaller sample and the results are generalized to the population. </a:t>
            </a:r>
          </a:p>
          <a:p>
            <a:r>
              <a:rPr lang="en-US" sz="1800" dirty="0">
                <a:latin typeface="Arial Rounded MT Bold" panose="020F0704030504030204" pitchFamily="34" charset="0"/>
              </a:rPr>
              <a:t>Therefore, it is vitally important that the sample is an accurate representation of the whole population. </a:t>
            </a:r>
            <a:r>
              <a:rPr lang="en-US" sz="18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–for this apply sampling techniques</a:t>
            </a:r>
          </a:p>
          <a:p>
            <a:r>
              <a:rPr lang="en-US" sz="1800" dirty="0">
                <a:latin typeface="Arial Rounded MT Bold" panose="020F0704030504030204" pitchFamily="34" charset="0"/>
              </a:rPr>
              <a:t>The opposite of a sample is </a:t>
            </a:r>
            <a:r>
              <a:rPr lang="en-US" sz="18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census </a:t>
            </a:r>
            <a:r>
              <a:rPr lang="en-US" sz="1800" dirty="0">
                <a:latin typeface="Arial Rounded MT Bold" panose="020F0704030504030204" pitchFamily="34" charset="0"/>
              </a:rPr>
              <a:t>whereby the entire population is included in the research.</a:t>
            </a:r>
            <a:endParaRPr lang="en-ZA" sz="1800" dirty="0">
              <a:latin typeface="Arial Rounded MT Bold" panose="020F07040305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18</a:t>
            </a:fld>
            <a:endParaRPr lang="en-ZA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036" y="3875042"/>
            <a:ext cx="4168820" cy="22839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50314" y="5989673"/>
            <a:ext cx="19303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Omniconvert.com</a:t>
            </a:r>
            <a:endParaRPr lang="en-ZA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8682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085849"/>
            <a:ext cx="10018713" cy="4705351"/>
          </a:xfrm>
        </p:spPr>
        <p:txBody>
          <a:bodyPr anchor="t"/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6. Data analysis </a:t>
            </a:r>
          </a:p>
          <a:p>
            <a:r>
              <a:rPr lang="en-US" sz="1800" dirty="0">
                <a:latin typeface="Arial Rounded MT Bold" panose="020F0704030504030204" pitchFamily="34" charset="0"/>
              </a:rPr>
              <a:t>A researcher analyses the data searching for patterns and trends, to summarize the data and apply techniques to understand the data and arrive at findings.</a:t>
            </a:r>
          </a:p>
          <a:p>
            <a:r>
              <a:rPr lang="en-US" sz="1800" dirty="0">
                <a:solidFill>
                  <a:srgbClr val="7030A0"/>
                </a:solidFill>
                <a:latin typeface="Arial Rounded MT Bold" panose="020F0704030504030204" pitchFamily="34" charset="0"/>
              </a:rPr>
              <a:t>Quantitative</a:t>
            </a:r>
            <a:r>
              <a:rPr lang="en-US" sz="1800" dirty="0">
                <a:latin typeface="Arial Rounded MT Bold" panose="020F0704030504030204" pitchFamily="34" charset="0"/>
              </a:rPr>
              <a:t> data analysis utilizes statistical techniques and formula to arrive at results. Data collected in different formats are converted to numbers prior to analysis and arriving at results. </a:t>
            </a:r>
          </a:p>
          <a:p>
            <a:r>
              <a:rPr lang="en-US" sz="1800" dirty="0">
                <a:solidFill>
                  <a:srgbClr val="7030A0"/>
                </a:solidFill>
                <a:latin typeface="Arial Rounded MT Bold" panose="020F0704030504030204" pitchFamily="34" charset="0"/>
              </a:rPr>
              <a:t>Qualitative</a:t>
            </a:r>
            <a:r>
              <a:rPr lang="en-US" sz="1800" dirty="0">
                <a:latin typeface="Arial Rounded MT Bold" panose="020F0704030504030204" pitchFamily="34" charset="0"/>
              </a:rPr>
              <a:t> data is usually coded into a smaller, more manageable format before analysis can begin.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19</a:t>
            </a:fld>
            <a:endParaRPr lang="en-ZA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5987" y="4414664"/>
            <a:ext cx="6505394" cy="19868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70452" y="6232256"/>
            <a:ext cx="18461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Dataversity</a:t>
            </a: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2018</a:t>
            </a:r>
            <a:endParaRPr lang="en-ZA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7245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085849"/>
            <a:ext cx="10018713" cy="4705351"/>
          </a:xfrm>
        </p:spPr>
        <p:txBody>
          <a:bodyPr anchor="t"/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Writing up findings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At the end of the research, the findings need to be communicated to the IT research and practitioner community. 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This comes in the form of conference presentations and proceedings, journal publications and book and book chapters. 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It is important for the advancement of the field. </a:t>
            </a:r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20</a:t>
            </a:fld>
            <a:endParaRPr lang="en-ZA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332" y="3660506"/>
            <a:ext cx="1781175" cy="25717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142" y="4056017"/>
            <a:ext cx="1536809" cy="1990336"/>
          </a:xfrm>
          <a:prstGeom prst="rect">
            <a:avLst/>
          </a:prstGeom>
        </p:spPr>
      </p:pic>
      <p:pic>
        <p:nvPicPr>
          <p:cNvPr id="12292" name="Picture 4" descr="CALL FOR BOOK CHAPTERS ON FOOD, TECHNOLOGY AND CULTURE IN AFRICA – Nok View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2279" y="3823065"/>
            <a:ext cx="2021567" cy="2867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5410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b="1" dirty="0"/>
              <a:t>2. The </a:t>
            </a:r>
            <a:r>
              <a:rPr lang="en-GB" b="1" dirty="0">
                <a:latin typeface="Arial Black" panose="020B0A04020102020204" pitchFamily="34" charset="0"/>
              </a:rPr>
              <a:t>components of a research proposal</a:t>
            </a:r>
            <a:endParaRPr lang="en-ZA" dirty="0">
              <a:latin typeface="Arial Black" panose="020B0A040201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n-US" sz="4000" dirty="0">
                <a:latin typeface="Arial Rounded MT Bold" panose="020F0704030504030204" pitchFamily="34" charset="0"/>
              </a:rPr>
              <a:t>What is a research proposal?</a:t>
            </a:r>
          </a:p>
          <a:p>
            <a:pPr marL="457200" lvl="1" indent="0" algn="ctr">
              <a:buNone/>
            </a:pPr>
            <a:r>
              <a:rPr lang="en-US" sz="2800" dirty="0">
                <a:solidFill>
                  <a:srgbClr val="7030A0"/>
                </a:solidFill>
                <a:latin typeface="Arial Rounded MT Bold" panose="020F0704030504030204" pitchFamily="34" charset="0"/>
              </a:rPr>
              <a:t>A plan to conduct the research </a:t>
            </a:r>
            <a:endParaRPr lang="en-ZA" sz="2800" dirty="0">
              <a:solidFill>
                <a:srgbClr val="7030A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21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054664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085849"/>
            <a:ext cx="10018713" cy="4705351"/>
          </a:xfrm>
        </p:spPr>
        <p:txBody>
          <a:bodyPr anchor="t"/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Uses of the research proposal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The proposal is usually peer reviewed </a:t>
            </a:r>
          </a:p>
          <a:p>
            <a:endParaRPr lang="en-US" dirty="0">
              <a:latin typeface="Arial Rounded MT Bold" panose="020F0704030504030204" pitchFamily="34" charset="0"/>
            </a:endParaRPr>
          </a:p>
          <a:p>
            <a:r>
              <a:rPr lang="en-US" dirty="0">
                <a:latin typeface="Arial Rounded MT Bold" panose="020F0704030504030204" pitchFamily="34" charset="0"/>
              </a:rPr>
              <a:t>PhD or Masters student needs to submit to Research Committee for approval. </a:t>
            </a:r>
          </a:p>
          <a:p>
            <a:endParaRPr lang="en-US" dirty="0">
              <a:latin typeface="Arial Rounded MT Bold" panose="020F0704030504030204" pitchFamily="34" charset="0"/>
            </a:endParaRPr>
          </a:p>
          <a:p>
            <a:r>
              <a:rPr lang="en-US" dirty="0">
                <a:latin typeface="Arial Rounded MT Bold" panose="020F0704030504030204" pitchFamily="34" charset="0"/>
              </a:rPr>
              <a:t>The research proposal has to be of good quality. There are limited students allowed into PhD and Masters programs and a limited funding allocation. Hence, the proposal is an important selection tool.</a:t>
            </a:r>
          </a:p>
          <a:p>
            <a:pPr marL="0" indent="0">
              <a:buNone/>
            </a:pPr>
            <a:endParaRPr lang="en-US" dirty="0">
              <a:latin typeface="Arial Rounded MT Bold" panose="020F0704030504030204" pitchFamily="34" charset="0"/>
            </a:endParaRPr>
          </a:p>
          <a:p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22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650269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085849"/>
            <a:ext cx="10018713" cy="4705351"/>
          </a:xfrm>
        </p:spPr>
        <p:txBody>
          <a:bodyPr anchor="t"/>
          <a:lstStyle/>
          <a:p>
            <a:r>
              <a:rPr lang="en-US" dirty="0">
                <a:latin typeface="Arial Rounded MT Bold" panose="020F0704030504030204" pitchFamily="34" charset="0"/>
              </a:rPr>
              <a:t>To show that the intended research has the potential to make a contribution to the field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To provide a detailed plan for research design for achieving the objectives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To show that the student/writer has adequate scientific ability and knowledge to undertake the study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To show that the research can be achieved with the allocated financial and time constraints </a:t>
            </a:r>
          </a:p>
          <a:p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23</a:t>
            </a:fld>
            <a:endParaRPr lang="en-ZA"/>
          </a:p>
        </p:txBody>
      </p:sp>
      <p:pic>
        <p:nvPicPr>
          <p:cNvPr id="13314" name="Picture 2" descr="Albert Einstein | Biography, Education, Discoveries, &amp; Facts | Britannic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850" y="4633690"/>
            <a:ext cx="2134779" cy="1195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043850" y="5926868"/>
            <a:ext cx="16674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Britannica.com</a:t>
            </a:r>
            <a:endParaRPr lang="en-ZA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318" name="Picture 6" descr="8 Tips for Creating the Perfect Architectural Drawing - Architizer Journal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173" y="4552123"/>
            <a:ext cx="2781301" cy="1990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3616787" y="6203589"/>
            <a:ext cx="15999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Architizer.com</a:t>
            </a:r>
            <a:endParaRPr lang="en-ZA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320" name="Picture 8" descr="History of scholarship - Wikipedi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8789" y="4313293"/>
            <a:ext cx="2047875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6492812" y="6453412"/>
            <a:ext cx="17345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Wikkipedia.com</a:t>
            </a:r>
            <a:endParaRPr lang="en-ZA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92126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696687"/>
            <a:ext cx="10018713" cy="5094514"/>
          </a:xfrm>
        </p:spPr>
        <p:txBody>
          <a:bodyPr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Sections of a research proposal</a:t>
            </a:r>
          </a:p>
          <a:p>
            <a:pPr marL="0" indent="0">
              <a:buNone/>
            </a:pPr>
            <a:endParaRPr lang="en-US" dirty="0">
              <a:latin typeface="Arial Rounded MT Bold" panose="020F0704030504030204" pitchFamily="34" charset="0"/>
            </a:endParaRPr>
          </a:p>
          <a:p>
            <a:pPr lvl="0"/>
            <a:r>
              <a:rPr lang="en-ZA" dirty="0">
                <a:latin typeface="Arial Rounded MT Bold" panose="020F0704030504030204" pitchFamily="34" charset="0"/>
              </a:rPr>
              <a:t>Topic/title </a:t>
            </a:r>
          </a:p>
          <a:p>
            <a:pPr lvl="0"/>
            <a:r>
              <a:rPr lang="en-ZA" dirty="0">
                <a:latin typeface="Arial Rounded MT Bold" panose="020F0704030504030204" pitchFamily="34" charset="0"/>
              </a:rPr>
              <a:t>Context</a:t>
            </a:r>
          </a:p>
          <a:p>
            <a:pPr lvl="0"/>
            <a:r>
              <a:rPr lang="en-ZA" dirty="0">
                <a:latin typeface="Arial Rounded MT Bold" panose="020F0704030504030204" pitchFamily="34" charset="0"/>
              </a:rPr>
              <a:t>Problem statement</a:t>
            </a:r>
          </a:p>
          <a:p>
            <a:pPr lvl="0"/>
            <a:r>
              <a:rPr lang="en-ZA" dirty="0">
                <a:latin typeface="Arial Rounded MT Bold" panose="020F0704030504030204" pitchFamily="34" charset="0"/>
              </a:rPr>
              <a:t>Aim</a:t>
            </a:r>
          </a:p>
          <a:p>
            <a:pPr lvl="0"/>
            <a:r>
              <a:rPr lang="en-ZA" dirty="0">
                <a:latin typeface="Arial Rounded MT Bold" panose="020F0704030504030204" pitchFamily="34" charset="0"/>
              </a:rPr>
              <a:t>Research question/hypothesis</a:t>
            </a:r>
          </a:p>
          <a:p>
            <a:pPr lvl="0"/>
            <a:r>
              <a:rPr lang="en-ZA" dirty="0">
                <a:latin typeface="Arial Rounded MT Bold" panose="020F0704030504030204" pitchFamily="34" charset="0"/>
              </a:rPr>
              <a:t>Objectives</a:t>
            </a:r>
          </a:p>
          <a:p>
            <a:pPr lvl="0"/>
            <a:r>
              <a:rPr lang="en-ZA" dirty="0">
                <a:latin typeface="Arial Rounded MT Bold" panose="020F0704030504030204" pitchFamily="34" charset="0"/>
              </a:rPr>
              <a:t>Literature review</a:t>
            </a:r>
          </a:p>
          <a:p>
            <a:pPr lvl="0"/>
            <a:r>
              <a:rPr lang="en-ZA" dirty="0">
                <a:latin typeface="Arial Rounded MT Bold" panose="020F0704030504030204" pitchFamily="34" charset="0"/>
              </a:rPr>
              <a:t>Research methodology </a:t>
            </a:r>
          </a:p>
          <a:p>
            <a:pPr lvl="0"/>
            <a:r>
              <a:rPr lang="en-ZA" dirty="0">
                <a:latin typeface="Arial Rounded MT Bold" panose="020F0704030504030204" pitchFamily="34" charset="0"/>
              </a:rPr>
              <a:t>Expected contribution </a:t>
            </a:r>
          </a:p>
          <a:p>
            <a:pPr lvl="0"/>
            <a:r>
              <a:rPr lang="en-ZA" dirty="0">
                <a:latin typeface="Arial Rounded MT Bold" panose="020F0704030504030204" pitchFamily="34" charset="0"/>
              </a:rPr>
              <a:t>Plan of research activities </a:t>
            </a:r>
          </a:p>
          <a:p>
            <a:pPr lvl="0"/>
            <a:r>
              <a:rPr lang="en-ZA" dirty="0">
                <a:latin typeface="Arial Rounded MT Bold" panose="020F0704030504030204" pitchFamily="34" charset="0"/>
              </a:rPr>
              <a:t>Budget </a:t>
            </a:r>
          </a:p>
          <a:p>
            <a:pPr lvl="0"/>
            <a:r>
              <a:rPr lang="en-ZA" dirty="0">
                <a:latin typeface="Arial Rounded MT Bold" panose="020F0704030504030204" pitchFamily="34" charset="0"/>
              </a:rPr>
              <a:t>Structure of thesis (Chapter)</a:t>
            </a:r>
          </a:p>
          <a:p>
            <a:r>
              <a:rPr lang="en-ZA" dirty="0">
                <a:latin typeface="Arial Rounded MT Bold" panose="020F0704030504030204" pitchFamily="34" charset="0"/>
              </a:rPr>
              <a:t>Ethics approval section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24</a:t>
            </a:fld>
            <a:endParaRPr lang="en-ZA"/>
          </a:p>
        </p:txBody>
      </p:sp>
      <p:sp>
        <p:nvSpPr>
          <p:cNvPr id="5" name="Oval Callout 4"/>
          <p:cNvSpPr/>
          <p:nvPr/>
        </p:nvSpPr>
        <p:spPr>
          <a:xfrm>
            <a:off x="7962900" y="1276350"/>
            <a:ext cx="1828800" cy="962025"/>
          </a:xfrm>
          <a:prstGeom prst="wedgeEllipse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See </a:t>
            </a:r>
            <a:r>
              <a:rPr lang="en-US" dirty="0" err="1"/>
              <a:t>Pg2a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341678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085849"/>
            <a:ext cx="10018713" cy="4705351"/>
          </a:xfrm>
        </p:spPr>
        <p:txBody>
          <a:bodyPr anchor="t"/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Title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Should be concise, descriptive of the study and exciting. The aim should be embodied in the title.</a:t>
            </a:r>
          </a:p>
          <a:p>
            <a:endParaRPr lang="en-US" dirty="0">
              <a:latin typeface="Arial Rounded MT Bold" panose="020F0704030504030204" pitchFamily="34" charset="0"/>
            </a:endParaRPr>
          </a:p>
          <a:p>
            <a:pPr marL="457200" lvl="1" indent="0">
              <a:buNone/>
            </a:pP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Real-time detection of credit card fraud using ensemble deep learning algorithm 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Guidelines for improved business analysis of public service websites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Modeling user experience in human-robot interaction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Identifying students at risk using ensemble machine learning model</a:t>
            </a:r>
          </a:p>
          <a:p>
            <a:pPr marL="457200" lvl="1" indent="0">
              <a:buNone/>
            </a:pPr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25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647382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085849"/>
            <a:ext cx="10018713" cy="4705351"/>
          </a:xfrm>
        </p:spPr>
        <p:txBody>
          <a:bodyPr anchor="t"/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Context of study: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Describe the domain of the research i.e. what area in the literature do you aim to contribute towards?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Introduce the main </a:t>
            </a:r>
            <a:r>
              <a:rPr lang="en-US" i="1" dirty="0">
                <a:latin typeface="Arial Rounded MT Bold" panose="020F0704030504030204" pitchFamily="34" charset="0"/>
              </a:rPr>
              <a:t>variables</a:t>
            </a:r>
            <a:r>
              <a:rPr lang="en-US" dirty="0">
                <a:latin typeface="Arial Rounded MT Bold" panose="020F0704030504030204" pitchFamily="34" charset="0"/>
              </a:rPr>
              <a:t> of the study (usually 2 or 3)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Briefly show gaps in literature concerning those variables</a:t>
            </a:r>
          </a:p>
          <a:p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26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714616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085849"/>
            <a:ext cx="10018713" cy="4705351"/>
          </a:xfrm>
        </p:spPr>
        <p:txBody>
          <a:bodyPr anchor="t"/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Research Problem: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What are the challenges?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What is current literature lacking or gaps in literature?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Main research question</a:t>
            </a:r>
          </a:p>
          <a:p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27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83604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085849"/>
            <a:ext cx="10018713" cy="4705351"/>
          </a:xfrm>
        </p:spPr>
        <p:txBody>
          <a:bodyPr anchor="t"/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Aims and objectives: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What do you plan to do to solve identified problems?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How will you solve the problems? i.e. state the objectives of the study (3)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Introduce your sub-research questions</a:t>
            </a:r>
          </a:p>
          <a:p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28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862786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085849"/>
            <a:ext cx="10018713" cy="4705351"/>
          </a:xfrm>
        </p:spPr>
        <p:txBody>
          <a:bodyPr anchor="t"/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Literature review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Synthesis of literature to make a case for the need for your study.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Show state-of-art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Show “gaps”</a:t>
            </a:r>
          </a:p>
          <a:p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29</a:t>
            </a:fld>
            <a:endParaRPr lang="en-ZA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3302" y="4373880"/>
            <a:ext cx="2857500" cy="1600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4000500"/>
            <a:ext cx="4191000" cy="2346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52085" y="6227713"/>
            <a:ext cx="20329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Growadvisors.com</a:t>
            </a:r>
            <a:endParaRPr lang="en-ZA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7349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085849"/>
            <a:ext cx="10018713" cy="4705351"/>
          </a:xfrm>
        </p:spPr>
        <p:txBody>
          <a:bodyPr anchor="t"/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Research methodology: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Research type, research strategy, research method(s), data collection and data analysis approach, plan to validate findings.</a:t>
            </a:r>
          </a:p>
          <a:p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30</a:t>
            </a:fld>
            <a:endParaRPr lang="en-ZA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2464" y="2909888"/>
            <a:ext cx="5104976" cy="25765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14367" y="5697854"/>
            <a:ext cx="20072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Researchgate.com</a:t>
            </a:r>
            <a:endParaRPr lang="en-ZA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8237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085849"/>
            <a:ext cx="10018713" cy="4705351"/>
          </a:xfrm>
        </p:spPr>
        <p:txBody>
          <a:bodyPr anchor="t"/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Expected contributions</a:t>
            </a:r>
          </a:p>
          <a:p>
            <a:pPr marL="0" indent="0">
              <a:buNone/>
            </a:pPr>
            <a:r>
              <a:rPr lang="en-US" dirty="0">
                <a:latin typeface="Arial Rounded MT Bold" panose="020F0704030504030204" pitchFamily="34" charset="0"/>
              </a:rPr>
              <a:t>Briefly state how your study will contribute towards the body of knowledge </a:t>
            </a:r>
          </a:p>
          <a:p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31</a:t>
            </a:fld>
            <a:endParaRPr lang="en-ZA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0489" y="2519362"/>
            <a:ext cx="3784274" cy="29765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38567" y="5326648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Open.edx.eu</a:t>
            </a:r>
            <a:endParaRPr lang="en-ZA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9123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085849"/>
            <a:ext cx="10018713" cy="4705351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Skills that need to be developed before writing a good research proposal</a:t>
            </a:r>
          </a:p>
          <a:p>
            <a:pPr marL="0" indent="0">
              <a:buNone/>
            </a:pPr>
            <a:endParaRPr lang="en-US" dirty="0">
              <a:latin typeface="Arial Rounded MT Bold" panose="020F0704030504030204" pitchFamily="34" charset="0"/>
            </a:endParaRPr>
          </a:p>
          <a:p>
            <a:r>
              <a:rPr lang="en-US" dirty="0">
                <a:latin typeface="Arial Rounded MT Bold" panose="020F0704030504030204" pitchFamily="34" charset="0"/>
              </a:rPr>
              <a:t>Knowledge of the state-of-the-art in the intended area of research. This includes new developments evident in literature and methodology 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Scientific writing and grasp of nomenclature relevant to the field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Critical thinking to provide a good analysis, evaluation and synthesis of literature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Communication skills to produce a high quality write-up</a:t>
            </a:r>
          </a:p>
          <a:p>
            <a:pPr marL="0" indent="0">
              <a:buNone/>
            </a:pPr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32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870339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A6E50-06E9-4545-971A-004AB8019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0059"/>
            <a:ext cx="10018713" cy="55311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literature review assists the researcher in ___</a:t>
            </a:r>
          </a:p>
          <a:p>
            <a:pPr marL="0" indent="0">
              <a:buNone/>
            </a:pPr>
            <a:r>
              <a:rPr lang="en-US" sz="1800" dirty="0"/>
              <a:t>A. Formulating a research question and objectives</a:t>
            </a:r>
          </a:p>
          <a:p>
            <a:pPr marL="0" indent="0">
              <a:buNone/>
            </a:pPr>
            <a:r>
              <a:rPr lang="en-US" sz="1800" dirty="0"/>
              <a:t>B. Determining the research strategy</a:t>
            </a:r>
          </a:p>
          <a:p>
            <a:pPr marL="0" indent="0">
              <a:buNone/>
            </a:pPr>
            <a:r>
              <a:rPr lang="en-US" sz="1800" dirty="0"/>
              <a:t>C. Understanding the state-of-the-art of an area</a:t>
            </a:r>
          </a:p>
          <a:p>
            <a:pPr marL="0" indent="0">
              <a:buNone/>
            </a:pPr>
            <a:r>
              <a:rPr lang="en-US" sz="1800" dirty="0"/>
              <a:t>D. Writing the research proposal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Which of the following least applies to sampling?</a:t>
            </a:r>
          </a:p>
          <a:p>
            <a:pPr marL="0" indent="0">
              <a:buNone/>
            </a:pPr>
            <a:r>
              <a:rPr lang="en-US" sz="1800" dirty="0"/>
              <a:t>A.	Selecting a small number of items from a much larger group </a:t>
            </a:r>
          </a:p>
          <a:p>
            <a:pPr marL="0" indent="0">
              <a:buNone/>
            </a:pPr>
            <a:r>
              <a:rPr lang="en-US" sz="1800" dirty="0"/>
              <a:t>B.	The entire population is included in the research</a:t>
            </a:r>
          </a:p>
          <a:p>
            <a:pPr marL="0" indent="0">
              <a:buNone/>
            </a:pPr>
            <a:r>
              <a:rPr lang="en-US" sz="1800" dirty="0"/>
              <a:t>C.	the research results are generalized to the population</a:t>
            </a:r>
          </a:p>
          <a:p>
            <a:pPr marL="0" indent="0">
              <a:buNone/>
            </a:pPr>
            <a:r>
              <a:rPr lang="en-US" sz="1800" dirty="0"/>
              <a:t>D.	the sample is an accurate representation of the whole population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67E855-F2BA-461B-8B2D-8D3D5798E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</a:t>
            </a:r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662C4E-EFDB-4DDE-A401-AF149E179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33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682368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581151"/>
            <a:ext cx="10018713" cy="4210050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endParaRPr lang="en-US" dirty="0">
              <a:latin typeface="Arial Rounded MT Bold" panose="020F0704030504030204" pitchFamily="34" charset="0"/>
            </a:endParaRPr>
          </a:p>
          <a:p>
            <a:pPr marL="0" indent="0" algn="ctr">
              <a:buNone/>
            </a:pPr>
            <a:endParaRPr lang="en-US" dirty="0">
              <a:latin typeface="Arial Rounded MT Bold" panose="020F0704030504030204" pitchFamily="34" charset="0"/>
            </a:endParaRPr>
          </a:p>
          <a:p>
            <a:pPr marL="0" indent="0" algn="ctr">
              <a:buNone/>
            </a:pPr>
            <a:endParaRPr lang="en-US">
              <a:latin typeface="Arial Rounded MT Bold" panose="020F0704030504030204" pitchFamily="34" charset="0"/>
            </a:endParaRPr>
          </a:p>
          <a:p>
            <a:pPr marL="0" indent="0" algn="ctr">
              <a:buNone/>
            </a:pPr>
            <a:r>
              <a:rPr lang="en-US" dirty="0">
                <a:latin typeface="Arial Rounded MT Bold" panose="020F0704030504030204" pitchFamily="34" charset="0"/>
              </a:rPr>
              <a:t>Questions and comments are welcome: </a:t>
            </a:r>
            <a:r>
              <a:rPr lang="en-US" dirty="0">
                <a:latin typeface="Arial Rounded MT Bold" panose="020F0704030504030204" pitchFamily="34" charset="0"/>
                <a:hlinkClick r:id="rId2"/>
              </a:rPr>
              <a:t>lindelweyizizwem@dut.ac.za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34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139419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13231</TotalTime>
  <Words>1800</Words>
  <Application>Microsoft Office PowerPoint</Application>
  <PresentationFormat>Widescreen</PresentationFormat>
  <Paragraphs>270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Arial Black</vt:lpstr>
      <vt:lpstr>Arial Rounded MT Bold</vt:lpstr>
      <vt:lpstr>Bahnschrift Condensed</vt:lpstr>
      <vt:lpstr>Calibri</vt:lpstr>
      <vt:lpstr>Corbel</vt:lpstr>
      <vt:lpstr>Parallax</vt:lpstr>
      <vt:lpstr>Stages for research</vt:lpstr>
      <vt:lpstr>Content</vt:lpstr>
      <vt:lpstr>1. The research 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RQs</vt:lpstr>
      <vt:lpstr>Example Hypothesis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 The components of a research proposal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Alveen Singh</dc:creator>
  <cp:lastModifiedBy>Lindelweyizizwe  Manqele</cp:lastModifiedBy>
  <cp:revision>43</cp:revision>
  <dcterms:created xsi:type="dcterms:W3CDTF">2021-03-04T08:54:00Z</dcterms:created>
  <dcterms:modified xsi:type="dcterms:W3CDTF">2025-02-27T04:40:33Z</dcterms:modified>
</cp:coreProperties>
</file>