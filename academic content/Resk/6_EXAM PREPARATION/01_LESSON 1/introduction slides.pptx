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6"/>
  </p:notesMasterIdLst>
  <p:sldIdLst>
    <p:sldId id="256" r:id="rId2"/>
    <p:sldId id="257" r:id="rId3"/>
    <p:sldId id="286" r:id="rId4"/>
    <p:sldId id="259" r:id="rId5"/>
    <p:sldId id="258" r:id="rId6"/>
    <p:sldId id="285" r:id="rId7"/>
    <p:sldId id="26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87" r:id="rId17"/>
    <p:sldId id="270" r:id="rId18"/>
    <p:sldId id="271" r:id="rId19"/>
    <p:sldId id="272" r:id="rId20"/>
    <p:sldId id="288" r:id="rId21"/>
    <p:sldId id="273" r:id="rId22"/>
    <p:sldId id="274" r:id="rId23"/>
    <p:sldId id="289" r:id="rId24"/>
    <p:sldId id="275" r:id="rId25"/>
    <p:sldId id="276" r:id="rId26"/>
    <p:sldId id="290" r:id="rId27"/>
    <p:sldId id="277" r:id="rId28"/>
    <p:sldId id="278" r:id="rId29"/>
    <p:sldId id="280" r:id="rId30"/>
    <p:sldId id="281" r:id="rId31"/>
    <p:sldId id="291" r:id="rId32"/>
    <p:sldId id="282" r:id="rId33"/>
    <p:sldId id="284" r:id="rId34"/>
    <p:sldId id="283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veen Singh" userId="6daf11db-8a8e-4669-8f9d-4d2596173bbf" providerId="ADAL" clId="{3E8DD45B-17EA-49EF-A3A5-8139F1A18970}"/>
    <pc:docChg chg="modSld">
      <pc:chgData name="Alveen Singh" userId="6daf11db-8a8e-4669-8f9d-4d2596173bbf" providerId="ADAL" clId="{3E8DD45B-17EA-49EF-A3A5-8139F1A18970}" dt="2023-02-23T05:57:33.965" v="22" actId="20577"/>
      <pc:docMkLst>
        <pc:docMk/>
      </pc:docMkLst>
      <pc:sldChg chg="modSp">
        <pc:chgData name="Alveen Singh" userId="6daf11db-8a8e-4669-8f9d-4d2596173bbf" providerId="ADAL" clId="{3E8DD45B-17EA-49EF-A3A5-8139F1A18970}" dt="2023-02-23T05:57:33.965" v="22" actId="20577"/>
        <pc:sldMkLst>
          <pc:docMk/>
          <pc:sldMk cId="2334617872" sldId="256"/>
        </pc:sldMkLst>
        <pc:spChg chg="mod">
          <ac:chgData name="Alveen Singh" userId="6daf11db-8a8e-4669-8f9d-4d2596173bbf" providerId="ADAL" clId="{3E8DD45B-17EA-49EF-A3A5-8139F1A18970}" dt="2023-02-23T05:57:33.965" v="22" actId="20577"/>
          <ac:spMkLst>
            <pc:docMk/>
            <pc:sldMk cId="2334617872" sldId="256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50C11D-7828-48C6-8246-59BE68BD20F0}" type="datetimeFigureOut">
              <a:rPr lang="en-ZA" smtClean="0"/>
              <a:t>2023/02/23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6F48F3-C0B4-4BC0-86E0-B967F99D479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20142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28D37-95C3-44F7-AE8E-881A10213EA3}" type="datetime1">
              <a:rPr lang="en-ZA" smtClean="0"/>
              <a:t>2023/02/23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r>
              <a:rPr lang="en-US"/>
              <a:t>Dr Alveen Singh - Dept of IT, DUT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08662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1AAE5-7A8E-4208-BF09-B530E987BCEF}" type="datetime1">
              <a:rPr lang="en-ZA" smtClean="0"/>
              <a:t>2023/02/23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IT, DUT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93141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FEC37-2B04-4DCB-96FE-47B96EE6AAC7}" type="datetime1">
              <a:rPr lang="en-ZA" smtClean="0"/>
              <a:t>2023/02/23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IT, DUT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36335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3F7FE-8EEE-42D1-B2C6-1F58E458A2FE}" type="datetime1">
              <a:rPr lang="en-ZA" smtClean="0"/>
              <a:t>2023/02/23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IT, DUT</a:t>
            </a:r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68141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19169-61F3-40F7-997A-1FF99A1C7582}" type="datetime1">
              <a:rPr lang="en-ZA" smtClean="0"/>
              <a:t>2023/02/23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IT, DUT</a:t>
            </a:r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57242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087F4-B634-4680-9227-FE161A93F98E}" type="datetime1">
              <a:rPr lang="en-ZA" smtClean="0"/>
              <a:t>2023/02/23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IT, DUT</a:t>
            </a:r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97860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2DB93-E675-4C94-8F02-169309092085}" type="datetime1">
              <a:rPr lang="en-ZA" smtClean="0"/>
              <a:t>2023/02/23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IT, DUT</a:t>
            </a: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99011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4D620-45D9-4520-9CB9-AD3B7D839BA4}" type="datetime1">
              <a:rPr lang="en-ZA" smtClean="0"/>
              <a:t>2023/02/23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IT, DUT</a:t>
            </a:r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00748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936D4-2849-4446-96AC-9D7739F23AF4}" type="datetime1">
              <a:rPr lang="en-ZA" smtClean="0"/>
              <a:t>2023/02/23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IT, DUT</a:t>
            </a:r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26297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12318-56AC-49E0-8D4D-9AD9CD1BC761}" type="datetime1">
              <a:rPr lang="en-ZA" smtClean="0"/>
              <a:t>2023/02/23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IT, DUT</a:t>
            </a:r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80369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96FB9-1173-4CC0-856E-902F47FB7694}" type="datetime1">
              <a:rPr lang="en-ZA" smtClean="0"/>
              <a:t>2023/02/23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IT, DUT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823515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EE5CF-9568-4207-B861-703B3987249C}" type="datetime1">
              <a:rPr lang="en-ZA" smtClean="0"/>
              <a:t>2023/02/23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IT, DUT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130209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67973-CFD6-474F-B41D-9607D3ADC15A}" type="datetime1">
              <a:rPr lang="en-ZA" smtClean="0"/>
              <a:t>2023/02/23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IT, DUT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327880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60A19-AB65-4A5A-A0F2-8C4DE0640802}" type="datetime1">
              <a:rPr lang="en-ZA" smtClean="0"/>
              <a:t>2023/02/23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IT, DUT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572516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F36D7-6BDC-45EE-BE27-767FEF6A39B2}" type="datetime1">
              <a:rPr lang="en-ZA" smtClean="0"/>
              <a:t>2023/02/23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IT, DUT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567558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646E5-E502-4C6A-B05E-D6A75F3E38BD}" type="datetime1">
              <a:rPr lang="en-ZA" smtClean="0"/>
              <a:t>2023/02/23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IT, DUT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468372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00BE7-DED8-4E66-BE93-DF1CF4590C09}" type="datetime1">
              <a:rPr lang="en-ZA" smtClean="0"/>
              <a:t>2023/02/23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IT, DUT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75476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D4B9C5E-5F42-4118-82D5-76969B458913}" type="datetime1">
              <a:rPr lang="en-ZA" smtClean="0"/>
              <a:t>2023/02/23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/>
              <a:t>Dr Alveen Singh - Dept of IT, DUT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92619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mailto:alveens@dut.ac.za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Z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39202" y="4314825"/>
            <a:ext cx="6987645" cy="1822451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Dr</a:t>
            </a:r>
            <a:r>
              <a:rPr lang="en-US" b="1" dirty="0">
                <a:solidFill>
                  <a:srgbClr val="0070C0"/>
                </a:solidFill>
              </a:rPr>
              <a:t> Alveen Singh</a:t>
            </a:r>
          </a:p>
          <a:p>
            <a:r>
              <a:rPr lang="en-US" b="1" dirty="0">
                <a:solidFill>
                  <a:srgbClr val="0070C0"/>
                </a:solidFill>
              </a:rPr>
              <a:t>Department of Information Technology</a:t>
            </a:r>
          </a:p>
          <a:p>
            <a:r>
              <a:rPr lang="en-US" b="1" dirty="0">
                <a:solidFill>
                  <a:srgbClr val="0070C0"/>
                </a:solidFill>
              </a:rPr>
              <a:t>Research skills/Project 3A</a:t>
            </a:r>
          </a:p>
          <a:p>
            <a:r>
              <a:rPr lang="en-US" b="1" dirty="0">
                <a:solidFill>
                  <a:srgbClr val="0070C0"/>
                </a:solidFill>
              </a:rPr>
              <a:t>Advanced Diploma in ICT/B.ICT</a:t>
            </a:r>
          </a:p>
          <a:p>
            <a:r>
              <a:rPr lang="en-US" b="1" dirty="0">
                <a:solidFill>
                  <a:srgbClr val="0070C0"/>
                </a:solidFill>
              </a:rPr>
              <a:t>Semester 1 2023</a:t>
            </a:r>
            <a:endParaRPr lang="en-ZA" b="1" dirty="0">
              <a:solidFill>
                <a:srgbClr val="0070C0"/>
              </a:solidFill>
            </a:endParaRPr>
          </a:p>
        </p:txBody>
      </p:sp>
      <p:pic>
        <p:nvPicPr>
          <p:cNvPr id="5" name="Picture 4" descr="A close up of a sign&#10;&#10;Description automatically generated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0450" y="318611"/>
            <a:ext cx="4503829" cy="1405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617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457200">
              <a:buFont typeface="+mj-lt"/>
              <a:buAutoNum type="arabicPeriod"/>
            </a:pPr>
            <a:r>
              <a:rPr lang="en-ZA" b="1" dirty="0"/>
              <a:t>Defining “Research”</a:t>
            </a:r>
            <a:endParaRPr lang="en-ZA" dirty="0"/>
          </a:p>
          <a:p>
            <a:pPr marL="457200" lvl="0" indent="-457200">
              <a:buFont typeface="+mj-lt"/>
              <a:buAutoNum type="arabicPeriod"/>
            </a:pPr>
            <a:r>
              <a:rPr lang="en-ZA" b="1" dirty="0"/>
              <a:t>Basic types of research </a:t>
            </a:r>
            <a:endParaRPr lang="en-ZA" dirty="0"/>
          </a:p>
          <a:p>
            <a:pPr marL="457200" lvl="0" indent="-457200">
              <a:buFont typeface="+mj-lt"/>
              <a:buAutoNum type="arabicPeriod"/>
            </a:pPr>
            <a:r>
              <a:rPr lang="en-ZA" b="1" dirty="0"/>
              <a:t>The purpose of research</a:t>
            </a:r>
            <a:endParaRPr lang="en-ZA" dirty="0"/>
          </a:p>
          <a:p>
            <a:pPr marL="457200" lvl="0" indent="-457200">
              <a:buFont typeface="+mj-lt"/>
              <a:buAutoNum type="arabicPeriod"/>
            </a:pPr>
            <a:r>
              <a:rPr lang="en-ZA" b="1" dirty="0"/>
              <a:t>Research in the field of IT</a:t>
            </a:r>
            <a:endParaRPr lang="en-ZA" dirty="0"/>
          </a:p>
          <a:p>
            <a:endParaRPr lang="en-Z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612" t="3741" r="4275" b="17347"/>
          <a:stretch/>
        </p:blipFill>
        <p:spPr>
          <a:xfrm>
            <a:off x="8162925" y="457199"/>
            <a:ext cx="3733800" cy="2209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277475" y="2631071"/>
            <a:ext cx="19145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rgbClr val="FF0000"/>
                </a:solidFill>
                <a:latin typeface="Bahnschrift" panose="020B0502040204020203" pitchFamily="34" charset="0"/>
              </a:rPr>
              <a:t>Somecards.com</a:t>
            </a:r>
            <a:endParaRPr lang="en-ZA" sz="1600" dirty="0">
              <a:solidFill>
                <a:srgbClr val="FF0000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IT, DUT</a:t>
            </a:r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71301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IT, DUT</a:t>
            </a:r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3</a:t>
            </a:fld>
            <a:endParaRPr lang="en-ZA"/>
          </a:p>
        </p:txBody>
      </p:sp>
      <p:pic>
        <p:nvPicPr>
          <p:cNvPr id="3074" name="Picture 2" descr="The Importance of Researc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75" y="492125"/>
            <a:ext cx="9525000" cy="529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807450" y="5889625"/>
            <a:ext cx="2524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The Research Society</a:t>
            </a:r>
            <a:endParaRPr lang="en-ZA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4106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2586445"/>
            <a:ext cx="10018713" cy="3204755"/>
          </a:xfrm>
        </p:spPr>
        <p:txBody>
          <a:bodyPr anchor="t"/>
          <a:lstStyle/>
          <a:p>
            <a:pPr marL="0" indent="0" algn="ctr">
              <a:buNone/>
            </a:pPr>
            <a:r>
              <a:rPr lang="en-US" dirty="0">
                <a:latin typeface="Arial Rounded MT Bold" panose="020F0704030504030204" pitchFamily="34" charset="0"/>
              </a:rPr>
              <a:t>“a rigorous process of asking question, gathering data, </a:t>
            </a:r>
            <a:r>
              <a:rPr lang="en-US" dirty="0" err="1">
                <a:latin typeface="Arial Rounded MT Bold" panose="020F0704030504030204" pitchFamily="34" charset="0"/>
              </a:rPr>
              <a:t>analysing</a:t>
            </a:r>
            <a:r>
              <a:rPr lang="en-US" dirty="0">
                <a:latin typeface="Arial Rounded MT Bold" panose="020F0704030504030204" pitchFamily="34" charset="0"/>
              </a:rPr>
              <a:t>, interpreting, and proposing a response </a:t>
            </a:r>
          </a:p>
          <a:p>
            <a:pPr marL="0" indent="0" algn="ctr">
              <a:buNone/>
            </a:pPr>
            <a:r>
              <a:rPr lang="en-US" dirty="0">
                <a:latin typeface="Arial Rounded MT Bold" panose="020F0704030504030204" pitchFamily="34" charset="0"/>
              </a:rPr>
              <a:t>to the question” </a:t>
            </a:r>
          </a:p>
          <a:p>
            <a:pPr marL="0" indent="0" algn="ctr">
              <a:buNone/>
            </a:pPr>
            <a:r>
              <a:rPr lang="en-US" dirty="0">
                <a:latin typeface="Arial Rounded MT Bold" panose="020F0704030504030204" pitchFamily="34" charset="0"/>
              </a:rPr>
              <a:t>(</a:t>
            </a:r>
            <a:r>
              <a:rPr lang="en-US" dirty="0" err="1">
                <a:solidFill>
                  <a:srgbClr val="C00000"/>
                </a:solidFill>
                <a:latin typeface="Arial Rounded MT Bold" panose="020F0704030504030204" pitchFamily="34" charset="0"/>
              </a:rPr>
              <a:t>Kinash</a:t>
            </a:r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0"/>
              </a:rPr>
              <a:t>, 2017</a:t>
            </a:r>
            <a:r>
              <a:rPr lang="en-US" dirty="0">
                <a:latin typeface="Arial Rounded MT Bold" panose="020F0704030504030204" pitchFamily="34" charset="0"/>
              </a:rPr>
              <a:t>).</a:t>
            </a:r>
            <a:endParaRPr lang="en-Z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IT, DUT</a:t>
            </a:r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4</a:t>
            </a:fld>
            <a:endParaRPr lang="en-ZA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pPr lvl="0"/>
            <a:r>
              <a:rPr lang="en-ZA" b="1" dirty="0"/>
              <a:t>1. Defining </a:t>
            </a:r>
            <a:r>
              <a:rPr lang="en-ZA" b="1" dirty="0">
                <a:solidFill>
                  <a:srgbClr val="0070C0"/>
                </a:solidFill>
              </a:rPr>
              <a:t>“Research”</a:t>
            </a:r>
            <a:endParaRPr lang="en-ZA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4673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158241"/>
            <a:ext cx="10018713" cy="4632960"/>
          </a:xfrm>
        </p:spPr>
        <p:txBody>
          <a:bodyPr/>
          <a:lstStyle/>
          <a:p>
            <a:pPr marL="0" indent="0" algn="ctr">
              <a:buNone/>
            </a:pPr>
            <a:r>
              <a:rPr lang="en-ZA" dirty="0">
                <a:latin typeface="Arial Rounded MT Bold" panose="020F0704030504030204" pitchFamily="34" charset="0"/>
              </a:rPr>
              <a:t>“the creation of new knowledge or the use of existing knowledge in a new and creative way so as to generate new concepts, methodologies and understandings”</a:t>
            </a:r>
          </a:p>
          <a:p>
            <a:pPr marL="0" indent="0" algn="ctr">
              <a:buNone/>
            </a:pPr>
            <a:r>
              <a:rPr lang="en-ZA" dirty="0">
                <a:latin typeface="Arial Rounded MT Bold" panose="020F0704030504030204" pitchFamily="34" charset="0"/>
              </a:rPr>
              <a:t>(</a:t>
            </a:r>
            <a:r>
              <a:rPr lang="en-ZA" dirty="0">
                <a:solidFill>
                  <a:srgbClr val="C00000"/>
                </a:solidFill>
                <a:latin typeface="Arial Rounded MT Bold" panose="020F0704030504030204" pitchFamily="34" charset="0"/>
              </a:rPr>
              <a:t>University of Western Sydney, 2020</a:t>
            </a:r>
            <a:r>
              <a:rPr lang="en-ZA" dirty="0">
                <a:latin typeface="Arial Rounded MT Bold" panose="020F0704030504030204" pitchFamily="34" charset="0"/>
              </a:rPr>
              <a:t>).</a:t>
            </a:r>
          </a:p>
          <a:p>
            <a:pPr marL="0" indent="0">
              <a:buNone/>
            </a:pPr>
            <a:endParaRPr lang="en-Z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IT, DUT</a:t>
            </a:r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28775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IT, DUT</a:t>
            </a:r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6</a:t>
            </a:fld>
            <a:endParaRPr lang="en-ZA"/>
          </a:p>
        </p:txBody>
      </p:sp>
      <p:pic>
        <p:nvPicPr>
          <p:cNvPr id="1026" name="Picture 2" descr="Knoco stories: The 6 stages through which a knowledge topic matur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303212"/>
            <a:ext cx="7150100" cy="5362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8191500" y="5676900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Milton, 2019</a:t>
            </a:r>
            <a:endParaRPr lang="en-ZA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9467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9274" y="971549"/>
            <a:ext cx="4895055" cy="3124201"/>
          </a:xfrm>
        </p:spPr>
        <p:txBody>
          <a:bodyPr anchor="t"/>
          <a:lstStyle/>
          <a:p>
            <a:pPr marL="0" indent="0" algn="ctr">
              <a:buNone/>
            </a:pPr>
            <a:r>
              <a:rPr lang="en-US" dirty="0">
                <a:latin typeface="Arial Rounded MT Bold" panose="020F0704030504030204" pitchFamily="34" charset="0"/>
              </a:rPr>
              <a:t>“Any creative systematic activity undertaken in order to increase the stock of knowledge, including knowledge of man, culture and society, and the use of this knowledge to devise new applications” </a:t>
            </a:r>
          </a:p>
          <a:p>
            <a:pPr marL="0" indent="0" algn="ctr">
              <a:buNone/>
            </a:pPr>
            <a:r>
              <a:rPr lang="en-US" dirty="0">
                <a:latin typeface="Arial Rounded MT Bold" panose="020F0704030504030204" pitchFamily="34" charset="0"/>
              </a:rPr>
              <a:t>(OECD Glossary of Statistical Terms – UNESCO Definition, 2007).</a:t>
            </a:r>
            <a:endParaRPr lang="en-ZA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IT, DUT</a:t>
            </a:r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7</a:t>
            </a:fld>
            <a:endParaRPr lang="en-ZA"/>
          </a:p>
        </p:txBody>
      </p:sp>
      <p:pic>
        <p:nvPicPr>
          <p:cNvPr id="2050" name="Picture 2" descr="Research methodology is the specific procedures or techniques used to  identify, select, process, and analyze information a… | Academic writing,  Flow map, Flow chart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0" t="5216" r="6675" b="7613"/>
          <a:stretch/>
        </p:blipFill>
        <p:spPr bwMode="auto">
          <a:xfrm>
            <a:off x="6238875" y="1639677"/>
            <a:ext cx="5543551" cy="4189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9331323" y="5883275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</a:rPr>
              <a:t>Creatly</a:t>
            </a:r>
            <a:r>
              <a:rPr lang="en-US" dirty="0">
                <a:solidFill>
                  <a:srgbClr val="C00000"/>
                </a:solidFill>
              </a:rPr>
              <a:t>, 2019</a:t>
            </a:r>
            <a:endParaRPr lang="en-ZA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4261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9198" y="1047751"/>
            <a:ext cx="10253826" cy="4527110"/>
          </a:xfrm>
        </p:spPr>
        <p:txBody>
          <a:bodyPr anchor="t"/>
          <a:lstStyle/>
          <a:p>
            <a:pPr marL="0" indent="0" algn="ctr">
              <a:buNone/>
            </a:pPr>
            <a:r>
              <a:rPr lang="en-US" sz="3200" dirty="0">
                <a:latin typeface="Arial Rounded MT Bold" panose="020F0704030504030204" pitchFamily="34" charset="0"/>
              </a:rPr>
              <a:t>Why are we so concerned with research?</a:t>
            </a:r>
          </a:p>
          <a:p>
            <a:pPr marL="0" indent="0" algn="ctr">
              <a:buNone/>
            </a:pPr>
            <a:endParaRPr lang="en-US" dirty="0">
              <a:latin typeface="Arial Rounded MT Bold" panose="020F0704030504030204" pitchFamily="34" charset="0"/>
            </a:endParaRPr>
          </a:p>
          <a:p>
            <a:pPr marL="0" indent="0" algn="ctr">
              <a:buNone/>
            </a:pPr>
            <a:r>
              <a:rPr lang="en-ZA" dirty="0">
                <a:solidFill>
                  <a:srgbClr val="0070C0"/>
                </a:solidFill>
                <a:latin typeface="Arial Black" panose="020B0A04020102020204" pitchFamily="34" charset="0"/>
              </a:rPr>
              <a:t>Without research great developments would not be possible like electricity, vaccines, nuclear fission and the internet.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IT, DUT</a:t>
            </a: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8</a:t>
            </a:fld>
            <a:endParaRPr lang="en-ZA"/>
          </a:p>
        </p:txBody>
      </p:sp>
      <p:pic>
        <p:nvPicPr>
          <p:cNvPr id="4098" name="Picture 2" descr="20 Greatest Inventions in Computer Programming - Hongkia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0012" y="3697287"/>
            <a:ext cx="2405063" cy="2104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First mouse prototyp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0050" y="4330402"/>
            <a:ext cx="2767232" cy="1846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9331323" y="5883275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Wikimedia, 2019</a:t>
            </a:r>
            <a:endParaRPr lang="en-ZA" dirty="0">
              <a:solidFill>
                <a:srgbClr val="C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98906" y="6232256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Hicks via Flickr</a:t>
            </a:r>
            <a:endParaRPr lang="en-ZA" dirty="0">
              <a:solidFill>
                <a:srgbClr val="C00000"/>
              </a:solidFill>
            </a:endParaRPr>
          </a:p>
        </p:txBody>
      </p:sp>
      <p:pic>
        <p:nvPicPr>
          <p:cNvPr id="4102" name="Picture 6" descr="Initial Ord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244" y="3439020"/>
            <a:ext cx="4266556" cy="1814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2201848" y="5345421"/>
            <a:ext cx="2664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University of Cambridge</a:t>
            </a:r>
            <a:endParaRPr lang="en-ZA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4200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581151"/>
            <a:ext cx="10018713" cy="4210050"/>
          </a:xfrm>
        </p:spPr>
        <p:txBody>
          <a:bodyPr anchor="t"/>
          <a:lstStyle/>
          <a:p>
            <a:pPr marL="0" indent="0" algn="ctr">
              <a:buNone/>
            </a:pPr>
            <a:r>
              <a:rPr lang="en-US" dirty="0">
                <a:latin typeface="Arial Rounded MT Bold" panose="020F0704030504030204" pitchFamily="34" charset="0"/>
              </a:rPr>
              <a:t>Research is the process of asking </a:t>
            </a: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complicated questions </a:t>
            </a:r>
            <a:r>
              <a:rPr lang="en-US" dirty="0">
                <a:latin typeface="Arial Rounded MT Bold" panose="020F0704030504030204" pitchFamily="34" charset="0"/>
              </a:rPr>
              <a:t>and then systematically working towards an answer to this question</a:t>
            </a:r>
          </a:p>
          <a:p>
            <a:pPr marL="0" indent="0" algn="ctr">
              <a:buNone/>
            </a:pPr>
            <a:endParaRPr lang="en-US" dirty="0">
              <a:latin typeface="Arial Rounded MT Bold" panose="020F0704030504030204" pitchFamily="34" charset="0"/>
            </a:endParaRPr>
          </a:p>
          <a:p>
            <a:pPr marL="0" indent="0" algn="ctr">
              <a:buNone/>
            </a:pPr>
            <a:endParaRPr lang="en-ZA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IT, DUT</a:t>
            </a: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9</a:t>
            </a:fld>
            <a:endParaRPr lang="en-ZA"/>
          </a:p>
        </p:txBody>
      </p:sp>
      <p:pic>
        <p:nvPicPr>
          <p:cNvPr id="5122" name="Picture 2" descr="https://madatgravity96.files.wordpress.com/2017/03/wp-1489057816758.jpg?w=108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9536" y="2810669"/>
            <a:ext cx="2328863" cy="2328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8999536" y="5246943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Mad at gravity, 2017</a:t>
            </a:r>
            <a:endParaRPr lang="en-ZA" dirty="0">
              <a:solidFill>
                <a:srgbClr val="C0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4012" y="4035425"/>
            <a:ext cx="2466975" cy="18478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1125" y="4016075"/>
            <a:ext cx="2857500" cy="1600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23769" y="5680361"/>
            <a:ext cx="217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The origin times</a:t>
            </a:r>
            <a:endParaRPr lang="en-ZA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526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581151"/>
            <a:ext cx="10018713" cy="4210050"/>
          </a:xfrm>
        </p:spPr>
        <p:txBody>
          <a:bodyPr anchor="t"/>
          <a:lstStyle/>
          <a:p>
            <a:pPr marL="0" indent="0" algn="ctr">
              <a:buNone/>
            </a:pPr>
            <a:endParaRPr lang="en-US" dirty="0">
              <a:latin typeface="Arial Rounded MT Bold" panose="020F0704030504030204" pitchFamily="34" charset="0"/>
            </a:endParaRPr>
          </a:p>
          <a:p>
            <a:pPr marL="0" indent="0" algn="ctr">
              <a:buNone/>
            </a:pPr>
            <a:r>
              <a:rPr lang="en-US" dirty="0">
                <a:latin typeface="Arial Rounded MT Bold" panose="020F0704030504030204" pitchFamily="34" charset="0"/>
              </a:rPr>
              <a:t>Different researchers will arrive at different answers to the same question</a:t>
            </a:r>
          </a:p>
          <a:p>
            <a:pPr marL="0" indent="0" algn="ctr">
              <a:buNone/>
            </a:pPr>
            <a:endParaRPr lang="en-US" dirty="0">
              <a:latin typeface="Arial Rounded MT Bold" panose="020F0704030504030204" pitchFamily="34" charset="0"/>
            </a:endParaRPr>
          </a:p>
          <a:p>
            <a:pPr marL="0" indent="0" algn="ctr">
              <a:buNone/>
            </a:pPr>
            <a:endParaRPr lang="en-US" dirty="0">
              <a:latin typeface="Arial Rounded MT Bold" panose="020F0704030504030204" pitchFamily="34" charset="0"/>
            </a:endParaRPr>
          </a:p>
          <a:p>
            <a:pPr marL="0" indent="0" algn="ctr">
              <a:buNone/>
            </a:pPr>
            <a:r>
              <a:rPr lang="en-US" dirty="0">
                <a:latin typeface="Arial Rounded MT Bold" panose="020F0704030504030204" pitchFamily="34" charset="0"/>
              </a:rPr>
              <a:t>These are known as research contributions and collectively, they advance the field</a:t>
            </a:r>
          </a:p>
          <a:p>
            <a:pPr marL="0" indent="0" algn="ctr">
              <a:buNone/>
            </a:pPr>
            <a:endParaRPr lang="en-US" dirty="0">
              <a:latin typeface="Arial Rounded MT Bold" panose="020F0704030504030204" pitchFamily="34" charset="0"/>
            </a:endParaRPr>
          </a:p>
          <a:p>
            <a:pPr marL="0" indent="0" algn="ctr">
              <a:buNone/>
            </a:pPr>
            <a:endParaRPr lang="en-ZA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Dr</a:t>
            </a:r>
            <a:r>
              <a:rPr lang="en-US" dirty="0"/>
              <a:t> Alveen Singh - </a:t>
            </a:r>
            <a:r>
              <a:rPr lang="en-US" dirty="0" err="1"/>
              <a:t>Dept</a:t>
            </a:r>
            <a:r>
              <a:rPr lang="en-US" dirty="0"/>
              <a:t> of IT, </a:t>
            </a:r>
            <a:r>
              <a:rPr lang="en-US" dirty="0" err="1"/>
              <a:t>DUT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10</a:t>
            </a:fld>
            <a:endParaRPr lang="en-ZA"/>
          </a:p>
        </p:txBody>
      </p:sp>
      <p:pic>
        <p:nvPicPr>
          <p:cNvPr id="6146" name="Picture 2" descr="Question Mark With Different Directions Stock Illustration - Illustration  of help, choice: 51715864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467"/>
          <a:stretch/>
        </p:blipFill>
        <p:spPr bwMode="auto">
          <a:xfrm>
            <a:off x="9180186" y="241303"/>
            <a:ext cx="2548263" cy="1549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How Google's John Mueller &amp; Gary Illyes Answer The Same Question Differentl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0186" y="4865005"/>
            <a:ext cx="1917700" cy="926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7938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885825"/>
            <a:ext cx="10018713" cy="4905376"/>
          </a:xfrm>
        </p:spPr>
        <p:txBody>
          <a:bodyPr anchor="t"/>
          <a:lstStyle/>
          <a:p>
            <a:pPr marL="0" indent="0" algn="ctr">
              <a:buNone/>
            </a:pPr>
            <a:r>
              <a:rPr lang="en-US" dirty="0">
                <a:latin typeface="Arial Rounded MT Bold" panose="020F0704030504030204" pitchFamily="34" charset="0"/>
              </a:rPr>
              <a:t>For example,</a:t>
            </a:r>
          </a:p>
          <a:p>
            <a:pPr marL="0" indent="0" algn="ctr">
              <a:buNone/>
            </a:pPr>
            <a:r>
              <a:rPr lang="en-US" dirty="0">
                <a:latin typeface="Arial Rounded MT Bold" panose="020F0704030504030204" pitchFamily="34" charset="0"/>
              </a:rPr>
              <a:t>How can we detect harmful airborne contaminants ?</a:t>
            </a:r>
          </a:p>
          <a:p>
            <a:pPr marL="0" indent="0" algn="ctr">
              <a:buNone/>
            </a:pPr>
            <a:endParaRPr lang="en-US" dirty="0"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Bahnschrift" panose="020B0502040204020203" pitchFamily="34" charset="0"/>
              </a:rPr>
              <a:t>Manual measure</a:t>
            </a:r>
          </a:p>
          <a:p>
            <a:pPr marL="0" indent="0">
              <a:buNone/>
            </a:pPr>
            <a:r>
              <a:rPr lang="en-US" dirty="0">
                <a:latin typeface="Bahnschrift" panose="020B0502040204020203" pitchFamily="34" charset="0"/>
              </a:rPr>
              <a:t>Advances in wireless sensor technology (</a:t>
            </a:r>
            <a:r>
              <a:rPr lang="en-US" dirty="0" err="1">
                <a:latin typeface="Bahnschrift" panose="020B0502040204020203" pitchFamily="34" charset="0"/>
              </a:rPr>
              <a:t>WSN</a:t>
            </a:r>
            <a:r>
              <a:rPr lang="en-US" dirty="0">
                <a:latin typeface="Bahnschrift" panose="020B0502040204020203" pitchFamily="34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Bahnschrift" panose="020B0502040204020203" pitchFamily="34" charset="0"/>
              </a:rPr>
              <a:t>Training of machine learning algorithms to mimic human perception from safe to hazardous </a:t>
            </a:r>
          </a:p>
          <a:p>
            <a:pPr marL="0" indent="0">
              <a:buNone/>
            </a:pPr>
            <a:r>
              <a:rPr lang="en-US" dirty="0">
                <a:latin typeface="Bahnschrift" panose="020B0502040204020203" pitchFamily="34" charset="0"/>
              </a:rPr>
              <a:t>Automated control systems</a:t>
            </a:r>
          </a:p>
          <a:p>
            <a:pPr marL="0" indent="0" algn="ctr">
              <a:buNone/>
            </a:pPr>
            <a:endParaRPr lang="en-US" dirty="0">
              <a:latin typeface="Arial Rounded MT Bold" panose="020F0704030504030204" pitchFamily="34" charset="0"/>
            </a:endParaRPr>
          </a:p>
          <a:p>
            <a:pPr marL="0" indent="0" algn="ctr">
              <a:buNone/>
            </a:pPr>
            <a:endParaRPr lang="en-ZA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IT, DUT</a:t>
            </a: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11</a:t>
            </a:fld>
            <a:endParaRPr lang="en-ZA"/>
          </a:p>
        </p:txBody>
      </p:sp>
      <p:sp>
        <p:nvSpPr>
          <p:cNvPr id="5" name="Down Arrow 4"/>
          <p:cNvSpPr/>
          <p:nvPr/>
        </p:nvSpPr>
        <p:spPr>
          <a:xfrm>
            <a:off x="11099401" y="2432957"/>
            <a:ext cx="256075" cy="217714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TextBox 5"/>
          <p:cNvSpPr txBox="1"/>
          <p:nvPr/>
        </p:nvSpPr>
        <p:spPr>
          <a:xfrm>
            <a:off x="10582276" y="4686030"/>
            <a:ext cx="14048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advancements</a:t>
            </a:r>
            <a:endParaRPr lang="en-ZA" sz="1400" dirty="0"/>
          </a:p>
        </p:txBody>
      </p:sp>
    </p:spTree>
    <p:extLst>
      <p:ext uri="{BB962C8B-B14F-4D97-AF65-F5344CB8AC3E}">
        <p14:creationId xmlns:p14="http://schemas.microsoft.com/office/powerpoint/2010/main" val="13812994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581151"/>
            <a:ext cx="10018713" cy="4210050"/>
          </a:xfrm>
        </p:spPr>
        <p:txBody>
          <a:bodyPr anchor="t">
            <a:normAutofit lnSpcReduction="10000"/>
          </a:bodyPr>
          <a:lstStyle/>
          <a:p>
            <a:pPr marL="0" indent="0" algn="ctr">
              <a:buNone/>
            </a:pPr>
            <a:r>
              <a:rPr lang="en-US" dirty="0">
                <a:latin typeface="Arial Rounded MT Bold" panose="020F0704030504030204" pitchFamily="34" charset="0"/>
              </a:rPr>
              <a:t>The researcher will:</a:t>
            </a:r>
          </a:p>
          <a:p>
            <a:pPr marL="0" indent="0" algn="ctr">
              <a:buNone/>
            </a:pPr>
            <a:endParaRPr lang="en-US" dirty="0">
              <a:latin typeface="Arial Rounded MT Bold" panose="020F0704030504030204" pitchFamily="34" charset="0"/>
            </a:endParaRPr>
          </a:p>
          <a:p>
            <a:pPr marL="457200" indent="-457200" algn="ctr">
              <a:buFont typeface="+mj-lt"/>
              <a:buAutoNum type="arabicPeriod"/>
            </a:pPr>
            <a:r>
              <a:rPr lang="en-US" dirty="0">
                <a:latin typeface="Bahnschrift" panose="020B0502040204020203" pitchFamily="34" charset="0"/>
              </a:rPr>
              <a:t>Pose a research question</a:t>
            </a:r>
          </a:p>
          <a:p>
            <a:pPr marL="457200" indent="-457200" algn="ctr">
              <a:buFont typeface="+mj-lt"/>
              <a:buAutoNum type="arabicPeriod"/>
            </a:pPr>
            <a:r>
              <a:rPr lang="en-US" dirty="0">
                <a:latin typeface="Bahnschrift" panose="020B0502040204020203" pitchFamily="34" charset="0"/>
              </a:rPr>
              <a:t>Understand the current state (persistent problems, new approaches and their shortcomings)</a:t>
            </a:r>
          </a:p>
          <a:p>
            <a:pPr marL="457200" indent="-457200" algn="ctr">
              <a:buFont typeface="+mj-lt"/>
              <a:buAutoNum type="arabicPeriod"/>
            </a:pPr>
            <a:r>
              <a:rPr lang="en-US" dirty="0">
                <a:latin typeface="Bahnschrift" panose="020B0502040204020203" pitchFamily="34" charset="0"/>
              </a:rPr>
              <a:t>Collect data (primary or secondary)</a:t>
            </a:r>
          </a:p>
          <a:p>
            <a:pPr marL="457200" indent="-457200" algn="ctr">
              <a:buFont typeface="+mj-lt"/>
              <a:buAutoNum type="arabicPeriod"/>
            </a:pPr>
            <a:r>
              <a:rPr lang="en-US" dirty="0">
                <a:latin typeface="Bahnschrift" panose="020B0502040204020203" pitchFamily="34" charset="0"/>
              </a:rPr>
              <a:t>Analyze the data</a:t>
            </a:r>
          </a:p>
          <a:p>
            <a:pPr marL="457200" indent="-457200" algn="ctr">
              <a:buFont typeface="+mj-lt"/>
              <a:buAutoNum type="arabicPeriod"/>
            </a:pPr>
            <a:r>
              <a:rPr lang="en-US" dirty="0">
                <a:latin typeface="Bahnschrift" panose="020B0502040204020203" pitchFamily="34" charset="0"/>
              </a:rPr>
              <a:t>Draw conclusions from the analysis</a:t>
            </a:r>
          </a:p>
          <a:p>
            <a:pPr marL="457200" indent="-457200" algn="ctr">
              <a:buFont typeface="+mj-lt"/>
              <a:buAutoNum type="arabicPeriod"/>
            </a:pPr>
            <a:r>
              <a:rPr lang="en-US" dirty="0">
                <a:latin typeface="Bahnschrift" panose="020B0502040204020203" pitchFamily="34" charset="0"/>
              </a:rPr>
              <a:t>Answer the research question</a:t>
            </a:r>
          </a:p>
          <a:p>
            <a:pPr marL="0" indent="0" algn="ctr">
              <a:buNone/>
            </a:pPr>
            <a:endParaRPr lang="en-ZA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IT, DUT</a:t>
            </a: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12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645231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ZA" b="1" dirty="0"/>
              <a:t>2. Types of research</a:t>
            </a:r>
            <a:endParaRPr lang="en-ZA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0070C0"/>
                </a:solidFill>
                <a:latin typeface="Arial Black" panose="020B0A04020102020204" pitchFamily="34" charset="0"/>
              </a:rPr>
              <a:t>The type of research is determined by the </a:t>
            </a:r>
            <a:r>
              <a:rPr lang="en-US" sz="2800" dirty="0">
                <a:latin typeface="Arial Black" panose="020B0A04020102020204" pitchFamily="34" charset="0"/>
              </a:rPr>
              <a:t>nature</a:t>
            </a:r>
            <a:r>
              <a:rPr lang="en-US" sz="2800" dirty="0">
                <a:solidFill>
                  <a:srgbClr val="0070C0"/>
                </a:solidFill>
                <a:latin typeface="Arial Black" panose="020B0A04020102020204" pitchFamily="34" charset="0"/>
              </a:rPr>
              <a:t> of the research question, the </a:t>
            </a:r>
            <a:r>
              <a:rPr lang="en-US" sz="2800" dirty="0">
                <a:latin typeface="Arial Black" panose="020B0A04020102020204" pitchFamily="34" charset="0"/>
              </a:rPr>
              <a:t>type of data </a:t>
            </a:r>
            <a:r>
              <a:rPr lang="en-US" sz="2800" dirty="0">
                <a:solidFill>
                  <a:srgbClr val="0070C0"/>
                </a:solidFill>
                <a:latin typeface="Arial Black" panose="020B0A04020102020204" pitchFamily="34" charset="0"/>
              </a:rPr>
              <a:t>to be collected and how it will be </a:t>
            </a:r>
            <a:r>
              <a:rPr lang="en-US" sz="2800" dirty="0">
                <a:latin typeface="Arial Black" panose="020B0A04020102020204" pitchFamily="34" charset="0"/>
              </a:rPr>
              <a:t>analyzed</a:t>
            </a:r>
            <a:r>
              <a:rPr lang="en-US" sz="2800" dirty="0">
                <a:solidFill>
                  <a:srgbClr val="0070C0"/>
                </a:solidFill>
                <a:latin typeface="Arial Black" panose="020B0A04020102020204" pitchFamily="34" charset="0"/>
              </a:rPr>
              <a:t>.</a:t>
            </a:r>
            <a:endParaRPr lang="en-ZA" sz="28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IT, DUT</a:t>
            </a:r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13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656926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581151"/>
            <a:ext cx="10018713" cy="4210050"/>
          </a:xfrm>
        </p:spPr>
        <p:txBody>
          <a:bodyPr anchor="t"/>
          <a:lstStyle/>
          <a:p>
            <a:pPr marL="0" indent="0" algn="ctr">
              <a:buNone/>
            </a:pPr>
            <a:r>
              <a:rPr lang="en-ZA" dirty="0">
                <a:solidFill>
                  <a:srgbClr val="0070C0"/>
                </a:solidFill>
                <a:latin typeface="Arial Rounded MT Bold" panose="020F0704030504030204" pitchFamily="34" charset="0"/>
              </a:rPr>
              <a:t>Basic research</a:t>
            </a:r>
          </a:p>
          <a:p>
            <a:pPr marL="0" indent="0" algn="ctr">
              <a:buNone/>
            </a:pPr>
            <a:r>
              <a:rPr lang="en-ZA" dirty="0">
                <a:latin typeface="Arial Rounded MT Bold" panose="020F0704030504030204" pitchFamily="34" charset="0"/>
              </a:rPr>
              <a:t>Contributes to an existing body of knowledge through original results </a:t>
            </a:r>
          </a:p>
          <a:p>
            <a:pPr marL="0" indent="0" algn="ctr">
              <a:buNone/>
            </a:pPr>
            <a:r>
              <a:rPr lang="en-ZA" dirty="0">
                <a:latin typeface="Arial Rounded MT Bold" panose="020F0704030504030204" pitchFamily="34" charset="0"/>
              </a:rPr>
              <a:t>It is </a:t>
            </a:r>
            <a:r>
              <a:rPr lang="en-ZA" i="1" dirty="0">
                <a:solidFill>
                  <a:srgbClr val="0070C0"/>
                </a:solidFill>
                <a:latin typeface="Arial Rounded MT Bold" panose="020F0704030504030204" pitchFamily="34" charset="0"/>
              </a:rPr>
              <a:t>basic</a:t>
            </a:r>
            <a:r>
              <a:rPr lang="en-ZA" dirty="0">
                <a:latin typeface="Arial Rounded MT Bold" panose="020F0704030504030204" pitchFamily="34" charset="0"/>
              </a:rPr>
              <a:t> in approach </a:t>
            </a:r>
          </a:p>
          <a:p>
            <a:pPr marL="0" indent="0" algn="ctr">
              <a:buNone/>
            </a:pPr>
            <a:r>
              <a:rPr lang="en-ZA" dirty="0">
                <a:latin typeface="Arial Rounded MT Bold" panose="020F0704030504030204" pitchFamily="34" charset="0"/>
              </a:rPr>
              <a:t>(simple research questions and uncomplicated research methods) </a:t>
            </a:r>
          </a:p>
          <a:p>
            <a:pPr marL="0" indent="0" algn="ctr">
              <a:buNone/>
            </a:pPr>
            <a:r>
              <a:rPr lang="en-ZA" dirty="0">
                <a:latin typeface="Arial Rounded MT Bold" panose="020F0704030504030204" pitchFamily="34" charset="0"/>
              </a:rPr>
              <a:t>It results in a scientific explanation and conclusion on a research problem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IT, DUT</a:t>
            </a: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14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494561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581151"/>
            <a:ext cx="10018713" cy="4210050"/>
          </a:xfrm>
        </p:spPr>
        <p:txBody>
          <a:bodyPr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Applied research</a:t>
            </a:r>
          </a:p>
          <a:p>
            <a:pPr marL="0" indent="0" algn="ctr">
              <a:buNone/>
            </a:pPr>
            <a:r>
              <a:rPr lang="en-US" dirty="0">
                <a:latin typeface="Arial Rounded MT Bold" panose="020F0704030504030204" pitchFamily="34" charset="0"/>
              </a:rPr>
              <a:t>It aims to solve a practical problem faced by society, industry or some other significant group. </a:t>
            </a:r>
          </a:p>
          <a:p>
            <a:pPr marL="0" indent="0" algn="ctr">
              <a:buNone/>
            </a:pPr>
            <a:r>
              <a:rPr lang="en-US" dirty="0">
                <a:latin typeface="Arial Rounded MT Bold" panose="020F0704030504030204" pitchFamily="34" charset="0"/>
              </a:rPr>
              <a:t>Experimental research, design research and action research as examples of applied research. </a:t>
            </a:r>
          </a:p>
          <a:p>
            <a:pPr marL="0" indent="0" algn="ctr">
              <a:buNone/>
            </a:pPr>
            <a:r>
              <a:rPr lang="en-US" dirty="0">
                <a:latin typeface="Arial Rounded MT Bold" panose="020F0704030504030204" pitchFamily="34" charset="0"/>
              </a:rPr>
              <a:t>This type of research could result in new techniques, technology products or methodologies.</a:t>
            </a:r>
            <a:endParaRPr lang="en-ZA" dirty="0">
              <a:latin typeface="Arial Rounded MT Bold" panose="020F070403050403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IT, DUT</a:t>
            </a: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15</a:t>
            </a:fld>
            <a:endParaRPr lang="en-ZA"/>
          </a:p>
        </p:txBody>
      </p:sp>
      <p:sp>
        <p:nvSpPr>
          <p:cNvPr id="6" name="Oval Callout 5"/>
          <p:cNvSpPr/>
          <p:nvPr/>
        </p:nvSpPr>
        <p:spPr>
          <a:xfrm>
            <a:off x="9656456" y="361949"/>
            <a:ext cx="1583044" cy="1219201"/>
          </a:xfrm>
          <a:prstGeom prst="wedgeEllipseCallou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This is IT research</a:t>
            </a:r>
            <a:endParaRPr lang="en-ZA" sz="1600" b="1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6939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IT, DUT</a:t>
            </a:r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16</a:t>
            </a:fld>
            <a:endParaRPr lang="en-ZA"/>
          </a:p>
        </p:txBody>
      </p:sp>
      <p:pic>
        <p:nvPicPr>
          <p:cNvPr id="7170" name="Picture 2" descr="https://www.utep.edu/couri/_Files/images/web_graphics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035"/>
          <a:stretch/>
        </p:blipFill>
        <p:spPr bwMode="auto">
          <a:xfrm>
            <a:off x="3896023" y="280773"/>
            <a:ext cx="7712000" cy="5785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993635" y="5028428"/>
            <a:ext cx="244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The University of Texas</a:t>
            </a:r>
            <a:endParaRPr lang="en-ZA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09456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581151"/>
            <a:ext cx="10018713" cy="4210050"/>
          </a:xfrm>
        </p:spPr>
        <p:txBody>
          <a:bodyPr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Problem based research</a:t>
            </a:r>
          </a:p>
          <a:p>
            <a:pPr marL="0" indent="0" algn="ctr">
              <a:buNone/>
            </a:pPr>
            <a:endParaRPr lang="en-US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  <a:p>
            <a:pPr marL="0" indent="0" algn="ctr">
              <a:buNone/>
            </a:pP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>
                <a:latin typeface="Arial Rounded MT Bold" panose="020F0704030504030204" pitchFamily="34" charset="0"/>
              </a:rPr>
              <a:t>Aims to understand the nature of a problem </a:t>
            </a:r>
          </a:p>
          <a:p>
            <a:pPr marL="0" indent="0" algn="ctr">
              <a:buNone/>
            </a:pPr>
            <a:r>
              <a:rPr lang="en-US" dirty="0">
                <a:latin typeface="Arial Rounded MT Bold" panose="020F0704030504030204" pitchFamily="34" charset="0"/>
              </a:rPr>
              <a:t>To determine the possible causes of this problem</a:t>
            </a:r>
            <a:endParaRPr lang="en-ZA" dirty="0">
              <a:latin typeface="Arial Rounded MT Bold" panose="020F070403050403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IT, DUT</a:t>
            </a: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17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625022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581151"/>
            <a:ext cx="10018713" cy="4210050"/>
          </a:xfrm>
        </p:spPr>
        <p:txBody>
          <a:bodyPr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Qualitative research</a:t>
            </a:r>
          </a:p>
          <a:p>
            <a:pPr marL="0" indent="0" algn="ctr">
              <a:buNone/>
            </a:pPr>
            <a:r>
              <a:rPr lang="en-US" dirty="0">
                <a:latin typeface="Arial Rounded MT Bold" panose="020F0704030504030204" pitchFamily="34" charset="0"/>
              </a:rPr>
              <a:t>Aims at in-depth understanding of problems or issues in their natural settings. </a:t>
            </a:r>
          </a:p>
          <a:p>
            <a:pPr marL="0" indent="0" algn="ctr">
              <a:buNone/>
            </a:pPr>
            <a:r>
              <a:rPr lang="en-US" dirty="0">
                <a:latin typeface="Arial Rounded MT Bold" panose="020F0704030504030204" pitchFamily="34" charset="0"/>
              </a:rPr>
              <a:t>It is non-statistical. </a:t>
            </a:r>
          </a:p>
          <a:p>
            <a:pPr marL="0" indent="0" algn="ctr">
              <a:buNone/>
            </a:pPr>
            <a:r>
              <a:rPr lang="en-US" dirty="0">
                <a:latin typeface="Arial Rounded MT Bold" panose="020F0704030504030204" pitchFamily="34" charset="0"/>
              </a:rPr>
              <a:t>Data is collected from interviews, open-ended questions and observations and other ethnographic techniques</a:t>
            </a:r>
            <a:endParaRPr lang="en-ZA" dirty="0">
              <a:latin typeface="Arial Rounded MT Bold" panose="020F070403050403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IT, DUT</a:t>
            </a: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18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632160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581151"/>
            <a:ext cx="10018713" cy="4210050"/>
          </a:xfrm>
        </p:spPr>
        <p:txBody>
          <a:bodyPr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Quantitative research</a:t>
            </a:r>
          </a:p>
          <a:p>
            <a:pPr marL="0" indent="0" algn="ctr">
              <a:buNone/>
            </a:pPr>
            <a:r>
              <a:rPr lang="en-US" dirty="0">
                <a:latin typeface="Arial Rounded MT Bold" panose="020F0704030504030204" pitchFamily="34" charset="0"/>
              </a:rPr>
              <a:t>Uses computational and statistical techniques and calculations to collect and </a:t>
            </a:r>
            <a:r>
              <a:rPr lang="en-US" dirty="0" err="1">
                <a:latin typeface="Arial Rounded MT Bold" panose="020F0704030504030204" pitchFamily="34" charset="0"/>
              </a:rPr>
              <a:t>analyse</a:t>
            </a:r>
            <a:r>
              <a:rPr lang="en-US" dirty="0">
                <a:latin typeface="Arial Rounded MT Bold" panose="020F0704030504030204" pitchFamily="34" charset="0"/>
              </a:rPr>
              <a:t> data. </a:t>
            </a:r>
          </a:p>
          <a:p>
            <a:pPr marL="0" indent="0" algn="ctr">
              <a:buNone/>
            </a:pPr>
            <a:r>
              <a:rPr lang="en-US" dirty="0">
                <a:latin typeface="Arial Rounded MT Bold" panose="020F0704030504030204" pitchFamily="34" charset="0"/>
              </a:rPr>
              <a:t>Quantitative research is all about using numbers to prove or arrive at a conclusion. </a:t>
            </a:r>
            <a:endParaRPr lang="en-ZA" dirty="0">
              <a:latin typeface="Arial Rounded MT Bold" panose="020F070403050403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IT, DUT</a:t>
            </a: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19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075047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IT, DUT</a:t>
            </a:r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20</a:t>
            </a:fld>
            <a:endParaRPr lang="en-ZA"/>
          </a:p>
        </p:txBody>
      </p:sp>
      <p:pic>
        <p:nvPicPr>
          <p:cNvPr id="8194" name="Picture 2" descr="How to Use Qualitative and Quantitative Research in Product Development -  Relevant Insight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67" b="5778"/>
          <a:stretch/>
        </p:blipFill>
        <p:spPr bwMode="auto">
          <a:xfrm>
            <a:off x="4853243" y="821266"/>
            <a:ext cx="6749267" cy="4309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993635" y="5028428"/>
            <a:ext cx="244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Relevant insights</a:t>
            </a:r>
            <a:endParaRPr lang="en-ZA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47758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ZA" b="1" dirty="0"/>
              <a:t>3. The purpose of research</a:t>
            </a:r>
            <a:endParaRPr lang="en-ZA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marL="0" indent="0" algn="ctr">
              <a:buNone/>
            </a:pPr>
            <a:r>
              <a:rPr lang="en-US" dirty="0">
                <a:latin typeface="Arial Rounded MT Bold" panose="020F0704030504030204" pitchFamily="34" charset="0"/>
              </a:rPr>
              <a:t>There are different aims for research. </a:t>
            </a:r>
          </a:p>
          <a:p>
            <a:pPr marL="0" indent="0" algn="ctr">
              <a:buNone/>
            </a:pPr>
            <a:r>
              <a:rPr lang="en-US" dirty="0">
                <a:latin typeface="Arial Rounded MT Bold" panose="020F0704030504030204" pitchFamily="34" charset="0"/>
              </a:rPr>
              <a:t>The research question and objectives guides this selection.</a:t>
            </a:r>
            <a:endParaRPr lang="en-ZA" dirty="0">
              <a:latin typeface="Arial Rounded MT Bold" panose="020F07040305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IT, DUT</a:t>
            </a:r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21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511091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581151"/>
            <a:ext cx="10018713" cy="4210050"/>
          </a:xfrm>
        </p:spPr>
        <p:txBody>
          <a:bodyPr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Exploratory research</a:t>
            </a:r>
          </a:p>
          <a:p>
            <a:pPr marL="0" indent="0" algn="ctr">
              <a:buNone/>
            </a:pPr>
            <a:r>
              <a:rPr lang="en-US" dirty="0">
                <a:latin typeface="Arial Rounded MT Bold" panose="020F0704030504030204" pitchFamily="34" charset="0"/>
              </a:rPr>
              <a:t>Aims to establish a better understanding of a research problem. </a:t>
            </a:r>
          </a:p>
          <a:p>
            <a:pPr marL="0" indent="0" algn="ctr">
              <a:buNone/>
            </a:pPr>
            <a:r>
              <a:rPr lang="en-US" dirty="0">
                <a:latin typeface="Arial Rounded MT Bold" panose="020F0704030504030204" pitchFamily="34" charset="0"/>
              </a:rPr>
              <a:t>After this, more focused research questions and objectives can be set.</a:t>
            </a:r>
          </a:p>
          <a:p>
            <a:pPr marL="0" indent="0" algn="ctr">
              <a:buNone/>
            </a:pP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IT, DUT</a:t>
            </a: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22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450654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IT, DUT</a:t>
            </a:r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23</a:t>
            </a:fld>
            <a:endParaRPr lang="en-ZA"/>
          </a:p>
        </p:txBody>
      </p:sp>
      <p:pic>
        <p:nvPicPr>
          <p:cNvPr id="9218" name="Picture 2" descr="Exploratory research - Research Methodology - Manu Melwin Jo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5867" y="261972"/>
            <a:ext cx="7045324" cy="5289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738702" y="4782894"/>
            <a:ext cx="244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Joy, 2016</a:t>
            </a:r>
            <a:endParaRPr lang="en-ZA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81487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676275"/>
            <a:ext cx="10018713" cy="5114926"/>
          </a:xfrm>
        </p:spPr>
        <p:txBody>
          <a:bodyPr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Exploratory research</a:t>
            </a:r>
          </a:p>
          <a:p>
            <a:pPr marL="0" indent="0" algn="ctr">
              <a:buNone/>
            </a:pPr>
            <a:r>
              <a:rPr lang="en-US" dirty="0" err="1">
                <a:solidFill>
                  <a:srgbClr val="7030A0"/>
                </a:solidFill>
                <a:latin typeface="Bahnschrift" panose="020B0502040204020203" pitchFamily="34" charset="0"/>
              </a:rPr>
              <a:t>eg</a:t>
            </a:r>
            <a:r>
              <a:rPr lang="en-US" dirty="0">
                <a:solidFill>
                  <a:srgbClr val="7030A0"/>
                </a:solidFill>
                <a:latin typeface="Bahnschrift" panose="020B0502040204020203" pitchFamily="34" charset="0"/>
              </a:rPr>
              <a:t>: what are the challenges that agile developers face with </a:t>
            </a:r>
            <a:r>
              <a:rPr lang="en-US" dirty="0" err="1">
                <a:solidFill>
                  <a:srgbClr val="7030A0"/>
                </a:solidFill>
                <a:latin typeface="Bahnschrift" panose="020B0502040204020203" pitchFamily="34" charset="0"/>
              </a:rPr>
              <a:t>UX</a:t>
            </a:r>
            <a:r>
              <a:rPr lang="en-US" dirty="0">
                <a:solidFill>
                  <a:srgbClr val="7030A0"/>
                </a:solidFill>
                <a:latin typeface="Bahnschrift" panose="020B0502040204020203" pitchFamily="34" charset="0"/>
              </a:rPr>
              <a:t> design for mobile apps?</a:t>
            </a:r>
          </a:p>
          <a:p>
            <a:pPr marL="0" indent="0" algn="ctr">
              <a:buNone/>
            </a:pPr>
            <a:r>
              <a:rPr lang="en-US" dirty="0">
                <a:latin typeface="Arial Rounded MT Bold" panose="020F0704030504030204" pitchFamily="34" charset="0"/>
              </a:rPr>
              <a:t>The researcher may conduct interviews, open-ended question surveys or observations to determine these challenges.</a:t>
            </a:r>
          </a:p>
          <a:p>
            <a:pPr marL="0" indent="0" algn="ctr">
              <a:buNone/>
            </a:pPr>
            <a:r>
              <a:rPr lang="en-US" dirty="0">
                <a:latin typeface="Arial Rounded MT Bold" panose="020F0704030504030204" pitchFamily="34" charset="0"/>
              </a:rPr>
              <a:t>This exploratory study will result in a set of identified challenges, some frequent and others unique.</a:t>
            </a:r>
          </a:p>
          <a:p>
            <a:pPr marL="0" indent="0" algn="ctr">
              <a:buNone/>
            </a:pPr>
            <a:endParaRPr lang="en-US" dirty="0">
              <a:latin typeface="Arial Rounded MT Bold" panose="020F0704030504030204" pitchFamily="34" charset="0"/>
            </a:endParaRPr>
          </a:p>
          <a:p>
            <a:pPr marL="0" indent="0" algn="ctr">
              <a:buNone/>
            </a:pPr>
            <a:r>
              <a:rPr lang="en-US" dirty="0">
                <a:solidFill>
                  <a:srgbClr val="C00000"/>
                </a:solidFill>
                <a:latin typeface="Bahnschrift" panose="020B0502040204020203" pitchFamily="34" charset="0"/>
              </a:rPr>
              <a:t>A later study involving statistics and computational methods will allow the researcher to rank, prioritize and summarize challenges in order to draw generalizable conclusions</a:t>
            </a:r>
          </a:p>
          <a:p>
            <a:pPr marL="0" indent="0" algn="ctr">
              <a:buNone/>
            </a:pPr>
            <a:endParaRPr lang="en-ZA" dirty="0">
              <a:latin typeface="Arial Rounded MT Bold" panose="020F070403050403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IT, DUT</a:t>
            </a: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24</a:t>
            </a:fld>
            <a:endParaRPr lang="en-ZA"/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1480457" y="3936274"/>
            <a:ext cx="10022566" cy="3483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32878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581151"/>
            <a:ext cx="10018713" cy="4210050"/>
          </a:xfrm>
        </p:spPr>
        <p:txBody>
          <a:bodyPr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Explanatory research</a:t>
            </a:r>
          </a:p>
          <a:p>
            <a:pPr marL="0" indent="0" algn="ctr">
              <a:buNone/>
            </a:pPr>
            <a:r>
              <a:rPr lang="en-US" dirty="0">
                <a:latin typeface="Arial Rounded MT Bold" panose="020F0704030504030204" pitchFamily="34" charset="0"/>
              </a:rPr>
              <a:t>Aims to better understand relationships between the 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variables</a:t>
            </a:r>
            <a:r>
              <a:rPr lang="en-US" dirty="0">
                <a:latin typeface="Arial Rounded MT Bold" panose="020F0704030504030204" pitchFamily="34" charset="0"/>
              </a:rPr>
              <a:t> under research </a:t>
            </a:r>
          </a:p>
          <a:p>
            <a:pPr marL="0" indent="0" algn="ctr">
              <a:buNone/>
            </a:pPr>
            <a:r>
              <a:rPr lang="en-US" dirty="0">
                <a:latin typeface="Arial Rounded MT Bold" panose="020F0704030504030204" pitchFamily="34" charset="0"/>
              </a:rPr>
              <a:t>Experiments </a:t>
            </a:r>
          </a:p>
          <a:p>
            <a:pPr marL="0" indent="0" algn="ctr">
              <a:buNone/>
            </a:pPr>
            <a:endParaRPr lang="en-US" dirty="0">
              <a:latin typeface="Arial Rounded MT Bold" panose="020F0704030504030204" pitchFamily="34" charset="0"/>
            </a:endParaRPr>
          </a:p>
          <a:p>
            <a:pPr marL="0" indent="0" algn="ctr">
              <a:buNone/>
            </a:pPr>
            <a:r>
              <a:rPr lang="en-US" dirty="0" err="1">
                <a:solidFill>
                  <a:srgbClr val="C00000"/>
                </a:solidFill>
                <a:latin typeface="Bahnschrift" panose="020B0502040204020203" pitchFamily="34" charset="0"/>
              </a:rPr>
              <a:t>Eg</a:t>
            </a:r>
            <a:r>
              <a:rPr lang="en-US" dirty="0">
                <a:solidFill>
                  <a:srgbClr val="C00000"/>
                </a:solidFill>
                <a:latin typeface="Bahnschrift" panose="020B0502040204020203" pitchFamily="34" charset="0"/>
              </a:rPr>
              <a:t> from previous: what is the relationship between agile practice (variable 1) and problem with </a:t>
            </a:r>
            <a:r>
              <a:rPr lang="en-US" dirty="0" err="1">
                <a:solidFill>
                  <a:srgbClr val="C00000"/>
                </a:solidFill>
                <a:latin typeface="Bahnschrift" panose="020B0502040204020203" pitchFamily="34" charset="0"/>
              </a:rPr>
              <a:t>UX</a:t>
            </a:r>
            <a:r>
              <a:rPr lang="en-US" dirty="0">
                <a:solidFill>
                  <a:srgbClr val="C00000"/>
                </a:solidFill>
                <a:latin typeface="Bahnschrift" panose="020B0502040204020203" pitchFamily="34" charset="0"/>
              </a:rPr>
              <a:t> design (variable 2) </a:t>
            </a:r>
          </a:p>
          <a:p>
            <a:pPr marL="0" indent="0" algn="ctr">
              <a:buNone/>
            </a:pPr>
            <a:r>
              <a:rPr lang="en-US" dirty="0">
                <a:latin typeface="Arial Rounded MT Bold" panose="020F0704030504030204" pitchFamily="34" charset="0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IT, DUT</a:t>
            </a: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25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41841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IT, DUT</a:t>
            </a:r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26</a:t>
            </a:fld>
            <a:endParaRPr lang="en-ZA"/>
          </a:p>
        </p:txBody>
      </p:sp>
      <p:pic>
        <p:nvPicPr>
          <p:cNvPr id="10242" name="Picture 2" descr="MSS 905 Methods of Missiological Research Introduction t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06" t="22809" b="31759"/>
          <a:stretch/>
        </p:blipFill>
        <p:spPr bwMode="auto">
          <a:xfrm>
            <a:off x="6040744" y="184203"/>
            <a:ext cx="6151256" cy="233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9656456" y="2009550"/>
            <a:ext cx="1862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</a:rPr>
              <a:t>Slidetodoc</a:t>
            </a:r>
            <a:r>
              <a:rPr lang="en-US" dirty="0">
                <a:solidFill>
                  <a:srgbClr val="C00000"/>
                </a:solidFill>
              </a:rPr>
              <a:t>, 2016</a:t>
            </a:r>
            <a:endParaRPr lang="en-ZA" dirty="0">
              <a:solidFill>
                <a:srgbClr val="C00000"/>
              </a:solidFill>
            </a:endParaRPr>
          </a:p>
        </p:txBody>
      </p:sp>
      <p:pic>
        <p:nvPicPr>
          <p:cNvPr id="1026" name="Picture 2" descr="Explanatory &amp;amp; Response Variables: Definition &amp;amp; Exampl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832" y="2477152"/>
            <a:ext cx="8528050" cy="3097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519832" y="2202008"/>
            <a:ext cx="244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</a:rPr>
              <a:t>Statology.org</a:t>
            </a:r>
            <a:r>
              <a:rPr lang="en-US" dirty="0">
                <a:solidFill>
                  <a:srgbClr val="C00000"/>
                </a:solidFill>
              </a:rPr>
              <a:t>, 2020</a:t>
            </a:r>
            <a:endParaRPr lang="en-ZA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21831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0511" y="427264"/>
            <a:ext cx="3849690" cy="4895849"/>
          </a:xfrm>
        </p:spPr>
        <p:txBody>
          <a:bodyPr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Descriptive research</a:t>
            </a:r>
          </a:p>
          <a:p>
            <a:pPr marL="0" indent="0" algn="ctr">
              <a:buNone/>
            </a:pPr>
            <a:r>
              <a:rPr lang="en-US" dirty="0">
                <a:latin typeface="Arial Rounded MT Bold" panose="020F0704030504030204" pitchFamily="34" charset="0"/>
              </a:rPr>
              <a:t>Aims to describes the characteristics of a  problem or group being studied. </a:t>
            </a:r>
          </a:p>
          <a:p>
            <a:pPr marL="0" indent="0" algn="ctr">
              <a:buNone/>
            </a:pPr>
            <a:r>
              <a:rPr lang="en-US" dirty="0">
                <a:latin typeface="Arial Rounded MT Bold" panose="020F0704030504030204" pitchFamily="34" charset="0"/>
              </a:rPr>
              <a:t>directed toward answering questions that begin with, 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0"/>
              </a:rPr>
              <a:t>“What?” </a:t>
            </a:r>
          </a:p>
          <a:p>
            <a:pPr marL="0" indent="0" algn="ctr">
              <a:buNone/>
            </a:pPr>
            <a:endParaRPr lang="en-US" dirty="0">
              <a:solidFill>
                <a:srgbClr val="C00000"/>
              </a:solidFill>
              <a:latin typeface="Arial Rounded MT Bold" panose="020F0704030504030204" pitchFamily="34" charset="0"/>
            </a:endParaRPr>
          </a:p>
          <a:p>
            <a:pPr marL="0" indent="0" algn="ctr">
              <a:buNone/>
            </a:pPr>
            <a:r>
              <a:rPr lang="en-US" dirty="0">
                <a:latin typeface="Bahnschrift" panose="020B0502040204020203" pitchFamily="34" charset="0"/>
              </a:rPr>
              <a:t>It does not usually answer questions about </a:t>
            </a:r>
            <a:r>
              <a:rPr lang="en-US" dirty="0">
                <a:solidFill>
                  <a:srgbClr val="C00000"/>
                </a:solidFill>
                <a:latin typeface="Bahnschrift" panose="020B0502040204020203" pitchFamily="34" charset="0"/>
              </a:rPr>
              <a:t>how, when </a:t>
            </a:r>
            <a:r>
              <a:rPr lang="en-US" dirty="0">
                <a:latin typeface="Bahnschrift" panose="020B0502040204020203" pitchFamily="34" charset="0"/>
              </a:rPr>
              <a:t>and </a:t>
            </a:r>
            <a:r>
              <a:rPr lang="en-US" dirty="0">
                <a:solidFill>
                  <a:srgbClr val="C00000"/>
                </a:solidFill>
                <a:latin typeface="Bahnschrift" panose="020B0502040204020203" pitchFamily="34" charset="0"/>
              </a:rPr>
              <a:t>why</a:t>
            </a:r>
            <a:r>
              <a:rPr lang="en-US" dirty="0">
                <a:latin typeface="Bahnschrift" panose="020B0502040204020203" pitchFamily="34" charset="0"/>
              </a:rPr>
              <a:t> the characteristics came to be</a:t>
            </a:r>
          </a:p>
          <a:p>
            <a:pPr marL="0" indent="0" algn="ctr">
              <a:buNone/>
            </a:pPr>
            <a:endParaRPr lang="en-US" dirty="0">
              <a:solidFill>
                <a:srgbClr val="C0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IT, DUT</a:t>
            </a: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27</a:t>
            </a:fld>
            <a:endParaRPr lang="en-ZA"/>
          </a:p>
        </p:txBody>
      </p:sp>
      <p:pic>
        <p:nvPicPr>
          <p:cNvPr id="2050" name="Picture 2" descr="PPT - Descriptive Research PowerPoint Presentation, free download -  ID:571113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3442" y="843372"/>
            <a:ext cx="6324903" cy="4743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8725376" y="5217718"/>
            <a:ext cx="1862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Diaz, 2014</a:t>
            </a:r>
            <a:endParaRPr lang="en-ZA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95865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034143"/>
            <a:ext cx="10018713" cy="4757058"/>
          </a:xfrm>
        </p:spPr>
        <p:txBody>
          <a:bodyPr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Descriptive research</a:t>
            </a:r>
          </a:p>
          <a:p>
            <a:pPr marL="0" indent="0" algn="ctr">
              <a:buNone/>
            </a:pPr>
            <a:r>
              <a:rPr lang="en-US" dirty="0" err="1">
                <a:latin typeface="Arial Rounded MT Bold" panose="020F0704030504030204" pitchFamily="34" charset="0"/>
              </a:rPr>
              <a:t>Eg</a:t>
            </a:r>
            <a:r>
              <a:rPr lang="en-US" dirty="0">
                <a:latin typeface="Arial Rounded MT Bold" panose="020F0704030504030204" pitchFamily="34" charset="0"/>
              </a:rPr>
              <a:t>.</a:t>
            </a:r>
          </a:p>
          <a:p>
            <a:pPr marL="0" indent="0" algn="ctr">
              <a:buNone/>
            </a:pPr>
            <a:r>
              <a:rPr lang="en-US" dirty="0">
                <a:latin typeface="Arial Rounded MT Bold" panose="020F0704030504030204" pitchFamily="34" charset="0"/>
              </a:rPr>
              <a:t>What are the agile practices of a software team developing </a:t>
            </a:r>
            <a:r>
              <a:rPr lang="en-US" dirty="0" err="1">
                <a:latin typeface="Arial Rounded MT Bold" panose="020F0704030504030204" pitchFamily="34" charset="0"/>
              </a:rPr>
              <a:t>UX</a:t>
            </a:r>
            <a:r>
              <a:rPr lang="en-US" dirty="0">
                <a:latin typeface="Arial Rounded MT Bold" panose="020F0704030504030204" pitchFamily="34" charset="0"/>
              </a:rPr>
              <a:t> for mobile apps?</a:t>
            </a:r>
          </a:p>
          <a:p>
            <a:pPr marL="0" indent="0" algn="ctr">
              <a:buNone/>
            </a:pPr>
            <a:endParaRPr lang="en-US" dirty="0">
              <a:latin typeface="Arial Rounded MT Bold" panose="020F0704030504030204" pitchFamily="34" charset="0"/>
            </a:endParaRPr>
          </a:p>
          <a:p>
            <a:pPr marL="0" indent="0" algn="ctr">
              <a:buNone/>
            </a:pPr>
            <a:r>
              <a:rPr lang="en-US" dirty="0">
                <a:solidFill>
                  <a:srgbClr val="C00000"/>
                </a:solidFill>
                <a:latin typeface="Bahnschrift" panose="020B0502040204020203" pitchFamily="34" charset="0"/>
              </a:rPr>
              <a:t>This question does not aim to understand any form of cause and effect (Why? And How?)</a:t>
            </a:r>
          </a:p>
          <a:p>
            <a:pPr marL="0" indent="0" algn="ctr">
              <a:buNone/>
            </a:pPr>
            <a:endParaRPr lang="en-US" dirty="0">
              <a:solidFill>
                <a:srgbClr val="C0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IT, DUT</a:t>
            </a: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28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71219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881743"/>
            <a:ext cx="3904119" cy="4909458"/>
          </a:xfrm>
        </p:spPr>
        <p:txBody>
          <a:bodyPr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Longitudinal research</a:t>
            </a:r>
          </a:p>
          <a:p>
            <a:pPr marL="0" indent="0" algn="ctr">
              <a:buNone/>
            </a:pPr>
            <a:r>
              <a:rPr lang="en-US" dirty="0">
                <a:latin typeface="Arial Rounded MT Bold" panose="020F0704030504030204" pitchFamily="34" charset="0"/>
              </a:rPr>
              <a:t>Aims to conduct data collection at several points over a long duration. </a:t>
            </a:r>
          </a:p>
          <a:p>
            <a:pPr marL="0" indent="0" algn="ctr">
              <a:buNone/>
            </a:pPr>
            <a:r>
              <a:rPr lang="en-US" dirty="0" err="1">
                <a:solidFill>
                  <a:srgbClr val="C00000"/>
                </a:solidFill>
                <a:latin typeface="Bahnschrift" panose="020B0502040204020203" pitchFamily="34" charset="0"/>
              </a:rPr>
              <a:t>Eg</a:t>
            </a:r>
            <a:r>
              <a:rPr lang="en-US" dirty="0">
                <a:solidFill>
                  <a:srgbClr val="C00000"/>
                </a:solidFill>
                <a:latin typeface="Bahnschrift" panose="020B0502040204020203" pitchFamily="34" charset="0"/>
              </a:rPr>
              <a:t>. the determine the </a:t>
            </a:r>
            <a:r>
              <a:rPr lang="en-US" i="1" dirty="0">
                <a:solidFill>
                  <a:srgbClr val="C00000"/>
                </a:solidFill>
                <a:latin typeface="Bahnschrift" panose="020B0502040204020203" pitchFamily="34" charset="0"/>
              </a:rPr>
              <a:t>long term </a:t>
            </a:r>
            <a:r>
              <a:rPr lang="en-US" dirty="0">
                <a:solidFill>
                  <a:srgbClr val="C00000"/>
                </a:solidFill>
                <a:latin typeface="Bahnschrift" panose="020B0502040204020203" pitchFamily="34" charset="0"/>
              </a:rPr>
              <a:t>effects of smartphone misuse on the future workforce.</a:t>
            </a:r>
          </a:p>
          <a:p>
            <a:pPr marL="0" indent="0" algn="ctr">
              <a:buNone/>
            </a:pPr>
            <a:endParaRPr lang="en-US" dirty="0">
              <a:solidFill>
                <a:srgbClr val="C00000"/>
              </a:solidFill>
              <a:latin typeface="Bahnschrift" panose="020B0502040204020203" pitchFamily="34" charset="0"/>
            </a:endParaRPr>
          </a:p>
          <a:p>
            <a:pPr marL="0" indent="0" algn="ctr">
              <a:buNone/>
            </a:pPr>
            <a:r>
              <a:rPr lang="en-US" dirty="0">
                <a:solidFill>
                  <a:srgbClr val="C00000"/>
                </a:solidFill>
                <a:latin typeface="Bahnschrift" panose="020B0502040204020203" pitchFamily="34" charset="0"/>
              </a:rPr>
              <a:t>The researcher will collect data from participants of the research at intervals over a period of time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IT, DUT</a:t>
            </a: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29</a:t>
            </a:fld>
            <a:endParaRPr lang="en-ZA"/>
          </a:p>
        </p:txBody>
      </p:sp>
      <p:pic>
        <p:nvPicPr>
          <p:cNvPr id="3074" name="Picture 2" descr="Longitudinal Researc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7918" y="721405"/>
            <a:ext cx="6115050" cy="4781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5837918" y="5628819"/>
            <a:ext cx="244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</a:rPr>
              <a:t>unm.edu</a:t>
            </a:r>
            <a:r>
              <a:rPr lang="en-US" dirty="0">
                <a:solidFill>
                  <a:srgbClr val="C00000"/>
                </a:solidFill>
              </a:rPr>
              <a:t>, 2016</a:t>
            </a:r>
            <a:endParaRPr lang="en-ZA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89449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581151"/>
            <a:ext cx="10018713" cy="4210050"/>
          </a:xfrm>
        </p:spPr>
        <p:txBody>
          <a:bodyPr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Cross sectional research</a:t>
            </a:r>
          </a:p>
          <a:p>
            <a:pPr marL="0" indent="0" algn="ctr">
              <a:buNone/>
            </a:pPr>
            <a:r>
              <a:rPr lang="en-US" dirty="0">
                <a:latin typeface="Arial Rounded MT Bold" panose="020F0704030504030204" pitchFamily="34" charset="0"/>
              </a:rPr>
              <a:t>Aims to look at how things are now and not pay attention to any trends. </a:t>
            </a:r>
          </a:p>
          <a:p>
            <a:pPr marL="0" indent="0" algn="ctr">
              <a:buNone/>
            </a:pPr>
            <a:r>
              <a:rPr lang="en-US" dirty="0">
                <a:latin typeface="Arial Rounded MT Bold" panose="020F0704030504030204" pitchFamily="34" charset="0"/>
              </a:rPr>
              <a:t>Mostly exploratory or descriptive</a:t>
            </a:r>
          </a:p>
          <a:p>
            <a:pPr marL="0" indent="0" algn="ctr">
              <a:buNone/>
            </a:pPr>
            <a:r>
              <a:rPr lang="en-US" dirty="0">
                <a:latin typeface="Arial Rounded MT Bold" panose="020F0704030504030204" pitchFamily="34" charset="0"/>
              </a:rPr>
              <a:t>Data is collected and analyzed once-off over a short period of fieldwork. </a:t>
            </a:r>
          </a:p>
          <a:p>
            <a:pPr marL="0" indent="0" algn="ctr">
              <a:buNone/>
            </a:pPr>
            <a:endParaRPr lang="en-US" dirty="0">
              <a:latin typeface="Arial Rounded MT Bold" panose="020F0704030504030204" pitchFamily="34" charset="0"/>
            </a:endParaRPr>
          </a:p>
          <a:p>
            <a:pPr marL="0" indent="0" algn="ctr">
              <a:buNone/>
            </a:pPr>
            <a:r>
              <a:rPr lang="en-US" dirty="0" err="1">
                <a:solidFill>
                  <a:srgbClr val="C00000"/>
                </a:solidFill>
                <a:latin typeface="Bahnschrift" panose="020B0502040204020203" pitchFamily="34" charset="0"/>
              </a:rPr>
              <a:t>Eg</a:t>
            </a:r>
            <a:r>
              <a:rPr lang="en-US" dirty="0">
                <a:solidFill>
                  <a:srgbClr val="C00000"/>
                </a:solidFill>
                <a:latin typeface="Bahnschrift" panose="020B0502040204020203" pitchFamily="34" charset="0"/>
              </a:rPr>
              <a:t>. Determining the causes of Y2K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IT, DUT</a:t>
            </a: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30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415319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IT, DUT</a:t>
            </a:r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31</a:t>
            </a:fld>
            <a:endParaRPr lang="en-ZA"/>
          </a:p>
        </p:txBody>
      </p:sp>
      <p:pic>
        <p:nvPicPr>
          <p:cNvPr id="11266" name="Picture 2" descr="What is a Longitudinal Study? - Definition with Example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0738" y="1225550"/>
            <a:ext cx="7070770" cy="3811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243527" y="4667806"/>
            <a:ext cx="244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</a:rPr>
              <a:t>QuestionPro</a:t>
            </a:r>
            <a:endParaRPr lang="en-ZA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87863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381000"/>
            <a:ext cx="10018713" cy="6153150"/>
          </a:xfrm>
        </p:spPr>
        <p:txBody>
          <a:bodyPr anchor="t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0070C0"/>
                </a:solidFill>
                <a:latin typeface="Arial Rounded MT Bold" panose="020F0704030504030204" pitchFamily="34" charset="0"/>
              </a:rPr>
              <a:t>What are the reasons for doing research?</a:t>
            </a:r>
          </a:p>
          <a:p>
            <a:r>
              <a:rPr lang="en-ZA" sz="26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To add to the body of knowledge</a:t>
            </a:r>
            <a:r>
              <a:rPr lang="en-ZA" sz="2600" dirty="0">
                <a:latin typeface="Arial Rounded MT Bold" panose="020F0704030504030204" pitchFamily="34" charset="0"/>
              </a:rPr>
              <a:t>	</a:t>
            </a:r>
          </a:p>
          <a:p>
            <a:pPr marL="0" indent="0">
              <a:buNone/>
            </a:pPr>
            <a:r>
              <a:rPr lang="en-ZA" sz="2600" dirty="0">
                <a:latin typeface="Arial Rounded MT Bold" panose="020F0704030504030204" pitchFamily="34" charset="0"/>
              </a:rPr>
              <a:t>	New knowledge may not solve a persistent problem but, it will contribute towards 	finding one.</a:t>
            </a:r>
          </a:p>
          <a:p>
            <a:r>
              <a:rPr lang="en-ZA" sz="26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To solve a problem</a:t>
            </a:r>
            <a:r>
              <a:rPr lang="en-ZA" sz="2600" dirty="0">
                <a:latin typeface="Arial Rounded MT Bold" panose="020F0704030504030204" pitchFamily="34" charset="0"/>
              </a:rPr>
              <a:t>	</a:t>
            </a:r>
          </a:p>
          <a:p>
            <a:pPr marL="0" indent="0">
              <a:buNone/>
            </a:pPr>
            <a:r>
              <a:rPr lang="en-ZA" sz="2600" dirty="0">
                <a:latin typeface="Arial Rounded MT Bold" panose="020F0704030504030204" pitchFamily="34" charset="0"/>
              </a:rPr>
              <a:t>	</a:t>
            </a:r>
            <a:r>
              <a:rPr lang="en-ZA" sz="2600" dirty="0" err="1">
                <a:latin typeface="Arial Rounded MT Bold" panose="020F0704030504030204" pitchFamily="34" charset="0"/>
              </a:rPr>
              <a:t>eg</a:t>
            </a:r>
            <a:r>
              <a:rPr lang="en-ZA" sz="2600" dirty="0">
                <a:latin typeface="Arial Rounded MT Bold" panose="020F0704030504030204" pitchFamily="34" charset="0"/>
              </a:rPr>
              <a:t>. develop a new supervised machine learning algorithm specific to a problem lung 	cancer 	detection.</a:t>
            </a:r>
          </a:p>
          <a:p>
            <a:r>
              <a:rPr lang="en-ZA" sz="26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To find evidence to inform practice	</a:t>
            </a:r>
          </a:p>
          <a:p>
            <a:pPr marL="0" indent="0">
              <a:buNone/>
            </a:pPr>
            <a:r>
              <a:rPr lang="en-ZA" sz="2600" dirty="0">
                <a:latin typeface="Arial Rounded MT Bold" panose="020F0704030504030204" pitchFamily="34" charset="0"/>
              </a:rPr>
              <a:t>	How do we? How should we? To discover better methods, models and algorithms. </a:t>
            </a:r>
          </a:p>
          <a:p>
            <a:r>
              <a:rPr lang="en-ZA" sz="26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To develop a better understanding of people as they interact with the world	</a:t>
            </a:r>
          </a:p>
          <a:p>
            <a:pPr marL="0" indent="0">
              <a:buNone/>
            </a:pPr>
            <a:r>
              <a:rPr lang="en-ZA" sz="2600" dirty="0">
                <a:latin typeface="Arial Rounded MT Bold" panose="020F0704030504030204" pitchFamily="34" charset="0"/>
              </a:rPr>
              <a:t>	This is turn helps develop IT solutions that are better suited or fit-for purpose. </a:t>
            </a:r>
            <a:r>
              <a:rPr lang="en-ZA" sz="2600" dirty="0" err="1">
                <a:latin typeface="Arial Rounded MT Bold" panose="020F0704030504030204" pitchFamily="34" charset="0"/>
              </a:rPr>
              <a:t>Eg</a:t>
            </a:r>
            <a:r>
              <a:rPr lang="en-ZA" sz="2600" dirty="0">
                <a:latin typeface="Arial Rounded MT Bold" panose="020F0704030504030204" pitchFamily="34" charset="0"/>
              </a:rPr>
              <a:t>., 	improving the </a:t>
            </a:r>
            <a:r>
              <a:rPr lang="en-ZA" sz="2600" dirty="0" err="1">
                <a:latin typeface="Arial Rounded MT Bold" panose="020F0704030504030204" pitchFamily="34" charset="0"/>
              </a:rPr>
              <a:t>UX</a:t>
            </a:r>
            <a:r>
              <a:rPr lang="en-ZA" sz="2600" dirty="0">
                <a:latin typeface="Arial Rounded MT Bold" panose="020F0704030504030204" pitchFamily="34" charset="0"/>
              </a:rPr>
              <a:t> on 	mobile 	devices or removing less used components from a 	website. </a:t>
            </a:r>
          </a:p>
          <a:p>
            <a:r>
              <a:rPr lang="en-ZA" sz="26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To test or disprove a theory</a:t>
            </a:r>
            <a:r>
              <a:rPr lang="en-ZA" sz="2600" dirty="0">
                <a:latin typeface="Arial Rounded MT Bold" panose="020F0704030504030204" pitchFamily="34" charset="0"/>
              </a:rPr>
              <a:t>	</a:t>
            </a:r>
          </a:p>
          <a:p>
            <a:pPr marL="0" indent="0">
              <a:buNone/>
            </a:pPr>
            <a:r>
              <a:rPr lang="en-ZA" sz="2600" dirty="0">
                <a:latin typeface="Arial Rounded MT Bold" panose="020F0704030504030204" pitchFamily="34" charset="0"/>
              </a:rPr>
              <a:t>	There are many existing theories. New theories can be formulated. Through a 	research process theories 	can 	be 	approved or disapproved. </a:t>
            </a:r>
          </a:p>
          <a:p>
            <a:r>
              <a:rPr lang="en-ZA" sz="26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To develop a better way</a:t>
            </a:r>
          </a:p>
          <a:p>
            <a:pPr marL="0" indent="0">
              <a:buNone/>
            </a:pPr>
            <a:r>
              <a:rPr lang="en-ZA" sz="2600" dirty="0">
                <a:latin typeface="Arial Rounded MT Bold" panose="020F0704030504030204" pitchFamily="34" charset="0"/>
              </a:rPr>
              <a:t>	Improve an existing, well established way to solving a problem e.g. Object orientated 	programming, agile 	methodologies</a:t>
            </a:r>
          </a:p>
          <a:p>
            <a:pPr marL="0" indent="0" algn="ctr">
              <a:buNone/>
            </a:pPr>
            <a:endParaRPr lang="en-US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  <a:p>
            <a:pPr marL="0" indent="0" algn="ctr">
              <a:buNone/>
            </a:pPr>
            <a:endParaRPr lang="en-US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IT, DUT</a:t>
            </a: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32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865334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ZA" b="1" dirty="0"/>
              <a:t>4. Research that has advanced IT</a:t>
            </a:r>
            <a:endParaRPr lang="en-ZA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marL="0" indent="0" algn="ctr">
              <a:buNone/>
            </a:pPr>
            <a:r>
              <a:rPr lang="en-US" dirty="0">
                <a:latin typeface="Arial Rounded MT Bold" panose="020F0704030504030204" pitchFamily="34" charset="0"/>
              </a:rPr>
              <a:t>See the lecture note </a:t>
            </a:r>
            <a:r>
              <a:rPr lang="en-US">
                <a:latin typeface="Arial Rounded MT Bold" panose="020F0704030504030204" pitchFamily="34" charset="0"/>
              </a:rPr>
              <a:t>and tutorial</a:t>
            </a:r>
            <a:endParaRPr lang="en-ZA" dirty="0">
              <a:latin typeface="Arial Rounded MT Bold" panose="020F07040305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IT, DUT</a:t>
            </a:r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33</a:t>
            </a:fld>
            <a:endParaRPr lang="en-ZA"/>
          </a:p>
        </p:txBody>
      </p:sp>
      <p:pic>
        <p:nvPicPr>
          <p:cNvPr id="4098" name="Picture 2" descr="What Does the “Internet of Things” Mean for Healthcare?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6581" y="3308803"/>
            <a:ext cx="4105275" cy="3228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4419600" y="6155809"/>
            <a:ext cx="2340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 err="1">
                <a:solidFill>
                  <a:srgbClr val="C00000"/>
                </a:solidFill>
              </a:rPr>
              <a:t>healthitanalytics.com</a:t>
            </a:r>
            <a:endParaRPr lang="en-ZA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73726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581151"/>
            <a:ext cx="10018713" cy="4210050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Arial Rounded MT Bold" panose="020F0704030504030204" pitchFamily="34" charset="0"/>
              </a:rPr>
              <a:t>Please read the lecture note for this section.</a:t>
            </a:r>
          </a:p>
          <a:p>
            <a:pPr marL="0" indent="0">
              <a:buNone/>
            </a:pPr>
            <a:r>
              <a:rPr lang="en-US" dirty="0">
                <a:latin typeface="Arial Rounded MT Bold" panose="020F0704030504030204" pitchFamily="34" charset="0"/>
              </a:rPr>
              <a:t>Available on Moodle.</a:t>
            </a:r>
          </a:p>
          <a:p>
            <a:pPr marL="0" indent="0">
              <a:buNone/>
            </a:pPr>
            <a:r>
              <a:rPr lang="en-US" dirty="0">
                <a:latin typeface="Arial Rounded MT Bold" panose="020F0704030504030204" pitchFamily="34" charset="0"/>
              </a:rPr>
              <a:t>Questions and comments are welcome: </a:t>
            </a:r>
            <a:r>
              <a:rPr lang="en-US" dirty="0" err="1">
                <a:latin typeface="Arial Rounded MT Bold" panose="020F0704030504030204" pitchFamily="34" charset="0"/>
                <a:hlinkClick r:id="rId2"/>
              </a:rPr>
              <a:t>alveens@dut.ac.za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Alveen Singh - Dept of IT, DUT</a:t>
            </a: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34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691542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563</TotalTime>
  <Words>1479</Words>
  <Application>Microsoft Office PowerPoint</Application>
  <PresentationFormat>Widescreen</PresentationFormat>
  <Paragraphs>209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Arial Black</vt:lpstr>
      <vt:lpstr>Arial Rounded MT Bold</vt:lpstr>
      <vt:lpstr>Bahnschrift</vt:lpstr>
      <vt:lpstr>Calibri</vt:lpstr>
      <vt:lpstr>Corbel</vt:lpstr>
      <vt:lpstr>Parallax</vt:lpstr>
      <vt:lpstr>Introduction</vt:lpstr>
      <vt:lpstr>Content </vt:lpstr>
      <vt:lpstr>PowerPoint Presentation</vt:lpstr>
      <vt:lpstr>1. Defining “Research”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2. Types of research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3. The purpose of research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4. Research that has advanced IT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Alveen Singh</dc:creator>
  <cp:lastModifiedBy>Alveen Singh</cp:lastModifiedBy>
  <cp:revision>36</cp:revision>
  <dcterms:created xsi:type="dcterms:W3CDTF">2021-03-04T08:54:00Z</dcterms:created>
  <dcterms:modified xsi:type="dcterms:W3CDTF">2023-02-23T05:57:39Z</dcterms:modified>
</cp:coreProperties>
</file>