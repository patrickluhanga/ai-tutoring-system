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05" r:id="rId1"/>
  </p:sldMasterIdLst>
  <p:notesMasterIdLst>
    <p:notesMasterId r:id="rId26"/>
  </p:notesMasterIdLst>
  <p:sldIdLst>
    <p:sldId id="256" r:id="rId2"/>
    <p:sldId id="257" r:id="rId3"/>
    <p:sldId id="258" r:id="rId4"/>
    <p:sldId id="260" r:id="rId5"/>
    <p:sldId id="289" r:id="rId6"/>
    <p:sldId id="324" r:id="rId7"/>
    <p:sldId id="325" r:id="rId8"/>
    <p:sldId id="262" r:id="rId9"/>
    <p:sldId id="291" r:id="rId10"/>
    <p:sldId id="292" r:id="rId11"/>
    <p:sldId id="317" r:id="rId12"/>
    <p:sldId id="322" r:id="rId13"/>
    <p:sldId id="323" r:id="rId14"/>
    <p:sldId id="293" r:id="rId15"/>
    <p:sldId id="318" r:id="rId16"/>
    <p:sldId id="296" r:id="rId17"/>
    <p:sldId id="297" r:id="rId18"/>
    <p:sldId id="298" r:id="rId19"/>
    <p:sldId id="299" r:id="rId20"/>
    <p:sldId id="300" r:id="rId21"/>
    <p:sldId id="301" r:id="rId22"/>
    <p:sldId id="320" r:id="rId23"/>
    <p:sldId id="321" r:id="rId24"/>
    <p:sldId id="30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veen Singh" userId="6daf11db-8a8e-4669-8f9d-4d2596173bbf" providerId="ADAL" clId="{4CC94071-99B9-4809-9B56-434AAA41117F}"/>
    <pc:docChg chg="custSel addSld delSld modSld">
      <pc:chgData name="Alveen Singh" userId="6daf11db-8a8e-4669-8f9d-4d2596173bbf" providerId="ADAL" clId="{4CC94071-99B9-4809-9B56-434AAA41117F}" dt="2023-03-13T13:32:43.320" v="897" actId="20577"/>
      <pc:docMkLst>
        <pc:docMk/>
      </pc:docMkLst>
      <pc:sldChg chg="modSp">
        <pc:chgData name="Alveen Singh" userId="6daf11db-8a8e-4669-8f9d-4d2596173bbf" providerId="ADAL" clId="{4CC94071-99B9-4809-9B56-434AAA41117F}" dt="2023-03-13T06:44:50.420" v="19" actId="20577"/>
        <pc:sldMkLst>
          <pc:docMk/>
          <pc:sldMk cId="2013173063" sldId="256"/>
        </pc:sldMkLst>
        <pc:spChg chg="mod">
          <ac:chgData name="Alveen Singh" userId="6daf11db-8a8e-4669-8f9d-4d2596173bbf" providerId="ADAL" clId="{4CC94071-99B9-4809-9B56-434AAA41117F}" dt="2023-03-13T06:44:50.420" v="19" actId="20577"/>
          <ac:spMkLst>
            <pc:docMk/>
            <pc:sldMk cId="2013173063" sldId="256"/>
            <ac:spMk id="5" creationId="{00000000-0000-0000-0000-000000000000}"/>
          </ac:spMkLst>
        </pc:spChg>
      </pc:sldChg>
      <pc:sldChg chg="modSp">
        <pc:chgData name="Alveen Singh" userId="6daf11db-8a8e-4669-8f9d-4d2596173bbf" providerId="ADAL" clId="{4CC94071-99B9-4809-9B56-434AAA41117F}" dt="2023-03-13T13:02:08.591" v="41" actId="20577"/>
        <pc:sldMkLst>
          <pc:docMk/>
          <pc:sldMk cId="321796993" sldId="260"/>
        </pc:sldMkLst>
        <pc:spChg chg="mod">
          <ac:chgData name="Alveen Singh" userId="6daf11db-8a8e-4669-8f9d-4d2596173bbf" providerId="ADAL" clId="{4CC94071-99B9-4809-9B56-434AAA41117F}" dt="2023-03-13T13:02:08.591" v="41" actId="20577"/>
          <ac:spMkLst>
            <pc:docMk/>
            <pc:sldMk cId="321796993" sldId="260"/>
            <ac:spMk id="4" creationId="{00000000-0000-0000-0000-000000000000}"/>
          </ac:spMkLst>
        </pc:spChg>
      </pc:sldChg>
      <pc:sldChg chg="modSp">
        <pc:chgData name="Alveen Singh" userId="6daf11db-8a8e-4669-8f9d-4d2596173bbf" providerId="ADAL" clId="{4CC94071-99B9-4809-9B56-434AAA41117F}" dt="2023-03-13T13:02:58.447" v="101" actId="20577"/>
        <pc:sldMkLst>
          <pc:docMk/>
          <pc:sldMk cId="602165831" sldId="289"/>
        </pc:sldMkLst>
        <pc:spChg chg="mod">
          <ac:chgData name="Alveen Singh" userId="6daf11db-8a8e-4669-8f9d-4d2596173bbf" providerId="ADAL" clId="{4CC94071-99B9-4809-9B56-434AAA41117F}" dt="2023-03-13T13:02:58.447" v="101" actId="20577"/>
          <ac:spMkLst>
            <pc:docMk/>
            <pc:sldMk cId="602165831" sldId="289"/>
            <ac:spMk id="4" creationId="{00000000-0000-0000-0000-000000000000}"/>
          </ac:spMkLst>
        </pc:spChg>
      </pc:sldChg>
      <pc:sldChg chg="del">
        <pc:chgData name="Alveen Singh" userId="6daf11db-8a8e-4669-8f9d-4d2596173bbf" providerId="ADAL" clId="{4CC94071-99B9-4809-9B56-434AAA41117F}" dt="2023-03-13T06:46:48.135" v="20" actId="2696"/>
        <pc:sldMkLst>
          <pc:docMk/>
          <pc:sldMk cId="1473162008" sldId="319"/>
        </pc:sldMkLst>
      </pc:sldChg>
      <pc:sldChg chg="addSp delSp modSp add">
        <pc:chgData name="Alveen Singh" userId="6daf11db-8a8e-4669-8f9d-4d2596173bbf" providerId="ADAL" clId="{4CC94071-99B9-4809-9B56-434AAA41117F}" dt="2023-03-13T13:17:35.176" v="225" actId="5793"/>
        <pc:sldMkLst>
          <pc:docMk/>
          <pc:sldMk cId="1510946334" sldId="322"/>
        </pc:sldMkLst>
        <pc:spChg chg="add del mod">
          <ac:chgData name="Alveen Singh" userId="6daf11db-8a8e-4669-8f9d-4d2596173bbf" providerId="ADAL" clId="{4CC94071-99B9-4809-9B56-434AAA41117F}" dt="2023-03-13T13:17:29.217" v="223" actId="478"/>
          <ac:spMkLst>
            <pc:docMk/>
            <pc:sldMk cId="1510946334" sldId="322"/>
            <ac:spMk id="4" creationId="{20ACCC82-F339-48BD-97A1-FAF0AC4E6823}"/>
          </ac:spMkLst>
        </pc:spChg>
        <pc:spChg chg="add mod">
          <ac:chgData name="Alveen Singh" userId="6daf11db-8a8e-4669-8f9d-4d2596173bbf" providerId="ADAL" clId="{4CC94071-99B9-4809-9B56-434AAA41117F}" dt="2023-03-13T13:17:35.176" v="225" actId="5793"/>
          <ac:spMkLst>
            <pc:docMk/>
            <pc:sldMk cId="1510946334" sldId="322"/>
            <ac:spMk id="5" creationId="{94252D51-24A9-4FCF-B16A-CEB7B65D120A}"/>
          </ac:spMkLst>
        </pc:spChg>
      </pc:sldChg>
      <pc:sldChg chg="modSp add">
        <pc:chgData name="Alveen Singh" userId="6daf11db-8a8e-4669-8f9d-4d2596173bbf" providerId="ADAL" clId="{4CC94071-99B9-4809-9B56-434AAA41117F}" dt="2023-03-13T13:20:22.533" v="373" actId="20577"/>
        <pc:sldMkLst>
          <pc:docMk/>
          <pc:sldMk cId="3486631844" sldId="323"/>
        </pc:sldMkLst>
        <pc:spChg chg="mod">
          <ac:chgData name="Alveen Singh" userId="6daf11db-8a8e-4669-8f9d-4d2596173bbf" providerId="ADAL" clId="{4CC94071-99B9-4809-9B56-434AAA41117F}" dt="2023-03-13T13:20:22.533" v="373" actId="20577"/>
          <ac:spMkLst>
            <pc:docMk/>
            <pc:sldMk cId="3486631844" sldId="323"/>
            <ac:spMk id="5" creationId="{94252D51-24A9-4FCF-B16A-CEB7B65D120A}"/>
          </ac:spMkLst>
        </pc:spChg>
      </pc:sldChg>
      <pc:sldChg chg="addSp delSp modSp add">
        <pc:chgData name="Alveen Singh" userId="6daf11db-8a8e-4669-8f9d-4d2596173bbf" providerId="ADAL" clId="{4CC94071-99B9-4809-9B56-434AAA41117F}" dt="2023-03-13T13:31:05.737" v="806" actId="12"/>
        <pc:sldMkLst>
          <pc:docMk/>
          <pc:sldMk cId="1313233865" sldId="324"/>
        </pc:sldMkLst>
        <pc:spChg chg="add del mod">
          <ac:chgData name="Alveen Singh" userId="6daf11db-8a8e-4669-8f9d-4d2596173bbf" providerId="ADAL" clId="{4CC94071-99B9-4809-9B56-434AAA41117F}" dt="2023-03-13T13:25:22.233" v="467" actId="478"/>
          <ac:spMkLst>
            <pc:docMk/>
            <pc:sldMk cId="1313233865" sldId="324"/>
            <ac:spMk id="4" creationId="{3931CA41-1A37-4A52-A7F2-7346BFD28BA1}"/>
          </ac:spMkLst>
        </pc:spChg>
        <pc:spChg chg="add mod">
          <ac:chgData name="Alveen Singh" userId="6daf11db-8a8e-4669-8f9d-4d2596173bbf" providerId="ADAL" clId="{4CC94071-99B9-4809-9B56-434AAA41117F}" dt="2023-03-13T13:31:05.737" v="806" actId="12"/>
          <ac:spMkLst>
            <pc:docMk/>
            <pc:sldMk cId="1313233865" sldId="324"/>
            <ac:spMk id="5" creationId="{E94EF687-828E-4817-922A-531384D48E03}"/>
          </ac:spMkLst>
        </pc:spChg>
      </pc:sldChg>
      <pc:sldChg chg="modSp add">
        <pc:chgData name="Alveen Singh" userId="6daf11db-8a8e-4669-8f9d-4d2596173bbf" providerId="ADAL" clId="{4CC94071-99B9-4809-9B56-434AAA41117F}" dt="2023-03-13T13:32:43.320" v="897" actId="20577"/>
        <pc:sldMkLst>
          <pc:docMk/>
          <pc:sldMk cId="523480336" sldId="325"/>
        </pc:sldMkLst>
        <pc:spChg chg="mod">
          <ac:chgData name="Alveen Singh" userId="6daf11db-8a8e-4669-8f9d-4d2596173bbf" providerId="ADAL" clId="{4CC94071-99B9-4809-9B56-434AAA41117F}" dt="2023-03-13T13:32:43.320" v="897" actId="20577"/>
          <ac:spMkLst>
            <pc:docMk/>
            <pc:sldMk cId="523480336" sldId="325"/>
            <ac:spMk id="3" creationId="{012FE1A6-6141-4C42-9F5A-20C458A597E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4EDCCC-F4BA-4E35-88B5-D60D87878049}" type="datetimeFigureOut">
              <a:rPr lang="en-ZA" smtClean="0"/>
              <a:t>2023/03/13</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D26926-7372-44E3-B740-BFF7CED8E3A9}" type="slidenum">
              <a:rPr lang="en-ZA" smtClean="0"/>
              <a:t>‹#›</a:t>
            </a:fld>
            <a:endParaRPr lang="en-ZA"/>
          </a:p>
        </p:txBody>
      </p:sp>
    </p:spTree>
    <p:extLst>
      <p:ext uri="{BB962C8B-B14F-4D97-AF65-F5344CB8AC3E}">
        <p14:creationId xmlns:p14="http://schemas.microsoft.com/office/powerpoint/2010/main" val="3182488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CF1E41-C94B-4749-8E1D-8C0D3E6CA43B}" type="datetime1">
              <a:rPr lang="en-US" smtClean="0"/>
              <a:t>3/13/2023</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1096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8B6CB1-3361-4F61-AFA0-B5AAD95A0C59}" type="datetime1">
              <a:rPr lang="en-US" smtClean="0"/>
              <a:t>3/13/2023</a:t>
            </a:fld>
            <a:endParaRPr lang="en-US" dirty="0"/>
          </a:p>
        </p:txBody>
      </p:sp>
      <p:sp>
        <p:nvSpPr>
          <p:cNvPr id="5" name="Footer Placeholder 4"/>
          <p:cNvSpPr>
            <a:spLocks noGrp="1"/>
          </p:cNvSpPr>
          <p:nvPr>
            <p:ph type="ftr" sz="quarter" idx="11"/>
          </p:nvPr>
        </p:nvSpPr>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62565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552F951-4F9F-44FC-BA41-29080EAEB642}" type="datetime1">
              <a:rPr lang="en-US" smtClean="0"/>
              <a:t>3/13/2023</a:t>
            </a:fld>
            <a:endParaRPr lang="en-US" dirty="0"/>
          </a:p>
        </p:txBody>
      </p:sp>
      <p:sp>
        <p:nvSpPr>
          <p:cNvPr id="5" name="Footer Placeholder 4"/>
          <p:cNvSpPr>
            <a:spLocks noGrp="1"/>
          </p:cNvSpPr>
          <p:nvPr>
            <p:ph type="ftr" sz="quarter" idx="11"/>
          </p:nvPr>
        </p:nvSpPr>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57191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26342A-55E6-4E7E-B692-EC2128796624}" type="datetime1">
              <a:rPr lang="en-US" smtClean="0"/>
              <a:t>3/13/2023</a:t>
            </a:fld>
            <a:endParaRPr lang="en-US" dirty="0"/>
          </a:p>
        </p:txBody>
      </p:sp>
      <p:sp>
        <p:nvSpPr>
          <p:cNvPr id="6" name="Footer Placeholder 5"/>
          <p:cNvSpPr>
            <a:spLocks noGrp="1"/>
          </p:cNvSpPr>
          <p:nvPr>
            <p:ph type="ftr" sz="quarter" idx="11"/>
          </p:nvPr>
        </p:nvSpPr>
        <p:spPr/>
        <p:txBody>
          <a:bodyPr/>
          <a:lstStyle/>
          <a:p>
            <a:r>
              <a:rPr lang="en-US"/>
              <a:t>Dr Alveen Singh - Research skills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54331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AD1165-8066-4110-BF63-8BE97E88AC62}" type="datetime1">
              <a:rPr lang="en-US" smtClean="0"/>
              <a:t>3/13/2023</a:t>
            </a:fld>
            <a:endParaRPr lang="en-US" dirty="0"/>
          </a:p>
        </p:txBody>
      </p:sp>
      <p:sp>
        <p:nvSpPr>
          <p:cNvPr id="8" name="Footer Placeholder 7"/>
          <p:cNvSpPr>
            <a:spLocks noGrp="1"/>
          </p:cNvSpPr>
          <p:nvPr>
            <p:ph type="ftr" sz="quarter" idx="11"/>
          </p:nvPr>
        </p:nvSpPr>
        <p:spPr/>
        <p:txBody>
          <a:bodyPr/>
          <a:lstStyle/>
          <a:p>
            <a:r>
              <a:rPr lang="en-US"/>
              <a:t>Dr Alveen Singh - Research skills</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6776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FF3D87-D4DB-4081-8D32-FFE926C243B0}" type="datetime1">
              <a:rPr lang="en-US" smtClean="0"/>
              <a:t>3/13/2023</a:t>
            </a:fld>
            <a:endParaRPr lang="en-US" dirty="0"/>
          </a:p>
        </p:txBody>
      </p:sp>
      <p:sp>
        <p:nvSpPr>
          <p:cNvPr id="4" name="Footer Placeholder 3"/>
          <p:cNvSpPr>
            <a:spLocks noGrp="1"/>
          </p:cNvSpPr>
          <p:nvPr>
            <p:ph type="ftr" sz="quarter" idx="11"/>
          </p:nvPr>
        </p:nvSpPr>
        <p:spPr/>
        <p:txBody>
          <a:bodyPr/>
          <a:lstStyle/>
          <a:p>
            <a:r>
              <a:rPr lang="en-US"/>
              <a:t>Dr Alveen Singh - Research skills</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89957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9E15F9-19AF-4899-94E9-AB557E409D45}" type="datetime1">
              <a:rPr lang="en-US" smtClean="0"/>
              <a:t>3/13/2023</a:t>
            </a:fld>
            <a:endParaRPr lang="en-US" dirty="0"/>
          </a:p>
        </p:txBody>
      </p:sp>
      <p:sp>
        <p:nvSpPr>
          <p:cNvPr id="3" name="Footer Placeholder 2"/>
          <p:cNvSpPr>
            <a:spLocks noGrp="1"/>
          </p:cNvSpPr>
          <p:nvPr>
            <p:ph type="ftr" sz="quarter" idx="11"/>
          </p:nvPr>
        </p:nvSpPr>
        <p:spPr/>
        <p:txBody>
          <a:bodyPr/>
          <a:lstStyle/>
          <a:p>
            <a:r>
              <a:rPr lang="en-US"/>
              <a:t>Dr Alveen Singh - Research skills</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02767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87B3293-790C-4886-ADE1-C1EA4CFBA5B4}" type="datetime1">
              <a:rPr lang="en-US" smtClean="0"/>
              <a:t>3/13/2023</a:t>
            </a:fld>
            <a:endParaRPr lang="en-US" dirty="0"/>
          </a:p>
        </p:txBody>
      </p:sp>
      <p:sp>
        <p:nvSpPr>
          <p:cNvPr id="6" name="Footer Placeholder 5"/>
          <p:cNvSpPr>
            <a:spLocks noGrp="1"/>
          </p:cNvSpPr>
          <p:nvPr>
            <p:ph type="ftr" sz="quarter" idx="11"/>
          </p:nvPr>
        </p:nvSpPr>
        <p:spPr/>
        <p:txBody>
          <a:bodyPr/>
          <a:lstStyle/>
          <a:p>
            <a:r>
              <a:rPr lang="en-US"/>
              <a:t>Dr Alveen Singh - Research skills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7923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BFD0296-B6D3-4249-99B1-60521DB0F176}" type="datetime1">
              <a:rPr lang="en-US" smtClean="0"/>
              <a:t>3/13/2023</a:t>
            </a:fld>
            <a:endParaRPr lang="en-US" dirty="0"/>
          </a:p>
        </p:txBody>
      </p:sp>
      <p:sp>
        <p:nvSpPr>
          <p:cNvPr id="6" name="Footer Placeholder 5"/>
          <p:cNvSpPr>
            <a:spLocks noGrp="1"/>
          </p:cNvSpPr>
          <p:nvPr>
            <p:ph type="ftr" sz="quarter" idx="11"/>
          </p:nvPr>
        </p:nvSpPr>
        <p:spPr/>
        <p:txBody>
          <a:bodyPr/>
          <a:lstStyle/>
          <a:p>
            <a:r>
              <a:rPr lang="en-US"/>
              <a:t>Dr Alveen Singh - Research skills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39993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532AEC6-18ED-4EAB-94D8-7A1FFB4F2339}" type="datetime1">
              <a:rPr lang="en-US" smtClean="0"/>
              <a:t>3/13/2023</a:t>
            </a:fld>
            <a:endParaRPr lang="en-US" dirty="0"/>
          </a:p>
        </p:txBody>
      </p:sp>
      <p:sp>
        <p:nvSpPr>
          <p:cNvPr id="6" name="Footer Placeholder 5"/>
          <p:cNvSpPr>
            <a:spLocks noGrp="1"/>
          </p:cNvSpPr>
          <p:nvPr>
            <p:ph type="ftr" sz="quarter" idx="11"/>
          </p:nvPr>
        </p:nvSpPr>
        <p:spPr/>
        <p:txBody>
          <a:bodyPr/>
          <a:lstStyle/>
          <a:p>
            <a:r>
              <a:rPr lang="en-US"/>
              <a:t>Dr Alveen Singh - Research skills</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03909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D05708-9405-4A17-9AEF-C5B6BACE6594}" type="datetime1">
              <a:rPr lang="en-US" smtClean="0"/>
              <a:t>3/13/2023</a:t>
            </a:fld>
            <a:endParaRPr lang="en-US" dirty="0"/>
          </a:p>
        </p:txBody>
      </p:sp>
      <p:sp>
        <p:nvSpPr>
          <p:cNvPr id="5" name="Footer Placeholder 4"/>
          <p:cNvSpPr>
            <a:spLocks noGrp="1"/>
          </p:cNvSpPr>
          <p:nvPr>
            <p:ph type="ftr" sz="quarter" idx="11"/>
          </p:nvPr>
        </p:nvSpPr>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73715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D7DF21D-4916-4AAC-9789-AC9139F1DB09}" type="datetime1">
              <a:rPr lang="en-US" smtClean="0"/>
              <a:t>3/13/2023</a:t>
            </a:fld>
            <a:endParaRPr lang="en-US" dirty="0"/>
          </a:p>
        </p:txBody>
      </p:sp>
      <p:sp>
        <p:nvSpPr>
          <p:cNvPr id="5" name="Footer Placeholder 4"/>
          <p:cNvSpPr>
            <a:spLocks noGrp="1"/>
          </p:cNvSpPr>
          <p:nvPr>
            <p:ph type="ftr" sz="quarter" idx="11"/>
          </p:nvPr>
        </p:nvSpPr>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29826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BF41916-4056-44F7-AF5D-95A09218A3B3}" type="datetime1">
              <a:rPr lang="en-US" smtClean="0"/>
              <a:t>3/13/2023</a:t>
            </a:fld>
            <a:endParaRPr lang="en-US" dirty="0"/>
          </a:p>
        </p:txBody>
      </p:sp>
      <p:sp>
        <p:nvSpPr>
          <p:cNvPr id="5" name="Footer Placeholder 4"/>
          <p:cNvSpPr>
            <a:spLocks noGrp="1"/>
          </p:cNvSpPr>
          <p:nvPr>
            <p:ph type="ftr" sz="quarter" idx="11"/>
          </p:nvPr>
        </p:nvSpPr>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27970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6790185-1771-4277-AF9B-F2A7CD06480A}" type="datetime1">
              <a:rPr lang="en-US" smtClean="0"/>
              <a:t>3/13/2023</a:t>
            </a:fld>
            <a:endParaRPr lang="en-US" dirty="0"/>
          </a:p>
        </p:txBody>
      </p:sp>
      <p:sp>
        <p:nvSpPr>
          <p:cNvPr id="5" name="Footer Placeholder 4"/>
          <p:cNvSpPr>
            <a:spLocks noGrp="1"/>
          </p:cNvSpPr>
          <p:nvPr>
            <p:ph type="ftr" sz="quarter" idx="11"/>
          </p:nvPr>
        </p:nvSpPr>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27365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8A0FB3-0D7A-4D65-A234-ECF718C1846E}" type="datetime1">
              <a:rPr lang="en-US" smtClean="0"/>
              <a:t>3/13/2023</a:t>
            </a:fld>
            <a:endParaRPr lang="en-US" dirty="0"/>
          </a:p>
        </p:txBody>
      </p:sp>
      <p:sp>
        <p:nvSpPr>
          <p:cNvPr id="5" name="Footer Placeholder 4"/>
          <p:cNvSpPr>
            <a:spLocks noGrp="1"/>
          </p:cNvSpPr>
          <p:nvPr>
            <p:ph type="ftr" sz="quarter" idx="11"/>
          </p:nvPr>
        </p:nvSpPr>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01677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C3BCB2-659D-4591-8BC1-5F1E9EDF4FCF}" type="datetime1">
              <a:rPr lang="en-US" smtClean="0"/>
              <a:t>3/13/2023</a:t>
            </a:fld>
            <a:endParaRPr lang="en-US" dirty="0"/>
          </a:p>
        </p:txBody>
      </p:sp>
      <p:sp>
        <p:nvSpPr>
          <p:cNvPr id="5" name="Footer Placeholder 4"/>
          <p:cNvSpPr>
            <a:spLocks noGrp="1"/>
          </p:cNvSpPr>
          <p:nvPr>
            <p:ph type="ftr" sz="quarter" idx="11"/>
          </p:nvPr>
        </p:nvSpPr>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090994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3166C6-1EAF-4B7F-B734-904203E0E504}" type="datetime1">
              <a:rPr lang="en-US" smtClean="0"/>
              <a:t>3/13/2023</a:t>
            </a:fld>
            <a:endParaRPr lang="en-US" dirty="0"/>
          </a:p>
        </p:txBody>
      </p:sp>
      <p:sp>
        <p:nvSpPr>
          <p:cNvPr id="5" name="Footer Placeholder 4"/>
          <p:cNvSpPr>
            <a:spLocks noGrp="1"/>
          </p:cNvSpPr>
          <p:nvPr>
            <p:ph type="ftr" sz="quarter" idx="11"/>
          </p:nvPr>
        </p:nvSpPr>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20275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25CF915-EBC2-4863-BE35-CFFA49265B4E}" type="datetime1">
              <a:rPr lang="en-US" smtClean="0"/>
              <a:t>3/13/2023</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Dr Alveen Singh - Research skills</a:t>
            </a:r>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4894289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Lst>
  <p:hf hd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mailto:alveens@dut.ac.za"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7830" y="1844802"/>
            <a:ext cx="10058400" cy="2387660"/>
          </a:xfrm>
        </p:spPr>
        <p:txBody>
          <a:bodyPr/>
          <a:lstStyle/>
          <a:p>
            <a:r>
              <a:rPr lang="en-ZA" b="1" dirty="0"/>
              <a:t>Information sources and retrieval </a:t>
            </a:r>
            <a:endParaRPr lang="en-ZA" dirty="0"/>
          </a:p>
        </p:txBody>
      </p:sp>
      <p:pic>
        <p:nvPicPr>
          <p:cNvPr id="4" name="Picture 3" descr="A close up of a sign&#10;&#10;Description automatically generated"/>
          <p:cNvPicPr/>
          <p:nvPr/>
        </p:nvPicPr>
        <p:blipFill>
          <a:blip r:embed="rId2">
            <a:extLst>
              <a:ext uri="{28A0092B-C50C-407E-A947-70E740481C1C}">
                <a14:useLocalDpi xmlns:a14="http://schemas.microsoft.com/office/drawing/2010/main" val="0"/>
              </a:ext>
            </a:extLst>
          </a:blip>
          <a:stretch>
            <a:fillRect/>
          </a:stretch>
        </p:blipFill>
        <p:spPr>
          <a:xfrm>
            <a:off x="7410450" y="318611"/>
            <a:ext cx="4503829" cy="1405414"/>
          </a:xfrm>
          <a:prstGeom prst="rect">
            <a:avLst/>
          </a:prstGeom>
        </p:spPr>
      </p:pic>
      <p:sp>
        <p:nvSpPr>
          <p:cNvPr id="5" name="Subtitle 4"/>
          <p:cNvSpPr>
            <a:spLocks noGrp="1"/>
          </p:cNvSpPr>
          <p:nvPr>
            <p:ph type="subTitle" idx="1"/>
          </p:nvPr>
        </p:nvSpPr>
        <p:spPr>
          <a:xfrm>
            <a:off x="4758585" y="4539192"/>
            <a:ext cx="6987645" cy="1975908"/>
          </a:xfrm>
        </p:spPr>
        <p:txBody>
          <a:bodyPr>
            <a:normAutofit fontScale="92500" lnSpcReduction="20000"/>
          </a:bodyPr>
          <a:lstStyle/>
          <a:p>
            <a:r>
              <a:rPr lang="en-US" b="1" dirty="0" err="1">
                <a:solidFill>
                  <a:srgbClr val="0070C0"/>
                </a:solidFill>
              </a:rPr>
              <a:t>Dr</a:t>
            </a:r>
            <a:r>
              <a:rPr lang="en-US" b="1" dirty="0">
                <a:solidFill>
                  <a:srgbClr val="0070C0"/>
                </a:solidFill>
              </a:rPr>
              <a:t> Alveen Singh</a:t>
            </a:r>
          </a:p>
          <a:p>
            <a:r>
              <a:rPr lang="en-US" b="1" dirty="0">
                <a:solidFill>
                  <a:srgbClr val="0070C0"/>
                </a:solidFill>
              </a:rPr>
              <a:t>Department of Information Technology</a:t>
            </a:r>
          </a:p>
          <a:p>
            <a:r>
              <a:rPr lang="en-US" b="1" dirty="0">
                <a:solidFill>
                  <a:srgbClr val="0070C0"/>
                </a:solidFill>
              </a:rPr>
              <a:t>Research skills/Project 3A </a:t>
            </a:r>
          </a:p>
          <a:p>
            <a:r>
              <a:rPr lang="en-US" b="1" dirty="0">
                <a:solidFill>
                  <a:srgbClr val="0070C0"/>
                </a:solidFill>
              </a:rPr>
              <a:t>Advanced Diploma in ICT/B. ICT</a:t>
            </a:r>
          </a:p>
          <a:p>
            <a:r>
              <a:rPr lang="en-US" b="1" dirty="0">
                <a:solidFill>
                  <a:srgbClr val="0070C0"/>
                </a:solidFill>
              </a:rPr>
              <a:t>Semester 1 2023</a:t>
            </a:r>
            <a:endParaRPr lang="en-ZA" b="1" dirty="0">
              <a:solidFill>
                <a:srgbClr val="0070C0"/>
              </a:solidFill>
            </a:endParaRPr>
          </a:p>
          <a:p>
            <a:endParaRPr lang="en-ZA" dirty="0"/>
          </a:p>
        </p:txBody>
      </p:sp>
    </p:spTree>
    <p:extLst>
      <p:ext uri="{BB962C8B-B14F-4D97-AF65-F5344CB8AC3E}">
        <p14:creationId xmlns:p14="http://schemas.microsoft.com/office/powerpoint/2010/main" val="2013173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Content</a:t>
            </a:r>
            <a:endParaRPr lang="en-ZA" dirty="0"/>
          </a:p>
        </p:txBody>
      </p:sp>
      <p:sp>
        <p:nvSpPr>
          <p:cNvPr id="3" name="Content Placeholder 2"/>
          <p:cNvSpPr>
            <a:spLocks noGrp="1"/>
          </p:cNvSpPr>
          <p:nvPr>
            <p:ph idx="1"/>
          </p:nvPr>
        </p:nvSpPr>
        <p:spPr/>
        <p:txBody>
          <a:bodyPr/>
          <a:lstStyle/>
          <a:p>
            <a:pPr marL="457200" lvl="0" indent="-457200">
              <a:buFont typeface="+mj-lt"/>
              <a:buAutoNum type="arabicPeriod"/>
            </a:pPr>
            <a:r>
              <a:rPr lang="en-GB" b="1" dirty="0"/>
              <a:t>Understanding the state of the art </a:t>
            </a:r>
            <a:endParaRPr lang="en-ZA" dirty="0"/>
          </a:p>
          <a:p>
            <a:pPr marL="457200" lvl="0" indent="-457200">
              <a:buFont typeface="+mj-lt"/>
              <a:buAutoNum type="arabicPeriod"/>
            </a:pPr>
            <a:r>
              <a:rPr lang="en-GB" b="1" dirty="0"/>
              <a:t>Sources of information</a:t>
            </a:r>
            <a:endParaRPr lang="en-ZA" dirty="0"/>
          </a:p>
          <a:p>
            <a:pPr marL="457200" lvl="0" indent="-457200">
              <a:buFont typeface="+mj-lt"/>
              <a:buAutoNum type="arabicPeriod"/>
            </a:pPr>
            <a:r>
              <a:rPr lang="en-GB" b="1" dirty="0"/>
              <a:t>Evaluation of sources</a:t>
            </a:r>
            <a:endParaRPr lang="en-ZA" dirty="0"/>
          </a:p>
          <a:p>
            <a:pPr marL="457200" lvl="0" indent="-457200">
              <a:buFont typeface="+mj-lt"/>
              <a:buAutoNum type="arabicPeriod"/>
            </a:pPr>
            <a:r>
              <a:rPr lang="en-GB" b="1" dirty="0"/>
              <a:t>Accessing information</a:t>
            </a:r>
          </a:p>
          <a:p>
            <a:pPr marL="457200" lvl="0" indent="-457200">
              <a:buFont typeface="+mj-lt"/>
              <a:buAutoNum type="arabicPeriod"/>
            </a:pPr>
            <a:r>
              <a:rPr lang="en-GB" b="1" dirty="0"/>
              <a:t>Research tools</a:t>
            </a:r>
            <a:endParaRPr lang="en-ZA" dirty="0"/>
          </a:p>
          <a:p>
            <a:pPr marL="0" indent="0">
              <a:buNone/>
            </a:pPr>
            <a:endParaRPr lang="en-ZA" dirty="0"/>
          </a:p>
        </p:txBody>
      </p:sp>
      <p:sp>
        <p:nvSpPr>
          <p:cNvPr id="4" name="Footer Placeholder 3"/>
          <p:cNvSpPr>
            <a:spLocks noGrp="1"/>
          </p:cNvSpPr>
          <p:nvPr>
            <p:ph type="ftr" sz="quarter" idx="11"/>
          </p:nvPr>
        </p:nvSpPr>
        <p:spPr/>
        <p:txBody>
          <a:bodyPr/>
          <a:lstStyle/>
          <a:p>
            <a:r>
              <a:rPr lang="en-US"/>
              <a:t>Dr Alveen Singh - Research skills</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821447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b="1" dirty="0"/>
              <a:t>1. Understanding the state of the art</a:t>
            </a:r>
            <a:endParaRPr lang="en-ZA" dirty="0"/>
          </a:p>
        </p:txBody>
      </p:sp>
      <p:sp>
        <p:nvSpPr>
          <p:cNvPr id="3" name="Content Placeholder 2"/>
          <p:cNvSpPr>
            <a:spLocks noGrp="1"/>
          </p:cNvSpPr>
          <p:nvPr>
            <p:ph idx="1"/>
          </p:nvPr>
        </p:nvSpPr>
        <p:spPr>
          <a:xfrm>
            <a:off x="1484310" y="2151017"/>
            <a:ext cx="10018713" cy="3640183"/>
          </a:xfrm>
        </p:spPr>
        <p:txBody>
          <a:bodyPr>
            <a:normAutofit/>
          </a:bodyPr>
          <a:lstStyle/>
          <a:p>
            <a:pPr marL="0" indent="0">
              <a:buNone/>
            </a:pPr>
            <a:r>
              <a:rPr lang="en-GB" dirty="0"/>
              <a:t>A researcher must have good understanding of the field or area of research to avoid falling onto the following problems:</a:t>
            </a:r>
          </a:p>
          <a:p>
            <a:pPr marL="0" indent="0">
              <a:buNone/>
            </a:pPr>
            <a:endParaRPr lang="en-ZA" dirty="0"/>
          </a:p>
          <a:p>
            <a:pPr marL="635508" lvl="1" indent="-342900" algn="just">
              <a:spcAft>
                <a:spcPts val="0"/>
              </a:spcAft>
              <a:buFont typeface="Symbol" panose="05050102010706020507" pitchFamily="18" charset="2"/>
              <a:buChar char=""/>
            </a:pPr>
            <a:r>
              <a:rPr lang="en-GB" sz="1800" dirty="0">
                <a:latin typeface="Times New Roman" panose="02020603050405020304" pitchFamily="18" charset="0"/>
                <a:ea typeface="Times New Roman" panose="02020603050405020304" pitchFamily="18" charset="0"/>
              </a:rPr>
              <a:t>The intended study has </a:t>
            </a:r>
            <a:r>
              <a:rPr lang="en-GB" sz="1800" b="1" dirty="0">
                <a:latin typeface="Times New Roman" panose="02020603050405020304" pitchFamily="18" charset="0"/>
                <a:ea typeface="Times New Roman" panose="02020603050405020304" pitchFamily="18" charset="0"/>
              </a:rPr>
              <a:t>been done before </a:t>
            </a:r>
          </a:p>
          <a:p>
            <a:pPr marL="635508" lvl="1" indent="-342900" algn="just">
              <a:spcAft>
                <a:spcPts val="0"/>
              </a:spcAft>
              <a:buFont typeface="Symbol" panose="05050102010706020507" pitchFamily="18" charset="2"/>
              <a:buChar char=""/>
            </a:pPr>
            <a:r>
              <a:rPr lang="en-GB" sz="1800" dirty="0">
                <a:latin typeface="Times New Roman" panose="02020603050405020304" pitchFamily="18" charset="0"/>
                <a:ea typeface="Times New Roman" panose="02020603050405020304" pitchFamily="18" charset="0"/>
              </a:rPr>
              <a:t>There are several recent developments that were </a:t>
            </a:r>
            <a:r>
              <a:rPr lang="en-GB" sz="1800" b="1" dirty="0">
                <a:latin typeface="Times New Roman" panose="02020603050405020304" pitchFamily="18" charset="0"/>
                <a:ea typeface="Times New Roman" panose="02020603050405020304" pitchFamily="18" charset="0"/>
              </a:rPr>
              <a:t>overlooked, </a:t>
            </a:r>
            <a:r>
              <a:rPr lang="en-GB" sz="1800" dirty="0">
                <a:latin typeface="Times New Roman" panose="02020603050405020304" pitchFamily="18" charset="0"/>
                <a:ea typeface="Times New Roman" panose="02020603050405020304" pitchFamily="18" charset="0"/>
              </a:rPr>
              <a:t>leading to flawed or outdated results</a:t>
            </a:r>
            <a:endParaRPr lang="en-ZA" sz="1800" dirty="0">
              <a:latin typeface="Times New Roman" panose="02020603050405020304" pitchFamily="18" charset="0"/>
              <a:ea typeface="Times New Roman" panose="02020603050405020304" pitchFamily="18" charset="0"/>
            </a:endParaRPr>
          </a:p>
          <a:p>
            <a:pPr marL="635508" lvl="1" indent="-342900" algn="just">
              <a:spcAft>
                <a:spcPts val="0"/>
              </a:spcAft>
              <a:buFont typeface="Symbol" panose="05050102010706020507" pitchFamily="18" charset="2"/>
              <a:buChar char=""/>
            </a:pPr>
            <a:r>
              <a:rPr lang="en-GB" sz="1800" dirty="0">
                <a:latin typeface="Times New Roman" panose="02020603050405020304" pitchFamily="18" charset="0"/>
                <a:ea typeface="Times New Roman" panose="02020603050405020304" pitchFamily="18" charset="0"/>
              </a:rPr>
              <a:t>Existing research has </a:t>
            </a:r>
            <a:r>
              <a:rPr lang="en-GB" sz="1800" b="1" dirty="0">
                <a:latin typeface="Times New Roman" panose="02020603050405020304" pitchFamily="18" charset="0"/>
                <a:ea typeface="Times New Roman" panose="02020603050405020304" pitchFamily="18" charset="0"/>
              </a:rPr>
              <a:t>successfully solved </a:t>
            </a:r>
            <a:r>
              <a:rPr lang="en-GB" sz="1800" dirty="0">
                <a:latin typeface="Times New Roman" panose="02020603050405020304" pitchFamily="18" charset="0"/>
                <a:ea typeface="Times New Roman" panose="02020603050405020304" pitchFamily="18" charset="0"/>
              </a:rPr>
              <a:t>the problem </a:t>
            </a:r>
            <a:endParaRPr lang="en-ZA" sz="1800" dirty="0">
              <a:latin typeface="Times New Roman" panose="02020603050405020304" pitchFamily="18" charset="0"/>
              <a:ea typeface="Times New Roman" panose="02020603050405020304" pitchFamily="18" charset="0"/>
            </a:endParaRPr>
          </a:p>
          <a:p>
            <a:pPr marL="635508" lvl="1" indent="-342900" algn="just">
              <a:spcAft>
                <a:spcPts val="0"/>
              </a:spcAft>
              <a:buFont typeface="Symbol" panose="05050102010706020507" pitchFamily="18" charset="2"/>
              <a:buChar char=""/>
            </a:pPr>
            <a:r>
              <a:rPr lang="en-GB" sz="1800" dirty="0">
                <a:latin typeface="Times New Roman" panose="02020603050405020304" pitchFamily="18" charset="0"/>
                <a:ea typeface="Times New Roman" panose="02020603050405020304" pitchFamily="18" charset="0"/>
              </a:rPr>
              <a:t>The sources of information </a:t>
            </a:r>
            <a:r>
              <a:rPr lang="en-GB" sz="1800" b="1" dirty="0">
                <a:latin typeface="Times New Roman" panose="02020603050405020304" pitchFamily="18" charset="0"/>
                <a:ea typeface="Times New Roman" panose="02020603050405020304" pitchFamily="18" charset="0"/>
              </a:rPr>
              <a:t>are not recent </a:t>
            </a:r>
            <a:r>
              <a:rPr lang="en-GB" sz="1800" dirty="0">
                <a:latin typeface="Times New Roman" panose="02020603050405020304" pitchFamily="18" charset="0"/>
                <a:ea typeface="Times New Roman" panose="02020603050405020304" pitchFamily="18" charset="0"/>
              </a:rPr>
              <a:t>and hence, no longer relevant </a:t>
            </a:r>
            <a:endParaRPr lang="en-ZA" sz="1800" dirty="0">
              <a:latin typeface="Times New Roman" panose="02020603050405020304" pitchFamily="18" charset="0"/>
              <a:ea typeface="Times New Roman" panose="02020603050405020304" pitchFamily="18" charset="0"/>
            </a:endParaRPr>
          </a:p>
          <a:p>
            <a:pPr marL="635508" lvl="1" indent="-342900" algn="just">
              <a:spcAft>
                <a:spcPts val="0"/>
              </a:spcAft>
              <a:buFont typeface="Symbol" panose="05050102010706020507" pitchFamily="18" charset="2"/>
              <a:buChar char=""/>
            </a:pPr>
            <a:r>
              <a:rPr lang="en-GB" sz="1800" b="1" dirty="0">
                <a:latin typeface="Times New Roman" panose="02020603050405020304" pitchFamily="18" charset="0"/>
                <a:ea typeface="Times New Roman" panose="02020603050405020304" pitchFamily="18" charset="0"/>
              </a:rPr>
              <a:t>Reinventing the wheel</a:t>
            </a:r>
            <a:r>
              <a:rPr lang="en-GB" sz="1800" dirty="0">
                <a:latin typeface="Times New Roman" panose="02020603050405020304" pitchFamily="18" charset="0"/>
                <a:ea typeface="Times New Roman" panose="02020603050405020304" pitchFamily="18" charset="0"/>
              </a:rPr>
              <a:t>, instead of using recent publications as a </a:t>
            </a:r>
            <a:r>
              <a:rPr lang="en-GB" sz="1800" i="1" dirty="0">
                <a:latin typeface="Times New Roman" panose="02020603050405020304" pitchFamily="18" charset="0"/>
                <a:ea typeface="Times New Roman" panose="02020603050405020304" pitchFamily="18" charset="0"/>
              </a:rPr>
              <a:t>springboard</a:t>
            </a:r>
            <a:endParaRPr lang="en-ZA" sz="1800" dirty="0">
              <a:latin typeface="Times New Roman" panose="02020603050405020304" pitchFamily="18" charset="0"/>
              <a:ea typeface="Times New Roman" panose="02020603050405020304" pitchFamily="18" charset="0"/>
            </a:endParaRPr>
          </a:p>
          <a:p>
            <a:endParaRPr lang="en-ZA" dirty="0"/>
          </a:p>
        </p:txBody>
      </p:sp>
      <p:sp>
        <p:nvSpPr>
          <p:cNvPr id="4" name="Footer Placeholder 3"/>
          <p:cNvSpPr>
            <a:spLocks noGrp="1"/>
          </p:cNvSpPr>
          <p:nvPr>
            <p:ph type="ftr" sz="quarter" idx="11"/>
          </p:nvPr>
        </p:nvSpPr>
        <p:spPr/>
        <p:txBody>
          <a:bodyPr/>
          <a:lstStyle/>
          <a:p>
            <a:r>
              <a:rPr lang="en-US"/>
              <a:t>Dr Alveen Singh - Research skills</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3</a:t>
            </a:fld>
            <a:endParaRPr lang="en-US" dirty="0"/>
          </a:p>
        </p:txBody>
      </p:sp>
      <p:pic>
        <p:nvPicPr>
          <p:cNvPr id="6" name="Picture 5"/>
          <p:cNvPicPr>
            <a:picLocks noChangeAspect="1"/>
          </p:cNvPicPr>
          <p:nvPr/>
        </p:nvPicPr>
        <p:blipFill>
          <a:blip r:embed="rId2"/>
          <a:stretch>
            <a:fillRect/>
          </a:stretch>
        </p:blipFill>
        <p:spPr>
          <a:xfrm>
            <a:off x="9466894" y="4659086"/>
            <a:ext cx="2509484" cy="1879691"/>
          </a:xfrm>
          <a:prstGeom prst="rect">
            <a:avLst/>
          </a:prstGeom>
        </p:spPr>
      </p:pic>
      <p:pic>
        <p:nvPicPr>
          <p:cNvPr id="7" name="Picture 6"/>
          <p:cNvPicPr>
            <a:picLocks noChangeAspect="1"/>
          </p:cNvPicPr>
          <p:nvPr/>
        </p:nvPicPr>
        <p:blipFill rotWithShape="1">
          <a:blip r:embed="rId3"/>
          <a:srcRect t="13161" b="23130"/>
          <a:stretch/>
        </p:blipFill>
        <p:spPr>
          <a:xfrm>
            <a:off x="6171713" y="5479281"/>
            <a:ext cx="2552700" cy="1140823"/>
          </a:xfrm>
          <a:prstGeom prst="rect">
            <a:avLst/>
          </a:prstGeom>
        </p:spPr>
      </p:pic>
    </p:spTree>
    <p:extLst>
      <p:ext uri="{BB962C8B-B14F-4D97-AF65-F5344CB8AC3E}">
        <p14:creationId xmlns:p14="http://schemas.microsoft.com/office/powerpoint/2010/main" val="319022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sz="2400" dirty="0">
                <a:latin typeface="Arial Rounded MT Bold" panose="020F0704030504030204" pitchFamily="34" charset="0"/>
              </a:rPr>
              <a:t>A quality literature study is key to avoiding the above shortfalls. </a:t>
            </a:r>
          </a:p>
          <a:p>
            <a:endParaRPr lang="en-GB" sz="2400" dirty="0">
              <a:latin typeface="Arial Rounded MT Bold" panose="020F0704030504030204" pitchFamily="34" charset="0"/>
            </a:endParaRPr>
          </a:p>
          <a:p>
            <a:r>
              <a:rPr lang="en-GB" sz="2400" dirty="0">
                <a:latin typeface="Arial Rounded MT Bold" panose="020F0704030504030204" pitchFamily="34" charset="0"/>
              </a:rPr>
              <a:t>The </a:t>
            </a:r>
            <a:r>
              <a:rPr lang="en-GB" sz="2400" b="1" dirty="0">
                <a:latin typeface="Arial Rounded MT Bold" panose="020F0704030504030204" pitchFamily="34" charset="0"/>
              </a:rPr>
              <a:t>preliminary literature</a:t>
            </a:r>
            <a:r>
              <a:rPr lang="en-GB" sz="2400" dirty="0">
                <a:latin typeface="Arial Rounded MT Bold" panose="020F0704030504030204" pitchFamily="34" charset="0"/>
              </a:rPr>
              <a:t> review allows the researcher to </a:t>
            </a:r>
            <a:r>
              <a:rPr lang="en-GB" sz="2400" i="1" dirty="0">
                <a:latin typeface="Arial Rounded MT Bold" panose="020F0704030504030204" pitchFamily="34" charset="0"/>
              </a:rPr>
              <a:t>get a broad understanding </a:t>
            </a:r>
            <a:r>
              <a:rPr lang="en-GB" sz="2400" dirty="0">
                <a:latin typeface="Arial Rounded MT Bold" panose="020F0704030504030204" pitchFamily="34" charset="0"/>
              </a:rPr>
              <a:t>for the field of enquiry. </a:t>
            </a:r>
          </a:p>
          <a:p>
            <a:endParaRPr lang="en-GB" sz="2400" dirty="0">
              <a:latin typeface="Arial Rounded MT Bold" panose="020F0704030504030204" pitchFamily="34" charset="0"/>
            </a:endParaRPr>
          </a:p>
          <a:p>
            <a:r>
              <a:rPr lang="en-GB" sz="2400" dirty="0">
                <a:latin typeface="Arial Rounded MT Bold" panose="020F0704030504030204" pitchFamily="34" charset="0"/>
              </a:rPr>
              <a:t>the </a:t>
            </a:r>
            <a:r>
              <a:rPr lang="en-GB" sz="2400" b="1" dirty="0">
                <a:latin typeface="Arial Rounded MT Bold" panose="020F0704030504030204" pitchFamily="34" charset="0"/>
              </a:rPr>
              <a:t>full literature review</a:t>
            </a:r>
            <a:r>
              <a:rPr lang="en-GB" sz="2400" dirty="0">
                <a:latin typeface="Arial Rounded MT Bold" panose="020F0704030504030204" pitchFamily="34" charset="0"/>
              </a:rPr>
              <a:t> must be done before empirical work begins. </a:t>
            </a:r>
          </a:p>
          <a:p>
            <a:pPr lvl="1"/>
            <a:r>
              <a:rPr lang="en-GB" sz="2200" dirty="0">
                <a:latin typeface="Arial Rounded MT Bold" panose="020F0704030504030204" pitchFamily="34" charset="0"/>
              </a:rPr>
              <a:t>motivation for the need for the research via critical analysis of the </a:t>
            </a:r>
            <a:r>
              <a:rPr lang="en-GB" sz="2200" i="1" dirty="0">
                <a:latin typeface="Arial Rounded MT Bold" panose="020F0704030504030204" pitchFamily="34" charset="0"/>
              </a:rPr>
              <a:t>state-of-the-art.</a:t>
            </a:r>
            <a:r>
              <a:rPr lang="en-GB" sz="2200" dirty="0">
                <a:latin typeface="Arial Rounded MT Bold" panose="020F0704030504030204" pitchFamily="34" charset="0"/>
              </a:rPr>
              <a:t>  </a:t>
            </a:r>
            <a:endParaRPr lang="en-ZA" sz="2200" dirty="0">
              <a:latin typeface="Arial Rounded MT Bold" panose="020F0704030504030204" pitchFamily="34" charset="0"/>
            </a:endParaRPr>
          </a:p>
          <a:p>
            <a:endParaRPr lang="en-ZA" dirty="0"/>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4</a:t>
            </a:fld>
            <a:endParaRPr lang="en-US" dirty="0"/>
          </a:p>
        </p:txBody>
      </p:sp>
      <p:pic>
        <p:nvPicPr>
          <p:cNvPr id="1026" name="Picture 2" descr="How to Write a Literature Review | Wordv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1553" y="4309336"/>
            <a:ext cx="2973343" cy="22660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783978" y="6138348"/>
            <a:ext cx="2238102" cy="369332"/>
          </a:xfrm>
          <a:prstGeom prst="rect">
            <a:avLst/>
          </a:prstGeom>
          <a:noFill/>
        </p:spPr>
        <p:txBody>
          <a:bodyPr wrap="square" rtlCol="0">
            <a:spAutoFit/>
          </a:bodyPr>
          <a:lstStyle/>
          <a:p>
            <a:r>
              <a:rPr lang="en-US" b="1" dirty="0" err="1">
                <a:solidFill>
                  <a:srgbClr val="FF0000"/>
                </a:solidFill>
              </a:rPr>
              <a:t>Wordvice</a:t>
            </a:r>
            <a:endParaRPr lang="en-ZA" b="1" dirty="0">
              <a:solidFill>
                <a:srgbClr val="FF0000"/>
              </a:solidFill>
            </a:endParaRPr>
          </a:p>
        </p:txBody>
      </p:sp>
    </p:spTree>
    <p:extLst>
      <p:ext uri="{BB962C8B-B14F-4D97-AF65-F5344CB8AC3E}">
        <p14:creationId xmlns:p14="http://schemas.microsoft.com/office/powerpoint/2010/main" val="321796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endParaRPr lang="en-GB" sz="3200" dirty="0"/>
          </a:p>
          <a:p>
            <a:r>
              <a:rPr lang="en-GB" sz="3200" dirty="0">
                <a:solidFill>
                  <a:srgbClr val="FF0000"/>
                </a:solidFill>
                <a:latin typeface="Arial Black" panose="020B0A04020102020204" pitchFamily="34" charset="0"/>
              </a:rPr>
              <a:t>Information overload! </a:t>
            </a:r>
          </a:p>
          <a:p>
            <a:pPr algn="ctr"/>
            <a:endParaRPr lang="en-GB" sz="3200" dirty="0"/>
          </a:p>
          <a:p>
            <a:pPr algn="ctr"/>
            <a:endParaRPr lang="en-GB" sz="3200" dirty="0"/>
          </a:p>
          <a:p>
            <a:pPr algn="ctr"/>
            <a:r>
              <a:rPr lang="en-GB" sz="2800" dirty="0">
                <a:latin typeface="Arial Rounded MT Bold" panose="020F0704030504030204" pitchFamily="34" charset="0"/>
              </a:rPr>
              <a:t>There are many publications contributing to a given field. The researcher has to identify the key authors, seminal works, accredited publishers and select only those sources relevant to their topic. </a:t>
            </a:r>
          </a:p>
          <a:p>
            <a:pPr algn="ctr"/>
            <a:endParaRPr lang="en-GB" sz="2800" dirty="0">
              <a:latin typeface="Arial Rounded MT Bold" panose="020F0704030504030204" pitchFamily="34" charset="0"/>
            </a:endParaRPr>
          </a:p>
          <a:p>
            <a:pPr algn="ctr"/>
            <a:r>
              <a:rPr lang="en-GB" sz="1800" dirty="0">
                <a:solidFill>
                  <a:srgbClr val="FF0000"/>
                </a:solidFill>
                <a:latin typeface="Arial Rounded MT Bold" panose="020F0704030504030204" pitchFamily="34" charset="0"/>
              </a:rPr>
              <a:t>Use of search keys; inclusion and exclusion criteria</a:t>
            </a:r>
            <a:endParaRPr lang="en-ZA" sz="1800" dirty="0">
              <a:solidFill>
                <a:srgbClr val="FF0000"/>
              </a:solidFill>
              <a:latin typeface="Arial Rounded MT Bold" panose="020F0704030504030204" pitchFamily="34" charset="0"/>
            </a:endParaRPr>
          </a:p>
          <a:p>
            <a:endParaRPr lang="en-ZA" dirty="0"/>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5</a:t>
            </a:fld>
            <a:endParaRPr lang="en-US" dirty="0"/>
          </a:p>
        </p:txBody>
      </p:sp>
      <p:pic>
        <p:nvPicPr>
          <p:cNvPr id="6" name="Picture 5"/>
          <p:cNvPicPr>
            <a:picLocks noChangeAspect="1"/>
          </p:cNvPicPr>
          <p:nvPr/>
        </p:nvPicPr>
        <p:blipFill>
          <a:blip r:embed="rId2"/>
          <a:stretch>
            <a:fillRect/>
          </a:stretch>
        </p:blipFill>
        <p:spPr>
          <a:xfrm>
            <a:off x="7802200" y="967740"/>
            <a:ext cx="2962275" cy="1543050"/>
          </a:xfrm>
          <a:prstGeom prst="rect">
            <a:avLst/>
          </a:prstGeom>
        </p:spPr>
      </p:pic>
      <p:sp>
        <p:nvSpPr>
          <p:cNvPr id="7" name="TextBox 6"/>
          <p:cNvSpPr txBox="1"/>
          <p:nvPr/>
        </p:nvSpPr>
        <p:spPr>
          <a:xfrm>
            <a:off x="9178834" y="2530747"/>
            <a:ext cx="1585641" cy="369332"/>
          </a:xfrm>
          <a:prstGeom prst="rect">
            <a:avLst/>
          </a:prstGeom>
          <a:noFill/>
        </p:spPr>
        <p:txBody>
          <a:bodyPr wrap="square" rtlCol="0">
            <a:spAutoFit/>
          </a:bodyPr>
          <a:lstStyle/>
          <a:p>
            <a:r>
              <a:rPr lang="en-US" b="1" dirty="0" err="1">
                <a:solidFill>
                  <a:srgbClr val="FF0000"/>
                </a:solidFill>
              </a:rPr>
              <a:t>Medium.com</a:t>
            </a:r>
            <a:endParaRPr lang="en-ZA" b="1" dirty="0">
              <a:solidFill>
                <a:srgbClr val="FF0000"/>
              </a:solidFill>
            </a:endParaRPr>
          </a:p>
        </p:txBody>
      </p:sp>
    </p:spTree>
    <p:extLst>
      <p:ext uri="{BB962C8B-B14F-4D97-AF65-F5344CB8AC3E}">
        <p14:creationId xmlns:p14="http://schemas.microsoft.com/office/powerpoint/2010/main" val="602165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94EF687-828E-4817-922A-531384D48E03}"/>
              </a:ext>
            </a:extLst>
          </p:cNvPr>
          <p:cNvSpPr>
            <a:spLocks noGrp="1"/>
          </p:cNvSpPr>
          <p:nvPr>
            <p:ph idx="1"/>
          </p:nvPr>
        </p:nvSpPr>
        <p:spPr>
          <a:xfrm>
            <a:off x="1484310" y="717177"/>
            <a:ext cx="10018713" cy="5074024"/>
          </a:xfrm>
        </p:spPr>
        <p:txBody>
          <a:bodyPr anchor="t"/>
          <a:lstStyle/>
          <a:p>
            <a:pPr marL="0" indent="0">
              <a:buNone/>
            </a:pPr>
            <a:r>
              <a:rPr lang="en-US" dirty="0"/>
              <a:t>Consider the following research aim:</a:t>
            </a:r>
          </a:p>
          <a:p>
            <a:pPr marL="0" indent="0" algn="just">
              <a:buNone/>
            </a:pPr>
            <a:r>
              <a:rPr lang="en-ZA" sz="2000" dirty="0">
                <a:latin typeface="Abadi" panose="020B0604020104020204" pitchFamily="34" charset="0"/>
              </a:rPr>
              <a:t>The IoT sensors used in a poly house are air temperature sensor, soil pH sensor, soil moisture sensor, humidity sensor and water volume sensor. This research aims to first, determine the challenges that these systems face and second, propose an architecture of IoT sensors that collect information and send it over the Wi-Fi network to the cloud for processing.</a:t>
            </a:r>
            <a:endParaRPr lang="en-US" sz="2000" dirty="0">
              <a:latin typeface="Abadi" panose="020B0604020104020204" pitchFamily="34" charset="0"/>
            </a:endParaRPr>
          </a:p>
          <a:p>
            <a:pPr marL="457200" indent="-457200">
              <a:buFont typeface="+mj-lt"/>
              <a:buAutoNum type="arabicPeriod"/>
            </a:pPr>
            <a:r>
              <a:rPr lang="en-US" dirty="0"/>
              <a:t>Write down 3 search keys to find relevant publications</a:t>
            </a:r>
          </a:p>
          <a:p>
            <a:pPr marL="457200" indent="-457200">
              <a:buFont typeface="+mj-lt"/>
              <a:buAutoNum type="arabicPeriod"/>
            </a:pPr>
            <a:r>
              <a:rPr lang="en-US" dirty="0"/>
              <a:t>Write down inclusion criteria</a:t>
            </a:r>
          </a:p>
          <a:p>
            <a:pPr marL="457200" indent="-457200">
              <a:buFont typeface="+mj-lt"/>
              <a:buAutoNum type="arabicPeriod"/>
            </a:pPr>
            <a:r>
              <a:rPr lang="en-US" dirty="0"/>
              <a:t>Write down exclusion criteria</a:t>
            </a:r>
          </a:p>
          <a:p>
            <a:endParaRPr lang="en-US" dirty="0"/>
          </a:p>
        </p:txBody>
      </p:sp>
      <p:sp>
        <p:nvSpPr>
          <p:cNvPr id="2" name="Footer Placeholder 1">
            <a:extLst>
              <a:ext uri="{FF2B5EF4-FFF2-40B4-BE49-F238E27FC236}">
                <a16:creationId xmlns:a16="http://schemas.microsoft.com/office/drawing/2014/main" id="{6621450B-8360-4568-A8BB-F4D92B596A56}"/>
              </a:ext>
            </a:extLst>
          </p:cNvPr>
          <p:cNvSpPr>
            <a:spLocks noGrp="1"/>
          </p:cNvSpPr>
          <p:nvPr>
            <p:ph type="ftr" sz="quarter" idx="11"/>
          </p:nvPr>
        </p:nvSpPr>
        <p:spPr/>
        <p:txBody>
          <a:bodyPr/>
          <a:lstStyle/>
          <a:p>
            <a:r>
              <a:rPr lang="en-US"/>
              <a:t>Dr Alveen Singh - Research skills</a:t>
            </a:r>
            <a:endParaRPr lang="en-US" dirty="0"/>
          </a:p>
        </p:txBody>
      </p:sp>
      <p:sp>
        <p:nvSpPr>
          <p:cNvPr id="3" name="Slide Number Placeholder 2">
            <a:extLst>
              <a:ext uri="{FF2B5EF4-FFF2-40B4-BE49-F238E27FC236}">
                <a16:creationId xmlns:a16="http://schemas.microsoft.com/office/drawing/2014/main" id="{9093837E-233A-40ED-843D-5400DC5B080B}"/>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313233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D936E-165C-49B2-896D-A037B4CE59AE}"/>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012FE1A6-6141-4C42-9F5A-20C458A597EA}"/>
              </a:ext>
            </a:extLst>
          </p:cNvPr>
          <p:cNvSpPr>
            <a:spLocks noGrp="1"/>
          </p:cNvSpPr>
          <p:nvPr>
            <p:ph idx="1"/>
          </p:nvPr>
        </p:nvSpPr>
        <p:spPr/>
        <p:txBody>
          <a:bodyPr/>
          <a:lstStyle/>
          <a:p>
            <a:pPr marL="457200" indent="-457200">
              <a:buAutoNum type="arabicPeriod"/>
            </a:pPr>
            <a:r>
              <a:rPr lang="en-ZA" dirty="0"/>
              <a:t>IoT, Agriculture, Smart farming, Poly House and Sensors</a:t>
            </a:r>
          </a:p>
          <a:p>
            <a:pPr marL="457200" indent="-457200">
              <a:buAutoNum type="arabicPeriod"/>
            </a:pPr>
            <a:r>
              <a:rPr lang="en-US" dirty="0"/>
              <a:t>Scopus database, English language, Journal, Book Chapter</a:t>
            </a:r>
          </a:p>
          <a:p>
            <a:pPr marL="457200" indent="-457200">
              <a:buAutoNum type="arabicPeriod"/>
            </a:pPr>
            <a:r>
              <a:rPr lang="en-US" dirty="0"/>
              <a:t>Older than 5 years</a:t>
            </a:r>
            <a:endParaRPr lang="en-ZA" dirty="0"/>
          </a:p>
          <a:p>
            <a:pPr marL="457200" indent="-457200">
              <a:buAutoNum type="arabicPeriod"/>
            </a:pPr>
            <a:endParaRPr lang="en-ZA" dirty="0"/>
          </a:p>
          <a:p>
            <a:pPr marL="457200" indent="-457200">
              <a:buAutoNum type="arabicPeriod"/>
            </a:pPr>
            <a:endParaRPr lang="en-ZA" dirty="0"/>
          </a:p>
        </p:txBody>
      </p:sp>
      <p:sp>
        <p:nvSpPr>
          <p:cNvPr id="4" name="Footer Placeholder 3">
            <a:extLst>
              <a:ext uri="{FF2B5EF4-FFF2-40B4-BE49-F238E27FC236}">
                <a16:creationId xmlns:a16="http://schemas.microsoft.com/office/drawing/2014/main" id="{C049E75C-10AB-4FF2-90BC-2DD1DC3DF6A8}"/>
              </a:ext>
            </a:extLst>
          </p:cNvPr>
          <p:cNvSpPr>
            <a:spLocks noGrp="1"/>
          </p:cNvSpPr>
          <p:nvPr>
            <p:ph type="ftr" sz="quarter" idx="11"/>
          </p:nvPr>
        </p:nvSpPr>
        <p:spPr/>
        <p:txBody>
          <a:bodyPr/>
          <a:lstStyle/>
          <a:p>
            <a:r>
              <a:rPr lang="en-US"/>
              <a:t>Dr Alveen Singh - Research skills</a:t>
            </a:r>
            <a:endParaRPr lang="en-US" dirty="0"/>
          </a:p>
        </p:txBody>
      </p:sp>
      <p:sp>
        <p:nvSpPr>
          <p:cNvPr id="5" name="Slide Number Placeholder 4">
            <a:extLst>
              <a:ext uri="{FF2B5EF4-FFF2-40B4-BE49-F238E27FC236}">
                <a16:creationId xmlns:a16="http://schemas.microsoft.com/office/drawing/2014/main" id="{B40FBF54-C1B2-462D-AB35-0283C7CC439D}"/>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523480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ZA" dirty="0"/>
          </a:p>
        </p:txBody>
      </p:sp>
      <p:sp>
        <p:nvSpPr>
          <p:cNvPr id="2" name="Title 1"/>
          <p:cNvSpPr>
            <a:spLocks noGrp="1"/>
          </p:cNvSpPr>
          <p:nvPr>
            <p:ph type="title"/>
          </p:nvPr>
        </p:nvSpPr>
        <p:spPr/>
        <p:txBody>
          <a:bodyPr/>
          <a:lstStyle/>
          <a:p>
            <a:r>
              <a:rPr lang="en-US" dirty="0"/>
              <a:t>2. </a:t>
            </a:r>
            <a:r>
              <a:rPr lang="en-US" b="1" dirty="0"/>
              <a:t>Sources of information</a:t>
            </a:r>
            <a:endParaRPr lang="en-ZA" b="1" dirty="0"/>
          </a:p>
        </p:txBody>
      </p:sp>
      <p:sp>
        <p:nvSpPr>
          <p:cNvPr id="3" name="Content Placeholder 2"/>
          <p:cNvSpPr>
            <a:spLocks noGrp="1"/>
          </p:cNvSpPr>
          <p:nvPr>
            <p:ph idx="1"/>
          </p:nvPr>
        </p:nvSpPr>
        <p:spPr>
          <a:xfrm>
            <a:off x="1484310" y="2142309"/>
            <a:ext cx="10018713" cy="3648891"/>
          </a:xfrm>
        </p:spPr>
        <p:txBody>
          <a:bodyPr anchor="t">
            <a:normAutofit fontScale="85000" lnSpcReduction="20000"/>
          </a:bodyPr>
          <a:lstStyle/>
          <a:p>
            <a:pPr marL="0" indent="0" algn="ctr">
              <a:buNone/>
            </a:pPr>
            <a:r>
              <a:rPr lang="en-GB" dirty="0"/>
              <a:t>There are various sources of information available to the researcher. </a:t>
            </a:r>
          </a:p>
          <a:p>
            <a:pPr marL="0" indent="0" algn="ctr">
              <a:buNone/>
            </a:pPr>
            <a:r>
              <a:rPr lang="en-GB" dirty="0"/>
              <a:t>Some of these include:</a:t>
            </a:r>
          </a:p>
          <a:p>
            <a:pPr marL="342900" lvl="0" indent="-342900" algn="just">
              <a:spcAft>
                <a:spcPts val="0"/>
              </a:spcAft>
              <a:buFont typeface="Symbol" panose="05050102010706020507" pitchFamily="18" charset="2"/>
              <a:buChar char=""/>
            </a:pPr>
            <a:r>
              <a:rPr lang="en-GB" dirty="0">
                <a:latin typeface="Arial Rounded MT Bold" panose="020F0704030504030204" pitchFamily="34" charset="0"/>
                <a:ea typeface="Times New Roman" panose="02020603050405020304" pitchFamily="18" charset="0"/>
              </a:rPr>
              <a:t>Journal articles</a:t>
            </a:r>
            <a:endParaRPr lang="en-ZA" dirty="0">
              <a:latin typeface="Arial Rounded MT Bold" panose="020F0704030504030204" pitchFamily="34" charset="0"/>
              <a:ea typeface="Times New Roman" panose="02020603050405020304" pitchFamily="18" charset="0"/>
            </a:endParaRPr>
          </a:p>
          <a:p>
            <a:pPr marL="342900" lvl="0" indent="-342900" algn="just">
              <a:spcAft>
                <a:spcPts val="0"/>
              </a:spcAft>
              <a:buFont typeface="Symbol" panose="05050102010706020507" pitchFamily="18" charset="2"/>
              <a:buChar char=""/>
            </a:pPr>
            <a:r>
              <a:rPr lang="en-GB" dirty="0">
                <a:latin typeface="Arial Rounded MT Bold" panose="020F0704030504030204" pitchFamily="34" charset="0"/>
                <a:ea typeface="Times New Roman" panose="02020603050405020304" pitchFamily="18" charset="0"/>
              </a:rPr>
              <a:t>Text books</a:t>
            </a:r>
            <a:endParaRPr lang="en-ZA" dirty="0">
              <a:latin typeface="Arial Rounded MT Bold" panose="020F0704030504030204" pitchFamily="34" charset="0"/>
              <a:ea typeface="Times New Roman" panose="02020603050405020304" pitchFamily="18" charset="0"/>
            </a:endParaRPr>
          </a:p>
          <a:p>
            <a:pPr marL="342900" lvl="0" indent="-342900" algn="just">
              <a:spcAft>
                <a:spcPts val="0"/>
              </a:spcAft>
              <a:buFont typeface="Symbol" panose="05050102010706020507" pitchFamily="18" charset="2"/>
              <a:buChar char=""/>
            </a:pPr>
            <a:r>
              <a:rPr lang="en-GB" dirty="0">
                <a:latin typeface="Arial Rounded MT Bold" panose="020F0704030504030204" pitchFamily="34" charset="0"/>
                <a:ea typeface="Times New Roman" panose="02020603050405020304" pitchFamily="18" charset="0"/>
              </a:rPr>
              <a:t>Reference tools like online dictionaries and encyclopaedias</a:t>
            </a:r>
            <a:endParaRPr lang="en-ZA" dirty="0">
              <a:latin typeface="Arial Rounded MT Bold" panose="020F0704030504030204" pitchFamily="34" charset="0"/>
              <a:ea typeface="Times New Roman" panose="02020603050405020304" pitchFamily="18" charset="0"/>
            </a:endParaRPr>
          </a:p>
          <a:p>
            <a:pPr marL="342900" lvl="0" indent="-342900" algn="just">
              <a:spcAft>
                <a:spcPts val="0"/>
              </a:spcAft>
              <a:buFont typeface="Symbol" panose="05050102010706020507" pitchFamily="18" charset="2"/>
              <a:buChar char=""/>
            </a:pPr>
            <a:r>
              <a:rPr lang="en-GB" dirty="0">
                <a:latin typeface="Arial Rounded MT Bold" panose="020F0704030504030204" pitchFamily="34" charset="0"/>
                <a:ea typeface="Times New Roman" panose="02020603050405020304" pitchFamily="18" charset="0"/>
              </a:rPr>
              <a:t>Technical reports</a:t>
            </a:r>
            <a:endParaRPr lang="en-ZA" dirty="0">
              <a:latin typeface="Arial Rounded MT Bold" panose="020F0704030504030204" pitchFamily="34" charset="0"/>
              <a:ea typeface="Times New Roman" panose="02020603050405020304" pitchFamily="18" charset="0"/>
            </a:endParaRPr>
          </a:p>
          <a:p>
            <a:pPr marL="342900" lvl="0" indent="-342900" algn="just">
              <a:spcAft>
                <a:spcPts val="0"/>
              </a:spcAft>
              <a:buFont typeface="Symbol" panose="05050102010706020507" pitchFamily="18" charset="2"/>
              <a:buChar char=""/>
            </a:pPr>
            <a:r>
              <a:rPr lang="en-GB" dirty="0">
                <a:latin typeface="Arial Rounded MT Bold" panose="020F0704030504030204" pitchFamily="34" charset="0"/>
                <a:ea typeface="Times New Roman" panose="02020603050405020304" pitchFamily="18" charset="0"/>
              </a:rPr>
              <a:t>Conference proceedings</a:t>
            </a:r>
            <a:endParaRPr lang="en-ZA" dirty="0">
              <a:latin typeface="Arial Rounded MT Bold" panose="020F0704030504030204" pitchFamily="34" charset="0"/>
              <a:ea typeface="Times New Roman" panose="02020603050405020304" pitchFamily="18" charset="0"/>
            </a:endParaRPr>
          </a:p>
          <a:p>
            <a:pPr marL="342900" lvl="0" indent="-342900" algn="just">
              <a:spcAft>
                <a:spcPts val="0"/>
              </a:spcAft>
              <a:buFont typeface="Symbol" panose="05050102010706020507" pitchFamily="18" charset="2"/>
              <a:buChar char=""/>
            </a:pPr>
            <a:r>
              <a:rPr lang="en-GB" dirty="0">
                <a:latin typeface="Arial Rounded MT Bold" panose="020F0704030504030204" pitchFamily="34" charset="0"/>
                <a:ea typeface="Times New Roman" panose="02020603050405020304" pitchFamily="18" charset="0"/>
              </a:rPr>
              <a:t>Conference posters</a:t>
            </a:r>
            <a:endParaRPr lang="en-ZA" dirty="0">
              <a:latin typeface="Arial Rounded MT Bold" panose="020F0704030504030204" pitchFamily="34" charset="0"/>
              <a:ea typeface="Times New Roman" panose="02020603050405020304" pitchFamily="18" charset="0"/>
            </a:endParaRPr>
          </a:p>
          <a:p>
            <a:pPr marL="342900" lvl="0" indent="-342900" algn="just">
              <a:spcAft>
                <a:spcPts val="0"/>
              </a:spcAft>
              <a:buFont typeface="Symbol" panose="05050102010706020507" pitchFamily="18" charset="2"/>
              <a:buChar char=""/>
            </a:pPr>
            <a:r>
              <a:rPr lang="en-GB" dirty="0">
                <a:latin typeface="Arial Rounded MT Bold" panose="020F0704030504030204" pitchFamily="34" charset="0"/>
                <a:ea typeface="Times New Roman" panose="02020603050405020304" pitchFamily="18" charset="0"/>
              </a:rPr>
              <a:t>Dissertations/thesis</a:t>
            </a:r>
            <a:endParaRPr lang="en-ZA" dirty="0">
              <a:latin typeface="Arial Rounded MT Bold" panose="020F0704030504030204" pitchFamily="34" charset="0"/>
              <a:ea typeface="Times New Roman" panose="02020603050405020304" pitchFamily="18" charset="0"/>
            </a:endParaRPr>
          </a:p>
          <a:p>
            <a:pPr marL="342900" lvl="0" indent="-342900" algn="just">
              <a:spcAft>
                <a:spcPts val="0"/>
              </a:spcAft>
              <a:buFont typeface="Symbol" panose="05050102010706020507" pitchFamily="18" charset="2"/>
              <a:buChar char=""/>
            </a:pPr>
            <a:r>
              <a:rPr lang="en-GB" dirty="0">
                <a:latin typeface="Arial Rounded MT Bold" panose="020F0704030504030204" pitchFamily="34" charset="0"/>
                <a:ea typeface="Times New Roman" panose="02020603050405020304" pitchFamily="18" charset="0"/>
              </a:rPr>
              <a:t>Professional body websites </a:t>
            </a:r>
            <a:endParaRPr lang="en-ZA" dirty="0">
              <a:latin typeface="Arial Rounded MT Bold" panose="020F0704030504030204" pitchFamily="34" charset="0"/>
              <a:ea typeface="Times New Roman" panose="02020603050405020304" pitchFamily="18" charset="0"/>
            </a:endParaRPr>
          </a:p>
          <a:p>
            <a:pPr marL="342900" lvl="0" indent="-342900" algn="just">
              <a:spcAft>
                <a:spcPts val="0"/>
              </a:spcAft>
              <a:buFont typeface="Symbol" panose="05050102010706020507" pitchFamily="18" charset="2"/>
              <a:buChar char=""/>
            </a:pPr>
            <a:r>
              <a:rPr lang="en-GB" dirty="0">
                <a:latin typeface="Arial Rounded MT Bold" panose="020F0704030504030204" pitchFamily="34" charset="0"/>
                <a:ea typeface="Times New Roman" panose="02020603050405020304" pitchFamily="18" charset="0"/>
              </a:rPr>
              <a:t>Personal communication</a:t>
            </a:r>
            <a:endParaRPr lang="en-ZA" dirty="0">
              <a:latin typeface="Arial Rounded MT Bold" panose="020F0704030504030204" pitchFamily="34" charset="0"/>
              <a:ea typeface="Times New Roman" panose="02020603050405020304" pitchFamily="18" charset="0"/>
            </a:endParaRPr>
          </a:p>
          <a:p>
            <a:pPr marL="0" indent="0" algn="ctr">
              <a:buNone/>
            </a:pPr>
            <a:endParaRPr lang="en-ZA" dirty="0"/>
          </a:p>
          <a:p>
            <a:endParaRPr lang="en-ZA" dirty="0"/>
          </a:p>
        </p:txBody>
      </p:sp>
      <p:sp>
        <p:nvSpPr>
          <p:cNvPr id="5" name="Footer Placeholder 4"/>
          <p:cNvSpPr>
            <a:spLocks noGrp="1"/>
          </p:cNvSpPr>
          <p:nvPr>
            <p:ph type="ftr" sz="quarter" idx="11"/>
          </p:nvPr>
        </p:nvSpPr>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320378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ZA" dirty="0"/>
          </a:p>
        </p:txBody>
      </p:sp>
      <p:sp>
        <p:nvSpPr>
          <p:cNvPr id="5" name="Title 4"/>
          <p:cNvSpPr>
            <a:spLocks noGrp="1"/>
          </p:cNvSpPr>
          <p:nvPr>
            <p:ph type="title"/>
          </p:nvPr>
        </p:nvSpPr>
        <p:spPr/>
        <p:txBody>
          <a:bodyPr/>
          <a:lstStyle/>
          <a:p>
            <a:r>
              <a:rPr lang="en-US" b="1" dirty="0"/>
              <a:t>3. Evaluation of sources</a:t>
            </a:r>
            <a:endParaRPr lang="en-ZA" b="1" dirty="0"/>
          </a:p>
        </p:txBody>
      </p:sp>
      <p:sp>
        <p:nvSpPr>
          <p:cNvPr id="6" name="Content Placeholder 5"/>
          <p:cNvSpPr>
            <a:spLocks noGrp="1"/>
          </p:cNvSpPr>
          <p:nvPr>
            <p:ph idx="1"/>
          </p:nvPr>
        </p:nvSpPr>
        <p:spPr>
          <a:xfrm>
            <a:off x="1484310" y="2203269"/>
            <a:ext cx="10018713" cy="3587931"/>
          </a:xfrm>
        </p:spPr>
        <p:txBody>
          <a:bodyPr>
            <a:normAutofit/>
          </a:bodyPr>
          <a:lstStyle/>
          <a:p>
            <a:pPr algn="just"/>
            <a:r>
              <a:rPr lang="en-GB" sz="2400" dirty="0">
                <a:latin typeface="Arial Rounded MT Bold" panose="020F0704030504030204" pitchFamily="34" charset="0"/>
              </a:rPr>
              <a:t>The researcher has many sources of information </a:t>
            </a:r>
          </a:p>
          <a:p>
            <a:pPr algn="just"/>
            <a:r>
              <a:rPr lang="en-GB" sz="2400" dirty="0">
                <a:latin typeface="Arial Rounded MT Bold" panose="020F0704030504030204" pitchFamily="34" charset="0"/>
              </a:rPr>
              <a:t>The most reliable sources are journal articles, conference proceedings, and thesis and dissertations.</a:t>
            </a:r>
          </a:p>
          <a:p>
            <a:pPr marL="0" indent="0" algn="just">
              <a:buNone/>
            </a:pPr>
            <a:endParaRPr lang="en-GB" sz="2400" dirty="0">
              <a:latin typeface="Arial Rounded MT Bold" panose="020F0704030504030204" pitchFamily="34" charset="0"/>
            </a:endParaRPr>
          </a:p>
          <a:p>
            <a:pPr algn="just"/>
            <a:r>
              <a:rPr lang="en-GB" sz="2400" dirty="0">
                <a:latin typeface="Arial Rounded MT Bold" panose="020F0704030504030204" pitchFamily="34" charset="0"/>
              </a:rPr>
              <a:t>The above sources of information have some degree of </a:t>
            </a:r>
            <a:r>
              <a:rPr lang="en-GB" sz="2400" b="1" i="1" dirty="0">
                <a:latin typeface="Arial Rounded MT Bold" panose="020F0704030504030204" pitchFamily="34" charset="0"/>
              </a:rPr>
              <a:t>peer review</a:t>
            </a:r>
            <a:endParaRPr lang="en-ZA" sz="2400" b="1" i="1" dirty="0">
              <a:latin typeface="Arial Rounded MT Bold" panose="020F0704030504030204" pitchFamily="34" charset="0"/>
            </a:endParaRPr>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4210895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endParaRPr lang="en-US" sz="2400" dirty="0">
              <a:latin typeface="Arial Rounded MT Bold" panose="020F0704030504030204" pitchFamily="34" charset="0"/>
            </a:endParaRPr>
          </a:p>
          <a:p>
            <a:pPr algn="ctr"/>
            <a:r>
              <a:rPr lang="en-US" sz="2400" dirty="0">
                <a:latin typeface="Arial Rounded MT Bold" panose="020F0704030504030204" pitchFamily="34" charset="0"/>
              </a:rPr>
              <a:t>The dissertation/thesis of Masters and PhD students have been examined by at least two experts in the field that have been appointed by the University. </a:t>
            </a:r>
            <a:endParaRPr lang="en-ZA" dirty="0"/>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1577508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4" name="Picture 3"/>
          <p:cNvPicPr>
            <a:picLocks noChangeAspect="1"/>
          </p:cNvPicPr>
          <p:nvPr/>
        </p:nvPicPr>
        <p:blipFill>
          <a:blip r:embed="rId2"/>
          <a:stretch>
            <a:fillRect/>
          </a:stretch>
        </p:blipFill>
        <p:spPr>
          <a:xfrm>
            <a:off x="6250440" y="2393950"/>
            <a:ext cx="5438775" cy="3810000"/>
          </a:xfrm>
          <a:prstGeom prst="rect">
            <a:avLst/>
          </a:prstGeom>
        </p:spPr>
      </p:pic>
      <p:sp>
        <p:nvSpPr>
          <p:cNvPr id="5" name="TextBox 4"/>
          <p:cNvSpPr txBox="1"/>
          <p:nvPr/>
        </p:nvSpPr>
        <p:spPr>
          <a:xfrm>
            <a:off x="5947954" y="6019284"/>
            <a:ext cx="2272937" cy="369332"/>
          </a:xfrm>
          <a:prstGeom prst="rect">
            <a:avLst/>
          </a:prstGeom>
          <a:noFill/>
        </p:spPr>
        <p:txBody>
          <a:bodyPr wrap="square" rtlCol="0">
            <a:spAutoFit/>
          </a:bodyPr>
          <a:lstStyle/>
          <a:p>
            <a:r>
              <a:rPr lang="en-US" b="1" dirty="0">
                <a:solidFill>
                  <a:srgbClr val="FF0000"/>
                </a:solidFill>
              </a:rPr>
              <a:t>University of Denver</a:t>
            </a:r>
            <a:endParaRPr lang="en-ZA" b="1" dirty="0">
              <a:solidFill>
                <a:srgbClr val="FF0000"/>
              </a:solidFill>
            </a:endParaRPr>
          </a:p>
        </p:txBody>
      </p:sp>
    </p:spTree>
    <p:extLst>
      <p:ext uri="{BB962C8B-B14F-4D97-AF65-F5344CB8AC3E}">
        <p14:creationId xmlns:p14="http://schemas.microsoft.com/office/powerpoint/2010/main" val="2312113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4252D51-24A9-4FCF-B16A-CEB7B65D120A}"/>
              </a:ext>
            </a:extLst>
          </p:cNvPr>
          <p:cNvSpPr>
            <a:spLocks noGrp="1"/>
          </p:cNvSpPr>
          <p:nvPr>
            <p:ph idx="1"/>
          </p:nvPr>
        </p:nvSpPr>
        <p:spPr>
          <a:xfrm>
            <a:off x="1484310" y="735107"/>
            <a:ext cx="10018713" cy="5056094"/>
          </a:xfrm>
        </p:spPr>
        <p:txBody>
          <a:bodyPr/>
          <a:lstStyle/>
          <a:p>
            <a:pPr marL="0" indent="0">
              <a:buNone/>
            </a:pPr>
            <a:r>
              <a:rPr lang="en-US" dirty="0"/>
              <a:t>Which is the most reliable source?</a:t>
            </a:r>
          </a:p>
          <a:p>
            <a:pPr marL="914400" lvl="1" indent="-457200">
              <a:buFont typeface="+mj-lt"/>
              <a:buAutoNum type="alphaLcPeriod"/>
            </a:pPr>
            <a:r>
              <a:rPr lang="en-US" dirty="0"/>
              <a:t>Website</a:t>
            </a:r>
          </a:p>
          <a:p>
            <a:pPr marL="914400" lvl="1" indent="-457200">
              <a:buFont typeface="+mj-lt"/>
              <a:buAutoNum type="alphaLcPeriod"/>
            </a:pPr>
            <a:r>
              <a:rPr lang="en-US" dirty="0"/>
              <a:t>News paper article</a:t>
            </a:r>
          </a:p>
          <a:p>
            <a:pPr marL="914400" lvl="1" indent="-457200">
              <a:buFont typeface="+mj-lt"/>
              <a:buAutoNum type="alphaLcPeriod"/>
            </a:pPr>
            <a:r>
              <a:rPr lang="en-US" dirty="0"/>
              <a:t>Conference poster</a:t>
            </a:r>
          </a:p>
          <a:p>
            <a:pPr marL="914400" lvl="1" indent="-457200">
              <a:buFont typeface="+mj-lt"/>
              <a:buAutoNum type="alphaLcPeriod"/>
            </a:pPr>
            <a:r>
              <a:rPr lang="en-US" dirty="0"/>
              <a:t>Politician’s speech</a:t>
            </a:r>
          </a:p>
          <a:p>
            <a:pPr lvl="1"/>
            <a:endParaRPr lang="en-ZA" dirty="0"/>
          </a:p>
        </p:txBody>
      </p:sp>
      <p:sp>
        <p:nvSpPr>
          <p:cNvPr id="2" name="Footer Placeholder 1">
            <a:extLst>
              <a:ext uri="{FF2B5EF4-FFF2-40B4-BE49-F238E27FC236}">
                <a16:creationId xmlns:a16="http://schemas.microsoft.com/office/drawing/2014/main" id="{475D6AA6-BC19-412F-AE98-93E98FB3EA3B}"/>
              </a:ext>
            </a:extLst>
          </p:cNvPr>
          <p:cNvSpPr>
            <a:spLocks noGrp="1"/>
          </p:cNvSpPr>
          <p:nvPr>
            <p:ph type="ftr" sz="quarter" idx="11"/>
          </p:nvPr>
        </p:nvSpPr>
        <p:spPr/>
        <p:txBody>
          <a:bodyPr/>
          <a:lstStyle/>
          <a:p>
            <a:r>
              <a:rPr lang="en-US"/>
              <a:t>Dr Alveen Singh - Research skills</a:t>
            </a:r>
            <a:endParaRPr lang="en-US" dirty="0"/>
          </a:p>
        </p:txBody>
      </p:sp>
      <p:sp>
        <p:nvSpPr>
          <p:cNvPr id="3" name="Slide Number Placeholder 2">
            <a:extLst>
              <a:ext uri="{FF2B5EF4-FFF2-40B4-BE49-F238E27FC236}">
                <a16:creationId xmlns:a16="http://schemas.microsoft.com/office/drawing/2014/main" id="{BA479C92-BFCF-456A-9B35-A896280074F9}"/>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1510946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4252D51-24A9-4FCF-B16A-CEB7B65D120A}"/>
              </a:ext>
            </a:extLst>
          </p:cNvPr>
          <p:cNvSpPr>
            <a:spLocks noGrp="1"/>
          </p:cNvSpPr>
          <p:nvPr>
            <p:ph idx="1"/>
          </p:nvPr>
        </p:nvSpPr>
        <p:spPr>
          <a:xfrm>
            <a:off x="1484310" y="735107"/>
            <a:ext cx="10018713" cy="5056094"/>
          </a:xfrm>
        </p:spPr>
        <p:txBody>
          <a:bodyPr/>
          <a:lstStyle/>
          <a:p>
            <a:pPr marL="0" indent="0">
              <a:buNone/>
            </a:pPr>
            <a:r>
              <a:rPr lang="en-US" dirty="0"/>
              <a:t>Which source is peer reviewed?</a:t>
            </a:r>
          </a:p>
          <a:p>
            <a:pPr marL="914400" lvl="1" indent="-457200">
              <a:buFont typeface="+mj-lt"/>
              <a:buAutoNum type="alphaLcPeriod"/>
            </a:pPr>
            <a:r>
              <a:rPr lang="en-US" dirty="0"/>
              <a:t>Edited book chapter</a:t>
            </a:r>
          </a:p>
          <a:p>
            <a:pPr marL="914400" lvl="1" indent="-457200">
              <a:buFont typeface="+mj-lt"/>
              <a:buAutoNum type="alphaLcPeriod"/>
            </a:pPr>
            <a:r>
              <a:rPr lang="en-US" dirty="0"/>
              <a:t>Anything from Google</a:t>
            </a:r>
          </a:p>
          <a:p>
            <a:pPr marL="914400" lvl="1" indent="-457200">
              <a:buFont typeface="+mj-lt"/>
              <a:buAutoNum type="alphaLcPeriod"/>
            </a:pPr>
            <a:r>
              <a:rPr lang="en-US" dirty="0"/>
              <a:t>Thesis</a:t>
            </a:r>
          </a:p>
          <a:p>
            <a:pPr marL="914400" lvl="1" indent="-457200">
              <a:buFont typeface="+mj-lt"/>
              <a:buAutoNum type="alphaLcPeriod"/>
            </a:pPr>
            <a:r>
              <a:rPr lang="en-US" dirty="0"/>
              <a:t>Online news article</a:t>
            </a:r>
          </a:p>
          <a:p>
            <a:pPr lvl="1"/>
            <a:endParaRPr lang="en-ZA" dirty="0"/>
          </a:p>
        </p:txBody>
      </p:sp>
      <p:sp>
        <p:nvSpPr>
          <p:cNvPr id="2" name="Footer Placeholder 1">
            <a:extLst>
              <a:ext uri="{FF2B5EF4-FFF2-40B4-BE49-F238E27FC236}">
                <a16:creationId xmlns:a16="http://schemas.microsoft.com/office/drawing/2014/main" id="{475D6AA6-BC19-412F-AE98-93E98FB3EA3B}"/>
              </a:ext>
            </a:extLst>
          </p:cNvPr>
          <p:cNvSpPr>
            <a:spLocks noGrp="1"/>
          </p:cNvSpPr>
          <p:nvPr>
            <p:ph type="ftr" sz="quarter" idx="11"/>
          </p:nvPr>
        </p:nvSpPr>
        <p:spPr/>
        <p:txBody>
          <a:bodyPr/>
          <a:lstStyle/>
          <a:p>
            <a:r>
              <a:rPr lang="en-US"/>
              <a:t>Dr Alveen Singh - Research skills</a:t>
            </a:r>
            <a:endParaRPr lang="en-US" dirty="0"/>
          </a:p>
        </p:txBody>
      </p:sp>
      <p:sp>
        <p:nvSpPr>
          <p:cNvPr id="3" name="Slide Number Placeholder 2">
            <a:extLst>
              <a:ext uri="{FF2B5EF4-FFF2-40B4-BE49-F238E27FC236}">
                <a16:creationId xmlns:a16="http://schemas.microsoft.com/office/drawing/2014/main" id="{BA479C92-BFCF-456A-9B35-A896280074F9}"/>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3486631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endParaRPr lang="en-GB" sz="2400" dirty="0">
              <a:latin typeface="Arial Rounded MT Bold" panose="020F0704030504030204" pitchFamily="34" charset="0"/>
            </a:endParaRPr>
          </a:p>
          <a:p>
            <a:pPr algn="ctr"/>
            <a:endParaRPr lang="en-GB" sz="2400" dirty="0">
              <a:latin typeface="Arial Rounded MT Bold" panose="020F0704030504030204" pitchFamily="34" charset="0"/>
            </a:endParaRPr>
          </a:p>
          <a:p>
            <a:pPr algn="ctr"/>
            <a:endParaRPr lang="en-GB" sz="2400" dirty="0">
              <a:latin typeface="Arial Rounded MT Bold" panose="020F0704030504030204" pitchFamily="34" charset="0"/>
            </a:endParaRPr>
          </a:p>
          <a:p>
            <a:pPr algn="ctr"/>
            <a:r>
              <a:rPr lang="en-GB" sz="2400" dirty="0">
                <a:solidFill>
                  <a:srgbClr val="FF0000"/>
                </a:solidFill>
                <a:latin typeface="Arial Rounded MT Bold" panose="020F0704030504030204" pitchFamily="34" charset="0"/>
              </a:rPr>
              <a:t>What is the difference between popular sources and scholarly sources of information?</a:t>
            </a:r>
            <a:endParaRPr lang="en-ZA" dirty="0">
              <a:solidFill>
                <a:srgbClr val="FF0000"/>
              </a:solidFill>
            </a:endParaRPr>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604314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15</a:t>
            </a:fld>
            <a:endParaRPr lang="en-US" dirty="0"/>
          </a:p>
        </p:txBody>
      </p:sp>
      <p:pic>
        <p:nvPicPr>
          <p:cNvPr id="4" name="Picture 2" descr="What is a Scholarly Journal? - How Do I Evaluate Sources? - Library Home /  LibGuides at Gwinnett Tech Libra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632" y="604565"/>
            <a:ext cx="8709781" cy="489925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778240" y="5503817"/>
            <a:ext cx="3021875" cy="369332"/>
          </a:xfrm>
          <a:prstGeom prst="rect">
            <a:avLst/>
          </a:prstGeom>
          <a:noFill/>
        </p:spPr>
        <p:txBody>
          <a:bodyPr wrap="square" rtlCol="0">
            <a:spAutoFit/>
          </a:bodyPr>
          <a:lstStyle/>
          <a:p>
            <a:r>
              <a:rPr lang="en-US" b="1" dirty="0">
                <a:solidFill>
                  <a:srgbClr val="FF0000"/>
                </a:solidFill>
              </a:rPr>
              <a:t>Gwinnett Tech Library</a:t>
            </a:r>
            <a:endParaRPr lang="en-ZA" b="1" dirty="0">
              <a:solidFill>
                <a:srgbClr val="FF0000"/>
              </a:solidFill>
            </a:endParaRPr>
          </a:p>
        </p:txBody>
      </p:sp>
    </p:spTree>
    <p:extLst>
      <p:ext uri="{BB962C8B-B14F-4D97-AF65-F5344CB8AC3E}">
        <p14:creationId xmlns:p14="http://schemas.microsoft.com/office/powerpoint/2010/main" val="1936546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endParaRPr lang="en-GB" sz="2400" dirty="0">
              <a:solidFill>
                <a:schemeClr val="accent2">
                  <a:lumMod val="75000"/>
                </a:schemeClr>
              </a:solidFill>
              <a:latin typeface="Bahnschrift" panose="020B0502040204020203" pitchFamily="34" charset="0"/>
            </a:endParaRPr>
          </a:p>
          <a:p>
            <a:pPr algn="ctr"/>
            <a:endParaRPr lang="en-GB" sz="2400" dirty="0">
              <a:solidFill>
                <a:schemeClr val="accent2">
                  <a:lumMod val="75000"/>
                </a:schemeClr>
              </a:solidFill>
              <a:latin typeface="Bahnschrift" panose="020B0502040204020203" pitchFamily="34" charset="0"/>
            </a:endParaRPr>
          </a:p>
          <a:p>
            <a:pPr algn="ctr"/>
            <a:endParaRPr lang="en-GB" sz="2400" dirty="0">
              <a:solidFill>
                <a:schemeClr val="accent2">
                  <a:lumMod val="75000"/>
                </a:schemeClr>
              </a:solidFill>
              <a:latin typeface="Bahnschrift" panose="020B0502040204020203" pitchFamily="34" charset="0"/>
            </a:endParaRPr>
          </a:p>
          <a:p>
            <a:pPr algn="ctr"/>
            <a:r>
              <a:rPr lang="en-GB" sz="2400" dirty="0">
                <a:solidFill>
                  <a:srgbClr val="FF0000"/>
                </a:solidFill>
                <a:latin typeface="Bahnschrift" panose="020B0502040204020203" pitchFamily="34" charset="0"/>
              </a:rPr>
              <a:t>Differentiate between primary sources and secondary sources</a:t>
            </a:r>
            <a:r>
              <a:rPr lang="en-GB" sz="2400" dirty="0">
                <a:latin typeface="Arial Rounded MT Bold" panose="020F0704030504030204" pitchFamily="34" charset="0"/>
              </a:rPr>
              <a:t>.</a:t>
            </a:r>
            <a:endParaRPr lang="en-ZA" dirty="0"/>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1136328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3600" dirty="0">
                <a:latin typeface="Bahnschrift" panose="020B0502040204020203" pitchFamily="34" charset="0"/>
              </a:rPr>
              <a:t>Primary sources </a:t>
            </a:r>
          </a:p>
          <a:p>
            <a:endParaRPr lang="en-US" sz="2400" dirty="0">
              <a:latin typeface="Arial Rounded MT Bold" panose="020F0704030504030204" pitchFamily="34" charset="0"/>
            </a:endParaRPr>
          </a:p>
          <a:p>
            <a:r>
              <a:rPr lang="en-US" sz="2400" dirty="0">
                <a:latin typeface="Arial Rounded MT Bold" panose="020F0704030504030204" pitchFamily="34" charset="0"/>
              </a:rPr>
              <a:t>Proclaim </a:t>
            </a:r>
            <a:r>
              <a:rPr lang="en-US" sz="2400" b="1" dirty="0">
                <a:latin typeface="Arial Rounded MT Bold" panose="020F0704030504030204" pitchFamily="34" charset="0"/>
              </a:rPr>
              <a:t>new</a:t>
            </a:r>
            <a:r>
              <a:rPr lang="en-US" sz="2400" dirty="0">
                <a:latin typeface="Arial Rounded MT Bold" panose="020F0704030504030204" pitchFamily="34" charset="0"/>
              </a:rPr>
              <a:t> findings or knowledge. </a:t>
            </a:r>
          </a:p>
          <a:p>
            <a:r>
              <a:rPr lang="en-US" sz="2400" dirty="0">
                <a:latin typeface="Arial Rounded MT Bold" panose="020F0704030504030204" pitchFamily="34" charset="0"/>
              </a:rPr>
              <a:t>When researchers produce new knowledge this is shared with the </a:t>
            </a:r>
            <a:r>
              <a:rPr lang="en-US" sz="2400" b="1" dirty="0">
                <a:latin typeface="Arial Rounded MT Bold" panose="020F0704030504030204" pitchFamily="34" charset="0"/>
              </a:rPr>
              <a:t>research community</a:t>
            </a:r>
            <a:r>
              <a:rPr lang="en-US" sz="2400" dirty="0">
                <a:latin typeface="Arial Rounded MT Bold" panose="020F0704030504030204" pitchFamily="34" charset="0"/>
              </a:rPr>
              <a:t>. </a:t>
            </a:r>
          </a:p>
          <a:p>
            <a:r>
              <a:rPr lang="en-US" sz="2400" dirty="0">
                <a:latin typeface="Arial Rounded MT Bold" panose="020F0704030504030204" pitchFamily="34" charset="0"/>
              </a:rPr>
              <a:t>These advance the field of enquiry (discourse) via scholarly sources. That is, the publication is peer reviewed to validate the findings and/or results. </a:t>
            </a:r>
          </a:p>
          <a:p>
            <a:r>
              <a:rPr lang="en-US" sz="2400" dirty="0">
                <a:latin typeface="Arial Rounded MT Bold" panose="020F0704030504030204" pitchFamily="34" charset="0"/>
              </a:rPr>
              <a:t>Primary sources can also include dissertations/thesis.</a:t>
            </a:r>
            <a:endParaRPr lang="en-ZA" dirty="0"/>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137376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3600" dirty="0">
                <a:latin typeface="Bahnschrift" panose="020B0502040204020203" pitchFamily="34" charset="0"/>
              </a:rPr>
              <a:t>Secondary sources </a:t>
            </a:r>
          </a:p>
          <a:p>
            <a:endParaRPr lang="en-US" sz="2400" dirty="0">
              <a:latin typeface="Arial Rounded MT Bold" panose="020F0704030504030204" pitchFamily="34" charset="0"/>
            </a:endParaRPr>
          </a:p>
          <a:p>
            <a:r>
              <a:rPr lang="en-US" sz="2400" dirty="0">
                <a:latin typeface="Arial Rounded MT Bold" panose="020F0704030504030204" pitchFamily="34" charset="0"/>
              </a:rPr>
              <a:t>Provide a simplification, summary or analysis of several primary sources </a:t>
            </a:r>
          </a:p>
          <a:p>
            <a:r>
              <a:rPr lang="en-US" sz="1800" dirty="0">
                <a:latin typeface="Arial Rounded MT Bold" panose="020F0704030504030204" pitchFamily="34" charset="0"/>
              </a:rPr>
              <a:t>A literature review is a common secondary source of information. Researchers use it to synthesize literature to provide a view on the state of the field. </a:t>
            </a:r>
          </a:p>
          <a:p>
            <a:endParaRPr lang="en-US" sz="2400" dirty="0">
              <a:latin typeface="Arial Rounded MT Bold" panose="020F0704030504030204" pitchFamily="34" charset="0"/>
            </a:endParaRPr>
          </a:p>
          <a:p>
            <a:r>
              <a:rPr lang="en-US" sz="2400" dirty="0">
                <a:latin typeface="Arial Rounded MT Bold" panose="020F0704030504030204" pitchFamily="34" charset="0"/>
              </a:rPr>
              <a:t>Or</a:t>
            </a:r>
          </a:p>
          <a:p>
            <a:r>
              <a:rPr lang="en-US" sz="2400" dirty="0">
                <a:latin typeface="Arial Rounded MT Bold" panose="020F0704030504030204" pitchFamily="34" charset="0"/>
              </a:rPr>
              <a:t>Data that has already been collected and stored</a:t>
            </a:r>
          </a:p>
          <a:p>
            <a:endParaRPr lang="en-US" sz="2400" dirty="0">
              <a:latin typeface="Arial Rounded MT Bold" panose="020F0704030504030204" pitchFamily="34" charset="0"/>
            </a:endParaRPr>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746163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ZA" dirty="0"/>
          </a:p>
        </p:txBody>
      </p:sp>
      <p:sp>
        <p:nvSpPr>
          <p:cNvPr id="2" name="Title 1"/>
          <p:cNvSpPr>
            <a:spLocks noGrp="1"/>
          </p:cNvSpPr>
          <p:nvPr>
            <p:ph type="title"/>
          </p:nvPr>
        </p:nvSpPr>
        <p:spPr>
          <a:xfrm>
            <a:off x="1484311" y="685800"/>
            <a:ext cx="5769929" cy="1752599"/>
          </a:xfrm>
        </p:spPr>
        <p:txBody>
          <a:bodyPr/>
          <a:lstStyle/>
          <a:p>
            <a:pPr algn="l"/>
            <a:r>
              <a:rPr lang="en-US" dirty="0"/>
              <a:t>4. </a:t>
            </a:r>
            <a:r>
              <a:rPr lang="en-US" b="1" dirty="0"/>
              <a:t>Accessing information</a:t>
            </a:r>
            <a:endParaRPr lang="en-ZA" b="1" dirty="0"/>
          </a:p>
        </p:txBody>
      </p:sp>
      <p:sp>
        <p:nvSpPr>
          <p:cNvPr id="3" name="Content Placeholder 2"/>
          <p:cNvSpPr>
            <a:spLocks noGrp="1"/>
          </p:cNvSpPr>
          <p:nvPr>
            <p:ph idx="1"/>
          </p:nvPr>
        </p:nvSpPr>
        <p:spPr/>
        <p:txBody>
          <a:bodyPr anchor="t">
            <a:normAutofit/>
          </a:bodyPr>
          <a:lstStyle/>
          <a:p>
            <a:r>
              <a:rPr lang="en-US" sz="2400" dirty="0">
                <a:latin typeface="Arial Rounded MT Bold" panose="020F0704030504030204" pitchFamily="34" charset="0"/>
              </a:rPr>
              <a:t>There is a myriad of sources of information</a:t>
            </a:r>
          </a:p>
          <a:p>
            <a:r>
              <a:rPr lang="en-US" sz="2400" dirty="0">
                <a:latin typeface="Arial Rounded MT Bold" panose="020F0704030504030204" pitchFamily="34" charset="0"/>
              </a:rPr>
              <a:t>The researcher must have the ability to manage this process</a:t>
            </a:r>
            <a:endParaRPr lang="en-ZA" sz="2400" dirty="0">
              <a:latin typeface="Arial Rounded MT Bold" panose="020F0704030504030204" pitchFamily="34" charset="0"/>
            </a:endParaRPr>
          </a:p>
        </p:txBody>
      </p:sp>
      <p:sp>
        <p:nvSpPr>
          <p:cNvPr id="5" name="Footer Placeholder 4"/>
          <p:cNvSpPr>
            <a:spLocks noGrp="1"/>
          </p:cNvSpPr>
          <p:nvPr>
            <p:ph type="ftr" sz="quarter" idx="11"/>
          </p:nvPr>
        </p:nvSpPr>
        <p:spPr/>
        <p:txBody>
          <a:bodyPr/>
          <a:lstStyle/>
          <a:p>
            <a:r>
              <a:rPr lang="en-US"/>
              <a:t>Dr Alveen Singh - Research skills</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19</a:t>
            </a:fld>
            <a:endParaRPr lang="en-US" dirty="0"/>
          </a:p>
        </p:txBody>
      </p:sp>
      <p:pic>
        <p:nvPicPr>
          <p:cNvPr id="7170" name="Picture 2" descr="Accessing Inform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6645" y="3867693"/>
            <a:ext cx="5906066" cy="215210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8908868" y="6101834"/>
            <a:ext cx="3021875" cy="369332"/>
          </a:xfrm>
          <a:prstGeom prst="rect">
            <a:avLst/>
          </a:prstGeom>
          <a:noFill/>
        </p:spPr>
        <p:txBody>
          <a:bodyPr wrap="square" rtlCol="0">
            <a:spAutoFit/>
          </a:bodyPr>
          <a:lstStyle/>
          <a:p>
            <a:r>
              <a:rPr lang="en-US" b="1" dirty="0" err="1">
                <a:solidFill>
                  <a:srgbClr val="FF0000"/>
                </a:solidFill>
              </a:rPr>
              <a:t>ePubgeneration.com</a:t>
            </a:r>
            <a:endParaRPr lang="en-ZA" b="1" dirty="0">
              <a:solidFill>
                <a:srgbClr val="FF0000"/>
              </a:solidFill>
            </a:endParaRPr>
          </a:p>
        </p:txBody>
      </p:sp>
    </p:spTree>
    <p:extLst>
      <p:ext uri="{BB962C8B-B14F-4D97-AF65-F5344CB8AC3E}">
        <p14:creationId xmlns:p14="http://schemas.microsoft.com/office/powerpoint/2010/main" val="153661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r>
              <a:rPr lang="en-US" sz="2400" dirty="0">
                <a:latin typeface="Arial Rounded MT Bold" panose="020F0704030504030204" pitchFamily="34" charset="0"/>
              </a:rPr>
              <a:t>The researcher needs to adopt a methodical approach to accessing information. One approach is to:</a:t>
            </a:r>
          </a:p>
          <a:p>
            <a:pPr algn="just"/>
            <a:endParaRPr lang="en-US" sz="2400" dirty="0">
              <a:latin typeface="Arial Rounded MT Bold" panose="020F0704030504030204" pitchFamily="34" charset="0"/>
            </a:endParaRPr>
          </a:p>
          <a:p>
            <a:r>
              <a:rPr lang="en-US" sz="2400" dirty="0">
                <a:latin typeface="Arial Rounded MT Bold" panose="020F0704030504030204" pitchFamily="34" charset="0"/>
              </a:rPr>
              <a:t>1. Find sources (preferably journals, and conference proceedings)</a:t>
            </a:r>
          </a:p>
          <a:p>
            <a:r>
              <a:rPr lang="en-US" sz="2400" dirty="0">
                <a:latin typeface="Arial Rounded MT Bold" panose="020F0704030504030204" pitchFamily="34" charset="0"/>
              </a:rPr>
              <a:t>2. Determine the quality of the content</a:t>
            </a:r>
          </a:p>
          <a:p>
            <a:r>
              <a:rPr lang="en-US" sz="2400" dirty="0">
                <a:latin typeface="Arial Rounded MT Bold" panose="020F0704030504030204" pitchFamily="34" charset="0"/>
              </a:rPr>
              <a:t>3. </a:t>
            </a:r>
            <a:r>
              <a:rPr lang="en-US" sz="2400" dirty="0" err="1">
                <a:latin typeface="Arial Rounded MT Bold" panose="020F0704030504030204" pitchFamily="34" charset="0"/>
              </a:rPr>
              <a:t>Utilise</a:t>
            </a:r>
            <a:r>
              <a:rPr lang="en-US" sz="2400" dirty="0">
                <a:latin typeface="Arial Rounded MT Bold" panose="020F0704030504030204" pitchFamily="34" charset="0"/>
              </a:rPr>
              <a:t> a tool to organize the sources according to different sub-sections of the study</a:t>
            </a:r>
          </a:p>
          <a:p>
            <a:endParaRPr lang="en-ZA" dirty="0"/>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1313886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dirty="0">
                <a:latin typeface="Arial Rounded MT Bold" panose="020F0704030504030204" pitchFamily="34" charset="0"/>
              </a:rPr>
              <a:t>The relevancy of the source can be gauged by:</a:t>
            </a:r>
          </a:p>
          <a:p>
            <a:endParaRPr lang="en-US" sz="2400" dirty="0">
              <a:latin typeface="Arial Rounded MT Bold" panose="020F0704030504030204" pitchFamily="34" charset="0"/>
            </a:endParaRPr>
          </a:p>
          <a:p>
            <a:r>
              <a:rPr lang="en-US" sz="2800" dirty="0">
                <a:latin typeface="Arial Rounded MT Bold" panose="020F0704030504030204" pitchFamily="34" charset="0"/>
              </a:rPr>
              <a:t>1.	title</a:t>
            </a:r>
          </a:p>
          <a:p>
            <a:r>
              <a:rPr lang="en-US" sz="2800" dirty="0">
                <a:latin typeface="Arial Rounded MT Bold" panose="020F0704030504030204" pitchFamily="34" charset="0"/>
              </a:rPr>
              <a:t>2.	abstract </a:t>
            </a:r>
          </a:p>
          <a:p>
            <a:r>
              <a:rPr lang="en-US" sz="2800" dirty="0">
                <a:latin typeface="Arial Rounded MT Bold" panose="020F0704030504030204" pitchFamily="34" charset="0"/>
              </a:rPr>
              <a:t>3.	number of citations </a:t>
            </a:r>
          </a:p>
          <a:p>
            <a:r>
              <a:rPr lang="en-US" sz="2800" dirty="0">
                <a:latin typeface="Arial Rounded MT Bold" panose="020F0704030504030204" pitchFamily="34" charset="0"/>
              </a:rPr>
              <a:t>4.	impact factor of the journal </a:t>
            </a:r>
          </a:p>
          <a:p>
            <a:endParaRPr lang="en-ZA" dirty="0"/>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2615950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5. Research tools – citation management </a:t>
            </a:r>
            <a:endParaRPr lang="en-ZA" b="1" dirty="0"/>
          </a:p>
        </p:txBody>
      </p:sp>
      <p:sp>
        <p:nvSpPr>
          <p:cNvPr id="3" name="Content Placeholder 2"/>
          <p:cNvSpPr>
            <a:spLocks noGrp="1"/>
          </p:cNvSpPr>
          <p:nvPr>
            <p:ph idx="1"/>
          </p:nvPr>
        </p:nvSpPr>
        <p:spPr/>
        <p:txBody>
          <a:bodyPr>
            <a:normAutofit lnSpcReduction="10000"/>
          </a:bodyPr>
          <a:lstStyle/>
          <a:p>
            <a:pPr algn="just"/>
            <a:r>
              <a:rPr lang="en-US" sz="2400" dirty="0">
                <a:latin typeface="Arial Rounded MT Bold" panose="020F0704030504030204" pitchFamily="34" charset="0"/>
              </a:rPr>
              <a:t>Citation management tools assist the researcher to create local libraries of sources of information that they can reference, sort, share and organize their research work. </a:t>
            </a:r>
          </a:p>
          <a:p>
            <a:pPr algn="just"/>
            <a:endParaRPr lang="en-US" sz="2400" dirty="0">
              <a:latin typeface="Arial Rounded MT Bold" panose="020F0704030504030204" pitchFamily="34" charset="0"/>
            </a:endParaRPr>
          </a:p>
          <a:p>
            <a:pPr algn="just"/>
            <a:r>
              <a:rPr lang="en-US" sz="2400" dirty="0">
                <a:latin typeface="Arial Rounded MT Bold" panose="020F0704030504030204" pitchFamily="34" charset="0"/>
              </a:rPr>
              <a:t>Typically </a:t>
            </a:r>
            <a:r>
              <a:rPr lang="en-US" sz="2400" i="1" dirty="0">
                <a:latin typeface="Arial Rounded MT Bold" panose="020F0704030504030204" pitchFamily="34" charset="0"/>
              </a:rPr>
              <a:t>add-ons</a:t>
            </a:r>
            <a:r>
              <a:rPr lang="en-US" sz="2400" dirty="0">
                <a:latin typeface="Arial Rounded MT Bold" panose="020F0704030504030204" pitchFamily="34" charset="0"/>
              </a:rPr>
              <a:t> to a word processing package. </a:t>
            </a:r>
          </a:p>
          <a:p>
            <a:pPr algn="just"/>
            <a:endParaRPr lang="en-US" sz="2400" dirty="0">
              <a:latin typeface="Arial Rounded MT Bold" panose="020F0704030504030204" pitchFamily="34" charset="0"/>
            </a:endParaRPr>
          </a:p>
          <a:p>
            <a:pPr algn="just"/>
            <a:r>
              <a:rPr lang="en-US" sz="2400" dirty="0" err="1">
                <a:latin typeface="Arial Rounded MT Bold" panose="020F0704030504030204" pitchFamily="34" charset="0"/>
              </a:rPr>
              <a:t>RefWorks</a:t>
            </a:r>
            <a:r>
              <a:rPr lang="en-US" sz="2400" dirty="0">
                <a:latin typeface="Arial Rounded MT Bold" panose="020F0704030504030204" pitchFamily="34" charset="0"/>
              </a:rPr>
              <a:t>, EndNote, </a:t>
            </a:r>
            <a:r>
              <a:rPr lang="en-US" sz="2400" dirty="0" err="1">
                <a:latin typeface="Arial Rounded MT Bold" panose="020F0704030504030204" pitchFamily="34" charset="0"/>
              </a:rPr>
              <a:t>Zotero</a:t>
            </a:r>
            <a:r>
              <a:rPr lang="en-US" sz="2400" dirty="0">
                <a:latin typeface="Arial Rounded MT Bold" panose="020F0704030504030204" pitchFamily="34" charset="0"/>
              </a:rPr>
              <a:t>, </a:t>
            </a:r>
            <a:r>
              <a:rPr lang="en-US" sz="2400" dirty="0" err="1">
                <a:latin typeface="Arial Rounded MT Bold" panose="020F0704030504030204" pitchFamily="34" charset="0"/>
              </a:rPr>
              <a:t>Mendeley</a:t>
            </a:r>
            <a:r>
              <a:rPr lang="en-US" sz="2400" dirty="0">
                <a:latin typeface="Arial Rounded MT Bold" panose="020F0704030504030204" pitchFamily="34" charset="0"/>
              </a:rPr>
              <a:t>, and F1000 Workspace</a:t>
            </a:r>
            <a:endParaRPr lang="en-ZA" sz="2400" dirty="0">
              <a:latin typeface="Arial Rounded MT Bold" panose="020F0704030504030204" pitchFamily="34" charset="0"/>
            </a:endParaRPr>
          </a:p>
        </p:txBody>
      </p:sp>
      <p:sp>
        <p:nvSpPr>
          <p:cNvPr id="4" name="Footer Placeholder 3"/>
          <p:cNvSpPr>
            <a:spLocks noGrp="1"/>
          </p:cNvSpPr>
          <p:nvPr>
            <p:ph type="ftr" sz="quarter" idx="11"/>
          </p:nvPr>
        </p:nvSpPr>
        <p:spPr/>
        <p:txBody>
          <a:bodyPr/>
          <a:lstStyle/>
          <a:p>
            <a:r>
              <a:rPr lang="en-US"/>
              <a:t>Dr Alveen Singh - Research skills</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1287090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084580" y="812800"/>
            <a:ext cx="10058400" cy="53467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dirty="0">
                <a:latin typeface="Arial Rounded MT Bold" panose="020F0704030504030204" pitchFamily="34" charset="0"/>
              </a:rPr>
              <a:t>The major uses include</a:t>
            </a:r>
          </a:p>
          <a:p>
            <a:pPr>
              <a:buFont typeface="Wingdings" panose="05000000000000000000" pitchFamily="2" charset="2"/>
              <a:buChar char="§"/>
            </a:pPr>
            <a:r>
              <a:rPr lang="en-US" sz="2400" dirty="0">
                <a:latin typeface="Arial Rounded MT Bold" panose="020F0704030504030204" pitchFamily="34" charset="0"/>
              </a:rPr>
              <a:t>organizing references </a:t>
            </a:r>
          </a:p>
          <a:p>
            <a:pPr>
              <a:buFont typeface="Wingdings" panose="05000000000000000000" pitchFamily="2" charset="2"/>
              <a:buChar char="§"/>
            </a:pPr>
            <a:r>
              <a:rPr lang="en-US" sz="2400" dirty="0">
                <a:latin typeface="Arial Rounded MT Bold" panose="020F0704030504030204" pitchFamily="34" charset="0"/>
              </a:rPr>
              <a:t>citations can be directly imported from databases or search engines</a:t>
            </a:r>
          </a:p>
          <a:p>
            <a:pPr>
              <a:buFont typeface="Wingdings" panose="05000000000000000000" pitchFamily="2" charset="2"/>
              <a:buChar char="§"/>
            </a:pPr>
            <a:r>
              <a:rPr lang="en-US" sz="2400" dirty="0">
                <a:latin typeface="Arial Rounded MT Bold" panose="020F0704030504030204" pitchFamily="34" charset="0"/>
              </a:rPr>
              <a:t>search databases for articles on a particular topic</a:t>
            </a:r>
          </a:p>
          <a:p>
            <a:pPr>
              <a:buFont typeface="Wingdings" panose="05000000000000000000" pitchFamily="2" charset="2"/>
              <a:buChar char="§"/>
            </a:pPr>
            <a:r>
              <a:rPr lang="en-US" sz="2400" dirty="0">
                <a:latin typeface="Arial Rounded MT Bold" panose="020F0704030504030204" pitchFamily="34" charset="0"/>
              </a:rPr>
              <a:t>generate bibliographies/reference lists </a:t>
            </a:r>
          </a:p>
          <a:p>
            <a:pPr>
              <a:buFont typeface="Wingdings" panose="05000000000000000000" pitchFamily="2" charset="2"/>
              <a:buChar char="§"/>
            </a:pPr>
            <a:r>
              <a:rPr lang="en-US" sz="2400" dirty="0">
                <a:latin typeface="Arial Rounded MT Bold" panose="020F0704030504030204" pitchFamily="34" charset="0"/>
              </a:rPr>
              <a:t>change the reference system (IEEE, Harvard)</a:t>
            </a:r>
          </a:p>
          <a:p>
            <a:pPr>
              <a:buFont typeface="Wingdings" panose="05000000000000000000" pitchFamily="2" charset="2"/>
              <a:buChar char="§"/>
            </a:pPr>
            <a:r>
              <a:rPr lang="en-US" sz="2400" dirty="0">
                <a:latin typeface="Arial Rounded MT Bold" panose="020F0704030504030204" pitchFamily="34" charset="0"/>
              </a:rPr>
              <a:t>file management (e.g. pdf articles)</a:t>
            </a:r>
          </a:p>
          <a:p>
            <a:pPr>
              <a:buFont typeface="Wingdings" panose="05000000000000000000" pitchFamily="2" charset="2"/>
              <a:buChar char="§"/>
            </a:pPr>
            <a:r>
              <a:rPr lang="en-US" sz="2400" dirty="0">
                <a:latin typeface="Arial Rounded MT Bold" panose="020F0704030504030204" pitchFamily="34" charset="0"/>
              </a:rPr>
              <a:t>networking with peers to share articles, libraries of references</a:t>
            </a:r>
          </a:p>
          <a:p>
            <a:endParaRPr lang="en-ZA" dirty="0"/>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2606861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762126" y="1257300"/>
            <a:ext cx="9380854" cy="49022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2400" dirty="0">
                <a:latin typeface="Arial Rounded MT Bold" panose="020F0704030504030204" pitchFamily="34" charset="0"/>
              </a:rPr>
              <a:t>Please read the lecture note for this section.</a:t>
            </a:r>
          </a:p>
          <a:p>
            <a:pPr marL="0" indent="0">
              <a:buNone/>
            </a:pPr>
            <a:r>
              <a:rPr lang="en-US" sz="2400" dirty="0">
                <a:latin typeface="Arial Rounded MT Bold" panose="020F0704030504030204" pitchFamily="34" charset="0"/>
              </a:rPr>
              <a:t>Available on Moodle.</a:t>
            </a:r>
          </a:p>
          <a:p>
            <a:pPr marL="0" indent="0">
              <a:buNone/>
            </a:pPr>
            <a:r>
              <a:rPr lang="en-US" sz="2400" dirty="0">
                <a:latin typeface="Arial Rounded MT Bold" panose="020F0704030504030204" pitchFamily="34" charset="0"/>
              </a:rPr>
              <a:t>Questions and comments are welcome: </a:t>
            </a:r>
            <a:r>
              <a:rPr lang="en-US" sz="2400" dirty="0" err="1">
                <a:latin typeface="Arial Rounded MT Bold" panose="020F0704030504030204" pitchFamily="34" charset="0"/>
                <a:hlinkClick r:id="rId2"/>
              </a:rPr>
              <a:t>alveens@dut.ac.za</a:t>
            </a:r>
            <a:r>
              <a:rPr lang="en-US" sz="2400" dirty="0">
                <a:latin typeface="Arial Rounded MT Bold" panose="020F0704030504030204" pitchFamily="34" charset="0"/>
              </a:rPr>
              <a:t> </a:t>
            </a:r>
          </a:p>
          <a:p>
            <a:endParaRPr lang="en-ZA" dirty="0"/>
          </a:p>
        </p:txBody>
      </p:sp>
      <p:sp>
        <p:nvSpPr>
          <p:cNvPr id="2" name="Footer Placeholder 1"/>
          <p:cNvSpPr>
            <a:spLocks noGrp="1"/>
          </p:cNvSpPr>
          <p:nvPr>
            <p:ph type="ftr" sz="quarter" idx="11"/>
          </p:nvPr>
        </p:nvSpPr>
        <p:spPr/>
        <p:txBody>
          <a:bodyPr/>
          <a:lstStyle/>
          <a:p>
            <a:r>
              <a:rPr lang="en-US"/>
              <a:t>Dr Alveen Singh - Research skills</a:t>
            </a:r>
            <a:endParaRPr lang="en-US" dirty="0"/>
          </a:p>
        </p:txBody>
      </p:sp>
      <p:sp>
        <p:nvSpPr>
          <p:cNvPr id="3" name="Slide Number Placeholder 2"/>
          <p:cNvSpPr>
            <a:spLocks noGrp="1"/>
          </p:cNvSpPr>
          <p:nvPr>
            <p:ph type="sldNum" sz="quarter" idx="12"/>
          </p:nvPr>
        </p:nvSpPr>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7802461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3167</TotalTime>
  <Words>1037</Words>
  <Application>Microsoft Office PowerPoint</Application>
  <PresentationFormat>Widescreen</PresentationFormat>
  <Paragraphs>173</Paragraphs>
  <Slides>24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Abadi</vt:lpstr>
      <vt:lpstr>Arial</vt:lpstr>
      <vt:lpstr>Arial Black</vt:lpstr>
      <vt:lpstr>Arial Rounded MT Bold</vt:lpstr>
      <vt:lpstr>Bahnschrift</vt:lpstr>
      <vt:lpstr>Calibri</vt:lpstr>
      <vt:lpstr>Corbel</vt:lpstr>
      <vt:lpstr>Symbol</vt:lpstr>
      <vt:lpstr>Times New Roman</vt:lpstr>
      <vt:lpstr>Wingdings</vt:lpstr>
      <vt:lpstr>Parallax</vt:lpstr>
      <vt:lpstr>Information sources and retrieval </vt:lpstr>
      <vt:lpstr>Content</vt:lpstr>
      <vt:lpstr>1. Understanding the state of the art</vt:lpstr>
      <vt:lpstr>PowerPoint Presentation</vt:lpstr>
      <vt:lpstr>PowerPoint Presentation</vt:lpstr>
      <vt:lpstr>PowerPoint Presentation</vt:lpstr>
      <vt:lpstr>PowerPoint Presentation</vt:lpstr>
      <vt:lpstr>2. Sources of information</vt:lpstr>
      <vt:lpstr>3. Evaluation of 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Accessing information</vt:lpstr>
      <vt:lpstr>PowerPoint Presentation</vt:lpstr>
      <vt:lpstr>PowerPoint Presentation</vt:lpstr>
      <vt:lpstr>5. Research tools – citation management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sources and retrieval</dc:title>
  <dc:creator>Alveen Singh</dc:creator>
  <cp:lastModifiedBy>Alveen Singh</cp:lastModifiedBy>
  <cp:revision>28</cp:revision>
  <dcterms:created xsi:type="dcterms:W3CDTF">2020-02-08T11:52:34Z</dcterms:created>
  <dcterms:modified xsi:type="dcterms:W3CDTF">2023-03-13T13:55:41Z</dcterms:modified>
</cp:coreProperties>
</file>