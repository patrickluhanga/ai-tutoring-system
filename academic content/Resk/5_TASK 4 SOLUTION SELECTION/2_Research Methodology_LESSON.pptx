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6" r:id="rId5"/>
  </p:sldMasterIdLst>
  <p:notesMasterIdLst>
    <p:notesMasterId r:id="rId22"/>
  </p:notesMasterIdLst>
  <p:sldIdLst>
    <p:sldId id="278" r:id="rId6"/>
    <p:sldId id="365" r:id="rId7"/>
    <p:sldId id="371" r:id="rId8"/>
    <p:sldId id="367" r:id="rId9"/>
    <p:sldId id="368" r:id="rId10"/>
    <p:sldId id="369" r:id="rId11"/>
    <p:sldId id="370" r:id="rId12"/>
    <p:sldId id="364" r:id="rId13"/>
    <p:sldId id="349" r:id="rId14"/>
    <p:sldId id="345" r:id="rId15"/>
    <p:sldId id="361" r:id="rId16"/>
    <p:sldId id="357" r:id="rId17"/>
    <p:sldId id="353" r:id="rId18"/>
    <p:sldId id="362" r:id="rId19"/>
    <p:sldId id="363" r:id="rId20"/>
    <p:sldId id="28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83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5F7C73-0F7D-40F3-B516-BEB34937BF42}" type="datetimeFigureOut">
              <a:rPr lang="en-ZA" smtClean="0"/>
              <a:t>2026/04/22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636594-FBE0-4C56-9C80-B1DD473C15F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48616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04800F-0C89-EC4F-919F-9C2CE26B175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2576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48465-E167-4FA2-B6DB-0D3FA9E20087}" type="datetimeFigureOut">
              <a:rPr lang="en-ZA" smtClean="0"/>
              <a:t>2026/04/22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29FE7-CA1F-4B49-AEBB-6359BEF8811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7805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48465-E167-4FA2-B6DB-0D3FA9E20087}" type="datetimeFigureOut">
              <a:rPr lang="en-ZA" smtClean="0"/>
              <a:t>2026/04/22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29FE7-CA1F-4B49-AEBB-6359BEF8811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77973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48465-E167-4FA2-B6DB-0D3FA9E20087}" type="datetimeFigureOut">
              <a:rPr lang="en-ZA" smtClean="0"/>
              <a:t>2026/04/22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29FE7-CA1F-4B49-AEBB-6359BEF8811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29707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48465-E167-4FA2-B6DB-0D3FA9E20087}" type="datetimeFigureOut">
              <a:rPr lang="en-ZA" smtClean="0"/>
              <a:t>2026/04/22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29FE7-CA1F-4B49-AEBB-6359BEF8811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42833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48465-E167-4FA2-B6DB-0D3FA9E20087}" type="datetimeFigureOut">
              <a:rPr lang="en-ZA" smtClean="0"/>
              <a:t>2026/04/22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29FE7-CA1F-4B49-AEBB-6359BEF8811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58356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48465-E167-4FA2-B6DB-0D3FA9E20087}" type="datetimeFigureOut">
              <a:rPr lang="en-ZA" smtClean="0"/>
              <a:t>2026/04/22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29FE7-CA1F-4B49-AEBB-6359BEF8811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29058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48465-E167-4FA2-B6DB-0D3FA9E20087}" type="datetimeFigureOut">
              <a:rPr lang="en-ZA" smtClean="0"/>
              <a:t>2026/04/22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29FE7-CA1F-4B49-AEBB-6359BEF8811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77710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48465-E167-4FA2-B6DB-0D3FA9E20087}" type="datetimeFigureOut">
              <a:rPr lang="en-ZA" smtClean="0"/>
              <a:t>2026/04/22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29FE7-CA1F-4B49-AEBB-6359BEF8811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60286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48465-E167-4FA2-B6DB-0D3FA9E20087}" type="datetimeFigureOut">
              <a:rPr lang="en-ZA" smtClean="0"/>
              <a:t>2026/04/22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29FE7-CA1F-4B49-AEBB-6359BEF8811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99898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48465-E167-4FA2-B6DB-0D3FA9E20087}" type="datetimeFigureOut">
              <a:rPr lang="en-ZA" smtClean="0"/>
              <a:t>2026/04/22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29FE7-CA1F-4B49-AEBB-6359BEF8811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15797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48465-E167-4FA2-B6DB-0D3FA9E20087}" type="datetimeFigureOut">
              <a:rPr lang="en-ZA" smtClean="0"/>
              <a:t>2026/04/22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29FE7-CA1F-4B49-AEBB-6359BEF8811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393902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5733" y="2060848"/>
            <a:ext cx="4592320" cy="207568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5733" y="4365104"/>
            <a:ext cx="4592320" cy="511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6807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-18587"/>
            <a:ext cx="12193057" cy="689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201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B4352-EE0F-354D-BA7E-A4A2560DA7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33B825-187D-754F-B6F7-3A24F8C641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16385-EF64-D94D-A59D-9CEB80569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46545-03C5-8C46-9918-C9B75D64ACB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B9468-D6E2-E74B-96B5-DB16B9594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1703A-A600-FA49-B640-D1A28816C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6378-A1E1-7247-92AB-28636F42D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340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1EB3E-A9EA-A142-8BE6-20B9034C5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1C204-CAF1-024D-9A90-23E9CB356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BA8D2-2456-714B-B67E-EA35C90E1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46545-03C5-8C46-9918-C9B75D64ACB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85F3E-10BC-0F42-8521-C41B87F36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3DDE6-83B4-4D4C-9714-7CCB7FCF1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6378-A1E1-7247-92AB-28636F42D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4160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5AB7D-4D2D-6347-9344-802A46ABD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DBC55-22CB-7544-AF3C-08BE4F800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B17A6-A42C-8B43-BB4F-3EC1B6D7C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46545-03C5-8C46-9918-C9B75D64ACB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D151A-D8F6-7E44-B5BF-93867199A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8EBF5-4177-B344-911C-10789432A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6378-A1E1-7247-92AB-28636F42D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5989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1AFC2-1725-1940-B84B-CC7D4BC4C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08B67-C568-9E4C-8996-4F816D47EF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A2B14B-9F71-B542-A5DB-C5338D8B11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901EE8-D1E1-424A-B73F-89681CC14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46545-03C5-8C46-9918-C9B75D64ACB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595A46-60F1-7F48-9B5C-341491B25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13D08A-E790-2C4B-9FE6-5643B9711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6378-A1E1-7247-92AB-28636F42D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2977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E31FE-3FE9-BB45-9693-47BDB46E6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8615EB-7998-AC4D-8EDB-D8259B4DA0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9799C2-B9E3-8B48-A9B4-F61057912B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1C600D-BAE2-8D4B-86C8-5250C99793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AF2C77-9407-2C4D-85D6-8C1D61442E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EAC929-D391-1349-9F25-6BC136C86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46545-03C5-8C46-9918-C9B75D64ACB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204FBA-D521-4B4C-9BDD-DC539650D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5E850B-A875-944A-AE8D-6129A9149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6378-A1E1-7247-92AB-28636F42D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6463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D9FA9-E4D7-B04C-86AE-6060CFBF9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A0B70B-E6E2-994D-BAC3-E6AC8D199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46545-03C5-8C46-9918-C9B75D64ACB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A8B86E-0F81-A643-A48A-B27B81255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6AE1DB-E8CA-F24E-8234-C20DA3FB0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6378-A1E1-7247-92AB-28636F42D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4084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B7028D-987A-3947-A3BA-B8A8650EE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46545-03C5-8C46-9918-C9B75D64ACB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56D4D0-793D-054A-B0B0-9D62946AF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DEEF2-7D23-C140-919D-417106811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6378-A1E1-7247-92AB-28636F42D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3174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46D83-BFA4-B945-9FB3-64CC26148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8A658-F60F-2446-9750-642F82CF7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4BADC1-9A1B-AB4F-ADA3-44D28B1535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25BD76-B8B7-6B45-AA2B-ECFBDE33D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46545-03C5-8C46-9918-C9B75D64ACB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A0EA03-ACC1-B44B-BFD1-3D335BDA2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B7B17B-6BCB-2342-A2FD-276C0F39A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6378-A1E1-7247-92AB-28636F42D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3140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B149A-6152-DF47-9ACB-F3D8EE0D6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A50969-0E52-B848-B6AE-E8717E05E1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F10383-5394-B042-B459-67871CC3C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DA61CD-6407-F94C-893F-114AE71EF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46545-03C5-8C46-9918-C9B75D64ACB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274112-4660-6343-BAFD-40089145C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AD8B9-FCB3-DB4A-A6D8-7BCB3EA09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6378-A1E1-7247-92AB-28636F42D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3927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5DD03-AB6E-C245-9CB1-BE67F8601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8977A1-46DF-6448-B8C9-54EB22DB44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7169F-507F-5849-9A7B-8EDED36DA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46545-03C5-8C46-9918-C9B75D64ACB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58839-4261-9645-9507-BEB5EC7DC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1CDAF-3D4B-2849-9B0A-50878C7A2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6378-A1E1-7247-92AB-28636F42D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4099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98A489-5B00-7243-9ED5-1EEAE0F811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E30B8F-F582-A94F-BD39-578A697D36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78A25-A918-CF44-B143-746100219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46545-03C5-8C46-9918-C9B75D64ACB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9D4E2-E5DA-1B4D-AC5D-0F9823ACF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60F13-CF6F-3049-A50A-F99373AE6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6378-A1E1-7247-92AB-28636F42D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2560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719403" y="5417568"/>
            <a:ext cx="10872067" cy="1095232"/>
            <a:chOff x="539552" y="5417568"/>
            <a:chExt cx="8154050" cy="1095232"/>
          </a:xfrm>
        </p:grpSpPr>
        <p:pic>
          <p:nvPicPr>
            <p:cNvPr id="2" name="Picture 1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76256" y="5417568"/>
              <a:ext cx="1817346" cy="1095232"/>
            </a:xfrm>
            <a:prstGeom prst="rect">
              <a:avLst/>
            </a:prstGeom>
          </p:spPr>
        </p:pic>
        <p:pic>
          <p:nvPicPr>
            <p:cNvPr id="3" name="Picture 2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9552" y="6265911"/>
              <a:ext cx="5407163" cy="2468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71579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C48465-E167-4FA2-B6DB-0D3FA9E20087}" type="datetimeFigureOut">
              <a:rPr lang="en-ZA" smtClean="0"/>
              <a:t>2026/04/22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B29FE7-CA1F-4B49-AEBB-6359BEF8811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26256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53BCFC-3878-1D45-97FE-3CA54AF1C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2FED84-48FF-6C40-A50C-DC014634B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6E5A6-EFF4-3145-9C91-7B9D594EE4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C46545-03C5-8C46-9918-C9B75D64ACB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DBA78-F9B1-1E4A-AA27-01BC7F13B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71804-B221-2046-A929-2578592DB8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A6378-A1E1-7247-92AB-28636F42D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285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suraj520/agricultural-data-for-rajasthan-india-2018-2019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0236" y="5650692"/>
            <a:ext cx="3605530" cy="12033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525926-14EC-466D-846F-20D71FE285D7}"/>
              </a:ext>
            </a:extLst>
          </p:cNvPr>
          <p:cNvSpPr txBox="1"/>
          <p:nvPr/>
        </p:nvSpPr>
        <p:spPr>
          <a:xfrm>
            <a:off x="815874" y="4929853"/>
            <a:ext cx="9214048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b="1" dirty="0">
                <a:latin typeface="Gill Sans MT" panose="020B0502020104020203" pitchFamily="34" charset="0"/>
              </a:rPr>
              <a:t>Presenter: Lindelweyizizwe Manqele</a:t>
            </a:r>
            <a:endParaRPr lang="en-ZA" sz="2800" b="1" dirty="0">
              <a:latin typeface="Gill Sans MT" panose="020B05020201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884BAD-A93F-4CCE-A3DD-13C13D9EF06D}"/>
              </a:ext>
            </a:extLst>
          </p:cNvPr>
          <p:cNvSpPr txBox="1"/>
          <p:nvPr/>
        </p:nvSpPr>
        <p:spPr>
          <a:xfrm>
            <a:off x="951644" y="693818"/>
            <a:ext cx="1106706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 dirty="0">
                <a:latin typeface="Gill Sans MT"/>
                <a:ea typeface="+mn-lt"/>
                <a:cs typeface="+mn-lt"/>
              </a:rPr>
              <a:t>Research Methodologies</a:t>
            </a:r>
            <a:endParaRPr lang="en-US" sz="3200" b="1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1698160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E24D5-5B44-4469-8A4F-E05B81829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Gill Sans MT" panose="020B0502020104020203" pitchFamily="34" charset="0"/>
              </a:rPr>
              <a:t>Research Methodology</a:t>
            </a:r>
            <a:endParaRPr lang="en-GB" b="1" dirty="0">
              <a:latin typeface="Gill Sans MT" panose="020B05020201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61D66-A9F1-40D2-9611-E494F67ED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ill Sans MT" panose="020B0502020104020203" pitchFamily="34" charset="0"/>
              </a:rPr>
              <a:t> A suitable approach to solve the identified problem</a:t>
            </a:r>
          </a:p>
          <a:p>
            <a:r>
              <a:rPr lang="en-US" dirty="0">
                <a:latin typeface="Gill Sans MT" panose="020B0502020104020203" pitchFamily="34" charset="0"/>
              </a:rPr>
              <a:t>Reviewed, viable based on theory (Literature review)</a:t>
            </a:r>
          </a:p>
          <a:p>
            <a:r>
              <a:rPr lang="en-US" dirty="0">
                <a:latin typeface="Gill Sans MT" panose="020B0502020104020203" pitchFamily="34" charset="0"/>
              </a:rPr>
              <a:t>Know the generic steps</a:t>
            </a:r>
          </a:p>
          <a:p>
            <a:r>
              <a:rPr lang="en-US" dirty="0">
                <a:latin typeface="Gill Sans MT" panose="020B0502020104020203" pitchFamily="34" charset="0"/>
              </a:rPr>
              <a:t>Customize the generic steps based on the identified problem</a:t>
            </a:r>
          </a:p>
          <a:p>
            <a:r>
              <a:rPr lang="en-US" dirty="0">
                <a:latin typeface="Gill Sans MT" panose="020B0502020104020203" pitchFamily="34" charset="0"/>
              </a:rPr>
              <a:t>Search for suitable dataset</a:t>
            </a:r>
          </a:p>
          <a:p>
            <a:r>
              <a:rPr lang="en-US" dirty="0">
                <a:latin typeface="Gill Sans MT" panose="020B0502020104020203" pitchFamily="34" charset="0"/>
              </a:rPr>
              <a:t>Identified metrics to measure the performance</a:t>
            </a:r>
          </a:p>
          <a:p>
            <a:endParaRPr lang="en-US" dirty="0">
              <a:latin typeface="Gill Sans MT" panose="020B0502020104020203" pitchFamily="34" charset="0"/>
            </a:endParaRPr>
          </a:p>
          <a:p>
            <a:endParaRPr lang="en-GB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538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2BBC9-4566-4437-8B2C-537493E2F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Gill Sans MT" panose="020B0502020104020203" pitchFamily="34" charset="0"/>
              </a:rPr>
              <a:t>Design Science Research Methodology (DSRM)</a:t>
            </a:r>
            <a:endParaRPr lang="en-GB" dirty="0">
              <a:latin typeface="Gill Sans MT" panose="020B0502020104020203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1B78D4-A909-4156-8034-F07E0BF6D4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6005" y="1593328"/>
            <a:ext cx="5322658" cy="4174854"/>
          </a:xfrm>
        </p:spPr>
      </p:pic>
    </p:spTree>
    <p:extLst>
      <p:ext uri="{BB962C8B-B14F-4D97-AF65-F5344CB8AC3E}">
        <p14:creationId xmlns:p14="http://schemas.microsoft.com/office/powerpoint/2010/main" val="4130968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2EA4C5-B438-4F36-B08D-3AA0EE9BD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Gill Sans MT" panose="020B0502020104020203" pitchFamily="34" charset="0"/>
              </a:rPr>
              <a:t>Examples of research methods</a:t>
            </a:r>
            <a:endParaRPr lang="en-GB" b="1" dirty="0">
              <a:latin typeface="Gill Sans MT" panose="020B0502020104020203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C876C-5153-4D9F-B241-D0B3C56E3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ill Sans MT" panose="020B0502020104020203" pitchFamily="34" charset="0"/>
              </a:rPr>
              <a:t>Machine learning</a:t>
            </a:r>
          </a:p>
          <a:p>
            <a:r>
              <a:rPr lang="en-US" dirty="0">
                <a:latin typeface="Gill Sans MT" panose="020B0502020104020203" pitchFamily="34" charset="0"/>
              </a:rPr>
              <a:t>Natural Processing Languages (NLP)</a:t>
            </a:r>
          </a:p>
          <a:p>
            <a:r>
              <a:rPr lang="en-US" dirty="0">
                <a:latin typeface="Gill Sans MT" panose="020B0502020104020203" pitchFamily="34" charset="0"/>
              </a:rPr>
              <a:t>Artificial Intelligence</a:t>
            </a:r>
          </a:p>
          <a:p>
            <a:r>
              <a:rPr lang="en-US" dirty="0">
                <a:latin typeface="Gill Sans MT" panose="020B0502020104020203" pitchFamily="34" charset="0"/>
              </a:rPr>
              <a:t>Recommender Systems</a:t>
            </a:r>
          </a:p>
          <a:p>
            <a:r>
              <a:rPr lang="en-US" dirty="0">
                <a:latin typeface="Gill Sans MT" panose="020B0502020104020203" pitchFamily="34" charset="0"/>
              </a:rPr>
              <a:t>Encryption</a:t>
            </a:r>
          </a:p>
          <a:p>
            <a:r>
              <a:rPr lang="en-US" dirty="0">
                <a:latin typeface="Gill Sans MT" panose="020B0502020104020203" pitchFamily="34" charset="0"/>
              </a:rPr>
              <a:t>Design Science Research (DSR)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711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3C76B7-E0FA-40A7-85C4-40886EC59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Gill Sans MT" panose="020B0502020104020203" pitchFamily="34" charset="0"/>
              </a:rPr>
              <a:t>Machine Learning</a:t>
            </a:r>
            <a:endParaRPr lang="en-GB" b="1" dirty="0">
              <a:latin typeface="Gill Sans MT" panose="020B0502020104020203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C215974-5988-4301-8CDF-56F636D4E2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0466" y="1541058"/>
            <a:ext cx="4060989" cy="4380604"/>
          </a:xfrm>
        </p:spPr>
      </p:pic>
    </p:spTree>
    <p:extLst>
      <p:ext uri="{BB962C8B-B14F-4D97-AF65-F5344CB8AC3E}">
        <p14:creationId xmlns:p14="http://schemas.microsoft.com/office/powerpoint/2010/main" val="3662292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F4D52-C9E6-4B9D-99D8-11402DB40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Gill Sans MT" panose="020B0502020104020203" pitchFamily="34" charset="0"/>
              </a:rPr>
              <a:t>NLP</a:t>
            </a:r>
            <a:endParaRPr lang="en-GB" dirty="0">
              <a:latin typeface="Gill Sans MT" panose="020B0502020104020203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EE2BA5-A991-4374-8BA6-FC5331A769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0697" y="1825625"/>
            <a:ext cx="5970606" cy="4351338"/>
          </a:xfrm>
        </p:spPr>
      </p:pic>
    </p:spTree>
    <p:extLst>
      <p:ext uri="{BB962C8B-B14F-4D97-AF65-F5344CB8AC3E}">
        <p14:creationId xmlns:p14="http://schemas.microsoft.com/office/powerpoint/2010/main" val="1247681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EF489-06EF-47C8-A21C-9CD0E8504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Gill Sans MT" panose="020B0502020104020203" pitchFamily="34" charset="0"/>
              </a:rPr>
              <a:t>Recommender Systems</a:t>
            </a:r>
            <a:endParaRPr lang="en-GB" dirty="0">
              <a:latin typeface="Gill Sans MT" panose="020B0502020104020203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60854A-4FFF-452C-B16F-50147A8296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55308"/>
            <a:ext cx="10515600" cy="3491972"/>
          </a:xfrm>
        </p:spPr>
      </p:pic>
    </p:spTree>
    <p:extLst>
      <p:ext uri="{BB962C8B-B14F-4D97-AF65-F5344CB8AC3E}">
        <p14:creationId xmlns:p14="http://schemas.microsoft.com/office/powerpoint/2010/main" val="3157448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B19F32C-2EC4-4ED0-A833-13FD5E57E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840" y="857840"/>
            <a:ext cx="9326899" cy="436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07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0CA6C4-C443-47CE-B314-C64CE78CCCE2}"/>
              </a:ext>
            </a:extLst>
          </p:cNvPr>
          <p:cNvSpPr txBox="1"/>
          <p:nvPr/>
        </p:nvSpPr>
        <p:spPr>
          <a:xfrm>
            <a:off x="2351594" y="423707"/>
            <a:ext cx="7485413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>
                <a:solidFill>
                  <a:prstClr val="black"/>
                </a:solidFill>
                <a:latin typeface="Gill Sans MT" panose="020B0502020104020203" pitchFamily="34" charset="0"/>
              </a:rPr>
              <a:t>Research Methodology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07CE78-6909-4089-82C8-94FBFC01D939}"/>
              </a:ext>
            </a:extLst>
          </p:cNvPr>
          <p:cNvSpPr txBox="1"/>
          <p:nvPr/>
        </p:nvSpPr>
        <p:spPr>
          <a:xfrm>
            <a:off x="3909965" y="5787681"/>
            <a:ext cx="3363652" cy="5386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100" b="1" i="1" dirty="0">
                <a:solidFill>
                  <a:prstClr val="black"/>
                </a:solidFill>
                <a:latin typeface="Times New Roman"/>
                <a:cs typeface="Times New Roman"/>
              </a:rPr>
              <a:t>Figure 1: Design Research Process</a:t>
            </a:r>
            <a:endParaRPr kumimoji="0" lang="en-ZA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endParaRPr lang="en-Z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C4C14E-486A-8BD2-99BF-77F451992237}"/>
              </a:ext>
            </a:extLst>
          </p:cNvPr>
          <p:cNvSpPr txBox="1"/>
          <p:nvPr/>
        </p:nvSpPr>
        <p:spPr>
          <a:xfrm>
            <a:off x="1342417" y="1258812"/>
            <a:ext cx="1035023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latin typeface="Gill Sans MT" panose="020B0502020104020203" pitchFamily="34" charset="0"/>
                <a:cs typeface="Calibri"/>
              </a:rPr>
              <a:t>A Design Science Research Methodology (DSRM)  is used  to improve an existing system for measuring so moisture levels. This study will integrate a web application for farmers </a:t>
            </a:r>
            <a:r>
              <a:rPr lang="en-GB" sz="1600">
                <a:latin typeface="Gill Sans MT" panose="020B0502020104020203" pitchFamily="34" charset="0"/>
                <a:cs typeface="Calibri"/>
              </a:rPr>
              <a:t>to analyze historical and current soil moisture data easily</a:t>
            </a:r>
            <a:r>
              <a:rPr lang="en-US" sz="1600">
                <a:latin typeface="Gill Sans MT" panose="020B0502020104020203" pitchFamily="34" charset="0"/>
                <a:cs typeface="Calibri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ED8D64-267C-3424-EAF4-2FCCC282892D}"/>
              </a:ext>
            </a:extLst>
          </p:cNvPr>
          <p:cNvSpPr txBox="1"/>
          <p:nvPr/>
        </p:nvSpPr>
        <p:spPr>
          <a:xfrm>
            <a:off x="6809362" y="2698682"/>
            <a:ext cx="4444813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600">
                <a:latin typeface="Gill Sans MT" panose="020B0502020104020203" pitchFamily="34" charset="0"/>
                <a:cs typeface="Times New Roman"/>
              </a:rPr>
              <a:t>As depicted in Figure 1, this approach aims to ensure that our system is effective and user-friendly, contributing to better water management and improved agricultural productivity</a:t>
            </a:r>
            <a:r>
              <a:rPr lang="en-US" sz="1400">
                <a:latin typeface="Times New Roman"/>
                <a:cs typeface="Times New Roman"/>
              </a:rPr>
              <a:t>.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50305E9A-7F8B-E40B-9CAF-31F5B0747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1946" y="1939298"/>
            <a:ext cx="2616654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330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BD36C95-86BE-D327-88AF-E1C94DD27BE0}"/>
              </a:ext>
            </a:extLst>
          </p:cNvPr>
          <p:cNvSpPr txBox="1"/>
          <p:nvPr/>
        </p:nvSpPr>
        <p:spPr>
          <a:xfrm>
            <a:off x="2861293" y="386184"/>
            <a:ext cx="7547303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>
                <a:solidFill>
                  <a:prstClr val="black"/>
                </a:solidFill>
                <a:latin typeface="Gill Sans MT" panose="020B0502020104020203" pitchFamily="34" charset="0"/>
                <a:cs typeface="Times New Roman"/>
              </a:rPr>
              <a:t>Research Methodology </a:t>
            </a:r>
            <a:r>
              <a:rPr lang="en-US" sz="3600" b="1" err="1">
                <a:solidFill>
                  <a:prstClr val="black"/>
                </a:solidFill>
                <a:latin typeface="Gill Sans MT" panose="020B0502020104020203" pitchFamily="34" charset="0"/>
                <a:cs typeface="Times New Roman"/>
              </a:rPr>
              <a:t>cont</a:t>
            </a:r>
            <a:r>
              <a:rPr lang="en-US" sz="3600" b="1">
                <a:solidFill>
                  <a:prstClr val="black"/>
                </a:solidFill>
                <a:latin typeface="Gill Sans MT" panose="020B0502020104020203" pitchFamily="34" charset="0"/>
                <a:cs typeface="Times New Roman"/>
              </a:rPr>
              <a:t>…</a:t>
            </a:r>
            <a:endParaRPr kumimoji="0" lang="en-ZA" sz="3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0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8B85E7-E939-CFAD-9C87-88A0DD176E23}"/>
              </a:ext>
            </a:extLst>
          </p:cNvPr>
          <p:cNvSpPr txBox="1"/>
          <p:nvPr/>
        </p:nvSpPr>
        <p:spPr>
          <a:xfrm>
            <a:off x="808221" y="1781031"/>
            <a:ext cx="4106142" cy="46166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Gill Sans MT" panose="020B0502020104020203" pitchFamily="34" charset="0"/>
                <a:cs typeface="Calibri"/>
              </a:rPr>
              <a:t>1/6: Problem identificatio</a:t>
            </a:r>
            <a:r>
              <a:rPr lang="en-US" sz="2400" b="1">
                <a:latin typeface="Times New Roman"/>
                <a:cs typeface="Calibri"/>
              </a:rPr>
              <a:t>n</a:t>
            </a:r>
            <a:endParaRPr lang="en-US" sz="2400" b="1"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A72B37-0208-ED11-8F06-78899096B666}"/>
              </a:ext>
            </a:extLst>
          </p:cNvPr>
          <p:cNvSpPr txBox="1"/>
          <p:nvPr/>
        </p:nvSpPr>
        <p:spPr>
          <a:xfrm>
            <a:off x="5638448" y="1360243"/>
            <a:ext cx="6350000" cy="160043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endParaRPr lang="en-US" sz="1600">
              <a:latin typeface="Gill Sans MT" panose="020B0502020104020203" pitchFamily="34" charset="0"/>
              <a:ea typeface="Calibri" panose="020F0502020204030204"/>
              <a:cs typeface="Calibri" panose="020F0502020204030204"/>
            </a:endParaRPr>
          </a:p>
          <a:p>
            <a:pPr algn="just"/>
            <a:r>
              <a:rPr lang="en-US" sz="1600">
                <a:latin typeface="Gill Sans MT" panose="020B0502020104020203" pitchFamily="34" charset="0"/>
                <a:ea typeface="Calibri" panose="020F0502020204030204"/>
                <a:cs typeface="Calibri" panose="020F0502020204030204"/>
              </a:rPr>
              <a:t>Rural farmers face challenges because of lack of resources, limited knowledge</a:t>
            </a:r>
            <a:r>
              <a:rPr lang="en-GB" sz="1600">
                <a:latin typeface="Gill Sans MT" panose="020B0502020104020203" pitchFamily="34" charset="0"/>
                <a:ea typeface="Calibri" panose="020F0502020204030204"/>
                <a:cs typeface="Calibri" panose="020F0502020204030204"/>
              </a:rPr>
              <a:t>, and the high costs of advanced technology. These technologies can help with irrigation and detecting soil moisture. However, they need</a:t>
            </a:r>
            <a:r>
              <a:rPr lang="en-US" sz="1600">
                <a:latin typeface="Gill Sans MT" panose="020B0502020104020203" pitchFamily="34" charset="0"/>
                <a:ea typeface="Calibri" panose="020F0502020204030204"/>
                <a:cs typeface="Times New Roman"/>
              </a:rPr>
              <a:t> to be more affordable and easier to use.</a:t>
            </a:r>
            <a:endParaRPr lang="en-US" sz="1600">
              <a:latin typeface="Gill Sans MT" panose="020B0502020104020203" pitchFamily="34" charset="0"/>
              <a:ea typeface="Calibri" panose="020F0502020204030204"/>
              <a:cs typeface="Calibri" panose="020F0502020204030204"/>
            </a:endParaRPr>
          </a:p>
          <a:p>
            <a:endParaRPr lang="en-US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10" name="Picture 9" descr="A group of people standing in a field&#10;&#10;Description automatically generated">
            <a:extLst>
              <a:ext uri="{FF2B5EF4-FFF2-40B4-BE49-F238E27FC236}">
                <a16:creationId xmlns:a16="http://schemas.microsoft.com/office/drawing/2014/main" id="{6EF3588A-B78C-77F3-AE10-EBF13CE952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8908" y="1293548"/>
            <a:ext cx="3200400" cy="4114800"/>
          </a:xfrm>
          <a:prstGeom prst="rect">
            <a:avLst/>
          </a:prstGeom>
        </p:spPr>
      </p:pic>
      <p:pic>
        <p:nvPicPr>
          <p:cNvPr id="11" name="Picture 10" descr="Free Grass Border Cliparts, Download Free Grass Border Cliparts png ...">
            <a:extLst>
              <a:ext uri="{FF2B5EF4-FFF2-40B4-BE49-F238E27FC236}">
                <a16:creationId xmlns:a16="http://schemas.microsoft.com/office/drawing/2014/main" id="{626BD78B-A6E7-90CB-9BEC-61C76EFAC5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280" t="626" r="19279" b="-417"/>
          <a:stretch/>
        </p:blipFill>
        <p:spPr>
          <a:xfrm>
            <a:off x="3072181" y="3114955"/>
            <a:ext cx="9119819" cy="3246379"/>
          </a:xfrm>
          <a:prstGeom prst="rect">
            <a:avLst/>
          </a:prstGeom>
        </p:spPr>
      </p:pic>
      <p:pic>
        <p:nvPicPr>
          <p:cNvPr id="3" name="Picture 2" descr="Free Grass Border Cliparts, Download Free Grass Border Cliparts png ...">
            <a:extLst>
              <a:ext uri="{FF2B5EF4-FFF2-40B4-BE49-F238E27FC236}">
                <a16:creationId xmlns:a16="http://schemas.microsoft.com/office/drawing/2014/main" id="{CF996522-7E53-EE8A-A6F4-DF78CF92B4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280" t="626" r="19279" b="-417"/>
          <a:stretch/>
        </p:blipFill>
        <p:spPr>
          <a:xfrm>
            <a:off x="-1815349" y="3114956"/>
            <a:ext cx="9119819" cy="3246379"/>
          </a:xfrm>
          <a:prstGeom prst="rect">
            <a:avLst/>
          </a:prstGeom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5E8DE83B-4857-4136-AF40-F0BE14C09ADB}"/>
              </a:ext>
            </a:extLst>
          </p:cNvPr>
          <p:cNvSpPr/>
          <p:nvPr/>
        </p:nvSpPr>
        <p:spPr>
          <a:xfrm>
            <a:off x="4913634" y="1868392"/>
            <a:ext cx="724814" cy="33792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3637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BD36C95-86BE-D327-88AF-E1C94DD27BE0}"/>
              </a:ext>
            </a:extLst>
          </p:cNvPr>
          <p:cNvSpPr txBox="1"/>
          <p:nvPr/>
        </p:nvSpPr>
        <p:spPr>
          <a:xfrm>
            <a:off x="2861293" y="386184"/>
            <a:ext cx="7547303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>
                <a:solidFill>
                  <a:prstClr val="black"/>
                </a:solidFill>
                <a:latin typeface="Gill Sans MT" panose="020B0502020104020203" pitchFamily="34" charset="0"/>
                <a:cs typeface="Times New Roman"/>
              </a:rPr>
              <a:t>Research Methodology </a:t>
            </a:r>
            <a:r>
              <a:rPr lang="en-US" sz="3600" b="1" err="1">
                <a:solidFill>
                  <a:prstClr val="black"/>
                </a:solidFill>
                <a:latin typeface="Gill Sans MT" panose="020B0502020104020203" pitchFamily="34" charset="0"/>
                <a:cs typeface="Times New Roman"/>
              </a:rPr>
              <a:t>cont</a:t>
            </a:r>
            <a:r>
              <a:rPr lang="en-US" sz="3600" b="1">
                <a:solidFill>
                  <a:prstClr val="black"/>
                </a:solidFill>
                <a:latin typeface="Gill Sans MT" panose="020B0502020104020203" pitchFamily="34" charset="0"/>
                <a:cs typeface="Times New Roman"/>
              </a:rPr>
              <a:t>…</a:t>
            </a:r>
            <a:endParaRPr kumimoji="0" lang="en-ZA" sz="3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0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8B85E7-E939-CFAD-9C87-88A0DD176E23}"/>
              </a:ext>
            </a:extLst>
          </p:cNvPr>
          <p:cNvSpPr txBox="1"/>
          <p:nvPr/>
        </p:nvSpPr>
        <p:spPr>
          <a:xfrm>
            <a:off x="445085" y="1834826"/>
            <a:ext cx="4106142" cy="46166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Gill Sans MT" panose="020B0502020104020203" pitchFamily="34" charset="0"/>
                <a:cs typeface="Calibri"/>
              </a:rPr>
              <a:t>2/6: Proposed Solution</a:t>
            </a:r>
            <a:endParaRPr lang="en-US" sz="2400" b="1"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A72B37-0208-ED11-8F06-78899096B666}"/>
              </a:ext>
            </a:extLst>
          </p:cNvPr>
          <p:cNvSpPr txBox="1"/>
          <p:nvPr/>
        </p:nvSpPr>
        <p:spPr>
          <a:xfrm>
            <a:off x="5276041" y="1565587"/>
            <a:ext cx="6712407" cy="160043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endParaRPr lang="en-US" sz="1600">
              <a:latin typeface="Gill Sans MT" panose="020B0502020104020203" pitchFamily="34" charset="0"/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600">
                <a:latin typeface="Gill Sans MT" panose="020B0502020104020203" pitchFamily="34" charset="0"/>
                <a:ea typeface="Calibri"/>
                <a:cs typeface="Calibri"/>
              </a:rPr>
              <a:t> Cost-effective and informative IoT Fog-based prototype.</a:t>
            </a:r>
          </a:p>
          <a:p>
            <a:pPr marL="285750" indent="-285750" algn="just">
              <a:buFont typeface="Arial"/>
              <a:buChar char="•"/>
            </a:pPr>
            <a:r>
              <a:rPr lang="en-US" sz="1600">
                <a:latin typeface="Gill Sans MT" panose="020B0502020104020203" pitchFamily="34" charset="0"/>
                <a:ea typeface="Calibri"/>
                <a:cs typeface="Calibri"/>
              </a:rPr>
              <a:t>This prototype will analyze, detect and monitor data received from sensors.</a:t>
            </a:r>
          </a:p>
          <a:p>
            <a:pPr marL="285750" indent="-285750" algn="just">
              <a:buFont typeface="Arial"/>
              <a:buChar char="•"/>
            </a:pPr>
            <a:r>
              <a:rPr lang="en-US" sz="1600">
                <a:latin typeface="Gill Sans MT" panose="020B0502020104020203" pitchFamily="34" charset="0"/>
                <a:ea typeface="Calibri"/>
                <a:cs typeface="Calibri"/>
              </a:rPr>
              <a:t>Engage information on the steps that the farmer needs to follow to enhance irrigation through chatbot.</a:t>
            </a:r>
          </a:p>
          <a:p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5E8DE83B-4857-4136-AF40-F0BE14C09ADB}"/>
              </a:ext>
            </a:extLst>
          </p:cNvPr>
          <p:cNvSpPr/>
          <p:nvPr/>
        </p:nvSpPr>
        <p:spPr>
          <a:xfrm>
            <a:off x="4551227" y="1961098"/>
            <a:ext cx="724814" cy="33792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FC358F-E4A2-4EA6-8B37-E87444A24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743" y="2620039"/>
            <a:ext cx="4816257" cy="3475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062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C7D617-BBA3-874E-F21B-821F3ABAC225}"/>
              </a:ext>
            </a:extLst>
          </p:cNvPr>
          <p:cNvSpPr txBox="1"/>
          <p:nvPr/>
        </p:nvSpPr>
        <p:spPr>
          <a:xfrm>
            <a:off x="2620765" y="378715"/>
            <a:ext cx="695047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600" b="1" baseline="0">
                <a:latin typeface="Gill Sans MT" panose="020B0502020104020203" pitchFamily="34" charset="0"/>
              </a:rPr>
              <a:t>Research Methodology </a:t>
            </a:r>
            <a:r>
              <a:rPr lang="en-US" sz="3600" b="1" baseline="0" err="1">
                <a:latin typeface="Gill Sans MT" panose="020B0502020104020203" pitchFamily="34" charset="0"/>
              </a:rPr>
              <a:t>cont</a:t>
            </a:r>
            <a:r>
              <a:rPr lang="en-US" sz="3600" b="1" baseline="0">
                <a:latin typeface="Gill Sans MT" panose="020B0502020104020203" pitchFamily="34" charset="0"/>
              </a:rPr>
              <a:t>…</a:t>
            </a:r>
            <a:r>
              <a:rPr lang="en-US" sz="3600">
                <a:latin typeface="Gill Sans MT" panose="020B0502020104020203" pitchFamily="34" charset="0"/>
                <a:ea typeface="Times New Roman"/>
                <a:cs typeface="Times New Roman"/>
              </a:rPr>
              <a:t>​</a:t>
            </a:r>
            <a:endParaRPr lang="en-US">
              <a:latin typeface="Gill Sans MT" panose="020B0502020104020203" pitchFamily="34" charset="0"/>
            </a:endParaRPr>
          </a:p>
        </p:txBody>
      </p:sp>
      <p:pic>
        <p:nvPicPr>
          <p:cNvPr id="6" name="Picture 5" descr="A screenshot of a data&#10;&#10;Description automatically generated">
            <a:extLst>
              <a:ext uri="{FF2B5EF4-FFF2-40B4-BE49-F238E27FC236}">
                <a16:creationId xmlns:a16="http://schemas.microsoft.com/office/drawing/2014/main" id="{4A5EFFCB-BCEA-3C27-DF94-D12C8071A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732" y="2354552"/>
            <a:ext cx="6558624" cy="3070481"/>
          </a:xfrm>
          <a:prstGeom prst="rect">
            <a:avLst/>
          </a:prstGeom>
          <a:ln>
            <a:solidFill>
              <a:srgbClr val="1D834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F5801E-A0B3-930B-9F55-DEC34792E60C}"/>
              </a:ext>
            </a:extLst>
          </p:cNvPr>
          <p:cNvSpPr txBox="1"/>
          <p:nvPr/>
        </p:nvSpPr>
        <p:spPr>
          <a:xfrm>
            <a:off x="1576522" y="1061312"/>
            <a:ext cx="8335961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n-US" sz="1400">
                <a:latin typeface="Times New Roman"/>
                <a:ea typeface="Segoe UI"/>
                <a:cs typeface="Segoe UI"/>
              </a:rPr>
              <a:t>​</a:t>
            </a:r>
          </a:p>
          <a:p>
            <a:pPr marL="285750" indent="-285750" algn="just">
              <a:buFont typeface="Arial"/>
              <a:buChar char="•"/>
            </a:pPr>
            <a:r>
              <a:rPr lang="en-US" sz="1600" baseline="0">
                <a:latin typeface="Gill Sans MT" panose="020B0502020104020203" pitchFamily="34" charset="0"/>
                <a:ea typeface="Segoe UI"/>
                <a:cs typeface="Segoe UI"/>
              </a:rPr>
              <a:t>Existing datasets are freely accessible and sourced from educational, investigative, and rural organizations. </a:t>
            </a:r>
            <a:r>
              <a:rPr lang="en-US" sz="1600">
                <a:latin typeface="Gill Sans MT" panose="020B0502020104020203" pitchFamily="34" charset="0"/>
                <a:cs typeface="Times New Roman"/>
              </a:rPr>
              <a:t>Figure 2 , examines the impact of various irrigation methods on crop production</a:t>
            </a:r>
            <a:endParaRPr lang="en-US" sz="1600">
              <a:latin typeface="Gill Sans MT" panose="020B0502020104020203" pitchFamily="34" charset="0"/>
              <a:cs typeface="Segoe U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30D07A-C1EF-FA61-B8A7-503B213AFB31}"/>
              </a:ext>
            </a:extLst>
          </p:cNvPr>
          <p:cNvSpPr txBox="1"/>
          <p:nvPr/>
        </p:nvSpPr>
        <p:spPr>
          <a:xfrm>
            <a:off x="8997828" y="2928132"/>
            <a:ext cx="3054741" cy="1815882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400" b="1">
                <a:latin typeface="Gill Sans MT"/>
                <a:ea typeface="Segoe UI"/>
                <a:cs typeface="Segoe UI"/>
              </a:rPr>
              <a:t>DataSample</a:t>
            </a:r>
            <a:r>
              <a:rPr lang="en-US" sz="1400" baseline="0">
                <a:latin typeface="Gill Sans MT"/>
                <a:ea typeface="Segoe UI"/>
                <a:cs typeface="Segoe UI"/>
              </a:rPr>
              <a:t>:</a:t>
            </a:r>
            <a:r>
              <a:rPr lang="en-US" sz="1400">
                <a:latin typeface="Gill Sans MT"/>
                <a:ea typeface="Segoe UI"/>
                <a:cs typeface="Segoe UI"/>
              </a:rPr>
              <a:t>w</a:t>
            </a:r>
            <a:r>
              <a:rPr lang="en-US" sz="1400" baseline="0">
                <a:latin typeface="Gill Sans MT"/>
                <a:ea typeface="Segoe UI"/>
                <a:cs typeface="Segoe UI"/>
              </a:rPr>
              <a:t>ater_usage_data [Agricultural Data for Rajasthan, India (2018-2019) (kaggle.com)] ​</a:t>
            </a:r>
            <a:r>
              <a:rPr lang="en-US" sz="1400">
                <a:latin typeface="Gill Sans MT"/>
                <a:ea typeface="Segoe UI"/>
                <a:cs typeface="Segoe UI"/>
              </a:rPr>
              <a:t>​</a:t>
            </a:r>
          </a:p>
          <a:p>
            <a:pPr algn="just" rtl="0"/>
            <a:r>
              <a:rPr lang="en-US" sz="1400" b="1" baseline="0">
                <a:latin typeface="Gill Sans MT"/>
                <a:ea typeface="Segoe UI"/>
                <a:cs typeface="Segoe UI"/>
              </a:rPr>
              <a:t>Data Size</a:t>
            </a:r>
            <a:r>
              <a:rPr lang="en-US" sz="1400" baseline="0">
                <a:latin typeface="Gill Sans MT"/>
                <a:ea typeface="Segoe UI"/>
                <a:cs typeface="Segoe UI"/>
              </a:rPr>
              <a:t>: 553.5 </a:t>
            </a:r>
            <a:r>
              <a:rPr lang="en-US" sz="1400">
                <a:latin typeface="Gill Sans MT"/>
                <a:ea typeface="Segoe UI"/>
                <a:cs typeface="Segoe UI"/>
              </a:rPr>
              <a:t>KB</a:t>
            </a:r>
            <a:r>
              <a:rPr lang="en-US" sz="1400" baseline="0">
                <a:latin typeface="Gill Sans MT"/>
                <a:ea typeface="Segoe UI"/>
                <a:cs typeface="Segoe UI"/>
              </a:rPr>
              <a:t> ​</a:t>
            </a:r>
            <a:r>
              <a:rPr lang="en-US" sz="1400">
                <a:latin typeface="Gill Sans MT"/>
                <a:ea typeface="Segoe UI"/>
                <a:cs typeface="Segoe UI"/>
              </a:rPr>
              <a:t>​</a:t>
            </a:r>
          </a:p>
          <a:p>
            <a:pPr algn="just" rtl="0"/>
            <a:r>
              <a:rPr lang="en-US" sz="1400" b="1" baseline="0">
                <a:latin typeface="Gill Sans MT"/>
                <a:ea typeface="Segoe UI"/>
                <a:cs typeface="Segoe UI"/>
              </a:rPr>
              <a:t>Records</a:t>
            </a:r>
            <a:r>
              <a:rPr lang="en-US" sz="1400" baseline="0">
                <a:latin typeface="Gill Sans MT"/>
                <a:ea typeface="Segoe UI"/>
                <a:cs typeface="Segoe UI"/>
              </a:rPr>
              <a:t>: 769 records</a:t>
            </a:r>
            <a:r>
              <a:rPr lang="en-US" sz="1400">
                <a:latin typeface="Gill Sans MT"/>
                <a:ea typeface="Segoe UI"/>
                <a:cs typeface="Segoe UI"/>
              </a:rPr>
              <a:t>​</a:t>
            </a:r>
          </a:p>
          <a:p>
            <a:pPr algn="just" rtl="0"/>
            <a:r>
              <a:rPr lang="en-US" sz="1400" b="1">
                <a:latin typeface="Gill Sans MT"/>
                <a:cs typeface="Segoe UI"/>
              </a:rPr>
              <a:t>Repository: Kaggle</a:t>
            </a:r>
          </a:p>
          <a:p>
            <a:pPr algn="just"/>
            <a:r>
              <a:rPr lang="en-US" sz="1400" b="1">
                <a:latin typeface="Gill Sans MT"/>
                <a:cs typeface="Segoe UI"/>
              </a:rPr>
              <a:t>URL: </a:t>
            </a:r>
            <a:r>
              <a:rPr lang="en-US" sz="1400">
                <a:ea typeface="+mn-lt"/>
                <a:cs typeface="+mn-lt"/>
                <a:hlinkClick r:id="rId3"/>
              </a:rPr>
              <a:t>Agricultural Data for Rajasthan, India (2018-2019)</a:t>
            </a:r>
            <a:endParaRPr lang="en-US" b="1">
              <a:latin typeface="Gill Sans MT" panose="020B05020201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4597A7-C222-8BB8-F9A5-B6DB9D981210}"/>
              </a:ext>
            </a:extLst>
          </p:cNvPr>
          <p:cNvSpPr txBox="1"/>
          <p:nvPr/>
        </p:nvSpPr>
        <p:spPr>
          <a:xfrm>
            <a:off x="2962013" y="5667702"/>
            <a:ext cx="6814392" cy="5386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1" i="1">
                <a:latin typeface="Times New Roman"/>
                <a:cs typeface="Times New Roman"/>
              </a:rPr>
              <a:t>Figure 2: Summary of Water Usage from different Irrigation systems</a:t>
            </a:r>
            <a:endParaRPr lang="en-US" sz="1100" b="1"/>
          </a:p>
          <a:p>
            <a:pPr algn="l"/>
            <a:endParaRPr lang="en-US"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DAF0C0-9C37-40A2-8498-1B5ADC6399D7}"/>
              </a:ext>
            </a:extLst>
          </p:cNvPr>
          <p:cNvSpPr txBox="1"/>
          <p:nvPr/>
        </p:nvSpPr>
        <p:spPr>
          <a:xfrm rot="16200000">
            <a:off x="-543694" y="3507920"/>
            <a:ext cx="3372433" cy="46166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Gill Sans MT" panose="020B0502020104020203" pitchFamily="34" charset="0"/>
                <a:cs typeface="Calibri"/>
              </a:rPr>
              <a:t>3/6: Data Gathering</a:t>
            </a:r>
            <a:endParaRPr lang="en-US" sz="2400" b="1">
              <a:latin typeface="Times New Roman"/>
              <a:cs typeface="Times New Roman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CC8C3A9-774F-4E22-99ED-6CC1974FC959}"/>
              </a:ext>
            </a:extLst>
          </p:cNvPr>
          <p:cNvSpPr/>
          <p:nvPr/>
        </p:nvSpPr>
        <p:spPr>
          <a:xfrm>
            <a:off x="1448136" y="3497092"/>
            <a:ext cx="724814" cy="33792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3045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758651-5473-6982-49F5-0244CD4324CF}"/>
              </a:ext>
            </a:extLst>
          </p:cNvPr>
          <p:cNvSpPr txBox="1"/>
          <p:nvPr/>
        </p:nvSpPr>
        <p:spPr>
          <a:xfrm>
            <a:off x="3044975" y="175531"/>
            <a:ext cx="715933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600" b="1" i="0" u="none" strike="noStrike" baseline="0">
                <a:solidFill>
                  <a:srgbClr val="000000"/>
                </a:solidFill>
                <a:latin typeface="Gill Sans MT" panose="020B0502020104020203" pitchFamily="34" charset="0"/>
                <a:ea typeface="Times New Roman"/>
                <a:cs typeface="Times New Roman"/>
              </a:rPr>
              <a:t>Research Methodology </a:t>
            </a:r>
            <a:r>
              <a:rPr lang="en-US" sz="3600" b="1" i="0" u="none" strike="noStrike" baseline="0" err="1">
                <a:solidFill>
                  <a:srgbClr val="000000"/>
                </a:solidFill>
                <a:latin typeface="Gill Sans MT" panose="020B0502020104020203" pitchFamily="34" charset="0"/>
                <a:ea typeface="Times New Roman"/>
                <a:cs typeface="Times New Roman"/>
              </a:rPr>
              <a:t>cont</a:t>
            </a:r>
            <a:r>
              <a:rPr lang="en-US" sz="3600" b="1" i="0" u="none" strike="noStrike" baseline="0">
                <a:solidFill>
                  <a:srgbClr val="000000"/>
                </a:solidFill>
                <a:latin typeface="Gill Sans MT" panose="020B0502020104020203" pitchFamily="34" charset="0"/>
                <a:ea typeface="Times New Roman"/>
                <a:cs typeface="Times New Roman"/>
              </a:rPr>
              <a:t>…</a:t>
            </a:r>
            <a:endParaRPr lang="en-US">
              <a:latin typeface="Gill Sans MT" panose="020B05020201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FDE582-76A1-A07E-A0E0-20A8FF0EFC30}"/>
              </a:ext>
            </a:extLst>
          </p:cNvPr>
          <p:cNvSpPr txBox="1"/>
          <p:nvPr/>
        </p:nvSpPr>
        <p:spPr>
          <a:xfrm>
            <a:off x="1825307" y="855734"/>
            <a:ext cx="9598675" cy="452431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600">
              <a:latin typeface="Gill Sans MT" panose="020B0502020104020203" pitchFamily="34" charset="0"/>
              <a:ea typeface="Calibri"/>
              <a:cs typeface="Calibri"/>
            </a:endParaRPr>
          </a:p>
          <a:p>
            <a:r>
              <a:rPr lang="en-US" sz="1600">
                <a:latin typeface="Gill Sans MT" panose="020B0502020104020203" pitchFamily="34" charset="0"/>
                <a:ea typeface="Calibri"/>
                <a:cs typeface="Calibri"/>
              </a:rPr>
              <a:t>Prototyping is the core phase that guides us </a:t>
            </a:r>
            <a:r>
              <a:rPr lang="en-GB" sz="1600">
                <a:latin typeface="Gill Sans MT" panose="020B0502020104020203" pitchFamily="34" charset="0"/>
                <a:ea typeface="Calibri"/>
                <a:cs typeface="Calibri"/>
              </a:rPr>
              <a:t>through fully developing the system's UI/UX design and </a:t>
            </a:r>
            <a:r>
              <a:rPr lang="en-US" sz="1600">
                <a:latin typeface="Gill Sans MT" panose="020B0502020104020203" pitchFamily="34" charset="0"/>
                <a:ea typeface="Calibri"/>
                <a:cs typeface="Calibri"/>
              </a:rPr>
              <a:t>the proposed solution. Design and Development Technology Stack: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latin typeface="Gill Sans MT" panose="020B0502020104020203" pitchFamily="34" charset="0"/>
                <a:ea typeface="Calibri"/>
                <a:cs typeface="Calibri"/>
              </a:rPr>
              <a:t>Front end: </a:t>
            </a:r>
            <a:r>
              <a:rPr lang="en-US" sz="1600">
                <a:latin typeface="Gill Sans MT" panose="020B0502020104020203" pitchFamily="34" charset="0"/>
                <a:ea typeface="Calibri"/>
                <a:cs typeface="Times New Roman"/>
              </a:rPr>
              <a:t>Python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latin typeface="Gill Sans MT" panose="020B0502020104020203" pitchFamily="34" charset="0"/>
                <a:ea typeface="Calibri"/>
                <a:cs typeface="Times New Roman"/>
              </a:rPr>
              <a:t>Backend: Html, CSS, JavaScript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latin typeface="Gill Sans MT" panose="020B0502020104020203" pitchFamily="34" charset="0"/>
                <a:ea typeface="Calibri"/>
                <a:cs typeface="Times New Roman"/>
              </a:rPr>
              <a:t>Database: SQLite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latin typeface="Gill Sans MT" panose="020B0502020104020203" pitchFamily="34" charset="0"/>
                <a:ea typeface="Calibri"/>
                <a:cs typeface="Times New Roman"/>
              </a:rPr>
              <a:t>Framework: Flask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latin typeface="Gill Sans MT" panose="020B0502020104020203" pitchFamily="34" charset="0"/>
                <a:ea typeface="Calibri"/>
                <a:cs typeface="Times New Roman"/>
              </a:rPr>
              <a:t>Sensors: Soil moisture sensor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latin typeface="Gill Sans MT" panose="020B0502020104020203" pitchFamily="34" charset="0"/>
                <a:ea typeface="Calibri"/>
                <a:cs typeface="Times New Roman"/>
              </a:rPr>
              <a:t>SBC:  Arduino Mega and Raspberry Pi 3</a:t>
            </a:r>
          </a:p>
          <a:p>
            <a:endParaRPr lang="en-US">
              <a:latin typeface="Times New Roman"/>
              <a:ea typeface="Calibri"/>
              <a:cs typeface="Times New Roman"/>
            </a:endParaRPr>
          </a:p>
          <a:p>
            <a:endParaRPr lang="en-US">
              <a:latin typeface="Times New Roman"/>
              <a:ea typeface="Calibri"/>
              <a:cs typeface="Times New Roman"/>
            </a:endParaRPr>
          </a:p>
          <a:p>
            <a:endParaRPr lang="en-US">
              <a:latin typeface="Times New Roman"/>
              <a:ea typeface="Calibri"/>
              <a:cs typeface="Times New Roman"/>
            </a:endParaRPr>
          </a:p>
          <a:p>
            <a:endParaRPr lang="en-US">
              <a:latin typeface="Times New Roman"/>
              <a:ea typeface="Calibri"/>
              <a:cs typeface="Times New Roman"/>
            </a:endParaRPr>
          </a:p>
          <a:p>
            <a:endParaRPr lang="en-US">
              <a:latin typeface="Times New Roman"/>
              <a:ea typeface="Calibri"/>
              <a:cs typeface="Times New Roman"/>
            </a:endParaRPr>
          </a:p>
          <a:p>
            <a:endParaRPr lang="en-US">
              <a:latin typeface="Times New Roman"/>
              <a:ea typeface="Calibri"/>
              <a:cs typeface="Times New Roman"/>
            </a:endParaRPr>
          </a:p>
          <a:p>
            <a:endParaRPr lang="en-US">
              <a:latin typeface="Times New Roman"/>
              <a:ea typeface="Calibri"/>
              <a:cs typeface="Times New Roman"/>
            </a:endParaRPr>
          </a:p>
          <a:p>
            <a:endParaRPr lang="en-US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5" name="Picture 4" descr="A computer mouse and a circuit board&#10;&#10;Description automatically generated">
            <a:extLst>
              <a:ext uri="{FF2B5EF4-FFF2-40B4-BE49-F238E27FC236}">
                <a16:creationId xmlns:a16="http://schemas.microsoft.com/office/drawing/2014/main" id="{C841FA3D-2D63-7291-5C35-3C2B9368E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7426" y="1877504"/>
            <a:ext cx="2159086" cy="2708965"/>
          </a:xfrm>
          <a:prstGeom prst="ellipse">
            <a:avLst/>
          </a:prstGeom>
          <a:ln w="190500" cap="rnd">
            <a:solidFill>
              <a:srgbClr val="1D8341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6" name="Picture 5" descr="A computer mouse and a plant in a pot&#10;&#10;Description automatically generated">
            <a:extLst>
              <a:ext uri="{FF2B5EF4-FFF2-40B4-BE49-F238E27FC236}">
                <a16:creationId xmlns:a16="http://schemas.microsoft.com/office/drawing/2014/main" id="{3C43BA9E-C823-C779-E893-55BB2FE2A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5445" y="1996464"/>
            <a:ext cx="1845364" cy="2472558"/>
          </a:xfrm>
          <a:prstGeom prst="ellipse">
            <a:avLst/>
          </a:prstGeom>
          <a:ln w="190500" cap="rnd">
            <a:solidFill>
              <a:srgbClr val="1D8341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026B4B-3A50-4F3F-BA2A-DF3925AF2E34}"/>
              </a:ext>
            </a:extLst>
          </p:cNvPr>
          <p:cNvSpPr txBox="1"/>
          <p:nvPr/>
        </p:nvSpPr>
        <p:spPr>
          <a:xfrm rot="16200000">
            <a:off x="-1194676" y="2882741"/>
            <a:ext cx="4110641" cy="46166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latin typeface="Gill Sans MT" panose="020B0502020104020203" pitchFamily="34" charset="0"/>
                <a:cs typeface="Calibri"/>
              </a:rPr>
              <a:t>4/6: Prototyping</a:t>
            </a:r>
            <a:endParaRPr lang="en-US" sz="2400" b="1">
              <a:latin typeface="Times New Roman"/>
              <a:cs typeface="Times New Roman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34EBE64F-5C59-4439-9DB9-9988E6928034}"/>
              </a:ext>
            </a:extLst>
          </p:cNvPr>
          <p:cNvSpPr/>
          <p:nvPr/>
        </p:nvSpPr>
        <p:spPr>
          <a:xfrm>
            <a:off x="1091477" y="2671207"/>
            <a:ext cx="714484" cy="33792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0491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758651-5473-6982-49F5-0244CD4324CF}"/>
              </a:ext>
            </a:extLst>
          </p:cNvPr>
          <p:cNvSpPr txBox="1"/>
          <p:nvPr/>
        </p:nvSpPr>
        <p:spPr>
          <a:xfrm>
            <a:off x="3044975" y="175531"/>
            <a:ext cx="715933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600" b="1" i="0" u="none" strike="noStrike" baseline="0">
                <a:solidFill>
                  <a:srgbClr val="000000"/>
                </a:solidFill>
                <a:latin typeface="Gill Sans MT" panose="020B0502020104020203" pitchFamily="34" charset="0"/>
                <a:ea typeface="Times New Roman"/>
                <a:cs typeface="Times New Roman"/>
              </a:rPr>
              <a:t>Research Methodology </a:t>
            </a:r>
            <a:r>
              <a:rPr lang="en-US" sz="3600" b="1" i="0" u="none" strike="noStrike" baseline="0" err="1">
                <a:solidFill>
                  <a:srgbClr val="000000"/>
                </a:solidFill>
                <a:latin typeface="Gill Sans MT" panose="020B0502020104020203" pitchFamily="34" charset="0"/>
                <a:ea typeface="Times New Roman"/>
                <a:cs typeface="Times New Roman"/>
              </a:rPr>
              <a:t>cont</a:t>
            </a:r>
            <a:r>
              <a:rPr lang="en-US" sz="3600" b="1" i="0" u="none" strike="noStrike" baseline="0">
                <a:solidFill>
                  <a:srgbClr val="000000"/>
                </a:solidFill>
                <a:latin typeface="Gill Sans MT" panose="020B0502020104020203" pitchFamily="34" charset="0"/>
                <a:ea typeface="Times New Roman"/>
                <a:cs typeface="Times New Roman"/>
              </a:rPr>
              <a:t>…</a:t>
            </a:r>
            <a:endParaRPr lang="en-US">
              <a:latin typeface="Gill Sans MT" panose="020B05020201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026B4B-3A50-4F3F-BA2A-DF3925AF2E34}"/>
              </a:ext>
            </a:extLst>
          </p:cNvPr>
          <p:cNvSpPr txBox="1"/>
          <p:nvPr/>
        </p:nvSpPr>
        <p:spPr>
          <a:xfrm rot="16200000">
            <a:off x="-1205701" y="2858430"/>
            <a:ext cx="4110641" cy="46166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latin typeface="Gill Sans MT" panose="020B0502020104020203" pitchFamily="34" charset="0"/>
                <a:cs typeface="Calibri"/>
              </a:rPr>
              <a:t>5/6: Evaluation</a:t>
            </a:r>
            <a:endParaRPr lang="en-US" sz="2400" b="1">
              <a:latin typeface="Times New Roman"/>
              <a:cs typeface="Times New Roman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34EBE64F-5C59-4439-9DB9-9988E6928034}"/>
              </a:ext>
            </a:extLst>
          </p:cNvPr>
          <p:cNvSpPr/>
          <p:nvPr/>
        </p:nvSpPr>
        <p:spPr>
          <a:xfrm>
            <a:off x="1091477" y="2569220"/>
            <a:ext cx="941604" cy="33792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B65C0AB0-36B6-415B-AABE-D2D92BE6012C}"/>
              </a:ext>
            </a:extLst>
          </p:cNvPr>
          <p:cNvSpPr/>
          <p:nvPr/>
        </p:nvSpPr>
        <p:spPr>
          <a:xfrm>
            <a:off x="2044107" y="1257990"/>
            <a:ext cx="4504178" cy="3592947"/>
          </a:xfrm>
          <a:prstGeom prst="foldedCorner">
            <a:avLst/>
          </a:prstGeom>
          <a:ln w="19050">
            <a:solidFill>
              <a:srgbClr val="1D834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50000"/>
              </a:lnSpc>
            </a:pPr>
            <a:endParaRPr lang="en-US" b="1">
              <a:latin typeface="Times New Roman"/>
              <a:cs typeface="Times New Roman"/>
            </a:endParaRPr>
          </a:p>
          <a:p>
            <a:pPr algn="ctr">
              <a:lnSpc>
                <a:spcPct val="150000"/>
              </a:lnSpc>
            </a:pPr>
            <a:endParaRPr lang="en-US" sz="1400">
              <a:latin typeface="Times New Roman"/>
              <a:cs typeface="Times New Roman"/>
            </a:endParaRPr>
          </a:p>
          <a:p>
            <a:pPr algn="ctr">
              <a:lnSpc>
                <a:spcPct val="150000"/>
              </a:lnSpc>
            </a:pPr>
            <a:r>
              <a:rPr lang="en-US" sz="1400" b="1">
                <a:latin typeface="Gill Sans MT" panose="020B0502020104020203" pitchFamily="34" charset="0"/>
                <a:ea typeface="+mn-lt"/>
                <a:cs typeface="+mn-lt"/>
              </a:rPr>
              <a:t>Data analysis</a:t>
            </a: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1400">
                <a:latin typeface="Gill Sans MT" panose="020B0502020104020203" pitchFamily="34" charset="0"/>
                <a:ea typeface="+mn-lt"/>
                <a:cs typeface="+mn-lt"/>
              </a:rPr>
              <a:t> Processing and visualizing real-time sensor data on soil moisture to generate actionable recommendations for optimizing irrigation. </a:t>
            </a:r>
          </a:p>
          <a:p>
            <a:pPr algn="just">
              <a:lnSpc>
                <a:spcPct val="150000"/>
              </a:lnSpc>
            </a:pPr>
            <a:endParaRPr lang="en-US" sz="1400">
              <a:latin typeface="Gill Sans MT" panose="020B0502020104020203" pitchFamily="34" charset="0"/>
              <a:ea typeface="+mn-lt"/>
              <a:cs typeface="+mn-lt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1400">
                <a:latin typeface="Gill Sans MT" panose="020B0502020104020203" pitchFamily="34" charset="0"/>
                <a:ea typeface="+mn-lt"/>
                <a:cs typeface="+mn-lt"/>
              </a:rPr>
              <a:t> Visualization: Create charts and graphs to visualize soil conditions, trends, </a:t>
            </a:r>
            <a:r>
              <a:rPr lang="en-GB" sz="1400">
                <a:latin typeface="Gill Sans MT" panose="020B0502020104020203" pitchFamily="34" charset="0"/>
                <a:ea typeface="+mn-lt"/>
                <a:cs typeface="+mn-lt"/>
              </a:rPr>
              <a:t>irrigation patterns, and trend analysis to validate the system's effectiveness and accuracy</a:t>
            </a:r>
            <a:r>
              <a:rPr lang="en-US" sz="1400">
                <a:latin typeface="Gill Sans MT" panose="020B0502020104020203" pitchFamily="34" charset="0"/>
                <a:ea typeface="+mn-lt"/>
                <a:cs typeface="+mn-lt"/>
              </a:rPr>
              <a:t>.</a:t>
            </a:r>
            <a:endParaRPr lang="en-US" sz="1400">
              <a:latin typeface="Gill Sans MT" panose="020B0502020104020203" pitchFamily="34" charset="0"/>
              <a:ea typeface="Calibri" panose="020F0502020204030204"/>
              <a:cs typeface="Calibri" panose="020F0502020204030204"/>
            </a:endParaRPr>
          </a:p>
          <a:p>
            <a:pPr algn="just">
              <a:lnSpc>
                <a:spcPct val="107000"/>
              </a:lnSpc>
            </a:pPr>
            <a:endParaRPr lang="en-US" sz="1400">
              <a:solidFill>
                <a:schemeClr val="tx2"/>
              </a:solidFill>
              <a:latin typeface="Gill Sans MT" panose="020B0502020104020203" pitchFamily="34" charset="0"/>
              <a:cs typeface="Calibri" panose="020F0502020204030204"/>
            </a:endParaRPr>
          </a:p>
          <a:p>
            <a:pPr algn="ctr"/>
            <a:endParaRPr lang="en-ZA">
              <a:cs typeface="Calibri" panose="020F0502020204030204"/>
            </a:endParaRPr>
          </a:p>
        </p:txBody>
      </p:sp>
      <p:sp>
        <p:nvSpPr>
          <p:cNvPr id="10" name="Rectangle: Folded Corner 9">
            <a:extLst>
              <a:ext uri="{FF2B5EF4-FFF2-40B4-BE49-F238E27FC236}">
                <a16:creationId xmlns:a16="http://schemas.microsoft.com/office/drawing/2014/main" id="{CF304EBD-44B0-4A00-997F-EA3F546099E5}"/>
              </a:ext>
            </a:extLst>
          </p:cNvPr>
          <p:cNvSpPr/>
          <p:nvPr/>
        </p:nvSpPr>
        <p:spPr>
          <a:xfrm>
            <a:off x="7180782" y="1184876"/>
            <a:ext cx="4706418" cy="3808772"/>
          </a:xfrm>
          <a:prstGeom prst="foldedCorner">
            <a:avLst/>
          </a:prstGeom>
          <a:ln w="19050">
            <a:solidFill>
              <a:srgbClr val="1D834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50000"/>
              </a:lnSpc>
            </a:pPr>
            <a:endParaRPr lang="en-US" b="1">
              <a:latin typeface="Times New Roman"/>
              <a:cs typeface="Times New Roman"/>
            </a:endParaRPr>
          </a:p>
          <a:p>
            <a:pPr algn="ctr">
              <a:lnSpc>
                <a:spcPct val="150000"/>
              </a:lnSpc>
            </a:pPr>
            <a:endParaRPr lang="en-US" b="1">
              <a:latin typeface="Times New Roman"/>
              <a:cs typeface="Times New Roman"/>
            </a:endParaRPr>
          </a:p>
          <a:p>
            <a:pPr algn="ctr">
              <a:lnSpc>
                <a:spcPct val="150000"/>
              </a:lnSpc>
            </a:pPr>
            <a:r>
              <a:rPr lang="en-US" sz="1400" b="1">
                <a:latin typeface="Gill Sans MT" panose="020B0502020104020203" pitchFamily="34" charset="0"/>
                <a:cs typeface="Times New Roman"/>
              </a:rPr>
              <a:t>Evaluation: Benchmarking</a:t>
            </a:r>
          </a:p>
          <a:p>
            <a:pPr algn="just">
              <a:lnSpc>
                <a:spcPct val="150000"/>
              </a:lnSpc>
            </a:pPr>
            <a:r>
              <a:rPr lang="en-US" sz="1400">
                <a:latin typeface="Gill Sans MT" panose="020B0502020104020203" pitchFamily="34" charset="0"/>
                <a:ea typeface="+mn-lt"/>
                <a:cs typeface="+mn-lt"/>
              </a:rPr>
              <a:t> </a:t>
            </a:r>
            <a:r>
              <a:rPr lang="en-ZA" sz="1400">
                <a:solidFill>
                  <a:schemeClr val="tx1"/>
                </a:solidFill>
                <a:latin typeface="Gill Sans MT" panose="020B0502020104020203" pitchFamily="34" charset="0"/>
                <a:cs typeface="Times New Roman"/>
              </a:rPr>
              <a:t>Underscores the significant value the proposed system can provide, particularly for small-scale farmers, due to its combination of advanced technology and cost-effectiveness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>
                <a:latin typeface="Gill Sans MT" panose="020B0502020104020203" pitchFamily="34" charset="0"/>
                <a:ea typeface="+mn-lt"/>
                <a:cs typeface="+mn-lt"/>
              </a:rPr>
              <a:t>Cost-effectiveness</a:t>
            </a:r>
            <a:r>
              <a:rPr lang="en-US" sz="1400">
                <a:latin typeface="Gill Sans MT" panose="020B0502020104020203" pitchFamily="34" charset="0"/>
                <a:ea typeface="+mn-lt"/>
                <a:cs typeface="+mn-lt"/>
              </a:rPr>
              <a:t> by analyzing the system's implementation costs against financial benefits.</a:t>
            </a: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1400" b="1">
                <a:latin typeface="Gill Sans MT" panose="020B0502020104020203" pitchFamily="34" charset="0"/>
                <a:ea typeface="+mn-lt"/>
                <a:cs typeface="+mn-lt"/>
              </a:rPr>
              <a:t>Usability</a:t>
            </a:r>
            <a:r>
              <a:rPr lang="en-US" sz="1400">
                <a:latin typeface="Gill Sans MT" panose="020B0502020104020203" pitchFamily="34" charset="0"/>
                <a:ea typeface="+mn-lt"/>
                <a:cs typeface="+mn-lt"/>
              </a:rPr>
              <a:t> will be assessed through farmer feedback on usability and effectiveness.</a:t>
            </a:r>
            <a:endParaRPr lang="en-US" sz="1400">
              <a:latin typeface="Gill Sans MT" panose="020B0502020104020203" pitchFamily="34" charset="0"/>
              <a:ea typeface="Calibri" panose="020F0502020204030204"/>
              <a:cs typeface="Calibri" panose="020F0502020204030204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1400" b="1">
                <a:latin typeface="Gill Sans MT" panose="020B0502020104020203" pitchFamily="34" charset="0"/>
                <a:ea typeface="+mn-lt"/>
                <a:cs typeface="+mn-lt"/>
              </a:rPr>
              <a:t>Informative</a:t>
            </a:r>
            <a:r>
              <a:rPr lang="en-US" sz="1400">
                <a:latin typeface="Gill Sans MT" panose="020B0502020104020203" pitchFamily="34" charset="0"/>
                <a:ea typeface="+mn-lt"/>
                <a:cs typeface="+mn-lt"/>
              </a:rPr>
              <a:t> will be evaluated by tracking increases in productivity resulting from optimized irrigation</a:t>
            </a:r>
            <a:r>
              <a:rPr lang="en-US" sz="1200">
                <a:latin typeface="Times New Roman"/>
                <a:ea typeface="+mn-lt"/>
                <a:cs typeface="+mn-lt"/>
              </a:rPr>
              <a:t>.</a:t>
            </a:r>
            <a:endParaRPr lang="en-US" sz="1200">
              <a:latin typeface="Times New Roman"/>
              <a:ea typeface="Calibri"/>
              <a:cs typeface="Calibri"/>
            </a:endParaRPr>
          </a:p>
          <a:p>
            <a:pPr algn="just"/>
            <a:endParaRPr lang="en-US" b="1">
              <a:latin typeface="Times New Roman"/>
              <a:cs typeface="Times New Roman"/>
            </a:endParaRPr>
          </a:p>
          <a:p>
            <a:pPr algn="ctr"/>
            <a:endParaRPr lang="en-ZA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9C52842-A8DD-46AD-BC46-E48CB1F8E27F}"/>
              </a:ext>
            </a:extLst>
          </p:cNvPr>
          <p:cNvSpPr/>
          <p:nvPr/>
        </p:nvSpPr>
        <p:spPr>
          <a:xfrm>
            <a:off x="6548285" y="2716542"/>
            <a:ext cx="632497" cy="33792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0740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758651-5473-6982-49F5-0244CD4324CF}"/>
              </a:ext>
            </a:extLst>
          </p:cNvPr>
          <p:cNvSpPr txBox="1"/>
          <p:nvPr/>
        </p:nvSpPr>
        <p:spPr>
          <a:xfrm>
            <a:off x="3044975" y="175531"/>
            <a:ext cx="715933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600" b="1" i="0" u="none" strike="noStrike" baseline="0">
                <a:solidFill>
                  <a:srgbClr val="000000"/>
                </a:solidFill>
                <a:latin typeface="Gill Sans MT" panose="020B0502020104020203" pitchFamily="34" charset="0"/>
                <a:ea typeface="Times New Roman"/>
                <a:cs typeface="Times New Roman"/>
              </a:rPr>
              <a:t>Research Methodology </a:t>
            </a:r>
            <a:r>
              <a:rPr lang="en-US" sz="3600" b="1" i="0" u="none" strike="noStrike" baseline="0" err="1">
                <a:solidFill>
                  <a:srgbClr val="000000"/>
                </a:solidFill>
                <a:latin typeface="Gill Sans MT" panose="020B0502020104020203" pitchFamily="34" charset="0"/>
                <a:ea typeface="Times New Roman"/>
                <a:cs typeface="Times New Roman"/>
              </a:rPr>
              <a:t>cont</a:t>
            </a:r>
            <a:r>
              <a:rPr lang="en-US" sz="3600" b="1" i="0" u="none" strike="noStrike" baseline="0">
                <a:solidFill>
                  <a:srgbClr val="000000"/>
                </a:solidFill>
                <a:latin typeface="Gill Sans MT" panose="020B0502020104020203" pitchFamily="34" charset="0"/>
                <a:ea typeface="Times New Roman"/>
                <a:cs typeface="Times New Roman"/>
              </a:rPr>
              <a:t>…</a:t>
            </a:r>
            <a:endParaRPr lang="en-US">
              <a:latin typeface="Gill Sans MT" panose="020B05020201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026B4B-3A50-4F3F-BA2A-DF3925AF2E34}"/>
              </a:ext>
            </a:extLst>
          </p:cNvPr>
          <p:cNvSpPr txBox="1"/>
          <p:nvPr/>
        </p:nvSpPr>
        <p:spPr>
          <a:xfrm rot="16200000">
            <a:off x="758822" y="3043256"/>
            <a:ext cx="4110641" cy="46166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latin typeface="Gill Sans MT" panose="020B0502020104020203" pitchFamily="34" charset="0"/>
                <a:cs typeface="Calibri"/>
              </a:rPr>
              <a:t>6/6: Statement of Learning</a:t>
            </a:r>
            <a:endParaRPr lang="en-US" sz="2400" b="1">
              <a:latin typeface="Times New Roman"/>
              <a:cs typeface="Times New Roman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34EBE64F-5C59-4439-9DB9-9988E6928034}"/>
              </a:ext>
            </a:extLst>
          </p:cNvPr>
          <p:cNvSpPr/>
          <p:nvPr/>
        </p:nvSpPr>
        <p:spPr>
          <a:xfrm>
            <a:off x="3033625" y="2948924"/>
            <a:ext cx="941604" cy="28067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B65C0AB0-36B6-415B-AABE-D2D92BE6012C}"/>
              </a:ext>
            </a:extLst>
          </p:cNvPr>
          <p:cNvSpPr/>
          <p:nvPr/>
        </p:nvSpPr>
        <p:spPr>
          <a:xfrm>
            <a:off x="3975229" y="1632526"/>
            <a:ext cx="4896363" cy="3592947"/>
          </a:xfrm>
          <a:prstGeom prst="foldedCorner">
            <a:avLst/>
          </a:prstGeom>
          <a:ln w="19050">
            <a:solidFill>
              <a:srgbClr val="1D834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50000"/>
              </a:lnSpc>
            </a:pPr>
            <a:endParaRPr lang="en-US" b="1">
              <a:latin typeface="Times New Roman"/>
              <a:cs typeface="Times New Roman"/>
            </a:endParaRPr>
          </a:p>
          <a:p>
            <a:pPr algn="ctr">
              <a:lnSpc>
                <a:spcPct val="150000"/>
              </a:lnSpc>
            </a:pPr>
            <a:endParaRPr lang="en-US" sz="1400">
              <a:latin typeface="Times New Roman"/>
              <a:cs typeface="Times New Roman"/>
            </a:endParaRPr>
          </a:p>
          <a:p>
            <a:pPr algn="ctr">
              <a:lnSpc>
                <a:spcPct val="150000"/>
              </a:lnSpc>
            </a:pPr>
            <a:r>
              <a:rPr lang="en-US" sz="1400" b="1">
                <a:latin typeface="Gill Sans MT" panose="020B0502020104020203" pitchFamily="34" charset="0"/>
                <a:ea typeface="+mn-lt"/>
                <a:cs typeface="+mn-lt"/>
              </a:rPr>
              <a:t>Statement of Learning</a:t>
            </a:r>
          </a:p>
          <a:p>
            <a:pPr algn="ctr">
              <a:lnSpc>
                <a:spcPct val="150000"/>
              </a:lnSpc>
            </a:pPr>
            <a:endParaRPr lang="en-US" sz="1400" b="1">
              <a:latin typeface="Gill Sans MT" panose="020B0502020104020203" pitchFamily="34" charset="0"/>
              <a:ea typeface="+mn-lt"/>
              <a:cs typeface="+mn-lt"/>
            </a:endParaRPr>
          </a:p>
          <a:p>
            <a:pPr algn="ctr">
              <a:lnSpc>
                <a:spcPct val="150000"/>
              </a:lnSpc>
            </a:pPr>
            <a:r>
              <a:rPr lang="en-US" sz="1400">
                <a:latin typeface="Gill Sans MT" panose="020B0502020104020203" pitchFamily="34" charset="0"/>
                <a:ea typeface="+mn-lt"/>
                <a:cs typeface="+mn-lt"/>
              </a:rPr>
              <a:t>Dashboard: Soil moisture</a:t>
            </a:r>
          </a:p>
          <a:p>
            <a:pPr algn="ctr">
              <a:lnSpc>
                <a:spcPct val="150000"/>
              </a:lnSpc>
            </a:pPr>
            <a:r>
              <a:rPr lang="en-US" sz="1400">
                <a:latin typeface="Gill Sans MT" panose="020B0502020104020203" pitchFamily="34" charset="0"/>
                <a:ea typeface="+mn-lt"/>
                <a:cs typeface="+mn-lt"/>
              </a:rPr>
              <a:t>Chatbot: Informative interaction</a:t>
            </a:r>
          </a:p>
          <a:p>
            <a:pPr algn="ctr">
              <a:lnSpc>
                <a:spcPct val="150000"/>
              </a:lnSpc>
            </a:pPr>
            <a:r>
              <a:rPr lang="en-US" sz="1400">
                <a:latin typeface="Gill Sans MT" panose="020B0502020104020203" pitchFamily="34" charset="0"/>
                <a:ea typeface="+mn-lt"/>
                <a:cs typeface="+mn-lt"/>
              </a:rPr>
              <a:t>Graphs ( Dashboard ): Cost effectiveness</a:t>
            </a:r>
          </a:p>
          <a:p>
            <a:pPr lvl="3">
              <a:lnSpc>
                <a:spcPct val="150000"/>
              </a:lnSpc>
            </a:pPr>
            <a:endParaRPr lang="en-US" sz="1400">
              <a:latin typeface="Gill Sans MT" panose="020B0502020104020203" pitchFamily="34" charset="0"/>
              <a:ea typeface="+mn-lt"/>
              <a:cs typeface="+mn-lt"/>
            </a:endParaRPr>
          </a:p>
          <a:p>
            <a:pPr algn="just">
              <a:lnSpc>
                <a:spcPct val="150000"/>
              </a:lnSpc>
            </a:pPr>
            <a:endParaRPr lang="en-US" sz="1400">
              <a:solidFill>
                <a:schemeClr val="tx2"/>
              </a:solidFill>
              <a:latin typeface="Gill Sans MT" panose="020B0502020104020203" pitchFamily="34" charset="0"/>
              <a:cs typeface="Calibri" panose="020F0502020204030204"/>
            </a:endParaRPr>
          </a:p>
          <a:p>
            <a:pPr algn="ctr"/>
            <a:endParaRPr lang="en-ZA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101263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3952" y="2330934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b="1">
                <a:solidFill>
                  <a:srgbClr val="FF0000"/>
                </a:solidFill>
                <a:latin typeface="Century Gothic" panose="020B0502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SIYABONGA</a:t>
            </a:r>
            <a:endParaRPr lang="en-US" sz="2400" b="1">
              <a:solidFill>
                <a:srgbClr val="FF0000"/>
              </a:solidFill>
              <a:latin typeface="Century Gothic" panose="020B0502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D0C4004-02CB-44E0-8B6D-89CBC7220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784" y="4653137"/>
            <a:ext cx="39234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ne-NP" altLang="en-US" sz="300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0"/>
                <a:cs typeface="Mangal" panose="02040503050203030202" pitchFamily="18" charset="0"/>
              </a:rPr>
              <a:t>धन्यवाद</a:t>
            </a:r>
            <a:r>
              <a:rPr lang="en-US" altLang="en-US" sz="300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0"/>
                <a:cs typeface="Mangal" panose="02040503050203030202" pitchFamily="18" charset="0"/>
              </a:rPr>
              <a:t> </a:t>
            </a:r>
            <a:r>
              <a:rPr lang="en-US" altLang="en-US" sz="3000" b="1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Dhan'yavāda</a:t>
            </a:r>
            <a:endParaRPr lang="en-US" altLang="en-US" sz="3000" b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64BDA6-802B-48F6-9A09-C21902EAB339}"/>
              </a:ext>
            </a:extLst>
          </p:cNvPr>
          <p:cNvSpPr txBox="1"/>
          <p:nvPr/>
        </p:nvSpPr>
        <p:spPr>
          <a:xfrm>
            <a:off x="1887379" y="2330933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>
                <a:latin typeface="Century Gothic" panose="020B0502020202020204" pitchFamily="34" charset="0"/>
              </a:rPr>
              <a:t>Enkosi</a:t>
            </a:r>
            <a:r>
              <a:rPr lang="en-US"/>
              <a:t> </a:t>
            </a:r>
            <a:endParaRPr lang="en-Z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D28CDF-116E-42CF-9787-EDA9120D0A1B}"/>
              </a:ext>
            </a:extLst>
          </p:cNvPr>
          <p:cNvSpPr txBox="1"/>
          <p:nvPr/>
        </p:nvSpPr>
        <p:spPr>
          <a:xfrm>
            <a:off x="9271124" y="2336403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Century Gothic" panose="020B0502020202020204" pitchFamily="34" charset="0"/>
              </a:rPr>
              <a:t>Re a </a:t>
            </a:r>
            <a:r>
              <a:rPr lang="en-US" b="1" err="1">
                <a:latin typeface="Century Gothic" panose="020B0502020202020204" pitchFamily="34" charset="0"/>
              </a:rPr>
              <a:t>leboga</a:t>
            </a:r>
            <a:endParaRPr lang="en-ZA" b="1">
              <a:latin typeface="Century Gothic" panose="020B0502020202020204" pitchFamily="34" charset="0"/>
            </a:endParaRPr>
          </a:p>
        </p:txBody>
      </p:sp>
      <p:sp>
        <p:nvSpPr>
          <p:cNvPr id="8" name="Smiley Face 7">
            <a:extLst>
              <a:ext uri="{FF2B5EF4-FFF2-40B4-BE49-F238E27FC236}">
                <a16:creationId xmlns:a16="http://schemas.microsoft.com/office/drawing/2014/main" id="{06C56A3C-4B49-4408-80BF-44A914E7E9C8}"/>
              </a:ext>
            </a:extLst>
          </p:cNvPr>
          <p:cNvSpPr/>
          <p:nvPr/>
        </p:nvSpPr>
        <p:spPr>
          <a:xfrm>
            <a:off x="11614306" y="496996"/>
            <a:ext cx="288032" cy="288032"/>
          </a:xfrm>
          <a:prstGeom prst="smileyFac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815055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TSTRAT.COIL.IVE[1]  -  Read-Only" id="{C61116A5-D82C-2944-A9DA-AA4270123655}" vid="{1FBAA33A-19AB-314A-B5F7-94D4A3117A9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1022fbb-bd9b-4b53-9ba9-87771e2779bc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60575F82591E48A5E87B23493954F8" ma:contentTypeVersion="19" ma:contentTypeDescription="Create a new document." ma:contentTypeScope="" ma:versionID="9b4b961a92d1f134c204368c06a32938">
  <xsd:schema xmlns:xsd="http://www.w3.org/2001/XMLSchema" xmlns:xs="http://www.w3.org/2001/XMLSchema" xmlns:p="http://schemas.microsoft.com/office/2006/metadata/properties" xmlns:ns1="http://schemas.microsoft.com/sharepoint/v3" xmlns:ns3="31022fbb-bd9b-4b53-9ba9-87771e2779bc" xmlns:ns4="a5523cc0-fe64-4937-84d8-551d34e09695" targetNamespace="http://schemas.microsoft.com/office/2006/metadata/properties" ma:root="true" ma:fieldsID="a594b257e8d9f26503a34008aed9bbd8" ns1:_="" ns3:_="" ns4:_="">
    <xsd:import namespace="http://schemas.microsoft.com/sharepoint/v3"/>
    <xsd:import namespace="31022fbb-bd9b-4b53-9ba9-87771e2779bc"/>
    <xsd:import namespace="a5523cc0-fe64-4937-84d8-551d34e09695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SystemTags" minOccurs="0"/>
                <xsd:element ref="ns3:MediaServiceSearchProperties" minOccurs="0"/>
                <xsd:element ref="ns3:MediaLengthInSeconds" minOccurs="0"/>
                <xsd:element ref="ns3:MediaServiceBillingMetadata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022fbb-bd9b-4b53-9ba9-87771e2779bc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523cc0-fe64-4937-84d8-551d34e09695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AAFF35-05EB-42CB-82F9-397687C580BA}">
  <ds:schemaRefs>
    <ds:schemaRef ds:uri="31022fbb-bd9b-4b53-9ba9-87771e2779bc"/>
    <ds:schemaRef ds:uri="http://purl.org/dc/elements/1.1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  <ds:schemaRef ds:uri="http://schemas.microsoft.com/sharepoint/v3"/>
    <ds:schemaRef ds:uri="http://schemas.microsoft.com/office/infopath/2007/PartnerControls"/>
    <ds:schemaRef ds:uri="a5523cc0-fe64-4937-84d8-551d34e09695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6CEE128-6466-4FE5-BE52-09497199A18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3672CF4-51A1-4482-909D-A8DA7E1DCD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1022fbb-bd9b-4b53-9ba9-87771e2779bc"/>
    <ds:schemaRef ds:uri="a5523cc0-fe64-4937-84d8-551d34e096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</TotalTime>
  <Words>583</Words>
  <Application>Microsoft Office PowerPoint</Application>
  <PresentationFormat>Widescreen</PresentationFormat>
  <Paragraphs>90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Arial</vt:lpstr>
      <vt:lpstr>Calibri</vt:lpstr>
      <vt:lpstr>Calibri Light</vt:lpstr>
      <vt:lpstr>Century Gothic</vt:lpstr>
      <vt:lpstr>Gill Sans MT</vt:lpstr>
      <vt:lpstr>Mangal</vt:lpstr>
      <vt:lpstr>Open Sans</vt:lpstr>
      <vt:lpstr>Segoe UI</vt:lpstr>
      <vt:lpstr>Times New Roman</vt:lpstr>
      <vt:lpstr>Office Theme</vt:lpstr>
      <vt:lpstr>1_Office Theme</vt:lpstr>
      <vt:lpstr>PowerPoint Presentation</vt:lpstr>
      <vt:lpstr>Research Methodology</vt:lpstr>
      <vt:lpstr>Design Science Research Methodology (DSRM)</vt:lpstr>
      <vt:lpstr>Examples of research methods</vt:lpstr>
      <vt:lpstr>Machine Learning</vt:lpstr>
      <vt:lpstr>NLP</vt:lpstr>
      <vt:lpstr>Recommender Systems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 African government departments</dc:title>
  <dc:creator>Lindelwe Manqele</dc:creator>
  <cp:lastModifiedBy>Lindelweyizizwe  Manqele</cp:lastModifiedBy>
  <cp:revision>75</cp:revision>
  <dcterms:created xsi:type="dcterms:W3CDTF">2022-01-11T12:25:29Z</dcterms:created>
  <dcterms:modified xsi:type="dcterms:W3CDTF">2026-04-22T17:11:13Z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0x010100BC60575F82591E48A5E87B23493954F8</vt:lpwstr>
  </property>
</Properties>
</file>