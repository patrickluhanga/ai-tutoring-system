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24"/>
  </p:notesMasterIdLst>
  <p:handoutMasterIdLst>
    <p:handoutMasterId r:id="rId25"/>
  </p:handoutMasterIdLst>
  <p:sldIdLst>
    <p:sldId id="324" r:id="rId2"/>
    <p:sldId id="325" r:id="rId3"/>
    <p:sldId id="329" r:id="rId4"/>
    <p:sldId id="330" r:id="rId5"/>
    <p:sldId id="326" r:id="rId6"/>
    <p:sldId id="327" r:id="rId7"/>
    <p:sldId id="328" r:id="rId8"/>
    <p:sldId id="331" r:id="rId9"/>
    <p:sldId id="332" r:id="rId10"/>
    <p:sldId id="333" r:id="rId11"/>
    <p:sldId id="334" r:id="rId12"/>
    <p:sldId id="335" r:id="rId13"/>
    <p:sldId id="336" r:id="rId14"/>
    <p:sldId id="337" r:id="rId15"/>
    <p:sldId id="338" r:id="rId16"/>
    <p:sldId id="339" r:id="rId17"/>
    <p:sldId id="340" r:id="rId18"/>
    <p:sldId id="341" r:id="rId19"/>
    <p:sldId id="342" r:id="rId20"/>
    <p:sldId id="343" r:id="rId21"/>
    <p:sldId id="344" r:id="rId22"/>
    <p:sldId id="34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50" autoAdjust="0"/>
    <p:restoredTop sz="94660"/>
  </p:normalViewPr>
  <p:slideViewPr>
    <p:cSldViewPr snapToGrid="0">
      <p:cViewPr varScale="1">
        <p:scale>
          <a:sx n="89" d="100"/>
          <a:sy n="89" d="100"/>
        </p:scale>
        <p:origin x="75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r>
              <a:rPr lang="en-US"/>
              <a:t>2022</a:t>
            </a: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L Madamshetty Department of IS</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4F5C566-70C2-4B3D-AB81-0810F4D8A493}" type="slidenum">
              <a:rPr lang="en-US" smtClean="0"/>
              <a:t>‹#›</a:t>
            </a:fld>
            <a:endParaRPr lang="en-US"/>
          </a:p>
        </p:txBody>
      </p:sp>
    </p:spTree>
    <p:extLst>
      <p:ext uri="{BB962C8B-B14F-4D97-AF65-F5344CB8AC3E}">
        <p14:creationId xmlns:p14="http://schemas.microsoft.com/office/powerpoint/2010/main" val="2756894320"/>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r>
              <a:rPr lang="en-US"/>
              <a:t>2022</a:t>
            </a: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L Madamshetty Department of IS</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F0E21D-ACCC-4E9E-8D31-A3D4217FDBC9}" type="slidenum">
              <a:rPr lang="en-US" smtClean="0"/>
              <a:t>‹#›</a:t>
            </a:fld>
            <a:endParaRPr lang="en-US"/>
          </a:p>
        </p:txBody>
      </p:sp>
    </p:spTree>
    <p:extLst>
      <p:ext uri="{BB962C8B-B14F-4D97-AF65-F5344CB8AC3E}">
        <p14:creationId xmlns:p14="http://schemas.microsoft.com/office/powerpoint/2010/main" val="3356258268"/>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r>
              <a:rPr lang="en-US"/>
              <a:t>2022</a:t>
            </a:r>
          </a:p>
        </p:txBody>
      </p:sp>
      <p:sp>
        <p:nvSpPr>
          <p:cNvPr id="5" name="Footer Placeholder 4"/>
          <p:cNvSpPr>
            <a:spLocks noGrp="1"/>
          </p:cNvSpPr>
          <p:nvPr>
            <p:ph type="ftr" sz="quarter" idx="11"/>
          </p:nvPr>
        </p:nvSpPr>
        <p:spPr/>
        <p:txBody>
          <a:bodyPr/>
          <a:lstStyle/>
          <a:p>
            <a:r>
              <a:rPr lang="en-US" dirty="0"/>
              <a:t>Revised: L Madamshetty Department Of IS</a:t>
            </a:r>
          </a:p>
        </p:txBody>
      </p:sp>
      <p:sp>
        <p:nvSpPr>
          <p:cNvPr id="6" name="Slide Number Placeholder 5"/>
          <p:cNvSpPr>
            <a:spLocks noGrp="1"/>
          </p:cNvSpPr>
          <p:nvPr>
            <p:ph type="sldNum" sz="quarter" idx="12"/>
          </p:nvPr>
        </p:nvSpPr>
        <p:spPr/>
        <p:txBody>
          <a:bodyPr/>
          <a:lstStyle/>
          <a:p>
            <a:fld id="{4BC6B736-5C3F-44D2-98F1-D02D018BB5AF}" type="slidenum">
              <a:rPr lang="en-US" smtClean="0"/>
              <a:t>‹#›</a:t>
            </a:fld>
            <a:endParaRPr lang="en-US"/>
          </a:p>
        </p:txBody>
      </p:sp>
      <p:pic>
        <p:nvPicPr>
          <p:cNvPr id="7" name="Picture 6"/>
          <p:cNvPicPr>
            <a:picLocks noChangeAspect="1"/>
          </p:cNvPicPr>
          <p:nvPr userDrawn="1"/>
        </p:nvPicPr>
        <p:blipFill>
          <a:blip r:embed="rId2"/>
          <a:stretch>
            <a:fillRect/>
          </a:stretch>
        </p:blipFill>
        <p:spPr>
          <a:xfrm>
            <a:off x="0" y="23813"/>
            <a:ext cx="4035902" cy="1766350"/>
          </a:xfrm>
          <a:prstGeom prst="rect">
            <a:avLst/>
          </a:prstGeom>
        </p:spPr>
      </p:pic>
    </p:spTree>
    <p:extLst>
      <p:ext uri="{BB962C8B-B14F-4D97-AF65-F5344CB8AC3E}">
        <p14:creationId xmlns:p14="http://schemas.microsoft.com/office/powerpoint/2010/main" val="1634206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7966166" cy="1325563"/>
          </a:xfrm>
        </p:spPr>
        <p:txBody>
          <a:bodyPr/>
          <a:lstStyle/>
          <a:p>
            <a:r>
              <a:rPr lang="en-US"/>
              <a:t>Click to edit Master title style</a:t>
            </a:r>
          </a:p>
        </p:txBody>
      </p:sp>
      <p:sp>
        <p:nvSpPr>
          <p:cNvPr id="3" name="Content Placeholder 2"/>
          <p:cNvSpPr>
            <a:spLocks noGrp="1"/>
          </p:cNvSpPr>
          <p:nvPr>
            <p:ph idx="1"/>
          </p:nvPr>
        </p:nvSpPr>
        <p:spPr>
          <a:xfrm>
            <a:off x="838200" y="2011679"/>
            <a:ext cx="10515600" cy="4344671"/>
          </a:xfrm>
          <a:solidFill>
            <a:schemeClr val="bg1"/>
          </a:solidFill>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en-US"/>
              <a:t>2022</a:t>
            </a:r>
          </a:p>
        </p:txBody>
      </p:sp>
      <p:sp>
        <p:nvSpPr>
          <p:cNvPr id="5" name="Footer Placeholder 4"/>
          <p:cNvSpPr>
            <a:spLocks noGrp="1"/>
          </p:cNvSpPr>
          <p:nvPr>
            <p:ph type="ftr" sz="quarter" idx="11"/>
          </p:nvPr>
        </p:nvSpPr>
        <p:spPr/>
        <p:txBody>
          <a:bodyPr/>
          <a:lstStyle/>
          <a:p>
            <a:r>
              <a:rPr lang="en-US" dirty="0"/>
              <a:t>Revised: L Madamshetty Department</a:t>
            </a:r>
          </a:p>
        </p:txBody>
      </p:sp>
      <p:sp>
        <p:nvSpPr>
          <p:cNvPr id="6" name="Slide Number Placeholder 5"/>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3140657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r>
              <a:rPr lang="en-US"/>
              <a:t>2022</a:t>
            </a:r>
          </a:p>
        </p:txBody>
      </p:sp>
      <p:sp>
        <p:nvSpPr>
          <p:cNvPr id="5" name="Footer Placeholder 4"/>
          <p:cNvSpPr>
            <a:spLocks noGrp="1"/>
          </p:cNvSpPr>
          <p:nvPr>
            <p:ph type="ftr" sz="quarter" idx="11"/>
          </p:nvPr>
        </p:nvSpPr>
        <p:spPr/>
        <p:txBody>
          <a:bodyPr/>
          <a:lstStyle/>
          <a:p>
            <a:r>
              <a:rPr lang="en-US" dirty="0"/>
              <a:t>Revised: L Madamshetty Department Of IS</a:t>
            </a:r>
          </a:p>
        </p:txBody>
      </p:sp>
      <p:sp>
        <p:nvSpPr>
          <p:cNvPr id="6" name="Slide Number Placeholder 5"/>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4077741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2022</a:t>
            </a:r>
          </a:p>
        </p:txBody>
      </p:sp>
      <p:sp>
        <p:nvSpPr>
          <p:cNvPr id="6" name="Footer Placeholder 5"/>
          <p:cNvSpPr>
            <a:spLocks noGrp="1"/>
          </p:cNvSpPr>
          <p:nvPr>
            <p:ph type="ftr" sz="quarter" idx="11"/>
          </p:nvPr>
        </p:nvSpPr>
        <p:spPr/>
        <p:txBody>
          <a:bodyPr/>
          <a:lstStyle/>
          <a:p>
            <a:r>
              <a:rPr lang="en-US" dirty="0"/>
              <a:t>Revised: L Madamshetty Department Of IS</a:t>
            </a:r>
          </a:p>
        </p:txBody>
      </p:sp>
      <p:sp>
        <p:nvSpPr>
          <p:cNvPr id="7" name="Slide Number Placeholder 6"/>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10886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2022</a:t>
            </a:r>
          </a:p>
        </p:txBody>
      </p:sp>
      <p:sp>
        <p:nvSpPr>
          <p:cNvPr id="8" name="Footer Placeholder 7"/>
          <p:cNvSpPr>
            <a:spLocks noGrp="1"/>
          </p:cNvSpPr>
          <p:nvPr>
            <p:ph type="ftr" sz="quarter" idx="11"/>
          </p:nvPr>
        </p:nvSpPr>
        <p:spPr/>
        <p:txBody>
          <a:bodyPr/>
          <a:lstStyle/>
          <a:p>
            <a:r>
              <a:rPr lang="en-US" dirty="0"/>
              <a:t>Revised: L Madamshetty Department Of IS</a:t>
            </a:r>
          </a:p>
        </p:txBody>
      </p:sp>
      <p:sp>
        <p:nvSpPr>
          <p:cNvPr id="9" name="Slide Number Placeholder 8"/>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3663167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2022</a:t>
            </a:r>
          </a:p>
        </p:txBody>
      </p:sp>
      <p:sp>
        <p:nvSpPr>
          <p:cNvPr id="4" name="Footer Placeholder 3"/>
          <p:cNvSpPr>
            <a:spLocks noGrp="1"/>
          </p:cNvSpPr>
          <p:nvPr>
            <p:ph type="ftr" sz="quarter" idx="11"/>
          </p:nvPr>
        </p:nvSpPr>
        <p:spPr/>
        <p:txBody>
          <a:bodyPr/>
          <a:lstStyle/>
          <a:p>
            <a:r>
              <a:rPr lang="en-US" dirty="0"/>
              <a:t>Revised: L Madamshetty Department Of IS</a:t>
            </a:r>
          </a:p>
        </p:txBody>
      </p:sp>
      <p:sp>
        <p:nvSpPr>
          <p:cNvPr id="5" name="Slide Number Placeholder 4"/>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72137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2022</a:t>
            </a:r>
          </a:p>
        </p:txBody>
      </p:sp>
      <p:sp>
        <p:nvSpPr>
          <p:cNvPr id="3" name="Footer Placeholder 2"/>
          <p:cNvSpPr>
            <a:spLocks noGrp="1"/>
          </p:cNvSpPr>
          <p:nvPr>
            <p:ph type="ftr" sz="quarter" idx="11"/>
          </p:nvPr>
        </p:nvSpPr>
        <p:spPr/>
        <p:txBody>
          <a:bodyPr/>
          <a:lstStyle/>
          <a:p>
            <a:r>
              <a:rPr lang="en-US" dirty="0"/>
              <a:t>Revised: L Madamshetty Department Of IS</a:t>
            </a:r>
          </a:p>
        </p:txBody>
      </p:sp>
      <p:sp>
        <p:nvSpPr>
          <p:cNvPr id="4" name="Slide Number Placeholder 3"/>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2333788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rPr lang="en-US"/>
              <a:t>2022</a:t>
            </a:r>
          </a:p>
        </p:txBody>
      </p:sp>
      <p:sp>
        <p:nvSpPr>
          <p:cNvPr id="6" name="Footer Placeholder 5"/>
          <p:cNvSpPr>
            <a:spLocks noGrp="1"/>
          </p:cNvSpPr>
          <p:nvPr>
            <p:ph type="ftr" sz="quarter" idx="11"/>
          </p:nvPr>
        </p:nvSpPr>
        <p:spPr/>
        <p:txBody>
          <a:bodyPr/>
          <a:lstStyle/>
          <a:p>
            <a:r>
              <a:rPr lang="en-US" dirty="0"/>
              <a:t>Revised: L Madamshetty Department Of IS</a:t>
            </a:r>
          </a:p>
        </p:txBody>
      </p:sp>
      <p:sp>
        <p:nvSpPr>
          <p:cNvPr id="7" name="Slide Number Placeholder 6"/>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2171753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rPr lang="en-US"/>
              <a:t>2022</a:t>
            </a:r>
          </a:p>
        </p:txBody>
      </p:sp>
      <p:sp>
        <p:nvSpPr>
          <p:cNvPr id="6" name="Footer Placeholder 5"/>
          <p:cNvSpPr>
            <a:spLocks noGrp="1"/>
          </p:cNvSpPr>
          <p:nvPr>
            <p:ph type="ftr" sz="quarter" idx="11"/>
          </p:nvPr>
        </p:nvSpPr>
        <p:spPr/>
        <p:txBody>
          <a:bodyPr/>
          <a:lstStyle/>
          <a:p>
            <a:r>
              <a:rPr lang="en-US" dirty="0"/>
              <a:t>Revised: L Madamshetty Department Of IS</a:t>
            </a:r>
          </a:p>
        </p:txBody>
      </p:sp>
      <p:sp>
        <p:nvSpPr>
          <p:cNvPr id="7" name="Slide Number Placeholder 6"/>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3926540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2022</a:t>
            </a:r>
          </a:p>
        </p:txBody>
      </p:sp>
      <p:sp>
        <p:nvSpPr>
          <p:cNvPr id="5" name="Footer Placeholder 4"/>
          <p:cNvSpPr>
            <a:spLocks noGrp="1"/>
          </p:cNvSpPr>
          <p:nvPr>
            <p:ph type="ftr" sz="quarter" idx="11"/>
          </p:nvPr>
        </p:nvSpPr>
        <p:spPr/>
        <p:txBody>
          <a:bodyPr/>
          <a:lstStyle/>
          <a:p>
            <a:r>
              <a:rPr lang="en-US" dirty="0"/>
              <a:t>Revised: L Madamshetty Department Of IS</a:t>
            </a:r>
          </a:p>
        </p:txBody>
      </p:sp>
      <p:sp>
        <p:nvSpPr>
          <p:cNvPr id="6" name="Slide Number Placeholder 5"/>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1862132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2022</a:t>
            </a:r>
          </a:p>
        </p:txBody>
      </p:sp>
      <p:sp>
        <p:nvSpPr>
          <p:cNvPr id="5" name="Footer Placeholder 4"/>
          <p:cNvSpPr>
            <a:spLocks noGrp="1"/>
          </p:cNvSpPr>
          <p:nvPr>
            <p:ph type="ftr" sz="quarter" idx="11"/>
          </p:nvPr>
        </p:nvSpPr>
        <p:spPr/>
        <p:txBody>
          <a:bodyPr/>
          <a:lstStyle/>
          <a:p>
            <a:r>
              <a:rPr lang="en-US" dirty="0"/>
              <a:t>Revised: L Madamshetty Department Of IS</a:t>
            </a:r>
          </a:p>
        </p:txBody>
      </p:sp>
      <p:sp>
        <p:nvSpPr>
          <p:cNvPr id="6" name="Slide Number Placeholder 5"/>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291599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2022</a:t>
            </a:r>
          </a:p>
        </p:txBody>
      </p:sp>
      <p:sp>
        <p:nvSpPr>
          <p:cNvPr id="4" name="Footer Placeholder 3"/>
          <p:cNvSpPr>
            <a:spLocks noGrp="1"/>
          </p:cNvSpPr>
          <p:nvPr>
            <p:ph type="ftr" sz="quarter" idx="11"/>
          </p:nvPr>
        </p:nvSpPr>
        <p:spPr/>
        <p:txBody>
          <a:bodyPr/>
          <a:lstStyle/>
          <a:p>
            <a:r>
              <a:rPr lang="en-US" dirty="0"/>
              <a:t>Revised: L Madamshetty Department Of IS</a:t>
            </a:r>
          </a:p>
        </p:txBody>
      </p:sp>
      <p:sp>
        <p:nvSpPr>
          <p:cNvPr id="5" name="Slide Number Placeholder 4"/>
          <p:cNvSpPr>
            <a:spLocks noGrp="1"/>
          </p:cNvSpPr>
          <p:nvPr>
            <p:ph type="sldNum" sz="quarter" idx="12"/>
          </p:nvPr>
        </p:nvSpPr>
        <p:spPr/>
        <p:txBody>
          <a:bodyPr/>
          <a:lstStyle/>
          <a:p>
            <a:fld id="{4BC6B736-5C3F-44D2-98F1-D02D018BB5AF}" type="slidenum">
              <a:rPr lang="en-US" smtClean="0"/>
              <a:t>‹#›</a:t>
            </a:fld>
            <a:endParaRPr lang="en-US"/>
          </a:p>
        </p:txBody>
      </p:sp>
    </p:spTree>
    <p:extLst>
      <p:ext uri="{BB962C8B-B14F-4D97-AF65-F5344CB8AC3E}">
        <p14:creationId xmlns:p14="http://schemas.microsoft.com/office/powerpoint/2010/main" val="802115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2022</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Revised: L Madamshetty Department Of IS</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C6B736-5C3F-44D2-98F1-D02D018BB5AF}" type="slidenum">
              <a:rPr lang="en-US" smtClean="0"/>
              <a:t>‹#›</a:t>
            </a:fld>
            <a:endParaRPr lang="en-US"/>
          </a:p>
        </p:txBody>
      </p:sp>
      <p:pic>
        <p:nvPicPr>
          <p:cNvPr id="9" name="Picture 8">
            <a:extLst>
              <a:ext uri="{FF2B5EF4-FFF2-40B4-BE49-F238E27FC236}">
                <a16:creationId xmlns:a16="http://schemas.microsoft.com/office/drawing/2014/main" xmlns="" id="{4E94DC4C-6396-AF6B-B950-F38428B30D65}"/>
              </a:ext>
            </a:extLst>
          </p:cNvPr>
          <p:cNvPicPr>
            <a:picLocks noChangeAspect="1"/>
          </p:cNvPicPr>
          <p:nvPr userDrawn="1"/>
        </p:nvPicPr>
        <p:blipFill>
          <a:blip r:embed="rId14"/>
          <a:stretch>
            <a:fillRect/>
          </a:stretch>
        </p:blipFill>
        <p:spPr>
          <a:xfrm>
            <a:off x="9344025" y="46038"/>
            <a:ext cx="2847975" cy="1600200"/>
          </a:xfrm>
          <a:prstGeom prst="rect">
            <a:avLst/>
          </a:prstGeom>
        </p:spPr>
      </p:pic>
    </p:spTree>
    <p:extLst>
      <p:ext uri="{BB962C8B-B14F-4D97-AF65-F5344CB8AC3E}">
        <p14:creationId xmlns:p14="http://schemas.microsoft.com/office/powerpoint/2010/main" val="10697955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28056" y="3178788"/>
            <a:ext cx="9144000" cy="2516617"/>
          </a:xfrm>
        </p:spPr>
        <p:txBody>
          <a:bodyPr>
            <a:normAutofit fontScale="90000"/>
          </a:bodyPr>
          <a:lstStyle/>
          <a:p>
            <a:r>
              <a:rPr lang="en-US" b="1" dirty="0"/>
              <a:t>Social Context of  Computing</a:t>
            </a:r>
            <a:br>
              <a:rPr lang="en-US" b="1" dirty="0"/>
            </a:br>
            <a:r>
              <a:rPr lang="en-US" dirty="0"/>
              <a:t/>
            </a:r>
            <a:br>
              <a:rPr lang="en-US" dirty="0"/>
            </a:br>
            <a:endParaRPr lang="en-US" dirty="0"/>
          </a:p>
        </p:txBody>
      </p:sp>
      <p:sp>
        <p:nvSpPr>
          <p:cNvPr id="4" name="Date Placeholder 3"/>
          <p:cNvSpPr>
            <a:spLocks noGrp="1"/>
          </p:cNvSpPr>
          <p:nvPr>
            <p:ph type="dt" sz="half" idx="10"/>
          </p:nvPr>
        </p:nvSpPr>
        <p:spPr/>
        <p:txBody>
          <a:bodyPr/>
          <a:lstStyle/>
          <a:p>
            <a:r>
              <a:rPr lang="en-US"/>
              <a:t>2022</a:t>
            </a:r>
          </a:p>
        </p:txBody>
      </p:sp>
      <p:sp>
        <p:nvSpPr>
          <p:cNvPr id="5" name="Footer Placeholder 4"/>
          <p:cNvSpPr>
            <a:spLocks noGrp="1"/>
          </p:cNvSpPr>
          <p:nvPr>
            <p:ph type="ftr" sz="quarter" idx="11"/>
          </p:nvPr>
        </p:nvSpPr>
        <p:spPr/>
        <p:txBody>
          <a:bodyPr/>
          <a:lstStyle/>
          <a:p>
            <a:r>
              <a:rPr lang="en-US"/>
              <a:t>Revised: L Madamshetty Department Of IS</a:t>
            </a:r>
            <a:endParaRPr lang="en-US" dirty="0"/>
          </a:p>
        </p:txBody>
      </p:sp>
      <p:sp>
        <p:nvSpPr>
          <p:cNvPr id="6" name="Slide Number Placeholder 5"/>
          <p:cNvSpPr>
            <a:spLocks noGrp="1"/>
          </p:cNvSpPr>
          <p:nvPr>
            <p:ph type="sldNum" sz="quarter" idx="12"/>
          </p:nvPr>
        </p:nvSpPr>
        <p:spPr/>
        <p:txBody>
          <a:bodyPr/>
          <a:lstStyle/>
          <a:p>
            <a:fld id="{4BC6B736-5C3F-44D2-98F1-D02D018BB5AF}" type="slidenum">
              <a:rPr lang="en-US" smtClean="0"/>
              <a:t>1</a:t>
            </a:fld>
            <a:endParaRPr lang="en-US"/>
          </a:p>
        </p:txBody>
      </p:sp>
    </p:spTree>
    <p:extLst>
      <p:ext uri="{BB962C8B-B14F-4D97-AF65-F5344CB8AC3E}">
        <p14:creationId xmlns:p14="http://schemas.microsoft.com/office/powerpoint/2010/main" val="3657327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3806" y="1"/>
            <a:ext cx="7639594" cy="731520"/>
          </a:xfrm>
        </p:spPr>
        <p:txBody>
          <a:bodyPr/>
          <a:lstStyle/>
          <a:p>
            <a:r>
              <a:rPr lang="en-US" dirty="0"/>
              <a:t>Learning Objectives</a:t>
            </a:r>
          </a:p>
        </p:txBody>
      </p:sp>
      <p:sp>
        <p:nvSpPr>
          <p:cNvPr id="3" name="Content Placeholder 2"/>
          <p:cNvSpPr>
            <a:spLocks noGrp="1"/>
          </p:cNvSpPr>
          <p:nvPr>
            <p:ph idx="1"/>
          </p:nvPr>
        </p:nvSpPr>
        <p:spPr>
          <a:xfrm>
            <a:off x="513806" y="943156"/>
            <a:ext cx="8449491" cy="4971687"/>
          </a:xfrm>
        </p:spPr>
        <p:txBody>
          <a:bodyPr>
            <a:normAutofit/>
          </a:bodyPr>
          <a:lstStyle/>
          <a:p>
            <a:r>
              <a:rPr lang="en-US" sz="2400" b="0" i="0" u="none" strike="noStrike" baseline="0" dirty="0"/>
              <a:t>Interpret the social context of a particular software/hardware implementation</a:t>
            </a:r>
          </a:p>
          <a:p>
            <a:r>
              <a:rPr lang="en-US" sz="2400" b="0" i="0" u="none" strike="noStrike" baseline="0" dirty="0"/>
              <a:t>Computing tool implementation</a:t>
            </a:r>
          </a:p>
          <a:p>
            <a:r>
              <a:rPr lang="en-US" sz="2400" b="0" i="0" u="none" strike="noStrike" baseline="0" dirty="0"/>
              <a:t>Positive and negative ways in computing </a:t>
            </a:r>
          </a:p>
          <a:p>
            <a:r>
              <a:rPr lang="en-US" sz="2400" b="0" i="0" u="none" strike="noStrike" baseline="0" dirty="0"/>
              <a:t>Why computing/network access is restricted in some countries</a:t>
            </a:r>
          </a:p>
          <a:p>
            <a:r>
              <a:rPr lang="en-US" sz="2400" b="0" i="0" u="none" strike="noStrike" baseline="0" dirty="0"/>
              <a:t>Impact of the digital divide</a:t>
            </a:r>
          </a:p>
          <a:p>
            <a:r>
              <a:rPr lang="en-US" sz="2400" b="0" i="0" u="none" strike="noStrike" baseline="0" dirty="0"/>
              <a:t>Understand how income, geography, race, and culture influence access to information technology </a:t>
            </a:r>
            <a:r>
              <a:rPr lang="en-ZA" sz="2400" b="0" i="0" u="none" strike="noStrike" baseline="0" dirty="0"/>
              <a:t>and technology in general</a:t>
            </a:r>
          </a:p>
          <a:p>
            <a:r>
              <a:rPr lang="en-US" sz="2400" b="0" i="0" u="none" strike="noStrike" baseline="0" dirty="0"/>
              <a:t>Identify how internet has changed the face of computing and it has affected society</a:t>
            </a:r>
            <a:endParaRPr lang="en-US" sz="3600" dirty="0"/>
          </a:p>
        </p:txBody>
      </p:sp>
      <p:sp>
        <p:nvSpPr>
          <p:cNvPr id="4" name="Date Placeholder 3"/>
          <p:cNvSpPr>
            <a:spLocks noGrp="1"/>
          </p:cNvSpPr>
          <p:nvPr>
            <p:ph type="dt" sz="half" idx="10"/>
          </p:nvPr>
        </p:nvSpPr>
        <p:spPr/>
        <p:txBody>
          <a:bodyPr/>
          <a:lstStyle/>
          <a:p>
            <a:r>
              <a:rPr lang="en-US"/>
              <a:t>2022</a:t>
            </a:r>
          </a:p>
        </p:txBody>
      </p:sp>
      <p:sp>
        <p:nvSpPr>
          <p:cNvPr id="5" name="Footer Placeholder 4"/>
          <p:cNvSpPr>
            <a:spLocks noGrp="1"/>
          </p:cNvSpPr>
          <p:nvPr>
            <p:ph type="ftr" sz="quarter" idx="11"/>
          </p:nvPr>
        </p:nvSpPr>
        <p:spPr/>
        <p:txBody>
          <a:bodyPr/>
          <a:lstStyle/>
          <a:p>
            <a:r>
              <a:rPr lang="en-US" dirty="0"/>
              <a:t>Revised: L Madamshetty Department</a:t>
            </a:r>
          </a:p>
        </p:txBody>
      </p:sp>
      <p:sp>
        <p:nvSpPr>
          <p:cNvPr id="6" name="Slide Number Placeholder 5"/>
          <p:cNvSpPr>
            <a:spLocks noGrp="1"/>
          </p:cNvSpPr>
          <p:nvPr>
            <p:ph type="sldNum" sz="quarter" idx="12"/>
          </p:nvPr>
        </p:nvSpPr>
        <p:spPr/>
        <p:txBody>
          <a:bodyPr/>
          <a:lstStyle/>
          <a:p>
            <a:fld id="{4BC6B736-5C3F-44D2-98F1-D02D018BB5AF}" type="slidenum">
              <a:rPr lang="en-US" smtClean="0"/>
              <a:t>2</a:t>
            </a:fld>
            <a:endParaRPr lang="en-US"/>
          </a:p>
        </p:txBody>
      </p:sp>
    </p:spTree>
    <p:extLst>
      <p:ext uri="{BB962C8B-B14F-4D97-AF65-F5344CB8AC3E}">
        <p14:creationId xmlns:p14="http://schemas.microsoft.com/office/powerpoint/2010/main" val="3886504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2A5BFC23-B24E-CE46-B609-F00BAF9B6DFB}"/>
              </a:ext>
            </a:extLst>
          </p:cNvPr>
          <p:cNvSpPr>
            <a:spLocks noGrp="1"/>
          </p:cNvSpPr>
          <p:nvPr>
            <p:ph type="dt" sz="half" idx="10"/>
          </p:nvPr>
        </p:nvSpPr>
        <p:spPr/>
        <p:txBody>
          <a:bodyPr/>
          <a:lstStyle/>
          <a:p>
            <a:r>
              <a:rPr lang="en-US"/>
              <a:t>2022</a:t>
            </a:r>
          </a:p>
        </p:txBody>
      </p:sp>
      <p:sp>
        <p:nvSpPr>
          <p:cNvPr id="3" name="Footer Placeholder 2">
            <a:extLst>
              <a:ext uri="{FF2B5EF4-FFF2-40B4-BE49-F238E27FC236}">
                <a16:creationId xmlns:a16="http://schemas.microsoft.com/office/drawing/2014/main" xmlns="" id="{9CD8A428-AA8E-DF4C-A9F4-547FBE7638DE}"/>
              </a:ext>
            </a:extLst>
          </p:cNvPr>
          <p:cNvSpPr>
            <a:spLocks noGrp="1"/>
          </p:cNvSpPr>
          <p:nvPr>
            <p:ph type="ftr" sz="quarter" idx="11"/>
          </p:nvPr>
        </p:nvSpPr>
        <p:spPr/>
        <p:txBody>
          <a:bodyPr/>
          <a:lstStyle/>
          <a:p>
            <a:r>
              <a:rPr lang="en-US"/>
              <a:t>Revised: L Madamshetty Department Of IS</a:t>
            </a:r>
            <a:endParaRPr lang="en-US" dirty="0"/>
          </a:p>
        </p:txBody>
      </p:sp>
      <p:sp>
        <p:nvSpPr>
          <p:cNvPr id="4" name="Slide Number Placeholder 3">
            <a:extLst>
              <a:ext uri="{FF2B5EF4-FFF2-40B4-BE49-F238E27FC236}">
                <a16:creationId xmlns:a16="http://schemas.microsoft.com/office/drawing/2014/main" xmlns="" id="{571E8FDC-CA02-851D-65DD-68EE05B99C35}"/>
              </a:ext>
            </a:extLst>
          </p:cNvPr>
          <p:cNvSpPr>
            <a:spLocks noGrp="1"/>
          </p:cNvSpPr>
          <p:nvPr>
            <p:ph type="sldNum" sz="quarter" idx="12"/>
          </p:nvPr>
        </p:nvSpPr>
        <p:spPr/>
        <p:txBody>
          <a:bodyPr/>
          <a:lstStyle/>
          <a:p>
            <a:fld id="{4BC6B736-5C3F-44D2-98F1-D02D018BB5AF}" type="slidenum">
              <a:rPr lang="en-US" smtClean="0"/>
              <a:t>3</a:t>
            </a:fld>
            <a:endParaRPr lang="en-US"/>
          </a:p>
        </p:txBody>
      </p:sp>
      <p:sp>
        <p:nvSpPr>
          <p:cNvPr id="6" name="TextBox 5">
            <a:extLst>
              <a:ext uri="{FF2B5EF4-FFF2-40B4-BE49-F238E27FC236}">
                <a16:creationId xmlns:a16="http://schemas.microsoft.com/office/drawing/2014/main" xmlns="" id="{97F38996-E21F-F779-D6E1-AF60F4844556}"/>
              </a:ext>
            </a:extLst>
          </p:cNvPr>
          <p:cNvSpPr txBox="1"/>
          <p:nvPr/>
        </p:nvSpPr>
        <p:spPr>
          <a:xfrm>
            <a:off x="185531" y="376322"/>
            <a:ext cx="9077740" cy="6001643"/>
          </a:xfrm>
          <a:prstGeom prst="rect">
            <a:avLst/>
          </a:prstGeom>
          <a:noFill/>
        </p:spPr>
        <p:txBody>
          <a:bodyPr wrap="square">
            <a:spAutoFit/>
          </a:bodyPr>
          <a:lstStyle/>
          <a:p>
            <a:r>
              <a:rPr lang="en-US" sz="2400" dirty="0"/>
              <a:t>Young and aggressive, </a:t>
            </a:r>
            <a:r>
              <a:rPr lang="en-US" sz="2400" b="1" dirty="0"/>
              <a:t>Johnny</a:t>
            </a:r>
            <a:r>
              <a:rPr lang="en-US" sz="2400" dirty="0"/>
              <a:t> has a promising future as a business. Johnny is on track to reach a million dollars before the age of 25 thanks to several successful businesses and a few start-ups with promising financial standing. </a:t>
            </a:r>
          </a:p>
          <a:p>
            <a:r>
              <a:rPr lang="en-US" sz="2400" dirty="0"/>
              <a:t>Johnny's business talks are basically in </a:t>
            </a:r>
            <a:r>
              <a:rPr lang="en-US" sz="2400" b="1" dirty="0"/>
              <a:t>difficult areas</a:t>
            </a:r>
            <a:r>
              <a:rPr lang="en-US" sz="2400" dirty="0"/>
              <a:t>. Because of this, Johnny employs a group of trained security bodyguards to follow him nearly 24 hours a day so that he can feel safe. A constant stream of visitors, including both friends and business partners, visit Johnny in his expansive $10 million house. Along with protecting him, his bodyguards also ensure that visitors are welcomed and escorted out of the venue in an orderly manner. </a:t>
            </a:r>
          </a:p>
          <a:p>
            <a:r>
              <a:rPr lang="en-US" sz="2400" dirty="0"/>
              <a:t>As a result, the bodyguards maintain a constant office and sleeping accommodations at Johnny's mansion. Johnny equipped the guards' offices and sleeping accommodations with cameras and listening devices without telling them in order to record every conversation and movement. He is secure in that manner!</a:t>
            </a:r>
          </a:p>
        </p:txBody>
      </p:sp>
    </p:spTree>
    <p:extLst>
      <p:ext uri="{BB962C8B-B14F-4D97-AF65-F5344CB8AC3E}">
        <p14:creationId xmlns:p14="http://schemas.microsoft.com/office/powerpoint/2010/main" val="2498667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C3B6AFC-7C1B-15D2-0CC0-AA367B91B4A7}"/>
              </a:ext>
            </a:extLst>
          </p:cNvPr>
          <p:cNvSpPr>
            <a:spLocks noGrp="1"/>
          </p:cNvSpPr>
          <p:nvPr>
            <p:ph idx="1"/>
          </p:nvPr>
        </p:nvSpPr>
        <p:spPr>
          <a:xfrm>
            <a:off x="387626" y="408166"/>
            <a:ext cx="8968409" cy="4344671"/>
          </a:xfrm>
        </p:spPr>
        <p:txBody>
          <a:bodyPr/>
          <a:lstStyle/>
          <a:p>
            <a:pPr marL="0" indent="0">
              <a:buNone/>
            </a:pPr>
            <a:r>
              <a:rPr lang="en-US" dirty="0"/>
              <a:t>1. Is Johnny violating any law ?</a:t>
            </a:r>
          </a:p>
          <a:p>
            <a:pPr marL="0" indent="0">
              <a:buNone/>
            </a:pPr>
            <a:r>
              <a:rPr lang="en-US" dirty="0"/>
              <a:t>2. Do the bodyguards have any right to privacy on Johnny ’ s premises ?</a:t>
            </a:r>
          </a:p>
          <a:p>
            <a:pPr marL="0" indent="0">
              <a:buNone/>
            </a:pPr>
            <a:r>
              <a:rPr lang="en-US" dirty="0"/>
              <a:t>3. Does Johnny have a right to know what the bodyguards are doing in their private quarters?</a:t>
            </a:r>
          </a:p>
          <a:p>
            <a:endParaRPr lang="en-ZA" dirty="0"/>
          </a:p>
        </p:txBody>
      </p:sp>
      <p:sp>
        <p:nvSpPr>
          <p:cNvPr id="4" name="Date Placeholder 3">
            <a:extLst>
              <a:ext uri="{FF2B5EF4-FFF2-40B4-BE49-F238E27FC236}">
                <a16:creationId xmlns:a16="http://schemas.microsoft.com/office/drawing/2014/main" xmlns="" id="{25EDA94D-6B8A-A03E-5437-2A6947870724}"/>
              </a:ext>
            </a:extLst>
          </p:cNvPr>
          <p:cNvSpPr>
            <a:spLocks noGrp="1"/>
          </p:cNvSpPr>
          <p:nvPr>
            <p:ph type="dt" sz="half" idx="10"/>
          </p:nvPr>
        </p:nvSpPr>
        <p:spPr/>
        <p:txBody>
          <a:bodyPr/>
          <a:lstStyle/>
          <a:p>
            <a:r>
              <a:rPr lang="en-US"/>
              <a:t>2022</a:t>
            </a:r>
          </a:p>
        </p:txBody>
      </p:sp>
      <p:sp>
        <p:nvSpPr>
          <p:cNvPr id="5" name="Footer Placeholder 4">
            <a:extLst>
              <a:ext uri="{FF2B5EF4-FFF2-40B4-BE49-F238E27FC236}">
                <a16:creationId xmlns:a16="http://schemas.microsoft.com/office/drawing/2014/main" xmlns="" id="{481E6BFC-21F0-610F-2094-BCAB7F058F7F}"/>
              </a:ext>
            </a:extLst>
          </p:cNvPr>
          <p:cNvSpPr>
            <a:spLocks noGrp="1"/>
          </p:cNvSpPr>
          <p:nvPr>
            <p:ph type="ftr" sz="quarter" idx="11"/>
          </p:nvPr>
        </p:nvSpPr>
        <p:spPr/>
        <p:txBody>
          <a:bodyPr/>
          <a:lstStyle/>
          <a:p>
            <a:r>
              <a:rPr lang="en-US" dirty="0"/>
              <a:t>Revised: L Madamshetty Department</a:t>
            </a:r>
          </a:p>
        </p:txBody>
      </p:sp>
      <p:sp>
        <p:nvSpPr>
          <p:cNvPr id="6" name="Slide Number Placeholder 5">
            <a:extLst>
              <a:ext uri="{FF2B5EF4-FFF2-40B4-BE49-F238E27FC236}">
                <a16:creationId xmlns:a16="http://schemas.microsoft.com/office/drawing/2014/main" xmlns="" id="{CE3948C1-152F-D7AE-DF4C-EF1D2EFDDFD1}"/>
              </a:ext>
            </a:extLst>
          </p:cNvPr>
          <p:cNvSpPr>
            <a:spLocks noGrp="1"/>
          </p:cNvSpPr>
          <p:nvPr>
            <p:ph type="sldNum" sz="quarter" idx="12"/>
          </p:nvPr>
        </p:nvSpPr>
        <p:spPr/>
        <p:txBody>
          <a:bodyPr/>
          <a:lstStyle/>
          <a:p>
            <a:fld id="{4BC6B736-5C3F-44D2-98F1-D02D018BB5AF}" type="slidenum">
              <a:rPr lang="en-US" smtClean="0"/>
              <a:t>4</a:t>
            </a:fld>
            <a:endParaRPr lang="en-US"/>
          </a:p>
        </p:txBody>
      </p:sp>
    </p:spTree>
    <p:extLst>
      <p:ext uri="{BB962C8B-B14F-4D97-AF65-F5344CB8AC3E}">
        <p14:creationId xmlns:p14="http://schemas.microsoft.com/office/powerpoint/2010/main" val="1835612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EC8A82-1B6A-D717-D107-9218575702A5}"/>
              </a:ext>
            </a:extLst>
          </p:cNvPr>
          <p:cNvSpPr>
            <a:spLocks noGrp="1"/>
          </p:cNvSpPr>
          <p:nvPr>
            <p:ph type="title"/>
          </p:nvPr>
        </p:nvSpPr>
        <p:spPr/>
        <p:txBody>
          <a:bodyPr/>
          <a:lstStyle/>
          <a:p>
            <a:r>
              <a:rPr lang="en-ZA" dirty="0"/>
              <a:t>Introduction</a:t>
            </a:r>
          </a:p>
        </p:txBody>
      </p:sp>
      <p:sp>
        <p:nvSpPr>
          <p:cNvPr id="4" name="Date Placeholder 3">
            <a:extLst>
              <a:ext uri="{FF2B5EF4-FFF2-40B4-BE49-F238E27FC236}">
                <a16:creationId xmlns:a16="http://schemas.microsoft.com/office/drawing/2014/main" xmlns="" id="{F56FB6A1-98F0-E9B4-F72C-A7004A807530}"/>
              </a:ext>
            </a:extLst>
          </p:cNvPr>
          <p:cNvSpPr>
            <a:spLocks noGrp="1"/>
          </p:cNvSpPr>
          <p:nvPr>
            <p:ph type="dt" sz="half" idx="10"/>
          </p:nvPr>
        </p:nvSpPr>
        <p:spPr/>
        <p:txBody>
          <a:bodyPr/>
          <a:lstStyle/>
          <a:p>
            <a:r>
              <a:rPr lang="en-US"/>
              <a:t>2022</a:t>
            </a:r>
          </a:p>
        </p:txBody>
      </p:sp>
      <p:sp>
        <p:nvSpPr>
          <p:cNvPr id="5" name="Footer Placeholder 4">
            <a:extLst>
              <a:ext uri="{FF2B5EF4-FFF2-40B4-BE49-F238E27FC236}">
                <a16:creationId xmlns:a16="http://schemas.microsoft.com/office/drawing/2014/main" xmlns="" id="{C40F97FB-F4E3-3F5D-AD30-DA9F8D4B7368}"/>
              </a:ext>
            </a:extLst>
          </p:cNvPr>
          <p:cNvSpPr>
            <a:spLocks noGrp="1"/>
          </p:cNvSpPr>
          <p:nvPr>
            <p:ph type="ftr" sz="quarter" idx="11"/>
          </p:nvPr>
        </p:nvSpPr>
        <p:spPr/>
        <p:txBody>
          <a:bodyPr/>
          <a:lstStyle/>
          <a:p>
            <a:r>
              <a:rPr lang="en-US" dirty="0"/>
              <a:t>Revised: L Madamshetty Department</a:t>
            </a:r>
          </a:p>
        </p:txBody>
      </p:sp>
      <p:sp>
        <p:nvSpPr>
          <p:cNvPr id="6" name="Slide Number Placeholder 5">
            <a:extLst>
              <a:ext uri="{FF2B5EF4-FFF2-40B4-BE49-F238E27FC236}">
                <a16:creationId xmlns:a16="http://schemas.microsoft.com/office/drawing/2014/main" xmlns="" id="{17F4DEEA-291B-8804-A0D8-CA41329C1362}"/>
              </a:ext>
            </a:extLst>
          </p:cNvPr>
          <p:cNvSpPr>
            <a:spLocks noGrp="1"/>
          </p:cNvSpPr>
          <p:nvPr>
            <p:ph type="sldNum" sz="quarter" idx="12"/>
          </p:nvPr>
        </p:nvSpPr>
        <p:spPr/>
        <p:txBody>
          <a:bodyPr/>
          <a:lstStyle/>
          <a:p>
            <a:fld id="{4BC6B736-5C3F-44D2-98F1-D02D018BB5AF}" type="slidenum">
              <a:rPr lang="en-US" smtClean="0"/>
              <a:t>5</a:t>
            </a:fld>
            <a:endParaRPr lang="en-US"/>
          </a:p>
        </p:txBody>
      </p:sp>
      <p:sp>
        <p:nvSpPr>
          <p:cNvPr id="10" name="Content Placeholder 9">
            <a:extLst>
              <a:ext uri="{FF2B5EF4-FFF2-40B4-BE49-F238E27FC236}">
                <a16:creationId xmlns:a16="http://schemas.microsoft.com/office/drawing/2014/main" xmlns="" id="{41840462-E74A-BBD8-4BE3-4CA2AE3288CC}"/>
              </a:ext>
            </a:extLst>
          </p:cNvPr>
          <p:cNvSpPr>
            <a:spLocks noGrp="1"/>
          </p:cNvSpPr>
          <p:nvPr>
            <p:ph idx="1"/>
          </p:nvPr>
        </p:nvSpPr>
        <p:spPr>
          <a:xfrm>
            <a:off x="453887" y="1484243"/>
            <a:ext cx="8703365" cy="4711611"/>
          </a:xfrm>
        </p:spPr>
        <p:txBody>
          <a:bodyPr/>
          <a:lstStyle/>
          <a:p>
            <a:r>
              <a:rPr lang="en-US" dirty="0"/>
              <a:t>Our focus in this chapter is on both the social and ethical effects of computer technology on people, whether we are at home, school, or work. We will focus on the social and economic dimensions of  computing as a result of the “digital divide,” the workplace, workplace monitoring of employees, and the well-being of employees.</a:t>
            </a:r>
            <a:endParaRPr lang="en-ZA" dirty="0"/>
          </a:p>
        </p:txBody>
      </p:sp>
    </p:spTree>
    <p:extLst>
      <p:ext uri="{BB962C8B-B14F-4D97-AF65-F5344CB8AC3E}">
        <p14:creationId xmlns:p14="http://schemas.microsoft.com/office/powerpoint/2010/main" val="3402198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xmlns="" id="{297B9F74-19B6-DA3D-C30E-42ADA06C5B0C}"/>
              </a:ext>
            </a:extLst>
          </p:cNvPr>
          <p:cNvSpPr>
            <a:spLocks noGrp="1"/>
          </p:cNvSpPr>
          <p:nvPr>
            <p:ph type="dt" sz="half" idx="10"/>
          </p:nvPr>
        </p:nvSpPr>
        <p:spPr/>
        <p:txBody>
          <a:bodyPr/>
          <a:lstStyle/>
          <a:p>
            <a:r>
              <a:rPr lang="en-US"/>
              <a:t>2022</a:t>
            </a:r>
          </a:p>
        </p:txBody>
      </p:sp>
      <p:sp>
        <p:nvSpPr>
          <p:cNvPr id="4" name="Footer Placeholder 3">
            <a:extLst>
              <a:ext uri="{FF2B5EF4-FFF2-40B4-BE49-F238E27FC236}">
                <a16:creationId xmlns:a16="http://schemas.microsoft.com/office/drawing/2014/main" xmlns="" id="{798C6832-A8A3-E1FD-6DCB-CFD5D695791A}"/>
              </a:ext>
            </a:extLst>
          </p:cNvPr>
          <p:cNvSpPr>
            <a:spLocks noGrp="1"/>
          </p:cNvSpPr>
          <p:nvPr>
            <p:ph type="ftr" sz="quarter" idx="11"/>
          </p:nvPr>
        </p:nvSpPr>
        <p:spPr/>
        <p:txBody>
          <a:bodyPr/>
          <a:lstStyle/>
          <a:p>
            <a:r>
              <a:rPr lang="en-US"/>
              <a:t>Revised: L Madamshetty Department Of IS</a:t>
            </a:r>
            <a:endParaRPr lang="en-US" dirty="0"/>
          </a:p>
        </p:txBody>
      </p:sp>
      <p:sp>
        <p:nvSpPr>
          <p:cNvPr id="5" name="Slide Number Placeholder 4">
            <a:extLst>
              <a:ext uri="{FF2B5EF4-FFF2-40B4-BE49-F238E27FC236}">
                <a16:creationId xmlns:a16="http://schemas.microsoft.com/office/drawing/2014/main" xmlns="" id="{D4F03689-1D55-A819-8913-5E9F07A5CA19}"/>
              </a:ext>
            </a:extLst>
          </p:cNvPr>
          <p:cNvSpPr>
            <a:spLocks noGrp="1"/>
          </p:cNvSpPr>
          <p:nvPr>
            <p:ph type="sldNum" sz="quarter" idx="12"/>
          </p:nvPr>
        </p:nvSpPr>
        <p:spPr/>
        <p:txBody>
          <a:bodyPr/>
          <a:lstStyle/>
          <a:p>
            <a:fld id="{4BC6B736-5C3F-44D2-98F1-D02D018BB5AF}" type="slidenum">
              <a:rPr lang="en-US" smtClean="0"/>
              <a:t>6</a:t>
            </a:fld>
            <a:endParaRPr lang="en-US"/>
          </a:p>
        </p:txBody>
      </p:sp>
      <p:sp>
        <p:nvSpPr>
          <p:cNvPr id="10" name="TextBox 9">
            <a:extLst>
              <a:ext uri="{FF2B5EF4-FFF2-40B4-BE49-F238E27FC236}">
                <a16:creationId xmlns:a16="http://schemas.microsoft.com/office/drawing/2014/main" xmlns="" id="{98D4972B-C0C7-939C-A00A-D84F59A39826}"/>
              </a:ext>
            </a:extLst>
          </p:cNvPr>
          <p:cNvSpPr txBox="1"/>
          <p:nvPr/>
        </p:nvSpPr>
        <p:spPr>
          <a:xfrm>
            <a:off x="689113" y="5973765"/>
            <a:ext cx="7464287" cy="369332"/>
          </a:xfrm>
          <a:prstGeom prst="rect">
            <a:avLst/>
          </a:prstGeom>
          <a:noFill/>
        </p:spPr>
        <p:txBody>
          <a:bodyPr wrap="square">
            <a:spAutoFit/>
          </a:bodyPr>
          <a:lstStyle/>
          <a:p>
            <a:r>
              <a:rPr lang="en-ZA" dirty="0"/>
              <a:t>https://www.slideshare.net/UpekhaVandebona/social-context-of-computing</a:t>
            </a:r>
          </a:p>
        </p:txBody>
      </p:sp>
      <p:pic>
        <p:nvPicPr>
          <p:cNvPr id="11" name="Picture 10">
            <a:extLst>
              <a:ext uri="{FF2B5EF4-FFF2-40B4-BE49-F238E27FC236}">
                <a16:creationId xmlns:a16="http://schemas.microsoft.com/office/drawing/2014/main" xmlns="" id="{64D1A5FC-E205-F191-D07A-12790A9F4BC0}"/>
              </a:ext>
            </a:extLst>
          </p:cNvPr>
          <p:cNvPicPr>
            <a:picLocks noChangeAspect="1"/>
          </p:cNvPicPr>
          <p:nvPr/>
        </p:nvPicPr>
        <p:blipFill>
          <a:blip r:embed="rId2"/>
          <a:stretch>
            <a:fillRect/>
          </a:stretch>
        </p:blipFill>
        <p:spPr>
          <a:xfrm>
            <a:off x="533952" y="344557"/>
            <a:ext cx="7774607" cy="5118651"/>
          </a:xfrm>
          <a:prstGeom prst="rect">
            <a:avLst/>
          </a:prstGeom>
        </p:spPr>
      </p:pic>
    </p:spTree>
    <p:extLst>
      <p:ext uri="{BB962C8B-B14F-4D97-AF65-F5344CB8AC3E}">
        <p14:creationId xmlns:p14="http://schemas.microsoft.com/office/powerpoint/2010/main" val="3640532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FF45E4-9E72-950C-1841-94DF0B0B617B}"/>
              </a:ext>
            </a:extLst>
          </p:cNvPr>
          <p:cNvSpPr>
            <a:spLocks noGrp="1"/>
          </p:cNvSpPr>
          <p:nvPr>
            <p:ph type="title"/>
          </p:nvPr>
        </p:nvSpPr>
        <p:spPr>
          <a:xfrm>
            <a:off x="187234" y="136526"/>
            <a:ext cx="7966166" cy="539336"/>
          </a:xfrm>
        </p:spPr>
        <p:txBody>
          <a:bodyPr>
            <a:normAutofit fontScale="90000"/>
          </a:bodyPr>
          <a:lstStyle/>
          <a:p>
            <a:r>
              <a:rPr lang="en-ZA" dirty="0"/>
              <a:t>Digital Divide</a:t>
            </a:r>
          </a:p>
        </p:txBody>
      </p:sp>
      <p:sp>
        <p:nvSpPr>
          <p:cNvPr id="3" name="Content Placeholder 2">
            <a:extLst>
              <a:ext uri="{FF2B5EF4-FFF2-40B4-BE49-F238E27FC236}">
                <a16:creationId xmlns:a16="http://schemas.microsoft.com/office/drawing/2014/main" xmlns="" id="{9556C660-1AA0-4927-01DD-AC3747600A71}"/>
              </a:ext>
            </a:extLst>
          </p:cNvPr>
          <p:cNvSpPr>
            <a:spLocks noGrp="1"/>
          </p:cNvSpPr>
          <p:nvPr>
            <p:ph idx="1"/>
          </p:nvPr>
        </p:nvSpPr>
        <p:spPr>
          <a:xfrm>
            <a:off x="187234" y="848140"/>
            <a:ext cx="9115792" cy="5155095"/>
          </a:xfrm>
        </p:spPr>
        <p:txBody>
          <a:bodyPr>
            <a:normAutofit/>
          </a:bodyPr>
          <a:lstStyle/>
          <a:p>
            <a:r>
              <a:rPr lang="en-US" dirty="0"/>
              <a:t>The </a:t>
            </a:r>
            <a:r>
              <a:rPr lang="en-US" b="1" dirty="0"/>
              <a:t>digital divide </a:t>
            </a:r>
            <a:r>
              <a:rPr lang="en-US" dirty="0"/>
              <a:t>is a term that refers to the gap between demographics and regions that have access to modern information and communications technology (ICT), and those that don't or have restricted access. This technology can include the telephone, television, personal computers and internet connectivity.</a:t>
            </a:r>
          </a:p>
          <a:p>
            <a:pPr algn="l"/>
            <a:r>
              <a:rPr lang="en-US" b="0" i="0" u="none" strike="noStrike" baseline="0" dirty="0"/>
              <a:t>In general, the study of the digital divide involves the study of the impact of the digital divide indicators. These indicators concern communication technologies such as radio, television, the press, fixed and cellular telephones, fax machines, computers, and connectivity to the Internet and participation in cyber activities for all members of a society.</a:t>
            </a:r>
            <a:endParaRPr lang="en-ZA" sz="4000" dirty="0"/>
          </a:p>
        </p:txBody>
      </p:sp>
      <p:sp>
        <p:nvSpPr>
          <p:cNvPr id="4" name="Date Placeholder 3">
            <a:extLst>
              <a:ext uri="{FF2B5EF4-FFF2-40B4-BE49-F238E27FC236}">
                <a16:creationId xmlns:a16="http://schemas.microsoft.com/office/drawing/2014/main" xmlns="" id="{7F1353BD-E1C2-9514-75BE-761D14D0D532}"/>
              </a:ext>
            </a:extLst>
          </p:cNvPr>
          <p:cNvSpPr>
            <a:spLocks noGrp="1"/>
          </p:cNvSpPr>
          <p:nvPr>
            <p:ph type="dt" sz="half" idx="10"/>
          </p:nvPr>
        </p:nvSpPr>
        <p:spPr/>
        <p:txBody>
          <a:bodyPr/>
          <a:lstStyle/>
          <a:p>
            <a:r>
              <a:rPr lang="en-US"/>
              <a:t>2022</a:t>
            </a:r>
          </a:p>
        </p:txBody>
      </p:sp>
      <p:sp>
        <p:nvSpPr>
          <p:cNvPr id="5" name="Footer Placeholder 4">
            <a:extLst>
              <a:ext uri="{FF2B5EF4-FFF2-40B4-BE49-F238E27FC236}">
                <a16:creationId xmlns:a16="http://schemas.microsoft.com/office/drawing/2014/main" xmlns="" id="{CB382FC2-DBF2-E53B-BD4F-B8514572D24A}"/>
              </a:ext>
            </a:extLst>
          </p:cNvPr>
          <p:cNvSpPr>
            <a:spLocks noGrp="1"/>
          </p:cNvSpPr>
          <p:nvPr>
            <p:ph type="ftr" sz="quarter" idx="11"/>
          </p:nvPr>
        </p:nvSpPr>
        <p:spPr/>
        <p:txBody>
          <a:bodyPr/>
          <a:lstStyle/>
          <a:p>
            <a:r>
              <a:rPr lang="en-US" dirty="0"/>
              <a:t>Revised: L Madamshetty Department</a:t>
            </a:r>
          </a:p>
        </p:txBody>
      </p:sp>
      <p:sp>
        <p:nvSpPr>
          <p:cNvPr id="6" name="Slide Number Placeholder 5">
            <a:extLst>
              <a:ext uri="{FF2B5EF4-FFF2-40B4-BE49-F238E27FC236}">
                <a16:creationId xmlns:a16="http://schemas.microsoft.com/office/drawing/2014/main" xmlns="" id="{38752983-3982-28B4-ECF0-49F83CEDE226}"/>
              </a:ext>
            </a:extLst>
          </p:cNvPr>
          <p:cNvSpPr>
            <a:spLocks noGrp="1"/>
          </p:cNvSpPr>
          <p:nvPr>
            <p:ph type="sldNum" sz="quarter" idx="12"/>
          </p:nvPr>
        </p:nvSpPr>
        <p:spPr/>
        <p:txBody>
          <a:bodyPr/>
          <a:lstStyle/>
          <a:p>
            <a:fld id="{4BC6B736-5C3F-44D2-98F1-D02D018BB5AF}" type="slidenum">
              <a:rPr lang="en-US" smtClean="0"/>
              <a:t>7</a:t>
            </a:fld>
            <a:endParaRPr lang="en-US"/>
          </a:p>
        </p:txBody>
      </p:sp>
    </p:spTree>
    <p:extLst>
      <p:ext uri="{BB962C8B-B14F-4D97-AF65-F5344CB8AC3E}">
        <p14:creationId xmlns:p14="http://schemas.microsoft.com/office/powerpoint/2010/main" val="3164281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8CE9A1-9B52-FF70-54EC-464E1F112D8D}"/>
              </a:ext>
            </a:extLst>
          </p:cNvPr>
          <p:cNvSpPr>
            <a:spLocks noGrp="1"/>
          </p:cNvSpPr>
          <p:nvPr>
            <p:ph type="title"/>
          </p:nvPr>
        </p:nvSpPr>
        <p:spPr/>
        <p:txBody>
          <a:bodyPr/>
          <a:lstStyle/>
          <a:p>
            <a:r>
              <a:rPr lang="en-ZA" dirty="0"/>
              <a:t>5 indicators of Digital Divide</a:t>
            </a:r>
          </a:p>
        </p:txBody>
      </p:sp>
      <p:sp>
        <p:nvSpPr>
          <p:cNvPr id="3" name="Content Placeholder 2">
            <a:extLst>
              <a:ext uri="{FF2B5EF4-FFF2-40B4-BE49-F238E27FC236}">
                <a16:creationId xmlns:a16="http://schemas.microsoft.com/office/drawing/2014/main" xmlns="" id="{549DD705-9E0A-BA66-1FAD-B6F5561E67AE}"/>
              </a:ext>
            </a:extLst>
          </p:cNvPr>
          <p:cNvSpPr>
            <a:spLocks noGrp="1"/>
          </p:cNvSpPr>
          <p:nvPr>
            <p:ph idx="1"/>
          </p:nvPr>
        </p:nvSpPr>
        <p:spPr>
          <a:xfrm>
            <a:off x="838200" y="1431235"/>
            <a:ext cx="8425070" cy="4925115"/>
          </a:xfrm>
        </p:spPr>
        <p:txBody>
          <a:bodyPr/>
          <a:lstStyle/>
          <a:p>
            <a:r>
              <a:rPr lang="en-US" dirty="0"/>
              <a:t>Access </a:t>
            </a:r>
          </a:p>
          <a:p>
            <a:r>
              <a:rPr lang="en-US" dirty="0"/>
              <a:t>Relevant technology </a:t>
            </a:r>
          </a:p>
          <a:p>
            <a:r>
              <a:rPr lang="en-US" dirty="0"/>
              <a:t>Human ware ( human capacity )</a:t>
            </a:r>
          </a:p>
          <a:p>
            <a:r>
              <a:rPr lang="en-US" dirty="0"/>
              <a:t>Infrastructure</a:t>
            </a:r>
          </a:p>
          <a:p>
            <a:r>
              <a:rPr lang="en-US" dirty="0"/>
              <a:t>Enabling environment .</a:t>
            </a:r>
            <a:endParaRPr lang="en-ZA" dirty="0"/>
          </a:p>
        </p:txBody>
      </p:sp>
      <p:sp>
        <p:nvSpPr>
          <p:cNvPr id="4" name="Date Placeholder 3">
            <a:extLst>
              <a:ext uri="{FF2B5EF4-FFF2-40B4-BE49-F238E27FC236}">
                <a16:creationId xmlns:a16="http://schemas.microsoft.com/office/drawing/2014/main" xmlns="" id="{7550AEF9-2F6E-BBEC-272B-48D9B1D40F19}"/>
              </a:ext>
            </a:extLst>
          </p:cNvPr>
          <p:cNvSpPr>
            <a:spLocks noGrp="1"/>
          </p:cNvSpPr>
          <p:nvPr>
            <p:ph type="dt" sz="half" idx="10"/>
          </p:nvPr>
        </p:nvSpPr>
        <p:spPr/>
        <p:txBody>
          <a:bodyPr/>
          <a:lstStyle/>
          <a:p>
            <a:r>
              <a:rPr lang="en-US"/>
              <a:t>2022</a:t>
            </a:r>
          </a:p>
        </p:txBody>
      </p:sp>
      <p:sp>
        <p:nvSpPr>
          <p:cNvPr id="5" name="Footer Placeholder 4">
            <a:extLst>
              <a:ext uri="{FF2B5EF4-FFF2-40B4-BE49-F238E27FC236}">
                <a16:creationId xmlns:a16="http://schemas.microsoft.com/office/drawing/2014/main" xmlns="" id="{96810DCA-321A-9F12-529D-3D201D9F2E9A}"/>
              </a:ext>
            </a:extLst>
          </p:cNvPr>
          <p:cNvSpPr>
            <a:spLocks noGrp="1"/>
          </p:cNvSpPr>
          <p:nvPr>
            <p:ph type="ftr" sz="quarter" idx="11"/>
          </p:nvPr>
        </p:nvSpPr>
        <p:spPr/>
        <p:txBody>
          <a:bodyPr/>
          <a:lstStyle/>
          <a:p>
            <a:r>
              <a:rPr lang="en-US" dirty="0"/>
              <a:t>Revised: L Madamshetty</a:t>
            </a:r>
          </a:p>
        </p:txBody>
      </p:sp>
      <p:sp>
        <p:nvSpPr>
          <p:cNvPr id="6" name="Slide Number Placeholder 5">
            <a:extLst>
              <a:ext uri="{FF2B5EF4-FFF2-40B4-BE49-F238E27FC236}">
                <a16:creationId xmlns:a16="http://schemas.microsoft.com/office/drawing/2014/main" xmlns="" id="{E2B6B3E8-B60F-8499-8771-43E1FD2CB9D0}"/>
              </a:ext>
            </a:extLst>
          </p:cNvPr>
          <p:cNvSpPr>
            <a:spLocks noGrp="1"/>
          </p:cNvSpPr>
          <p:nvPr>
            <p:ph type="sldNum" sz="quarter" idx="12"/>
          </p:nvPr>
        </p:nvSpPr>
        <p:spPr/>
        <p:txBody>
          <a:bodyPr/>
          <a:lstStyle/>
          <a:p>
            <a:fld id="{4BC6B736-5C3F-44D2-98F1-D02D018BB5AF}" type="slidenum">
              <a:rPr lang="en-US" smtClean="0"/>
              <a:t>8</a:t>
            </a:fld>
            <a:endParaRPr lang="en-US"/>
          </a:p>
        </p:txBody>
      </p:sp>
    </p:spTree>
    <p:extLst>
      <p:ext uri="{BB962C8B-B14F-4D97-AF65-F5344CB8AC3E}">
        <p14:creationId xmlns:p14="http://schemas.microsoft.com/office/powerpoint/2010/main" val="3934370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8E2922-6AF6-F230-153E-6F694196A163}"/>
              </a:ext>
            </a:extLst>
          </p:cNvPr>
          <p:cNvSpPr>
            <a:spLocks noGrp="1"/>
          </p:cNvSpPr>
          <p:nvPr>
            <p:ph type="title"/>
          </p:nvPr>
        </p:nvSpPr>
        <p:spPr>
          <a:xfrm>
            <a:off x="838200" y="365126"/>
            <a:ext cx="7966166" cy="602284"/>
          </a:xfrm>
        </p:spPr>
        <p:txBody>
          <a:bodyPr>
            <a:normAutofit fontScale="90000"/>
          </a:bodyPr>
          <a:lstStyle/>
          <a:p>
            <a:r>
              <a:rPr lang="en-ZA" dirty="0"/>
              <a:t>Access</a:t>
            </a:r>
          </a:p>
        </p:txBody>
      </p:sp>
      <p:sp>
        <p:nvSpPr>
          <p:cNvPr id="3" name="Content Placeholder 2">
            <a:extLst>
              <a:ext uri="{FF2B5EF4-FFF2-40B4-BE49-F238E27FC236}">
                <a16:creationId xmlns:a16="http://schemas.microsoft.com/office/drawing/2014/main" xmlns="" id="{39D435A2-B6DC-A09D-F067-1F0B7BC5A3B6}"/>
              </a:ext>
            </a:extLst>
          </p:cNvPr>
          <p:cNvSpPr>
            <a:spLocks noGrp="1"/>
          </p:cNvSpPr>
          <p:nvPr>
            <p:ph idx="1"/>
          </p:nvPr>
        </p:nvSpPr>
        <p:spPr>
          <a:xfrm>
            <a:off x="198784" y="1205949"/>
            <a:ext cx="9037982" cy="5150402"/>
          </a:xfrm>
        </p:spPr>
        <p:txBody>
          <a:bodyPr/>
          <a:lstStyle/>
          <a:p>
            <a:pPr marL="0" indent="0" algn="just">
              <a:buNone/>
            </a:pPr>
            <a:r>
              <a:rPr lang="en-US" dirty="0"/>
              <a:t>Access is a crucial component in the digital divide. It involves obstacles that exist even if all the other remaining indicators are in place.</a:t>
            </a:r>
          </a:p>
          <a:p>
            <a:pPr marL="0" indent="0" algn="l">
              <a:buNone/>
            </a:pPr>
            <a:r>
              <a:rPr lang="en-US" b="0" i="0" u="none" strike="noStrike" baseline="0" dirty="0"/>
              <a:t>These obstacles can broadly be grouped into five categories:</a:t>
            </a:r>
          </a:p>
          <a:p>
            <a:r>
              <a:rPr lang="en-US" b="0" i="0" u="none" strike="noStrike" baseline="0" dirty="0"/>
              <a:t>Geography</a:t>
            </a:r>
          </a:p>
          <a:p>
            <a:r>
              <a:rPr lang="en-US" dirty="0"/>
              <a:t>I</a:t>
            </a:r>
            <a:r>
              <a:rPr lang="en-US" b="0" i="0" u="none" strike="noStrike" baseline="0" dirty="0"/>
              <a:t>ncome</a:t>
            </a:r>
          </a:p>
          <a:p>
            <a:r>
              <a:rPr lang="en-US" dirty="0"/>
              <a:t>E</a:t>
            </a:r>
            <a:r>
              <a:rPr lang="en-US" b="0" i="0" u="none" strike="noStrike" baseline="0" dirty="0"/>
              <a:t>thnicity</a:t>
            </a:r>
          </a:p>
          <a:p>
            <a:r>
              <a:rPr lang="en-US" dirty="0"/>
              <a:t>A</a:t>
            </a:r>
            <a:r>
              <a:rPr lang="en-US" b="0" i="0" u="none" strike="noStrike" baseline="0" dirty="0"/>
              <a:t>ge and </a:t>
            </a:r>
          </a:p>
          <a:p>
            <a:r>
              <a:rPr lang="en-US" dirty="0"/>
              <a:t>E</a:t>
            </a:r>
            <a:r>
              <a:rPr lang="en-US" b="0" i="0" u="none" strike="noStrike" baseline="0" dirty="0"/>
              <a:t>ducation.</a:t>
            </a:r>
            <a:endParaRPr lang="en-ZA" sz="4000" dirty="0"/>
          </a:p>
        </p:txBody>
      </p:sp>
      <p:sp>
        <p:nvSpPr>
          <p:cNvPr id="4" name="Date Placeholder 3">
            <a:extLst>
              <a:ext uri="{FF2B5EF4-FFF2-40B4-BE49-F238E27FC236}">
                <a16:creationId xmlns:a16="http://schemas.microsoft.com/office/drawing/2014/main" xmlns="" id="{2C82A045-80DD-F6CF-3E04-56563620C20E}"/>
              </a:ext>
            </a:extLst>
          </p:cNvPr>
          <p:cNvSpPr>
            <a:spLocks noGrp="1"/>
          </p:cNvSpPr>
          <p:nvPr>
            <p:ph type="dt" sz="half" idx="10"/>
          </p:nvPr>
        </p:nvSpPr>
        <p:spPr/>
        <p:txBody>
          <a:bodyPr/>
          <a:lstStyle/>
          <a:p>
            <a:r>
              <a:rPr lang="en-US"/>
              <a:t>2022</a:t>
            </a:r>
          </a:p>
        </p:txBody>
      </p:sp>
      <p:sp>
        <p:nvSpPr>
          <p:cNvPr id="5" name="Footer Placeholder 4">
            <a:extLst>
              <a:ext uri="{FF2B5EF4-FFF2-40B4-BE49-F238E27FC236}">
                <a16:creationId xmlns:a16="http://schemas.microsoft.com/office/drawing/2014/main" xmlns="" id="{CF93D4A7-28ED-06B2-C69D-A5321BFE4F39}"/>
              </a:ext>
            </a:extLst>
          </p:cNvPr>
          <p:cNvSpPr>
            <a:spLocks noGrp="1"/>
          </p:cNvSpPr>
          <p:nvPr>
            <p:ph type="ftr" sz="quarter" idx="11"/>
          </p:nvPr>
        </p:nvSpPr>
        <p:spPr/>
        <p:txBody>
          <a:bodyPr/>
          <a:lstStyle/>
          <a:p>
            <a:r>
              <a:rPr lang="en-US" dirty="0"/>
              <a:t>Revised: L Madamshetty Department</a:t>
            </a:r>
          </a:p>
        </p:txBody>
      </p:sp>
      <p:sp>
        <p:nvSpPr>
          <p:cNvPr id="6" name="Slide Number Placeholder 5">
            <a:extLst>
              <a:ext uri="{FF2B5EF4-FFF2-40B4-BE49-F238E27FC236}">
                <a16:creationId xmlns:a16="http://schemas.microsoft.com/office/drawing/2014/main" xmlns="" id="{30341F02-B195-037E-E333-4D42DF0EE98F}"/>
              </a:ext>
            </a:extLst>
          </p:cNvPr>
          <p:cNvSpPr>
            <a:spLocks noGrp="1"/>
          </p:cNvSpPr>
          <p:nvPr>
            <p:ph type="sldNum" sz="quarter" idx="12"/>
          </p:nvPr>
        </p:nvSpPr>
        <p:spPr/>
        <p:txBody>
          <a:bodyPr/>
          <a:lstStyle/>
          <a:p>
            <a:fld id="{4BC6B736-5C3F-44D2-98F1-D02D018BB5AF}" type="slidenum">
              <a:rPr lang="en-US" smtClean="0"/>
              <a:t>9</a:t>
            </a:fld>
            <a:endParaRPr lang="en-US"/>
          </a:p>
        </p:txBody>
      </p:sp>
    </p:spTree>
    <p:extLst>
      <p:ext uri="{BB962C8B-B14F-4D97-AF65-F5344CB8AC3E}">
        <p14:creationId xmlns:p14="http://schemas.microsoft.com/office/powerpoint/2010/main" val="2094450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xmlns="" id="{FAF4F971-282C-6473-ADBB-50ECCBDAE2AD}"/>
              </a:ext>
            </a:extLst>
          </p:cNvPr>
          <p:cNvSpPr>
            <a:spLocks noGrp="1"/>
          </p:cNvSpPr>
          <p:nvPr>
            <p:ph type="dt" sz="half" idx="10"/>
          </p:nvPr>
        </p:nvSpPr>
        <p:spPr/>
        <p:txBody>
          <a:bodyPr/>
          <a:lstStyle/>
          <a:p>
            <a:r>
              <a:rPr lang="en-US"/>
              <a:t>2022</a:t>
            </a:r>
          </a:p>
        </p:txBody>
      </p:sp>
      <p:sp>
        <p:nvSpPr>
          <p:cNvPr id="4" name="Footer Placeholder 3">
            <a:extLst>
              <a:ext uri="{FF2B5EF4-FFF2-40B4-BE49-F238E27FC236}">
                <a16:creationId xmlns:a16="http://schemas.microsoft.com/office/drawing/2014/main" xmlns="" id="{C6EB9247-B3E3-6E86-77DF-D23CBD7E3B23}"/>
              </a:ext>
            </a:extLst>
          </p:cNvPr>
          <p:cNvSpPr>
            <a:spLocks noGrp="1"/>
          </p:cNvSpPr>
          <p:nvPr>
            <p:ph type="ftr" sz="quarter" idx="11"/>
          </p:nvPr>
        </p:nvSpPr>
        <p:spPr/>
        <p:txBody>
          <a:bodyPr/>
          <a:lstStyle/>
          <a:p>
            <a:r>
              <a:rPr lang="en-US"/>
              <a:t>Revised: L Madamshetty Department Of IS</a:t>
            </a:r>
            <a:endParaRPr lang="en-US" dirty="0"/>
          </a:p>
        </p:txBody>
      </p:sp>
      <p:sp>
        <p:nvSpPr>
          <p:cNvPr id="5" name="Slide Number Placeholder 4">
            <a:extLst>
              <a:ext uri="{FF2B5EF4-FFF2-40B4-BE49-F238E27FC236}">
                <a16:creationId xmlns:a16="http://schemas.microsoft.com/office/drawing/2014/main" xmlns="" id="{DC4CEF12-9985-113E-7964-BE07017C8B70}"/>
              </a:ext>
            </a:extLst>
          </p:cNvPr>
          <p:cNvSpPr>
            <a:spLocks noGrp="1"/>
          </p:cNvSpPr>
          <p:nvPr>
            <p:ph type="sldNum" sz="quarter" idx="12"/>
          </p:nvPr>
        </p:nvSpPr>
        <p:spPr/>
        <p:txBody>
          <a:bodyPr/>
          <a:lstStyle/>
          <a:p>
            <a:fld id="{4BC6B736-5C3F-44D2-98F1-D02D018BB5AF}" type="slidenum">
              <a:rPr lang="en-US" smtClean="0"/>
              <a:t>10</a:t>
            </a:fld>
            <a:endParaRPr lang="en-US"/>
          </a:p>
        </p:txBody>
      </p:sp>
      <p:pic>
        <p:nvPicPr>
          <p:cNvPr id="6" name="Picture 5">
            <a:extLst>
              <a:ext uri="{FF2B5EF4-FFF2-40B4-BE49-F238E27FC236}">
                <a16:creationId xmlns:a16="http://schemas.microsoft.com/office/drawing/2014/main" xmlns="" id="{2558065B-1621-13CB-160B-9524785FD499}"/>
              </a:ext>
            </a:extLst>
          </p:cNvPr>
          <p:cNvPicPr>
            <a:picLocks noChangeAspect="1"/>
          </p:cNvPicPr>
          <p:nvPr/>
        </p:nvPicPr>
        <p:blipFill>
          <a:blip r:embed="rId2"/>
          <a:stretch>
            <a:fillRect/>
          </a:stretch>
        </p:blipFill>
        <p:spPr>
          <a:xfrm>
            <a:off x="159026" y="251792"/>
            <a:ext cx="5751444" cy="4267200"/>
          </a:xfrm>
          <a:prstGeom prst="rect">
            <a:avLst/>
          </a:prstGeom>
        </p:spPr>
      </p:pic>
      <p:pic>
        <p:nvPicPr>
          <p:cNvPr id="8" name="Picture 7">
            <a:extLst>
              <a:ext uri="{FF2B5EF4-FFF2-40B4-BE49-F238E27FC236}">
                <a16:creationId xmlns:a16="http://schemas.microsoft.com/office/drawing/2014/main" xmlns="" id="{603933CE-C3C1-A158-305D-2A327BE90B57}"/>
              </a:ext>
            </a:extLst>
          </p:cNvPr>
          <p:cNvPicPr>
            <a:picLocks noChangeAspect="1"/>
          </p:cNvPicPr>
          <p:nvPr/>
        </p:nvPicPr>
        <p:blipFill>
          <a:blip r:embed="rId3"/>
          <a:stretch>
            <a:fillRect/>
          </a:stretch>
        </p:blipFill>
        <p:spPr>
          <a:xfrm>
            <a:off x="6096000" y="1749287"/>
            <a:ext cx="5539409" cy="4386470"/>
          </a:xfrm>
          <a:prstGeom prst="rect">
            <a:avLst/>
          </a:prstGeom>
        </p:spPr>
      </p:pic>
    </p:spTree>
    <p:extLst>
      <p:ext uri="{BB962C8B-B14F-4D97-AF65-F5344CB8AC3E}">
        <p14:creationId xmlns:p14="http://schemas.microsoft.com/office/powerpoint/2010/main" val="1312606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xmlns="" id="{07C76B8A-DEC4-4C1B-37F6-818BAA52AFF9}"/>
              </a:ext>
            </a:extLst>
          </p:cNvPr>
          <p:cNvPicPr>
            <a:picLocks noGrp="1" noChangeAspect="1"/>
          </p:cNvPicPr>
          <p:nvPr>
            <p:ph idx="1"/>
          </p:nvPr>
        </p:nvPicPr>
        <p:blipFill>
          <a:blip r:embed="rId2"/>
          <a:stretch>
            <a:fillRect/>
          </a:stretch>
        </p:blipFill>
        <p:spPr>
          <a:xfrm>
            <a:off x="62026" y="285816"/>
            <a:ext cx="5358113" cy="5277332"/>
          </a:xfrm>
          <a:prstGeom prst="rect">
            <a:avLst/>
          </a:prstGeom>
        </p:spPr>
      </p:pic>
      <p:sp>
        <p:nvSpPr>
          <p:cNvPr id="4" name="Date Placeholder 3">
            <a:extLst>
              <a:ext uri="{FF2B5EF4-FFF2-40B4-BE49-F238E27FC236}">
                <a16:creationId xmlns:a16="http://schemas.microsoft.com/office/drawing/2014/main" xmlns="" id="{197AE070-737F-EC47-1201-F80684CF18FB}"/>
              </a:ext>
            </a:extLst>
          </p:cNvPr>
          <p:cNvSpPr>
            <a:spLocks noGrp="1"/>
          </p:cNvSpPr>
          <p:nvPr>
            <p:ph type="dt" sz="half" idx="10"/>
          </p:nvPr>
        </p:nvSpPr>
        <p:spPr/>
        <p:txBody>
          <a:bodyPr/>
          <a:lstStyle/>
          <a:p>
            <a:r>
              <a:rPr lang="en-US"/>
              <a:t>2022</a:t>
            </a:r>
          </a:p>
        </p:txBody>
      </p:sp>
      <p:sp>
        <p:nvSpPr>
          <p:cNvPr id="5" name="Footer Placeholder 4">
            <a:extLst>
              <a:ext uri="{FF2B5EF4-FFF2-40B4-BE49-F238E27FC236}">
                <a16:creationId xmlns:a16="http://schemas.microsoft.com/office/drawing/2014/main" xmlns="" id="{DAACFBB4-8AF1-505B-7D98-7AC60CE661EE}"/>
              </a:ext>
            </a:extLst>
          </p:cNvPr>
          <p:cNvSpPr>
            <a:spLocks noGrp="1"/>
          </p:cNvSpPr>
          <p:nvPr>
            <p:ph type="ftr" sz="quarter" idx="11"/>
          </p:nvPr>
        </p:nvSpPr>
        <p:spPr/>
        <p:txBody>
          <a:bodyPr/>
          <a:lstStyle/>
          <a:p>
            <a:r>
              <a:rPr lang="en-US" dirty="0"/>
              <a:t>Revised: L Madamshetty Department</a:t>
            </a:r>
          </a:p>
        </p:txBody>
      </p:sp>
      <p:sp>
        <p:nvSpPr>
          <p:cNvPr id="6" name="Slide Number Placeholder 5">
            <a:extLst>
              <a:ext uri="{FF2B5EF4-FFF2-40B4-BE49-F238E27FC236}">
                <a16:creationId xmlns:a16="http://schemas.microsoft.com/office/drawing/2014/main" xmlns="" id="{318BBBFC-CDED-A25B-A632-6051CA015E40}"/>
              </a:ext>
            </a:extLst>
          </p:cNvPr>
          <p:cNvSpPr>
            <a:spLocks noGrp="1"/>
          </p:cNvSpPr>
          <p:nvPr>
            <p:ph type="sldNum" sz="quarter" idx="12"/>
          </p:nvPr>
        </p:nvSpPr>
        <p:spPr/>
        <p:txBody>
          <a:bodyPr/>
          <a:lstStyle/>
          <a:p>
            <a:fld id="{4BC6B736-5C3F-44D2-98F1-D02D018BB5AF}" type="slidenum">
              <a:rPr lang="en-US" smtClean="0"/>
              <a:t>11</a:t>
            </a:fld>
            <a:endParaRPr lang="en-US"/>
          </a:p>
        </p:txBody>
      </p:sp>
      <p:sp>
        <p:nvSpPr>
          <p:cNvPr id="9" name="TextBox 8">
            <a:extLst>
              <a:ext uri="{FF2B5EF4-FFF2-40B4-BE49-F238E27FC236}">
                <a16:creationId xmlns:a16="http://schemas.microsoft.com/office/drawing/2014/main" xmlns="" id="{F7029AC2-156F-BC66-70B5-81BE6435213B}"/>
              </a:ext>
            </a:extLst>
          </p:cNvPr>
          <p:cNvSpPr txBox="1"/>
          <p:nvPr/>
        </p:nvSpPr>
        <p:spPr>
          <a:xfrm>
            <a:off x="-59634" y="5563148"/>
            <a:ext cx="6380922" cy="646331"/>
          </a:xfrm>
          <a:prstGeom prst="rect">
            <a:avLst/>
          </a:prstGeom>
          <a:noFill/>
        </p:spPr>
        <p:txBody>
          <a:bodyPr wrap="square">
            <a:spAutoFit/>
          </a:bodyPr>
          <a:lstStyle/>
          <a:p>
            <a:r>
              <a:rPr lang="en-ZA" dirty="0"/>
              <a:t>https://www.statista.com/statistics/972866/south-africa-mobile-internet-penetration/</a:t>
            </a:r>
          </a:p>
        </p:txBody>
      </p:sp>
      <p:sp>
        <p:nvSpPr>
          <p:cNvPr id="11" name="TextBox 10">
            <a:extLst>
              <a:ext uri="{FF2B5EF4-FFF2-40B4-BE49-F238E27FC236}">
                <a16:creationId xmlns:a16="http://schemas.microsoft.com/office/drawing/2014/main" xmlns="" id="{73EE4139-6076-88E2-9A96-70462493DE69}"/>
              </a:ext>
            </a:extLst>
          </p:cNvPr>
          <p:cNvSpPr txBox="1"/>
          <p:nvPr/>
        </p:nvSpPr>
        <p:spPr>
          <a:xfrm>
            <a:off x="6096000" y="5729036"/>
            <a:ext cx="5324521" cy="369332"/>
          </a:xfrm>
          <a:prstGeom prst="rect">
            <a:avLst/>
          </a:prstGeom>
          <a:noFill/>
        </p:spPr>
        <p:txBody>
          <a:bodyPr wrap="square">
            <a:spAutoFit/>
          </a:bodyPr>
          <a:lstStyle/>
          <a:p>
            <a:r>
              <a:rPr lang="en-US" dirty="0"/>
              <a:t>The State of the ICT Sector Report in South Africa 2021</a:t>
            </a:r>
            <a:endParaRPr lang="en-ZA" dirty="0"/>
          </a:p>
        </p:txBody>
      </p:sp>
      <p:pic>
        <p:nvPicPr>
          <p:cNvPr id="13" name="Picture 12">
            <a:extLst>
              <a:ext uri="{FF2B5EF4-FFF2-40B4-BE49-F238E27FC236}">
                <a16:creationId xmlns:a16="http://schemas.microsoft.com/office/drawing/2014/main" xmlns="" id="{BDA0474F-2C27-B005-1A14-FAF18CC0A0E9}"/>
              </a:ext>
            </a:extLst>
          </p:cNvPr>
          <p:cNvPicPr>
            <a:picLocks noChangeAspect="1"/>
          </p:cNvPicPr>
          <p:nvPr/>
        </p:nvPicPr>
        <p:blipFill>
          <a:blip r:embed="rId3"/>
          <a:stretch>
            <a:fillRect/>
          </a:stretch>
        </p:blipFill>
        <p:spPr>
          <a:xfrm>
            <a:off x="5541800" y="1908312"/>
            <a:ext cx="6588174" cy="3654835"/>
          </a:xfrm>
          <a:prstGeom prst="rect">
            <a:avLst/>
          </a:prstGeom>
        </p:spPr>
      </p:pic>
    </p:spTree>
    <p:extLst>
      <p:ext uri="{BB962C8B-B14F-4D97-AF65-F5344CB8AC3E}">
        <p14:creationId xmlns:p14="http://schemas.microsoft.com/office/powerpoint/2010/main" val="267049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D2E1BA-0CD7-22AB-7EA2-A0059A8ECBD0}"/>
              </a:ext>
            </a:extLst>
          </p:cNvPr>
          <p:cNvSpPr>
            <a:spLocks noGrp="1"/>
          </p:cNvSpPr>
          <p:nvPr>
            <p:ph type="title"/>
          </p:nvPr>
        </p:nvSpPr>
        <p:spPr>
          <a:xfrm>
            <a:off x="132522" y="365125"/>
            <a:ext cx="8852452" cy="1325563"/>
          </a:xfrm>
        </p:spPr>
        <p:txBody>
          <a:bodyPr>
            <a:normAutofit/>
          </a:bodyPr>
          <a:lstStyle/>
          <a:p>
            <a:r>
              <a:rPr lang="en-US" dirty="0"/>
              <a:t>Distribution of internet users in South Africa as of 2021, by age group</a:t>
            </a:r>
            <a:endParaRPr lang="en-ZA" dirty="0"/>
          </a:p>
        </p:txBody>
      </p:sp>
      <p:sp>
        <p:nvSpPr>
          <p:cNvPr id="3" name="Date Placeholder 2">
            <a:extLst>
              <a:ext uri="{FF2B5EF4-FFF2-40B4-BE49-F238E27FC236}">
                <a16:creationId xmlns:a16="http://schemas.microsoft.com/office/drawing/2014/main" xmlns="" id="{3C263BA6-B5F8-6597-6A37-8F640A3975F7}"/>
              </a:ext>
            </a:extLst>
          </p:cNvPr>
          <p:cNvSpPr>
            <a:spLocks noGrp="1"/>
          </p:cNvSpPr>
          <p:nvPr>
            <p:ph type="dt" sz="half" idx="10"/>
          </p:nvPr>
        </p:nvSpPr>
        <p:spPr/>
        <p:txBody>
          <a:bodyPr/>
          <a:lstStyle/>
          <a:p>
            <a:r>
              <a:rPr lang="en-US"/>
              <a:t>2022</a:t>
            </a:r>
          </a:p>
        </p:txBody>
      </p:sp>
      <p:sp>
        <p:nvSpPr>
          <p:cNvPr id="4" name="Footer Placeholder 3">
            <a:extLst>
              <a:ext uri="{FF2B5EF4-FFF2-40B4-BE49-F238E27FC236}">
                <a16:creationId xmlns:a16="http://schemas.microsoft.com/office/drawing/2014/main" xmlns="" id="{A7C6BB41-347F-655B-5747-049B3DBDEAE4}"/>
              </a:ext>
            </a:extLst>
          </p:cNvPr>
          <p:cNvSpPr>
            <a:spLocks noGrp="1"/>
          </p:cNvSpPr>
          <p:nvPr>
            <p:ph type="ftr" sz="quarter" idx="11"/>
          </p:nvPr>
        </p:nvSpPr>
        <p:spPr/>
        <p:txBody>
          <a:bodyPr/>
          <a:lstStyle/>
          <a:p>
            <a:r>
              <a:rPr lang="en-US"/>
              <a:t>Revised: L Madamshetty Department Of IS</a:t>
            </a:r>
            <a:endParaRPr lang="en-US" dirty="0"/>
          </a:p>
        </p:txBody>
      </p:sp>
      <p:sp>
        <p:nvSpPr>
          <p:cNvPr id="5" name="Slide Number Placeholder 4">
            <a:extLst>
              <a:ext uri="{FF2B5EF4-FFF2-40B4-BE49-F238E27FC236}">
                <a16:creationId xmlns:a16="http://schemas.microsoft.com/office/drawing/2014/main" xmlns="" id="{35752865-AEB9-681D-E317-8A07B4DD6ABD}"/>
              </a:ext>
            </a:extLst>
          </p:cNvPr>
          <p:cNvSpPr>
            <a:spLocks noGrp="1"/>
          </p:cNvSpPr>
          <p:nvPr>
            <p:ph type="sldNum" sz="quarter" idx="12"/>
          </p:nvPr>
        </p:nvSpPr>
        <p:spPr/>
        <p:txBody>
          <a:bodyPr/>
          <a:lstStyle/>
          <a:p>
            <a:fld id="{4BC6B736-5C3F-44D2-98F1-D02D018BB5AF}" type="slidenum">
              <a:rPr lang="en-US" smtClean="0"/>
              <a:t>12</a:t>
            </a:fld>
            <a:endParaRPr lang="en-US"/>
          </a:p>
        </p:txBody>
      </p:sp>
      <p:pic>
        <p:nvPicPr>
          <p:cNvPr id="7" name="Picture 6">
            <a:extLst>
              <a:ext uri="{FF2B5EF4-FFF2-40B4-BE49-F238E27FC236}">
                <a16:creationId xmlns:a16="http://schemas.microsoft.com/office/drawing/2014/main" xmlns="" id="{8CC87FB3-0FF6-118B-D7B1-B8E3BB9DF413}"/>
              </a:ext>
            </a:extLst>
          </p:cNvPr>
          <p:cNvPicPr>
            <a:picLocks noChangeAspect="1"/>
          </p:cNvPicPr>
          <p:nvPr/>
        </p:nvPicPr>
        <p:blipFill>
          <a:blip r:embed="rId2"/>
          <a:stretch>
            <a:fillRect/>
          </a:stretch>
        </p:blipFill>
        <p:spPr>
          <a:xfrm>
            <a:off x="132522" y="1741963"/>
            <a:ext cx="6066183" cy="4301028"/>
          </a:xfrm>
          <a:prstGeom prst="rect">
            <a:avLst/>
          </a:prstGeom>
        </p:spPr>
      </p:pic>
      <p:pic>
        <p:nvPicPr>
          <p:cNvPr id="9" name="Picture 8">
            <a:extLst>
              <a:ext uri="{FF2B5EF4-FFF2-40B4-BE49-F238E27FC236}">
                <a16:creationId xmlns:a16="http://schemas.microsoft.com/office/drawing/2014/main" xmlns="" id="{C6CEBA20-2FEB-DA8C-524E-248F2DB2CDB8}"/>
              </a:ext>
            </a:extLst>
          </p:cNvPr>
          <p:cNvPicPr>
            <a:picLocks noChangeAspect="1"/>
          </p:cNvPicPr>
          <p:nvPr/>
        </p:nvPicPr>
        <p:blipFill>
          <a:blip r:embed="rId3"/>
          <a:stretch>
            <a:fillRect/>
          </a:stretch>
        </p:blipFill>
        <p:spPr>
          <a:xfrm>
            <a:off x="6304728" y="1741963"/>
            <a:ext cx="5887272" cy="4195011"/>
          </a:xfrm>
          <a:prstGeom prst="rect">
            <a:avLst/>
          </a:prstGeom>
        </p:spPr>
      </p:pic>
      <p:sp>
        <p:nvSpPr>
          <p:cNvPr id="11" name="TextBox 10">
            <a:extLst>
              <a:ext uri="{FF2B5EF4-FFF2-40B4-BE49-F238E27FC236}">
                <a16:creationId xmlns:a16="http://schemas.microsoft.com/office/drawing/2014/main" xmlns="" id="{2E4F58F5-466A-AFF9-75CE-BE880A476AD0}"/>
              </a:ext>
            </a:extLst>
          </p:cNvPr>
          <p:cNvSpPr txBox="1"/>
          <p:nvPr/>
        </p:nvSpPr>
        <p:spPr>
          <a:xfrm>
            <a:off x="6483626" y="5886072"/>
            <a:ext cx="6155634" cy="369332"/>
          </a:xfrm>
          <a:prstGeom prst="rect">
            <a:avLst/>
          </a:prstGeom>
          <a:noFill/>
        </p:spPr>
        <p:txBody>
          <a:bodyPr wrap="square">
            <a:spAutoFit/>
          </a:bodyPr>
          <a:lstStyle/>
          <a:p>
            <a:r>
              <a:rPr lang="en-ZA" dirty="0"/>
              <a:t>https://mediahack.co.za/datastories/schools-internet/</a:t>
            </a:r>
          </a:p>
        </p:txBody>
      </p:sp>
    </p:spTree>
    <p:extLst>
      <p:ext uri="{BB962C8B-B14F-4D97-AF65-F5344CB8AC3E}">
        <p14:creationId xmlns:p14="http://schemas.microsoft.com/office/powerpoint/2010/main" val="4076733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916B04-43C7-6BF4-2E67-6699B218B390}"/>
              </a:ext>
            </a:extLst>
          </p:cNvPr>
          <p:cNvSpPr>
            <a:spLocks noGrp="1"/>
          </p:cNvSpPr>
          <p:nvPr>
            <p:ph type="title"/>
          </p:nvPr>
        </p:nvSpPr>
        <p:spPr>
          <a:xfrm>
            <a:off x="187234" y="236433"/>
            <a:ext cx="7966166" cy="662782"/>
          </a:xfrm>
        </p:spPr>
        <p:txBody>
          <a:bodyPr>
            <a:normAutofit fontScale="90000"/>
          </a:bodyPr>
          <a:lstStyle/>
          <a:p>
            <a:r>
              <a:rPr lang="en-ZA" dirty="0"/>
              <a:t>Technology</a:t>
            </a:r>
          </a:p>
        </p:txBody>
      </p:sp>
      <p:sp>
        <p:nvSpPr>
          <p:cNvPr id="3" name="Content Placeholder 2">
            <a:extLst>
              <a:ext uri="{FF2B5EF4-FFF2-40B4-BE49-F238E27FC236}">
                <a16:creationId xmlns:a16="http://schemas.microsoft.com/office/drawing/2014/main" xmlns="" id="{35419744-CF1A-98C9-BF3D-586A5A491394}"/>
              </a:ext>
            </a:extLst>
          </p:cNvPr>
          <p:cNvSpPr>
            <a:spLocks noGrp="1"/>
          </p:cNvSpPr>
          <p:nvPr>
            <p:ph idx="1"/>
          </p:nvPr>
        </p:nvSpPr>
        <p:spPr>
          <a:xfrm>
            <a:off x="387626" y="899215"/>
            <a:ext cx="8676861" cy="5059571"/>
          </a:xfrm>
        </p:spPr>
        <p:txBody>
          <a:bodyPr/>
          <a:lstStyle/>
          <a:p>
            <a:pPr marL="0" indent="0" algn="just">
              <a:buNone/>
            </a:pPr>
            <a:r>
              <a:rPr lang="en-US" dirty="0"/>
              <a:t>The computer-driven technological revolution has brought the countries of the world closer together. In their study of the digital divide, Rodriquez and Wilson observed that all developing countries, including the poorest, are improving their access to the use of ICT.</a:t>
            </a:r>
          </a:p>
          <a:p>
            <a:pPr marL="0" indent="0" algn="just">
              <a:buNone/>
            </a:pPr>
            <a:r>
              <a:rPr lang="en-US" dirty="0"/>
              <a:t>Investment of Technology is usually in the form of :</a:t>
            </a:r>
          </a:p>
          <a:p>
            <a:pPr algn="just"/>
            <a:r>
              <a:rPr lang="en-US" dirty="0"/>
              <a:t>Hardware</a:t>
            </a:r>
          </a:p>
          <a:p>
            <a:pPr algn="just"/>
            <a:r>
              <a:rPr lang="en-US" dirty="0"/>
              <a:t>Software</a:t>
            </a:r>
          </a:p>
          <a:p>
            <a:endParaRPr lang="en-ZA" dirty="0"/>
          </a:p>
        </p:txBody>
      </p:sp>
      <p:sp>
        <p:nvSpPr>
          <p:cNvPr id="4" name="Date Placeholder 3">
            <a:extLst>
              <a:ext uri="{FF2B5EF4-FFF2-40B4-BE49-F238E27FC236}">
                <a16:creationId xmlns:a16="http://schemas.microsoft.com/office/drawing/2014/main" xmlns="" id="{71BB782E-25D7-E9F8-2109-B7CB1270585F}"/>
              </a:ext>
            </a:extLst>
          </p:cNvPr>
          <p:cNvSpPr>
            <a:spLocks noGrp="1"/>
          </p:cNvSpPr>
          <p:nvPr>
            <p:ph type="dt" sz="half" idx="10"/>
          </p:nvPr>
        </p:nvSpPr>
        <p:spPr/>
        <p:txBody>
          <a:bodyPr/>
          <a:lstStyle/>
          <a:p>
            <a:r>
              <a:rPr lang="en-US"/>
              <a:t>2022</a:t>
            </a:r>
          </a:p>
        </p:txBody>
      </p:sp>
      <p:sp>
        <p:nvSpPr>
          <p:cNvPr id="5" name="Footer Placeholder 4">
            <a:extLst>
              <a:ext uri="{FF2B5EF4-FFF2-40B4-BE49-F238E27FC236}">
                <a16:creationId xmlns:a16="http://schemas.microsoft.com/office/drawing/2014/main" xmlns="" id="{6E66AEE1-3119-6F51-ED00-B38F9E2AE0BB}"/>
              </a:ext>
            </a:extLst>
          </p:cNvPr>
          <p:cNvSpPr>
            <a:spLocks noGrp="1"/>
          </p:cNvSpPr>
          <p:nvPr>
            <p:ph type="ftr" sz="quarter" idx="11"/>
          </p:nvPr>
        </p:nvSpPr>
        <p:spPr/>
        <p:txBody>
          <a:bodyPr/>
          <a:lstStyle/>
          <a:p>
            <a:r>
              <a:rPr lang="en-US" dirty="0"/>
              <a:t>Revised: L Madamshetty Department</a:t>
            </a:r>
          </a:p>
        </p:txBody>
      </p:sp>
      <p:sp>
        <p:nvSpPr>
          <p:cNvPr id="6" name="Slide Number Placeholder 5">
            <a:extLst>
              <a:ext uri="{FF2B5EF4-FFF2-40B4-BE49-F238E27FC236}">
                <a16:creationId xmlns:a16="http://schemas.microsoft.com/office/drawing/2014/main" xmlns="" id="{710ACFCC-6100-7F17-5687-6244749E9F7C}"/>
              </a:ext>
            </a:extLst>
          </p:cNvPr>
          <p:cNvSpPr>
            <a:spLocks noGrp="1"/>
          </p:cNvSpPr>
          <p:nvPr>
            <p:ph type="sldNum" sz="quarter" idx="12"/>
          </p:nvPr>
        </p:nvSpPr>
        <p:spPr/>
        <p:txBody>
          <a:bodyPr/>
          <a:lstStyle/>
          <a:p>
            <a:fld id="{4BC6B736-5C3F-44D2-98F1-D02D018BB5AF}" type="slidenum">
              <a:rPr lang="en-US" smtClean="0"/>
              <a:t>13</a:t>
            </a:fld>
            <a:endParaRPr lang="en-US"/>
          </a:p>
        </p:txBody>
      </p:sp>
    </p:spTree>
    <p:extLst>
      <p:ext uri="{BB962C8B-B14F-4D97-AF65-F5344CB8AC3E}">
        <p14:creationId xmlns:p14="http://schemas.microsoft.com/office/powerpoint/2010/main" val="30313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79A0E6-4F83-1377-463C-20ADC260A612}"/>
              </a:ext>
            </a:extLst>
          </p:cNvPr>
          <p:cNvSpPr>
            <a:spLocks noGrp="1"/>
          </p:cNvSpPr>
          <p:nvPr>
            <p:ph type="title"/>
          </p:nvPr>
        </p:nvSpPr>
        <p:spPr>
          <a:xfrm>
            <a:off x="187234" y="136525"/>
            <a:ext cx="7966166" cy="529397"/>
          </a:xfrm>
        </p:spPr>
        <p:txBody>
          <a:bodyPr>
            <a:normAutofit fontScale="90000"/>
          </a:bodyPr>
          <a:lstStyle/>
          <a:p>
            <a:r>
              <a:rPr lang="en-ZA" dirty="0"/>
              <a:t>Human ware (Human Capacity)</a:t>
            </a:r>
          </a:p>
        </p:txBody>
      </p:sp>
      <p:sp>
        <p:nvSpPr>
          <p:cNvPr id="3" name="Content Placeholder 2">
            <a:extLst>
              <a:ext uri="{FF2B5EF4-FFF2-40B4-BE49-F238E27FC236}">
                <a16:creationId xmlns:a16="http://schemas.microsoft.com/office/drawing/2014/main" xmlns="" id="{76C522D9-EBCA-F48F-1F42-13A73C3D3088}"/>
              </a:ext>
            </a:extLst>
          </p:cNvPr>
          <p:cNvSpPr>
            <a:spLocks noGrp="1"/>
          </p:cNvSpPr>
          <p:nvPr>
            <p:ph idx="1"/>
          </p:nvPr>
        </p:nvSpPr>
        <p:spPr>
          <a:xfrm>
            <a:off x="187234" y="927653"/>
            <a:ext cx="8930262" cy="5035826"/>
          </a:xfrm>
        </p:spPr>
        <p:txBody>
          <a:bodyPr>
            <a:normAutofit fontScale="92500"/>
          </a:bodyPr>
          <a:lstStyle/>
          <a:p>
            <a:pPr marL="0" indent="0" algn="just">
              <a:buNone/>
            </a:pPr>
            <a:r>
              <a:rPr lang="en-US" dirty="0"/>
              <a:t>Human capacity development is a complex multifaceted endeavor consisting of many parts including  :</a:t>
            </a:r>
          </a:p>
          <a:p>
            <a:pPr algn="just"/>
            <a:r>
              <a:rPr lang="en-US" dirty="0"/>
              <a:t>Creating awareness of the potential for ICT to meet one’s needs</a:t>
            </a:r>
          </a:p>
          <a:p>
            <a:pPr algn="just"/>
            <a:r>
              <a:rPr lang="en-US" dirty="0"/>
              <a:t>Creating, developing, and strengthening capacity to use information and ICT effectively, using local inputs</a:t>
            </a:r>
          </a:p>
          <a:p>
            <a:pPr algn="just"/>
            <a:r>
              <a:rPr lang="en-US" dirty="0"/>
              <a:t>Building capacity to produce and package information so that it adds value to local inputs</a:t>
            </a:r>
          </a:p>
          <a:p>
            <a:pPr algn="just"/>
            <a:r>
              <a:rPr lang="en-US" dirty="0"/>
              <a:t>Ensuring ongoing technical capacity development and developing a format  for knowledge and information sharing</a:t>
            </a:r>
          </a:p>
          <a:p>
            <a:pPr algn="just"/>
            <a:r>
              <a:rPr lang="en-US" dirty="0"/>
              <a:t>Preventing the local capacity from being drained to other, usually developed countries</a:t>
            </a:r>
            <a:endParaRPr lang="en-ZA" dirty="0"/>
          </a:p>
        </p:txBody>
      </p:sp>
      <p:sp>
        <p:nvSpPr>
          <p:cNvPr id="4" name="Date Placeholder 3">
            <a:extLst>
              <a:ext uri="{FF2B5EF4-FFF2-40B4-BE49-F238E27FC236}">
                <a16:creationId xmlns:a16="http://schemas.microsoft.com/office/drawing/2014/main" xmlns="" id="{C61835C3-E264-E506-FEEE-36360ECAB6B2}"/>
              </a:ext>
            </a:extLst>
          </p:cNvPr>
          <p:cNvSpPr>
            <a:spLocks noGrp="1"/>
          </p:cNvSpPr>
          <p:nvPr>
            <p:ph type="dt" sz="half" idx="10"/>
          </p:nvPr>
        </p:nvSpPr>
        <p:spPr/>
        <p:txBody>
          <a:bodyPr/>
          <a:lstStyle/>
          <a:p>
            <a:r>
              <a:rPr lang="en-US"/>
              <a:t>2022</a:t>
            </a:r>
          </a:p>
        </p:txBody>
      </p:sp>
      <p:sp>
        <p:nvSpPr>
          <p:cNvPr id="5" name="Footer Placeholder 4">
            <a:extLst>
              <a:ext uri="{FF2B5EF4-FFF2-40B4-BE49-F238E27FC236}">
                <a16:creationId xmlns:a16="http://schemas.microsoft.com/office/drawing/2014/main" xmlns="" id="{50478C6C-D148-65C2-A139-B8AD9D606753}"/>
              </a:ext>
            </a:extLst>
          </p:cNvPr>
          <p:cNvSpPr>
            <a:spLocks noGrp="1"/>
          </p:cNvSpPr>
          <p:nvPr>
            <p:ph type="ftr" sz="quarter" idx="11"/>
          </p:nvPr>
        </p:nvSpPr>
        <p:spPr/>
        <p:txBody>
          <a:bodyPr/>
          <a:lstStyle/>
          <a:p>
            <a:r>
              <a:rPr lang="en-US" dirty="0"/>
              <a:t>Revised: L Madamshetty Department</a:t>
            </a:r>
          </a:p>
        </p:txBody>
      </p:sp>
      <p:sp>
        <p:nvSpPr>
          <p:cNvPr id="6" name="Slide Number Placeholder 5">
            <a:extLst>
              <a:ext uri="{FF2B5EF4-FFF2-40B4-BE49-F238E27FC236}">
                <a16:creationId xmlns:a16="http://schemas.microsoft.com/office/drawing/2014/main" xmlns="" id="{C0C8828B-75AD-63BF-C5AA-2342BAF1E5A6}"/>
              </a:ext>
            </a:extLst>
          </p:cNvPr>
          <p:cNvSpPr>
            <a:spLocks noGrp="1"/>
          </p:cNvSpPr>
          <p:nvPr>
            <p:ph type="sldNum" sz="quarter" idx="12"/>
          </p:nvPr>
        </p:nvSpPr>
        <p:spPr/>
        <p:txBody>
          <a:bodyPr/>
          <a:lstStyle/>
          <a:p>
            <a:fld id="{4BC6B736-5C3F-44D2-98F1-D02D018BB5AF}" type="slidenum">
              <a:rPr lang="en-US" smtClean="0"/>
              <a:t>14</a:t>
            </a:fld>
            <a:endParaRPr lang="en-US"/>
          </a:p>
        </p:txBody>
      </p:sp>
    </p:spTree>
    <p:extLst>
      <p:ext uri="{BB962C8B-B14F-4D97-AF65-F5344CB8AC3E}">
        <p14:creationId xmlns:p14="http://schemas.microsoft.com/office/powerpoint/2010/main" val="271724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61E4A2-B45A-9FF5-41EA-298AEAB1F43A}"/>
              </a:ext>
            </a:extLst>
          </p:cNvPr>
          <p:cNvSpPr>
            <a:spLocks noGrp="1"/>
          </p:cNvSpPr>
          <p:nvPr>
            <p:ph type="title"/>
          </p:nvPr>
        </p:nvSpPr>
        <p:spPr>
          <a:xfrm>
            <a:off x="187234" y="259109"/>
            <a:ext cx="7966166" cy="480362"/>
          </a:xfrm>
        </p:spPr>
        <p:txBody>
          <a:bodyPr>
            <a:normAutofit fontScale="90000"/>
          </a:bodyPr>
          <a:lstStyle/>
          <a:p>
            <a:r>
              <a:rPr lang="en-ZA" dirty="0"/>
              <a:t>Infrastructure</a:t>
            </a:r>
          </a:p>
        </p:txBody>
      </p:sp>
      <p:sp>
        <p:nvSpPr>
          <p:cNvPr id="3" name="Content Placeholder 2">
            <a:extLst>
              <a:ext uri="{FF2B5EF4-FFF2-40B4-BE49-F238E27FC236}">
                <a16:creationId xmlns:a16="http://schemas.microsoft.com/office/drawing/2014/main" xmlns="" id="{E44DBE0F-29AD-3F96-E1B2-8DE5366546F2}"/>
              </a:ext>
            </a:extLst>
          </p:cNvPr>
          <p:cNvSpPr>
            <a:spLocks noGrp="1"/>
          </p:cNvSpPr>
          <p:nvPr>
            <p:ph idx="1"/>
          </p:nvPr>
        </p:nvSpPr>
        <p:spPr>
          <a:xfrm>
            <a:off x="122583" y="1060175"/>
            <a:ext cx="8743121" cy="4713080"/>
          </a:xfrm>
        </p:spPr>
        <p:txBody>
          <a:bodyPr>
            <a:normAutofit/>
          </a:bodyPr>
          <a:lstStyle/>
          <a:p>
            <a:pPr algn="l"/>
            <a:r>
              <a:rPr lang="en-US" dirty="0"/>
              <a:t>Infrastructure will mean fixed communication structures </a:t>
            </a:r>
            <a:r>
              <a:rPr lang="en-US" b="0" i="0" u="none" strike="noStrike" baseline="0" dirty="0"/>
              <a:t>countries with good fixed communication structures like electricity, telephones, good roads, and airports, ICT development is a lot faster. Lack of such resources hinders the development of ICT</a:t>
            </a:r>
            <a:r>
              <a:rPr lang="en-US" dirty="0"/>
              <a:t>.</a:t>
            </a:r>
            <a:endParaRPr lang="en-ZA" dirty="0"/>
          </a:p>
        </p:txBody>
      </p:sp>
      <p:sp>
        <p:nvSpPr>
          <p:cNvPr id="4" name="Date Placeholder 3">
            <a:extLst>
              <a:ext uri="{FF2B5EF4-FFF2-40B4-BE49-F238E27FC236}">
                <a16:creationId xmlns:a16="http://schemas.microsoft.com/office/drawing/2014/main" xmlns="" id="{D6B5CD02-F704-0DA1-291A-498D33067DE1}"/>
              </a:ext>
            </a:extLst>
          </p:cNvPr>
          <p:cNvSpPr>
            <a:spLocks noGrp="1"/>
          </p:cNvSpPr>
          <p:nvPr>
            <p:ph type="dt" sz="half" idx="10"/>
          </p:nvPr>
        </p:nvSpPr>
        <p:spPr/>
        <p:txBody>
          <a:bodyPr/>
          <a:lstStyle/>
          <a:p>
            <a:r>
              <a:rPr lang="en-US"/>
              <a:t>2022</a:t>
            </a:r>
          </a:p>
        </p:txBody>
      </p:sp>
      <p:sp>
        <p:nvSpPr>
          <p:cNvPr id="5" name="Footer Placeholder 4">
            <a:extLst>
              <a:ext uri="{FF2B5EF4-FFF2-40B4-BE49-F238E27FC236}">
                <a16:creationId xmlns:a16="http://schemas.microsoft.com/office/drawing/2014/main" xmlns="" id="{24CF1914-2266-FB61-9FA0-8FA304BD6944}"/>
              </a:ext>
            </a:extLst>
          </p:cNvPr>
          <p:cNvSpPr>
            <a:spLocks noGrp="1"/>
          </p:cNvSpPr>
          <p:nvPr>
            <p:ph type="ftr" sz="quarter" idx="11"/>
          </p:nvPr>
        </p:nvSpPr>
        <p:spPr/>
        <p:txBody>
          <a:bodyPr/>
          <a:lstStyle/>
          <a:p>
            <a:r>
              <a:rPr lang="en-US" dirty="0"/>
              <a:t>Revised: L Madamshetty Department</a:t>
            </a:r>
          </a:p>
        </p:txBody>
      </p:sp>
      <p:sp>
        <p:nvSpPr>
          <p:cNvPr id="6" name="Slide Number Placeholder 5">
            <a:extLst>
              <a:ext uri="{FF2B5EF4-FFF2-40B4-BE49-F238E27FC236}">
                <a16:creationId xmlns:a16="http://schemas.microsoft.com/office/drawing/2014/main" xmlns="" id="{FCF00B9D-35D6-7FD3-D76C-38996EEA92FC}"/>
              </a:ext>
            </a:extLst>
          </p:cNvPr>
          <p:cNvSpPr>
            <a:spLocks noGrp="1"/>
          </p:cNvSpPr>
          <p:nvPr>
            <p:ph type="sldNum" sz="quarter" idx="12"/>
          </p:nvPr>
        </p:nvSpPr>
        <p:spPr/>
        <p:txBody>
          <a:bodyPr/>
          <a:lstStyle/>
          <a:p>
            <a:fld id="{4BC6B736-5C3F-44D2-98F1-D02D018BB5AF}" type="slidenum">
              <a:rPr lang="en-US" smtClean="0"/>
              <a:t>15</a:t>
            </a:fld>
            <a:endParaRPr lang="en-US"/>
          </a:p>
        </p:txBody>
      </p:sp>
    </p:spTree>
    <p:extLst>
      <p:ext uri="{BB962C8B-B14F-4D97-AF65-F5344CB8AC3E}">
        <p14:creationId xmlns:p14="http://schemas.microsoft.com/office/powerpoint/2010/main" val="9510005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225683-7BD5-F2AD-C53D-C4D88BBD4AE1}"/>
              </a:ext>
            </a:extLst>
          </p:cNvPr>
          <p:cNvSpPr>
            <a:spLocks noGrp="1"/>
          </p:cNvSpPr>
          <p:nvPr>
            <p:ph type="title"/>
          </p:nvPr>
        </p:nvSpPr>
        <p:spPr>
          <a:xfrm>
            <a:off x="187234" y="147499"/>
            <a:ext cx="7966166" cy="708301"/>
          </a:xfrm>
        </p:spPr>
        <p:txBody>
          <a:bodyPr/>
          <a:lstStyle/>
          <a:p>
            <a:r>
              <a:rPr lang="en-ZA" dirty="0"/>
              <a:t>Enabling Environments</a:t>
            </a:r>
          </a:p>
        </p:txBody>
      </p:sp>
      <p:sp>
        <p:nvSpPr>
          <p:cNvPr id="3" name="Content Placeholder 2">
            <a:extLst>
              <a:ext uri="{FF2B5EF4-FFF2-40B4-BE49-F238E27FC236}">
                <a16:creationId xmlns:a16="http://schemas.microsoft.com/office/drawing/2014/main" xmlns="" id="{C643C992-04F1-F741-3534-DE5A47287E3A}"/>
              </a:ext>
            </a:extLst>
          </p:cNvPr>
          <p:cNvSpPr>
            <a:spLocks noGrp="1"/>
          </p:cNvSpPr>
          <p:nvPr>
            <p:ph idx="1"/>
          </p:nvPr>
        </p:nvSpPr>
        <p:spPr>
          <a:xfrm>
            <a:off x="157417" y="1099930"/>
            <a:ext cx="9198618" cy="5256420"/>
          </a:xfrm>
        </p:spPr>
        <p:txBody>
          <a:bodyPr>
            <a:normAutofit/>
          </a:bodyPr>
          <a:lstStyle/>
          <a:p>
            <a:pPr marL="0" indent="0" algn="just">
              <a:buNone/>
            </a:pPr>
            <a:r>
              <a:rPr lang="en-US" dirty="0"/>
              <a:t>An ICT-enabling environment is an environment in which ICT can thrive. </a:t>
            </a:r>
          </a:p>
          <a:p>
            <a:pPr marL="0" indent="0" algn="just">
              <a:buNone/>
            </a:pPr>
            <a:r>
              <a:rPr lang="en-US" dirty="0"/>
              <a:t>There are several things that can bring about such an environment:</a:t>
            </a:r>
          </a:p>
          <a:p>
            <a:pPr algn="l"/>
            <a:r>
              <a:rPr lang="en-US" dirty="0"/>
              <a:t>Politics: </a:t>
            </a:r>
            <a:r>
              <a:rPr lang="en-US" sz="2400" b="0" i="0" u="none" strike="noStrike" baseline="0" dirty="0"/>
              <a:t>A climate of democratic rights and civil liberties conducive to ICT adaptation .Respect for the rule of law and security of property rights. </a:t>
            </a:r>
            <a:r>
              <a:rPr lang="en-ZA" sz="2400" b="0" i="0" u="none" strike="noStrike" baseline="0" dirty="0"/>
              <a:t>Investment in human capacity.</a:t>
            </a:r>
            <a:endParaRPr lang="en-US" sz="2400" dirty="0"/>
          </a:p>
          <a:p>
            <a:pPr algn="l"/>
            <a:r>
              <a:rPr lang="en-US" sz="2600" dirty="0"/>
              <a:t>Public policy and Management styles: </a:t>
            </a:r>
            <a:r>
              <a:rPr lang="en-US" sz="2600" b="0" i="0" u="none" strike="noStrike" baseline="0" dirty="0"/>
              <a:t>Governments must put in place streamlined regulatory policies for the importation and licensing of ICT technologies. Laws must be enacted and enforced uniformly so that nongovernmental organizations (NGOs) and other organizations interested in investing in ICT economic activities do so with ease.</a:t>
            </a:r>
            <a:endParaRPr lang="en-ZA" sz="2600" dirty="0"/>
          </a:p>
        </p:txBody>
      </p:sp>
      <p:sp>
        <p:nvSpPr>
          <p:cNvPr id="4" name="Date Placeholder 3">
            <a:extLst>
              <a:ext uri="{FF2B5EF4-FFF2-40B4-BE49-F238E27FC236}">
                <a16:creationId xmlns:a16="http://schemas.microsoft.com/office/drawing/2014/main" xmlns="" id="{4559BE59-F758-E1C7-23FC-1849D09176C0}"/>
              </a:ext>
            </a:extLst>
          </p:cNvPr>
          <p:cNvSpPr>
            <a:spLocks noGrp="1"/>
          </p:cNvSpPr>
          <p:nvPr>
            <p:ph type="dt" sz="half" idx="10"/>
          </p:nvPr>
        </p:nvSpPr>
        <p:spPr/>
        <p:txBody>
          <a:bodyPr/>
          <a:lstStyle/>
          <a:p>
            <a:r>
              <a:rPr lang="en-US"/>
              <a:t>2022</a:t>
            </a:r>
          </a:p>
        </p:txBody>
      </p:sp>
      <p:sp>
        <p:nvSpPr>
          <p:cNvPr id="5" name="Footer Placeholder 4">
            <a:extLst>
              <a:ext uri="{FF2B5EF4-FFF2-40B4-BE49-F238E27FC236}">
                <a16:creationId xmlns:a16="http://schemas.microsoft.com/office/drawing/2014/main" xmlns="" id="{950C780F-E439-07C3-8E38-F2BB9E4AAB1F}"/>
              </a:ext>
            </a:extLst>
          </p:cNvPr>
          <p:cNvSpPr>
            <a:spLocks noGrp="1"/>
          </p:cNvSpPr>
          <p:nvPr>
            <p:ph type="ftr" sz="quarter" idx="11"/>
          </p:nvPr>
        </p:nvSpPr>
        <p:spPr/>
        <p:txBody>
          <a:bodyPr/>
          <a:lstStyle/>
          <a:p>
            <a:r>
              <a:rPr lang="en-US" dirty="0"/>
              <a:t>Revised: L Madamshetty Department</a:t>
            </a:r>
          </a:p>
        </p:txBody>
      </p:sp>
      <p:sp>
        <p:nvSpPr>
          <p:cNvPr id="6" name="Slide Number Placeholder 5">
            <a:extLst>
              <a:ext uri="{FF2B5EF4-FFF2-40B4-BE49-F238E27FC236}">
                <a16:creationId xmlns:a16="http://schemas.microsoft.com/office/drawing/2014/main" xmlns="" id="{8310E970-AD4B-807C-56F2-141DCB1D994A}"/>
              </a:ext>
            </a:extLst>
          </p:cNvPr>
          <p:cNvSpPr>
            <a:spLocks noGrp="1"/>
          </p:cNvSpPr>
          <p:nvPr>
            <p:ph type="sldNum" sz="quarter" idx="12"/>
          </p:nvPr>
        </p:nvSpPr>
        <p:spPr/>
        <p:txBody>
          <a:bodyPr/>
          <a:lstStyle/>
          <a:p>
            <a:fld id="{4BC6B736-5C3F-44D2-98F1-D02D018BB5AF}" type="slidenum">
              <a:rPr lang="en-US" smtClean="0"/>
              <a:t>16</a:t>
            </a:fld>
            <a:endParaRPr lang="en-US"/>
          </a:p>
        </p:txBody>
      </p:sp>
    </p:spTree>
    <p:extLst>
      <p:ext uri="{BB962C8B-B14F-4D97-AF65-F5344CB8AC3E}">
        <p14:creationId xmlns:p14="http://schemas.microsoft.com/office/powerpoint/2010/main" val="3294853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7FE899C-D24A-F93B-7EA6-F50018B86AE0}"/>
              </a:ext>
            </a:extLst>
          </p:cNvPr>
          <p:cNvSpPr>
            <a:spLocks noGrp="1"/>
          </p:cNvSpPr>
          <p:nvPr>
            <p:ph type="title"/>
          </p:nvPr>
        </p:nvSpPr>
        <p:spPr>
          <a:xfrm>
            <a:off x="0" y="101117"/>
            <a:ext cx="7966166" cy="627753"/>
          </a:xfrm>
        </p:spPr>
        <p:txBody>
          <a:bodyPr>
            <a:normAutofit fontScale="90000"/>
          </a:bodyPr>
          <a:lstStyle/>
          <a:p>
            <a:r>
              <a:rPr lang="en-ZA" dirty="0"/>
              <a:t>ICT in the Workplace</a:t>
            </a:r>
          </a:p>
        </p:txBody>
      </p:sp>
      <p:sp>
        <p:nvSpPr>
          <p:cNvPr id="3" name="Content Placeholder 2">
            <a:extLst>
              <a:ext uri="{FF2B5EF4-FFF2-40B4-BE49-F238E27FC236}">
                <a16:creationId xmlns:a16="http://schemas.microsoft.com/office/drawing/2014/main" xmlns="" id="{CA694818-C83C-7A18-5D7D-2CEBDB6FEF1E}"/>
              </a:ext>
            </a:extLst>
          </p:cNvPr>
          <p:cNvSpPr>
            <a:spLocks noGrp="1"/>
          </p:cNvSpPr>
          <p:nvPr>
            <p:ph idx="1"/>
          </p:nvPr>
        </p:nvSpPr>
        <p:spPr>
          <a:xfrm>
            <a:off x="96078" y="911749"/>
            <a:ext cx="9100931" cy="5250512"/>
          </a:xfrm>
        </p:spPr>
        <p:txBody>
          <a:bodyPr/>
          <a:lstStyle/>
          <a:p>
            <a:pPr marL="0" indent="0">
              <a:buNone/>
            </a:pPr>
            <a:r>
              <a:rPr lang="en-US" dirty="0"/>
              <a:t>The automation of the workplace has been the most vigorously pursued concept since the industrial age. Despite the original fear that workplace automation would mean the end to human work, except in a few areas, workplace automation has proceeded hand in hand with increases in employment numbers.</a:t>
            </a:r>
          </a:p>
          <a:p>
            <a:r>
              <a:rPr lang="en-US" dirty="0"/>
              <a:t>The Electronic Office</a:t>
            </a:r>
          </a:p>
          <a:p>
            <a:r>
              <a:rPr lang="en-US" i="0" u="none" strike="noStrike" baseline="0" dirty="0"/>
              <a:t>Office on Wheels and Wings</a:t>
            </a:r>
          </a:p>
          <a:p>
            <a:r>
              <a:rPr lang="en-ZA" i="0" u="none" strike="noStrike" baseline="0" dirty="0"/>
              <a:t>The Virtual Workplace</a:t>
            </a:r>
            <a:endParaRPr lang="en-ZA" sz="4000" dirty="0"/>
          </a:p>
        </p:txBody>
      </p:sp>
      <p:sp>
        <p:nvSpPr>
          <p:cNvPr id="4" name="Date Placeholder 3">
            <a:extLst>
              <a:ext uri="{FF2B5EF4-FFF2-40B4-BE49-F238E27FC236}">
                <a16:creationId xmlns:a16="http://schemas.microsoft.com/office/drawing/2014/main" xmlns="" id="{0C86BC16-3F60-9046-8508-9B721362A8D9}"/>
              </a:ext>
            </a:extLst>
          </p:cNvPr>
          <p:cNvSpPr>
            <a:spLocks noGrp="1"/>
          </p:cNvSpPr>
          <p:nvPr>
            <p:ph type="dt" sz="half" idx="10"/>
          </p:nvPr>
        </p:nvSpPr>
        <p:spPr/>
        <p:txBody>
          <a:bodyPr/>
          <a:lstStyle/>
          <a:p>
            <a:r>
              <a:rPr lang="en-US"/>
              <a:t>2022</a:t>
            </a:r>
          </a:p>
        </p:txBody>
      </p:sp>
      <p:sp>
        <p:nvSpPr>
          <p:cNvPr id="5" name="Footer Placeholder 4">
            <a:extLst>
              <a:ext uri="{FF2B5EF4-FFF2-40B4-BE49-F238E27FC236}">
                <a16:creationId xmlns:a16="http://schemas.microsoft.com/office/drawing/2014/main" xmlns="" id="{9B603251-3C11-48E5-8727-80023F607029}"/>
              </a:ext>
            </a:extLst>
          </p:cNvPr>
          <p:cNvSpPr>
            <a:spLocks noGrp="1"/>
          </p:cNvSpPr>
          <p:nvPr>
            <p:ph type="ftr" sz="quarter" idx="11"/>
          </p:nvPr>
        </p:nvSpPr>
        <p:spPr/>
        <p:txBody>
          <a:bodyPr/>
          <a:lstStyle/>
          <a:p>
            <a:r>
              <a:rPr lang="en-US" dirty="0"/>
              <a:t>Revised: L Madamshetty Department</a:t>
            </a:r>
          </a:p>
        </p:txBody>
      </p:sp>
      <p:sp>
        <p:nvSpPr>
          <p:cNvPr id="6" name="Slide Number Placeholder 5">
            <a:extLst>
              <a:ext uri="{FF2B5EF4-FFF2-40B4-BE49-F238E27FC236}">
                <a16:creationId xmlns:a16="http://schemas.microsoft.com/office/drawing/2014/main" xmlns="" id="{0ADF6A68-390F-BEEA-0A99-CE82B6482A9D}"/>
              </a:ext>
            </a:extLst>
          </p:cNvPr>
          <p:cNvSpPr>
            <a:spLocks noGrp="1"/>
          </p:cNvSpPr>
          <p:nvPr>
            <p:ph type="sldNum" sz="quarter" idx="12"/>
          </p:nvPr>
        </p:nvSpPr>
        <p:spPr/>
        <p:txBody>
          <a:bodyPr/>
          <a:lstStyle/>
          <a:p>
            <a:fld id="{4BC6B736-5C3F-44D2-98F1-D02D018BB5AF}" type="slidenum">
              <a:rPr lang="en-US" smtClean="0"/>
              <a:t>17</a:t>
            </a:fld>
            <a:endParaRPr lang="en-US"/>
          </a:p>
        </p:txBody>
      </p:sp>
    </p:spTree>
    <p:extLst>
      <p:ext uri="{BB962C8B-B14F-4D97-AF65-F5344CB8AC3E}">
        <p14:creationId xmlns:p14="http://schemas.microsoft.com/office/powerpoint/2010/main" val="4071867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8434C90-E1CC-5EBA-6FD4-A1DE3E1B9D54}"/>
              </a:ext>
            </a:extLst>
          </p:cNvPr>
          <p:cNvSpPr>
            <a:spLocks noGrp="1"/>
          </p:cNvSpPr>
          <p:nvPr>
            <p:ph type="title"/>
          </p:nvPr>
        </p:nvSpPr>
        <p:spPr>
          <a:xfrm>
            <a:off x="187234" y="136525"/>
            <a:ext cx="7966166" cy="668545"/>
          </a:xfrm>
        </p:spPr>
        <p:txBody>
          <a:bodyPr>
            <a:normAutofit fontScale="90000"/>
          </a:bodyPr>
          <a:lstStyle/>
          <a:p>
            <a:r>
              <a:rPr lang="en-ZA" dirty="0"/>
              <a:t>Categories of Telecommuters</a:t>
            </a:r>
          </a:p>
        </p:txBody>
      </p:sp>
      <p:sp>
        <p:nvSpPr>
          <p:cNvPr id="3" name="Content Placeholder 2">
            <a:extLst>
              <a:ext uri="{FF2B5EF4-FFF2-40B4-BE49-F238E27FC236}">
                <a16:creationId xmlns:a16="http://schemas.microsoft.com/office/drawing/2014/main" xmlns="" id="{40E14E75-9A32-901F-954E-59B767D60632}"/>
              </a:ext>
            </a:extLst>
          </p:cNvPr>
          <p:cNvSpPr>
            <a:spLocks noGrp="1"/>
          </p:cNvSpPr>
          <p:nvPr>
            <p:ph idx="1"/>
          </p:nvPr>
        </p:nvSpPr>
        <p:spPr>
          <a:xfrm>
            <a:off x="344557" y="1046923"/>
            <a:ext cx="8918713" cy="5309428"/>
          </a:xfrm>
        </p:spPr>
        <p:txBody>
          <a:bodyPr/>
          <a:lstStyle/>
          <a:p>
            <a:pPr marL="0" indent="0">
              <a:buNone/>
            </a:pPr>
            <a:r>
              <a:rPr lang="en-US" dirty="0"/>
              <a:t>There are three categories of telecommuters. </a:t>
            </a:r>
          </a:p>
          <a:p>
            <a:r>
              <a:rPr lang="en-US" dirty="0"/>
              <a:t>Consists of workers who use their homes as an adjunct to their conventional office jobs.</a:t>
            </a:r>
          </a:p>
          <a:p>
            <a:r>
              <a:rPr lang="en-US" dirty="0"/>
              <a:t>Consists of workers who use their homes as the base for their businesses.</a:t>
            </a:r>
          </a:p>
          <a:p>
            <a:r>
              <a:rPr lang="en-US" dirty="0"/>
              <a:t>Consists of those who have full-time jobs with large companies but prefer through their own initiative to work from home.</a:t>
            </a:r>
            <a:endParaRPr lang="en-ZA" dirty="0"/>
          </a:p>
        </p:txBody>
      </p:sp>
      <p:sp>
        <p:nvSpPr>
          <p:cNvPr id="4" name="Date Placeholder 3">
            <a:extLst>
              <a:ext uri="{FF2B5EF4-FFF2-40B4-BE49-F238E27FC236}">
                <a16:creationId xmlns:a16="http://schemas.microsoft.com/office/drawing/2014/main" xmlns="" id="{EF79C69E-6D6E-ADAD-8A36-72F159D1EB8C}"/>
              </a:ext>
            </a:extLst>
          </p:cNvPr>
          <p:cNvSpPr>
            <a:spLocks noGrp="1"/>
          </p:cNvSpPr>
          <p:nvPr>
            <p:ph type="dt" sz="half" idx="10"/>
          </p:nvPr>
        </p:nvSpPr>
        <p:spPr/>
        <p:txBody>
          <a:bodyPr/>
          <a:lstStyle/>
          <a:p>
            <a:r>
              <a:rPr lang="en-US"/>
              <a:t>2022</a:t>
            </a:r>
          </a:p>
        </p:txBody>
      </p:sp>
      <p:sp>
        <p:nvSpPr>
          <p:cNvPr id="5" name="Footer Placeholder 4">
            <a:extLst>
              <a:ext uri="{FF2B5EF4-FFF2-40B4-BE49-F238E27FC236}">
                <a16:creationId xmlns:a16="http://schemas.microsoft.com/office/drawing/2014/main" xmlns="" id="{1FBF0620-32F4-2B77-5878-BCCC4087EE5A}"/>
              </a:ext>
            </a:extLst>
          </p:cNvPr>
          <p:cNvSpPr>
            <a:spLocks noGrp="1"/>
          </p:cNvSpPr>
          <p:nvPr>
            <p:ph type="ftr" sz="quarter" idx="11"/>
          </p:nvPr>
        </p:nvSpPr>
        <p:spPr/>
        <p:txBody>
          <a:bodyPr/>
          <a:lstStyle/>
          <a:p>
            <a:r>
              <a:rPr lang="en-US" dirty="0"/>
              <a:t>Revised: L Madamshetty Department</a:t>
            </a:r>
          </a:p>
        </p:txBody>
      </p:sp>
      <p:sp>
        <p:nvSpPr>
          <p:cNvPr id="6" name="Slide Number Placeholder 5">
            <a:extLst>
              <a:ext uri="{FF2B5EF4-FFF2-40B4-BE49-F238E27FC236}">
                <a16:creationId xmlns:a16="http://schemas.microsoft.com/office/drawing/2014/main" xmlns="" id="{D0F20566-969D-2316-647C-BD6FEA4BE2C2}"/>
              </a:ext>
            </a:extLst>
          </p:cNvPr>
          <p:cNvSpPr>
            <a:spLocks noGrp="1"/>
          </p:cNvSpPr>
          <p:nvPr>
            <p:ph type="sldNum" sz="quarter" idx="12"/>
          </p:nvPr>
        </p:nvSpPr>
        <p:spPr/>
        <p:txBody>
          <a:bodyPr/>
          <a:lstStyle/>
          <a:p>
            <a:fld id="{4BC6B736-5C3F-44D2-98F1-D02D018BB5AF}" type="slidenum">
              <a:rPr lang="en-US" smtClean="0"/>
              <a:t>18</a:t>
            </a:fld>
            <a:endParaRPr lang="en-US"/>
          </a:p>
        </p:txBody>
      </p:sp>
    </p:spTree>
    <p:extLst>
      <p:ext uri="{BB962C8B-B14F-4D97-AF65-F5344CB8AC3E}">
        <p14:creationId xmlns:p14="http://schemas.microsoft.com/office/powerpoint/2010/main" val="2828588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4F6172-7B00-2A73-2E4D-A1B892379389}"/>
              </a:ext>
            </a:extLst>
          </p:cNvPr>
          <p:cNvSpPr>
            <a:spLocks noGrp="1"/>
          </p:cNvSpPr>
          <p:nvPr>
            <p:ph type="title"/>
          </p:nvPr>
        </p:nvSpPr>
        <p:spPr>
          <a:xfrm>
            <a:off x="106018" y="136525"/>
            <a:ext cx="8804366" cy="628787"/>
          </a:xfrm>
        </p:spPr>
        <p:txBody>
          <a:bodyPr>
            <a:normAutofit fontScale="90000"/>
          </a:bodyPr>
          <a:lstStyle/>
          <a:p>
            <a:r>
              <a:rPr lang="en-US" dirty="0"/>
              <a:t>Effects and Benefits of Telecommuting</a:t>
            </a:r>
            <a:endParaRPr lang="en-ZA" dirty="0"/>
          </a:p>
        </p:txBody>
      </p:sp>
      <p:sp>
        <p:nvSpPr>
          <p:cNvPr id="3" name="Content Placeholder 2">
            <a:extLst>
              <a:ext uri="{FF2B5EF4-FFF2-40B4-BE49-F238E27FC236}">
                <a16:creationId xmlns:a16="http://schemas.microsoft.com/office/drawing/2014/main" xmlns="" id="{DA986E13-9C9C-FE1B-1A32-F6BE601507FF}"/>
              </a:ext>
            </a:extLst>
          </p:cNvPr>
          <p:cNvSpPr>
            <a:spLocks noGrp="1"/>
          </p:cNvSpPr>
          <p:nvPr>
            <p:ph idx="1"/>
          </p:nvPr>
        </p:nvSpPr>
        <p:spPr>
          <a:xfrm>
            <a:off x="106018" y="1192697"/>
            <a:ext cx="9236765" cy="2623929"/>
          </a:xfrm>
        </p:spPr>
        <p:txBody>
          <a:bodyPr/>
          <a:lstStyle/>
          <a:p>
            <a:r>
              <a:rPr lang="en-ZA" dirty="0"/>
              <a:t>Gender</a:t>
            </a:r>
          </a:p>
          <a:p>
            <a:r>
              <a:rPr lang="en-ZA" dirty="0"/>
              <a:t>Nature of Work</a:t>
            </a:r>
          </a:p>
          <a:p>
            <a:r>
              <a:rPr lang="en-ZA" dirty="0"/>
              <a:t>Labor supply</a:t>
            </a:r>
          </a:p>
          <a:p>
            <a:r>
              <a:rPr lang="en-ZA" dirty="0"/>
              <a:t>Age</a:t>
            </a:r>
          </a:p>
          <a:p>
            <a:endParaRPr lang="en-ZA" dirty="0"/>
          </a:p>
          <a:p>
            <a:endParaRPr lang="en-ZA" dirty="0"/>
          </a:p>
        </p:txBody>
      </p:sp>
      <p:sp>
        <p:nvSpPr>
          <p:cNvPr id="4" name="Date Placeholder 3">
            <a:extLst>
              <a:ext uri="{FF2B5EF4-FFF2-40B4-BE49-F238E27FC236}">
                <a16:creationId xmlns:a16="http://schemas.microsoft.com/office/drawing/2014/main" xmlns="" id="{7E72EE4D-1877-4043-9C34-14B484982C37}"/>
              </a:ext>
            </a:extLst>
          </p:cNvPr>
          <p:cNvSpPr>
            <a:spLocks noGrp="1"/>
          </p:cNvSpPr>
          <p:nvPr>
            <p:ph type="dt" sz="half" idx="10"/>
          </p:nvPr>
        </p:nvSpPr>
        <p:spPr/>
        <p:txBody>
          <a:bodyPr/>
          <a:lstStyle/>
          <a:p>
            <a:r>
              <a:rPr lang="en-US"/>
              <a:t>2022</a:t>
            </a:r>
          </a:p>
        </p:txBody>
      </p:sp>
      <p:sp>
        <p:nvSpPr>
          <p:cNvPr id="5" name="Footer Placeholder 4">
            <a:extLst>
              <a:ext uri="{FF2B5EF4-FFF2-40B4-BE49-F238E27FC236}">
                <a16:creationId xmlns:a16="http://schemas.microsoft.com/office/drawing/2014/main" xmlns="" id="{2337301F-62D9-6F00-D674-B0DDAA44AF63}"/>
              </a:ext>
            </a:extLst>
          </p:cNvPr>
          <p:cNvSpPr>
            <a:spLocks noGrp="1"/>
          </p:cNvSpPr>
          <p:nvPr>
            <p:ph type="ftr" sz="quarter" idx="11"/>
          </p:nvPr>
        </p:nvSpPr>
        <p:spPr/>
        <p:txBody>
          <a:bodyPr/>
          <a:lstStyle/>
          <a:p>
            <a:r>
              <a:rPr lang="en-US" dirty="0"/>
              <a:t>Revised: L Madamshetty Department</a:t>
            </a:r>
          </a:p>
        </p:txBody>
      </p:sp>
      <p:sp>
        <p:nvSpPr>
          <p:cNvPr id="6" name="Slide Number Placeholder 5">
            <a:extLst>
              <a:ext uri="{FF2B5EF4-FFF2-40B4-BE49-F238E27FC236}">
                <a16:creationId xmlns:a16="http://schemas.microsoft.com/office/drawing/2014/main" xmlns="" id="{AD49E7B9-5EFE-318D-FB8E-6E446AAD07D2}"/>
              </a:ext>
            </a:extLst>
          </p:cNvPr>
          <p:cNvSpPr>
            <a:spLocks noGrp="1"/>
          </p:cNvSpPr>
          <p:nvPr>
            <p:ph type="sldNum" sz="quarter" idx="12"/>
          </p:nvPr>
        </p:nvSpPr>
        <p:spPr/>
        <p:txBody>
          <a:bodyPr/>
          <a:lstStyle/>
          <a:p>
            <a:fld id="{4BC6B736-5C3F-44D2-98F1-D02D018BB5AF}" type="slidenum">
              <a:rPr lang="en-US" smtClean="0"/>
              <a:t>19</a:t>
            </a:fld>
            <a:endParaRPr lang="en-US"/>
          </a:p>
        </p:txBody>
      </p:sp>
    </p:spTree>
    <p:extLst>
      <p:ext uri="{BB962C8B-B14F-4D97-AF65-F5344CB8AC3E}">
        <p14:creationId xmlns:p14="http://schemas.microsoft.com/office/powerpoint/2010/main" val="255155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CE1C19-77F3-5B28-9EF8-CE33D42839D7}"/>
              </a:ext>
            </a:extLst>
          </p:cNvPr>
          <p:cNvSpPr>
            <a:spLocks noGrp="1"/>
          </p:cNvSpPr>
          <p:nvPr>
            <p:ph type="title"/>
          </p:nvPr>
        </p:nvSpPr>
        <p:spPr>
          <a:xfrm>
            <a:off x="187234" y="246891"/>
            <a:ext cx="7966166" cy="509518"/>
          </a:xfrm>
        </p:spPr>
        <p:txBody>
          <a:bodyPr>
            <a:noAutofit/>
          </a:bodyPr>
          <a:lstStyle/>
          <a:p>
            <a:r>
              <a:rPr lang="en-ZA" sz="4000" i="0" u="none" strike="noStrike" baseline="0" dirty="0">
                <a:latin typeface="+mn-lt"/>
              </a:rPr>
              <a:t>Employee Monitoring</a:t>
            </a:r>
            <a:endParaRPr lang="en-ZA" sz="4000" dirty="0">
              <a:latin typeface="+mn-lt"/>
            </a:endParaRPr>
          </a:p>
        </p:txBody>
      </p:sp>
      <p:sp>
        <p:nvSpPr>
          <p:cNvPr id="3" name="Content Placeholder 2">
            <a:extLst>
              <a:ext uri="{FF2B5EF4-FFF2-40B4-BE49-F238E27FC236}">
                <a16:creationId xmlns:a16="http://schemas.microsoft.com/office/drawing/2014/main" xmlns="" id="{B6A0AD03-FAE0-ED29-7BDD-C0EE1DC7244C}"/>
              </a:ext>
            </a:extLst>
          </p:cNvPr>
          <p:cNvSpPr>
            <a:spLocks noGrp="1"/>
          </p:cNvSpPr>
          <p:nvPr>
            <p:ph idx="1"/>
          </p:nvPr>
        </p:nvSpPr>
        <p:spPr>
          <a:xfrm>
            <a:off x="384313" y="1086678"/>
            <a:ext cx="8825948" cy="5269672"/>
          </a:xfrm>
        </p:spPr>
        <p:txBody>
          <a:bodyPr/>
          <a:lstStyle/>
          <a:p>
            <a:r>
              <a:rPr lang="en-US" dirty="0"/>
              <a:t>Management is using a wide array of surveillance gadgets and techniques. These include, among others, employees taking polygraph tests if they are suspected of a breach of any kind.</a:t>
            </a:r>
          </a:p>
          <a:p>
            <a:r>
              <a:rPr lang="en-US" dirty="0"/>
              <a:t>Electronic monitoring is generally the monitoring of employees using electronic devices like video cameras, computer equipment, audio devices, and many other concealed gadgets. In most cases, it measures the  quality and usually the quantity of work and the ability and effectiveness of the worker. In other cases, it also measures</a:t>
            </a:r>
            <a:endParaRPr lang="en-ZA" dirty="0"/>
          </a:p>
        </p:txBody>
      </p:sp>
      <p:sp>
        <p:nvSpPr>
          <p:cNvPr id="4" name="Date Placeholder 3">
            <a:extLst>
              <a:ext uri="{FF2B5EF4-FFF2-40B4-BE49-F238E27FC236}">
                <a16:creationId xmlns:a16="http://schemas.microsoft.com/office/drawing/2014/main" xmlns="" id="{F14A7A3E-9384-1ABB-10A4-25364DB01C51}"/>
              </a:ext>
            </a:extLst>
          </p:cNvPr>
          <p:cNvSpPr>
            <a:spLocks noGrp="1"/>
          </p:cNvSpPr>
          <p:nvPr>
            <p:ph type="dt" sz="half" idx="10"/>
          </p:nvPr>
        </p:nvSpPr>
        <p:spPr/>
        <p:txBody>
          <a:bodyPr/>
          <a:lstStyle/>
          <a:p>
            <a:r>
              <a:rPr lang="en-US"/>
              <a:t>2022</a:t>
            </a:r>
          </a:p>
        </p:txBody>
      </p:sp>
      <p:sp>
        <p:nvSpPr>
          <p:cNvPr id="5" name="Footer Placeholder 4">
            <a:extLst>
              <a:ext uri="{FF2B5EF4-FFF2-40B4-BE49-F238E27FC236}">
                <a16:creationId xmlns:a16="http://schemas.microsoft.com/office/drawing/2014/main" xmlns="" id="{9E70E425-9C2F-5ABB-EA18-6CA34316BE90}"/>
              </a:ext>
            </a:extLst>
          </p:cNvPr>
          <p:cNvSpPr>
            <a:spLocks noGrp="1"/>
          </p:cNvSpPr>
          <p:nvPr>
            <p:ph type="ftr" sz="quarter" idx="11"/>
          </p:nvPr>
        </p:nvSpPr>
        <p:spPr/>
        <p:txBody>
          <a:bodyPr/>
          <a:lstStyle/>
          <a:p>
            <a:r>
              <a:rPr lang="en-US" dirty="0"/>
              <a:t>Revised: L Madamshetty Department</a:t>
            </a:r>
          </a:p>
        </p:txBody>
      </p:sp>
      <p:sp>
        <p:nvSpPr>
          <p:cNvPr id="6" name="Slide Number Placeholder 5">
            <a:extLst>
              <a:ext uri="{FF2B5EF4-FFF2-40B4-BE49-F238E27FC236}">
                <a16:creationId xmlns:a16="http://schemas.microsoft.com/office/drawing/2014/main" xmlns="" id="{AF912520-C365-F265-E038-83ACF7B5F738}"/>
              </a:ext>
            </a:extLst>
          </p:cNvPr>
          <p:cNvSpPr>
            <a:spLocks noGrp="1"/>
          </p:cNvSpPr>
          <p:nvPr>
            <p:ph type="sldNum" sz="quarter" idx="12"/>
          </p:nvPr>
        </p:nvSpPr>
        <p:spPr/>
        <p:txBody>
          <a:bodyPr/>
          <a:lstStyle/>
          <a:p>
            <a:fld id="{4BC6B736-5C3F-44D2-98F1-D02D018BB5AF}" type="slidenum">
              <a:rPr lang="en-US" smtClean="0"/>
              <a:t>20</a:t>
            </a:fld>
            <a:endParaRPr lang="en-US"/>
          </a:p>
        </p:txBody>
      </p:sp>
    </p:spTree>
    <p:extLst>
      <p:ext uri="{BB962C8B-B14F-4D97-AF65-F5344CB8AC3E}">
        <p14:creationId xmlns:p14="http://schemas.microsoft.com/office/powerpoint/2010/main" val="3308891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46377C-757B-3D9A-3CF0-16C00638EC47}"/>
              </a:ext>
            </a:extLst>
          </p:cNvPr>
          <p:cNvSpPr>
            <a:spLocks noGrp="1"/>
          </p:cNvSpPr>
          <p:nvPr>
            <p:ph type="title"/>
          </p:nvPr>
        </p:nvSpPr>
        <p:spPr>
          <a:xfrm>
            <a:off x="187233" y="136524"/>
            <a:ext cx="8718227" cy="791127"/>
          </a:xfrm>
        </p:spPr>
        <p:txBody>
          <a:bodyPr>
            <a:normAutofit fontScale="90000"/>
          </a:bodyPr>
          <a:lstStyle/>
          <a:p>
            <a:r>
              <a:rPr lang="en-ZA" dirty="0"/>
              <a:t>Consequences of Electronic Monitoring</a:t>
            </a:r>
          </a:p>
        </p:txBody>
      </p:sp>
      <p:sp>
        <p:nvSpPr>
          <p:cNvPr id="3" name="Content Placeholder 2">
            <a:extLst>
              <a:ext uri="{FF2B5EF4-FFF2-40B4-BE49-F238E27FC236}">
                <a16:creationId xmlns:a16="http://schemas.microsoft.com/office/drawing/2014/main" xmlns="" id="{32CC22A3-997A-702A-403E-D773486E31E4}"/>
              </a:ext>
            </a:extLst>
          </p:cNvPr>
          <p:cNvSpPr>
            <a:spLocks noGrp="1"/>
          </p:cNvSpPr>
          <p:nvPr>
            <p:ph idx="1"/>
          </p:nvPr>
        </p:nvSpPr>
        <p:spPr>
          <a:xfrm>
            <a:off x="187234" y="1179443"/>
            <a:ext cx="9115792" cy="5176907"/>
          </a:xfrm>
        </p:spPr>
        <p:txBody>
          <a:bodyPr/>
          <a:lstStyle/>
          <a:p>
            <a:pPr marL="0" indent="0">
              <a:buNone/>
            </a:pPr>
            <a:r>
              <a:rPr lang="en-US" dirty="0"/>
              <a:t>Electronic monitoring also causes the following problems:</a:t>
            </a:r>
          </a:p>
          <a:p>
            <a:r>
              <a:rPr lang="en-US" dirty="0"/>
              <a:t>Reduced task variety</a:t>
            </a:r>
          </a:p>
          <a:p>
            <a:r>
              <a:rPr lang="en-ZA" dirty="0"/>
              <a:t>Lack of individual initiatives</a:t>
            </a:r>
          </a:p>
          <a:p>
            <a:r>
              <a:rPr lang="en-US" dirty="0"/>
              <a:t>Reduced or no peer social support</a:t>
            </a:r>
          </a:p>
          <a:p>
            <a:r>
              <a:rPr lang="en-ZA" dirty="0"/>
              <a:t>Lack of self – esteem</a:t>
            </a:r>
          </a:p>
          <a:p>
            <a:r>
              <a:rPr lang="en-US" dirty="0"/>
              <a:t>Lack of interest in the job</a:t>
            </a:r>
          </a:p>
          <a:p>
            <a:r>
              <a:rPr lang="en-US" dirty="0"/>
              <a:t>Lack of trust among workers , between workers and supervisors and between supervisors and management</a:t>
            </a:r>
            <a:endParaRPr lang="en-ZA" dirty="0"/>
          </a:p>
        </p:txBody>
      </p:sp>
      <p:sp>
        <p:nvSpPr>
          <p:cNvPr id="4" name="Date Placeholder 3">
            <a:extLst>
              <a:ext uri="{FF2B5EF4-FFF2-40B4-BE49-F238E27FC236}">
                <a16:creationId xmlns:a16="http://schemas.microsoft.com/office/drawing/2014/main" xmlns="" id="{B7CD28B7-EF0F-EC31-5C3B-9EC56A2C067A}"/>
              </a:ext>
            </a:extLst>
          </p:cNvPr>
          <p:cNvSpPr>
            <a:spLocks noGrp="1"/>
          </p:cNvSpPr>
          <p:nvPr>
            <p:ph type="dt" sz="half" idx="10"/>
          </p:nvPr>
        </p:nvSpPr>
        <p:spPr/>
        <p:txBody>
          <a:bodyPr/>
          <a:lstStyle/>
          <a:p>
            <a:r>
              <a:rPr lang="en-US"/>
              <a:t>2022</a:t>
            </a:r>
          </a:p>
        </p:txBody>
      </p:sp>
      <p:sp>
        <p:nvSpPr>
          <p:cNvPr id="5" name="Footer Placeholder 4">
            <a:extLst>
              <a:ext uri="{FF2B5EF4-FFF2-40B4-BE49-F238E27FC236}">
                <a16:creationId xmlns:a16="http://schemas.microsoft.com/office/drawing/2014/main" xmlns="" id="{73EF46AE-20F8-D74C-BE13-A3B884D42513}"/>
              </a:ext>
            </a:extLst>
          </p:cNvPr>
          <p:cNvSpPr>
            <a:spLocks noGrp="1"/>
          </p:cNvSpPr>
          <p:nvPr>
            <p:ph type="ftr" sz="quarter" idx="11"/>
          </p:nvPr>
        </p:nvSpPr>
        <p:spPr/>
        <p:txBody>
          <a:bodyPr/>
          <a:lstStyle/>
          <a:p>
            <a:r>
              <a:rPr lang="en-US"/>
              <a:t>Revised: L Madamshetty Department</a:t>
            </a:r>
            <a:endParaRPr lang="en-US" dirty="0"/>
          </a:p>
        </p:txBody>
      </p:sp>
      <p:sp>
        <p:nvSpPr>
          <p:cNvPr id="6" name="Slide Number Placeholder 5">
            <a:extLst>
              <a:ext uri="{FF2B5EF4-FFF2-40B4-BE49-F238E27FC236}">
                <a16:creationId xmlns:a16="http://schemas.microsoft.com/office/drawing/2014/main" xmlns="" id="{043BAD5E-6A9D-71B1-A2F3-12226B2645B2}"/>
              </a:ext>
            </a:extLst>
          </p:cNvPr>
          <p:cNvSpPr>
            <a:spLocks noGrp="1"/>
          </p:cNvSpPr>
          <p:nvPr>
            <p:ph type="sldNum" sz="quarter" idx="12"/>
          </p:nvPr>
        </p:nvSpPr>
        <p:spPr/>
        <p:txBody>
          <a:bodyPr/>
          <a:lstStyle/>
          <a:p>
            <a:fld id="{4BC6B736-5C3F-44D2-98F1-D02D018BB5AF}" type="slidenum">
              <a:rPr lang="en-US" smtClean="0"/>
              <a:t>21</a:t>
            </a:fld>
            <a:endParaRPr lang="en-US"/>
          </a:p>
        </p:txBody>
      </p:sp>
    </p:spTree>
    <p:extLst>
      <p:ext uri="{BB962C8B-B14F-4D97-AF65-F5344CB8AC3E}">
        <p14:creationId xmlns:p14="http://schemas.microsoft.com/office/powerpoint/2010/main" val="324570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9F4067-CA42-C540-2F72-E8CE90264334}"/>
              </a:ext>
            </a:extLst>
          </p:cNvPr>
          <p:cNvSpPr>
            <a:spLocks noGrp="1"/>
          </p:cNvSpPr>
          <p:nvPr>
            <p:ph type="title"/>
          </p:nvPr>
        </p:nvSpPr>
        <p:spPr>
          <a:xfrm>
            <a:off x="174786" y="477767"/>
            <a:ext cx="9247509" cy="490332"/>
          </a:xfrm>
        </p:spPr>
        <p:txBody>
          <a:bodyPr>
            <a:noAutofit/>
          </a:bodyPr>
          <a:lstStyle/>
          <a:p>
            <a:r>
              <a:rPr lang="en-US" sz="3600" dirty="0"/>
              <a:t>Workplace, Employee, Health, and Productivity</a:t>
            </a:r>
            <a:endParaRPr lang="en-ZA" sz="3600" dirty="0"/>
          </a:p>
        </p:txBody>
      </p:sp>
      <p:sp>
        <p:nvSpPr>
          <p:cNvPr id="3" name="Content Placeholder 2">
            <a:extLst>
              <a:ext uri="{FF2B5EF4-FFF2-40B4-BE49-F238E27FC236}">
                <a16:creationId xmlns:a16="http://schemas.microsoft.com/office/drawing/2014/main" xmlns="" id="{38984155-045F-3C6E-7BF7-7E12217413E2}"/>
              </a:ext>
            </a:extLst>
          </p:cNvPr>
          <p:cNvSpPr>
            <a:spLocks noGrp="1"/>
          </p:cNvSpPr>
          <p:nvPr>
            <p:ph idx="1"/>
          </p:nvPr>
        </p:nvSpPr>
        <p:spPr>
          <a:xfrm>
            <a:off x="174786" y="1139687"/>
            <a:ext cx="9022223" cy="5216663"/>
          </a:xfrm>
        </p:spPr>
        <p:txBody>
          <a:bodyPr/>
          <a:lstStyle/>
          <a:p>
            <a:r>
              <a:rPr lang="en-ZA" dirty="0"/>
              <a:t>Ergonomics: </a:t>
            </a:r>
            <a:r>
              <a:rPr lang="en-US" dirty="0"/>
              <a:t>Ergonomics is an applied science concerned with designing human–machine interactions that offer and maintain a safe, comfortable, healthy, and habitable work environment.</a:t>
            </a:r>
          </a:p>
          <a:p>
            <a:r>
              <a:rPr lang="en-US"/>
              <a:t>Repetitive </a:t>
            </a:r>
            <a:r>
              <a:rPr lang="en-US" dirty="0"/>
              <a:t>Strain Injuries</a:t>
            </a:r>
          </a:p>
          <a:p>
            <a:r>
              <a:rPr lang="en-US" dirty="0"/>
              <a:t>Stress</a:t>
            </a:r>
            <a:endParaRPr lang="en-ZA" dirty="0"/>
          </a:p>
        </p:txBody>
      </p:sp>
      <p:sp>
        <p:nvSpPr>
          <p:cNvPr id="4" name="Date Placeholder 3">
            <a:extLst>
              <a:ext uri="{FF2B5EF4-FFF2-40B4-BE49-F238E27FC236}">
                <a16:creationId xmlns:a16="http://schemas.microsoft.com/office/drawing/2014/main" xmlns="" id="{028BD941-54EF-3FB5-8249-EBB2CC6C8394}"/>
              </a:ext>
            </a:extLst>
          </p:cNvPr>
          <p:cNvSpPr>
            <a:spLocks noGrp="1"/>
          </p:cNvSpPr>
          <p:nvPr>
            <p:ph type="dt" sz="half" idx="10"/>
          </p:nvPr>
        </p:nvSpPr>
        <p:spPr/>
        <p:txBody>
          <a:bodyPr/>
          <a:lstStyle/>
          <a:p>
            <a:r>
              <a:rPr lang="en-US"/>
              <a:t>2022</a:t>
            </a:r>
          </a:p>
        </p:txBody>
      </p:sp>
      <p:sp>
        <p:nvSpPr>
          <p:cNvPr id="5" name="Footer Placeholder 4">
            <a:extLst>
              <a:ext uri="{FF2B5EF4-FFF2-40B4-BE49-F238E27FC236}">
                <a16:creationId xmlns:a16="http://schemas.microsoft.com/office/drawing/2014/main" xmlns="" id="{3B94CFD2-909E-FBBA-48F9-407CF18FB8A5}"/>
              </a:ext>
            </a:extLst>
          </p:cNvPr>
          <p:cNvSpPr>
            <a:spLocks noGrp="1"/>
          </p:cNvSpPr>
          <p:nvPr>
            <p:ph type="ftr" sz="quarter" idx="11"/>
          </p:nvPr>
        </p:nvSpPr>
        <p:spPr/>
        <p:txBody>
          <a:bodyPr/>
          <a:lstStyle/>
          <a:p>
            <a:r>
              <a:rPr lang="en-US"/>
              <a:t>Revised: L Madamshetty Department</a:t>
            </a:r>
            <a:endParaRPr lang="en-US" dirty="0"/>
          </a:p>
        </p:txBody>
      </p:sp>
      <p:sp>
        <p:nvSpPr>
          <p:cNvPr id="6" name="Slide Number Placeholder 5">
            <a:extLst>
              <a:ext uri="{FF2B5EF4-FFF2-40B4-BE49-F238E27FC236}">
                <a16:creationId xmlns:a16="http://schemas.microsoft.com/office/drawing/2014/main" xmlns="" id="{070A7F71-E808-2808-7BBF-0A71507443B2}"/>
              </a:ext>
            </a:extLst>
          </p:cNvPr>
          <p:cNvSpPr>
            <a:spLocks noGrp="1"/>
          </p:cNvSpPr>
          <p:nvPr>
            <p:ph type="sldNum" sz="quarter" idx="12"/>
          </p:nvPr>
        </p:nvSpPr>
        <p:spPr/>
        <p:txBody>
          <a:bodyPr/>
          <a:lstStyle/>
          <a:p>
            <a:fld id="{4BC6B736-5C3F-44D2-98F1-D02D018BB5AF}" type="slidenum">
              <a:rPr lang="en-US" smtClean="0"/>
              <a:t>22</a:t>
            </a:fld>
            <a:endParaRPr lang="en-US"/>
          </a:p>
        </p:txBody>
      </p:sp>
    </p:spTree>
    <p:extLst>
      <p:ext uri="{BB962C8B-B14F-4D97-AF65-F5344CB8AC3E}">
        <p14:creationId xmlns:p14="http://schemas.microsoft.com/office/powerpoint/2010/main" val="419587328"/>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23945</TotalTime>
  <Words>1349</Words>
  <Application>Microsoft Office PowerPoint</Application>
  <PresentationFormat>Widescreen</PresentationFormat>
  <Paragraphs>154</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Custom Design</vt:lpstr>
      <vt:lpstr>Social Context of  Computing  </vt:lpstr>
      <vt:lpstr>Learning Objectives</vt:lpstr>
      <vt:lpstr>PowerPoint Presentation</vt:lpstr>
      <vt:lpstr>PowerPoint Presentation</vt:lpstr>
      <vt:lpstr>Introduction</vt:lpstr>
      <vt:lpstr>PowerPoint Presentation</vt:lpstr>
      <vt:lpstr>Digital Divide</vt:lpstr>
      <vt:lpstr>5 indicators of Digital Divide</vt:lpstr>
      <vt:lpstr>Access</vt:lpstr>
      <vt:lpstr>PowerPoint Presentation</vt:lpstr>
      <vt:lpstr>PowerPoint Presentation</vt:lpstr>
      <vt:lpstr>Distribution of internet users in South Africa as of 2021, by age group</vt:lpstr>
      <vt:lpstr>Technology</vt:lpstr>
      <vt:lpstr>Human ware (Human Capacity)</vt:lpstr>
      <vt:lpstr>Infrastructure</vt:lpstr>
      <vt:lpstr>Enabling Environments</vt:lpstr>
      <vt:lpstr>ICT in the Workplace</vt:lpstr>
      <vt:lpstr>Categories of Telecommuters</vt:lpstr>
      <vt:lpstr>Effects and Benefits of Telecommuting</vt:lpstr>
      <vt:lpstr>Employee Monitoring</vt:lpstr>
      <vt:lpstr>Consequences of Electronic Monitoring</vt:lpstr>
      <vt:lpstr>Workplace, Employee, Health, and Productivity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APPLICATIONS IN BUSINESS AND FINANCE</dc:title>
  <dc:creator>roaming3</dc:creator>
  <cp:lastModifiedBy>Microsoft account</cp:lastModifiedBy>
  <cp:revision>161</cp:revision>
  <dcterms:created xsi:type="dcterms:W3CDTF">2020-02-06T08:28:23Z</dcterms:created>
  <dcterms:modified xsi:type="dcterms:W3CDTF">2024-03-01T14:17:32Z</dcterms:modified>
</cp:coreProperties>
</file>