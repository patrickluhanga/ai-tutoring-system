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6" r:id="rId5"/>
    <p:sldId id="267" r:id="rId6"/>
    <p:sldId id="265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89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8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26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34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9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3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7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6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00FAC-311C-46E7-9F05-3F7D92E0C88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A9B45-4CAC-4E4B-A566-19885DC5D6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84925" y="977384"/>
            <a:ext cx="53864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0" dirty="0">
                <a:solidFill>
                  <a:srgbClr val="0D0D0D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CRISIS MANAGEMENT </a:t>
            </a:r>
            <a:endParaRPr lang="en-US" sz="36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23" y="2042851"/>
            <a:ext cx="8449854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40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7225" y="669489"/>
            <a:ext cx="11391900" cy="50783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Crisis are unexpected events that can cause disruption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D0D0D"/>
              </a:solidFill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Crisis management involves strategies and procedures to handle unexpected events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D0D0D"/>
              </a:solidFill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The objective of this lecture is to understand how crisis management principles apply to ICT and how to effectively respond to ICT crises.</a:t>
            </a:r>
          </a:p>
        </p:txBody>
      </p:sp>
    </p:spTree>
    <p:extLst>
      <p:ext uri="{BB962C8B-B14F-4D97-AF65-F5344CB8AC3E}">
        <p14:creationId xmlns:p14="http://schemas.microsoft.com/office/powerpoint/2010/main" val="357803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0609" y="205859"/>
            <a:ext cx="2321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Types of ICT Crises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90550" y="1308616"/>
            <a:ext cx="11353800" cy="39703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Cybersecurity Incidents: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Examples include 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data breaches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 and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virus</a:t>
            </a:r>
          </a:p>
          <a:p>
            <a:pPr marL="742950" lvl="1" indent="-285750">
              <a:buFont typeface="+mj-lt"/>
              <a:buAutoNum type="arabicPeriod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Network Outages and Infrastructure Failures: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Causes may include </a:t>
            </a: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hardware failures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, software glitches, or human errors.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3. Software Bugs and System Vulnerabilities: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Vulnerabilities in software or systems can be exploited by attackers to gain unauthorized access or cause system malfunctions.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4. Data Loss or Corruption: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Accidental deletion, hardware failures, or malicious activities can lead to the loss or corruption of valuable data.</a:t>
            </a:r>
          </a:p>
        </p:txBody>
      </p:sp>
    </p:spTree>
    <p:extLst>
      <p:ext uri="{BB962C8B-B14F-4D97-AF65-F5344CB8AC3E}">
        <p14:creationId xmlns:p14="http://schemas.microsoft.com/office/powerpoint/2010/main" val="2751565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883" y="215384"/>
            <a:ext cx="3236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Prevention and Preparedness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19151" y="1479888"/>
            <a:ext cx="10029824" cy="45243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Identify potential crises through risk assessments and scenario planning.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Implement measures to mitigate risks and enhance resilience, such as business continuity planning and cybersecurity measures.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0D0D0D"/>
              </a:solidFill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D0D0D"/>
                </a:solidFill>
                <a:effectLst/>
                <a:latin typeface="Söhne"/>
              </a:rPr>
              <a:t>Establish a crisis management team and develop response plans with clear roles and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2615735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883" y="215384"/>
            <a:ext cx="3108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Crisis management process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495425"/>
            <a:ext cx="10544175" cy="447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01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2943" y="339209"/>
            <a:ext cx="3172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Crisis Response Strategies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0" y="948690"/>
            <a:ext cx="11020425" cy="53553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Analysis</a:t>
            </a:r>
            <a:endParaRPr lang="en-US" dirty="0"/>
          </a:p>
          <a:p>
            <a:pPr lvl="1"/>
            <a:r>
              <a:rPr lang="en-US" dirty="0"/>
              <a:t>Assess the current situation and understand the nature and severity of the crisis.</a:t>
            </a:r>
          </a:p>
          <a:p>
            <a:pPr lvl="1"/>
            <a:r>
              <a:rPr lang="en-US" dirty="0"/>
              <a:t>Analyze available data and information to determine the root cause and contributing factors.</a:t>
            </a:r>
          </a:p>
          <a:p>
            <a:pPr lvl="1"/>
            <a:endParaRPr lang="en-US" dirty="0"/>
          </a:p>
          <a:p>
            <a:r>
              <a:rPr lang="en-US" b="1" dirty="0"/>
              <a:t>Preparation</a:t>
            </a:r>
            <a:endParaRPr lang="en-US" dirty="0"/>
          </a:p>
          <a:p>
            <a:pPr lvl="1"/>
            <a:r>
              <a:rPr lang="en-US" b="1" dirty="0"/>
              <a:t>Activate the crisis management </a:t>
            </a:r>
            <a:r>
              <a:rPr lang="en-US" dirty="0"/>
              <a:t>team and ensure all members understand their roles and responsibilities.</a:t>
            </a:r>
          </a:p>
          <a:p>
            <a:pPr lvl="1"/>
            <a:r>
              <a:rPr lang="en-US" dirty="0"/>
              <a:t>Review and </a:t>
            </a:r>
            <a:r>
              <a:rPr lang="en-US" b="1" dirty="0"/>
              <a:t>update crisis management plans </a:t>
            </a:r>
            <a:r>
              <a:rPr lang="en-US" dirty="0"/>
              <a:t>and procedures as necessary.</a:t>
            </a:r>
          </a:p>
          <a:p>
            <a:pPr lvl="1"/>
            <a:r>
              <a:rPr lang="en-US" dirty="0"/>
              <a:t>Prepare </a:t>
            </a:r>
            <a:r>
              <a:rPr lang="en-US" b="1" dirty="0"/>
              <a:t>communication materials and channels </a:t>
            </a:r>
            <a:r>
              <a:rPr lang="en-US" dirty="0"/>
              <a:t>for internal and external stakeholders.</a:t>
            </a:r>
          </a:p>
          <a:p>
            <a:pPr lvl="1"/>
            <a:r>
              <a:rPr lang="en-US" dirty="0"/>
              <a:t>Ensure </a:t>
            </a:r>
            <a:r>
              <a:rPr lang="en-US" b="1" dirty="0"/>
              <a:t>availability of necessary resources </a:t>
            </a:r>
            <a:r>
              <a:rPr lang="en-US" dirty="0"/>
              <a:t>and support for crisis response efforts.</a:t>
            </a:r>
          </a:p>
          <a:p>
            <a:r>
              <a:rPr lang="en-US" b="1" dirty="0"/>
              <a:t>Response</a:t>
            </a:r>
            <a:endParaRPr lang="en-US" dirty="0"/>
          </a:p>
          <a:p>
            <a:pPr lvl="1"/>
            <a:r>
              <a:rPr lang="en-US" b="1" dirty="0"/>
              <a:t>Implement the crisis management plan </a:t>
            </a:r>
            <a:r>
              <a:rPr lang="en-US" dirty="0"/>
              <a:t>and initiate response actions immediately.</a:t>
            </a:r>
          </a:p>
          <a:p>
            <a:pPr lvl="1"/>
            <a:r>
              <a:rPr lang="en-US" b="1" dirty="0"/>
              <a:t>Communicate transparently </a:t>
            </a:r>
            <a:r>
              <a:rPr lang="en-US" dirty="0"/>
              <a:t>and proactively with stakeholders about the situation and response efforts.</a:t>
            </a:r>
          </a:p>
          <a:p>
            <a:pPr lvl="1"/>
            <a:r>
              <a:rPr lang="en-US" b="1" dirty="0"/>
              <a:t>Coordinate response activities </a:t>
            </a:r>
            <a:r>
              <a:rPr lang="en-US" dirty="0"/>
              <a:t>across departments and with external partners as needed.</a:t>
            </a:r>
          </a:p>
          <a:p>
            <a:pPr lvl="1"/>
            <a:r>
              <a:rPr lang="en-US" b="1" dirty="0"/>
              <a:t>Take decisive actions to mitigate </a:t>
            </a:r>
            <a:r>
              <a:rPr lang="en-US" dirty="0"/>
              <a:t>the impact of the crisis and protect the organization's interests.</a:t>
            </a:r>
          </a:p>
          <a:p>
            <a:r>
              <a:rPr lang="en-US" b="1" dirty="0"/>
              <a:t>Recovery</a:t>
            </a:r>
            <a:endParaRPr lang="en-US" dirty="0"/>
          </a:p>
          <a:p>
            <a:pPr lvl="1"/>
            <a:r>
              <a:rPr lang="en-US" dirty="0"/>
              <a:t>Stabilize the situation and restore essential functions and services.</a:t>
            </a:r>
          </a:p>
          <a:p>
            <a:pPr lvl="1"/>
            <a:r>
              <a:rPr lang="en-US" dirty="0"/>
              <a:t> Conduct a thorough </a:t>
            </a:r>
            <a:r>
              <a:rPr lang="en-US" b="1" dirty="0"/>
              <a:t>post-incident analysis </a:t>
            </a:r>
            <a:r>
              <a:rPr lang="en-US" dirty="0"/>
              <a:t>to identify lessons learned and areas for improvement.</a:t>
            </a:r>
          </a:p>
          <a:p>
            <a:pPr lvl="1"/>
            <a:r>
              <a:rPr lang="en-US" dirty="0"/>
              <a:t>Update </a:t>
            </a:r>
            <a:r>
              <a:rPr lang="en-US" b="1" dirty="0"/>
              <a:t>crisis management plans </a:t>
            </a:r>
            <a:r>
              <a:rPr lang="en-US" dirty="0"/>
              <a:t>and procedures based on the findings of the analysis to enhance </a:t>
            </a:r>
            <a:r>
              <a:rPr lang="en-US" b="1" dirty="0"/>
              <a:t>preparedness for future crises.</a:t>
            </a:r>
          </a:p>
        </p:txBody>
      </p:sp>
    </p:spTree>
    <p:extLst>
      <p:ext uri="{BB962C8B-B14F-4D97-AF65-F5344CB8AC3E}">
        <p14:creationId xmlns:p14="http://schemas.microsoft.com/office/powerpoint/2010/main" val="425570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1925" y="746701"/>
            <a:ext cx="11791950" cy="53245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D0D0D"/>
                </a:solidFill>
                <a:effectLst/>
                <a:latin typeface="Söhne"/>
              </a:rPr>
              <a:t>Case Study: Cybersecurity Breach at </a:t>
            </a:r>
            <a:r>
              <a:rPr lang="en-US" sz="2000" b="1" i="0" dirty="0" err="1">
                <a:solidFill>
                  <a:srgbClr val="0D0D0D"/>
                </a:solidFill>
                <a:effectLst/>
                <a:latin typeface="Söhne"/>
              </a:rPr>
              <a:t>TechGuard</a:t>
            </a:r>
            <a:r>
              <a:rPr lang="en-US" sz="2000" b="1" i="0" dirty="0">
                <a:solidFill>
                  <a:srgbClr val="0D0D0D"/>
                </a:solidFill>
                <a:effectLst/>
                <a:latin typeface="Söhne"/>
              </a:rPr>
              <a:t> Inc.</a:t>
            </a: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sz="2000" b="1" i="0" dirty="0">
                <a:solidFill>
                  <a:srgbClr val="0D0D0D"/>
                </a:solidFill>
                <a:effectLst/>
                <a:latin typeface="Söhne"/>
              </a:rPr>
              <a:t>Background: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0D0D0D"/>
                </a:solidFill>
                <a:effectLst/>
                <a:latin typeface="Söhne"/>
              </a:rPr>
              <a:t>TechGuard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Inc. is a leading technology company specializing in cybersecurity solutions. Recently, </a:t>
            </a:r>
            <a:r>
              <a:rPr lang="en-US" sz="2000" b="0" i="0" dirty="0" err="1">
                <a:solidFill>
                  <a:srgbClr val="0D0D0D"/>
                </a:solidFill>
                <a:effectLst/>
                <a:latin typeface="Söhne"/>
              </a:rPr>
              <a:t>TechGuard's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internal systems were compromised in a sophisticated cyberattack, leading to a data breach and potential exposure of sensitive customer information.</a:t>
            </a:r>
          </a:p>
          <a:p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sz="2000" b="1" i="0" dirty="0">
                <a:solidFill>
                  <a:srgbClr val="0D0D0D"/>
                </a:solidFill>
                <a:effectLst/>
                <a:latin typeface="Söhne"/>
              </a:rPr>
              <a:t>Crisis Management Process:</a:t>
            </a: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Söhne"/>
              </a:rPr>
              <a:t>Analysis:</a:t>
            </a: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Upon discovery of the breach, </a:t>
            </a:r>
            <a:r>
              <a:rPr lang="en-US" sz="2000" b="0" i="0" dirty="0" err="1">
                <a:solidFill>
                  <a:srgbClr val="0D0D0D"/>
                </a:solidFill>
                <a:effectLst/>
                <a:latin typeface="Söhne"/>
              </a:rPr>
              <a:t>TechGuard's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cybersecurity team immediately assesses the extent of the intrusion and identifies the attacker's tactics,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They determine that the breach originated from a phishing email that accessed to sensitive data.</a:t>
            </a:r>
          </a:p>
          <a:p>
            <a:pPr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latin typeface="Söhne"/>
              </a:rPr>
              <a:t>Preparation:</a:t>
            </a: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b="0" i="0" dirty="0" err="1">
                <a:solidFill>
                  <a:srgbClr val="0D0D0D"/>
                </a:solidFill>
                <a:effectLst/>
                <a:latin typeface="Söhne"/>
              </a:rPr>
              <a:t>TechGuard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activates its crisis management team, comprising cybersecurity experts, IT personnel, legal advisors, and communication specialists.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The team reviews and updates the company's incident response plan to address the breach, including containment, eradication, and recovery procedures.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They prepare communication materials for notifying affected customers, regulatory authorities, and the public about the breach and </a:t>
            </a:r>
            <a:r>
              <a:rPr lang="en-US" sz="2000" b="0" i="0" dirty="0" err="1">
                <a:solidFill>
                  <a:srgbClr val="0D0D0D"/>
                </a:solidFill>
                <a:effectLst/>
                <a:latin typeface="Söhne"/>
              </a:rPr>
              <a:t>TechGuard's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response efforts.</a:t>
            </a:r>
          </a:p>
        </p:txBody>
      </p:sp>
    </p:spTree>
    <p:extLst>
      <p:ext uri="{BB962C8B-B14F-4D97-AF65-F5344CB8AC3E}">
        <p14:creationId xmlns:p14="http://schemas.microsoft.com/office/powerpoint/2010/main" val="278256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775" y="682853"/>
            <a:ext cx="11934825" cy="507831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Response: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TechGuard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takes immediate action to contain the breach, including isolating affected systems, disabling compromised accounts, and deploying additional security controls.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crisis management team communicates transparently with internal stakeholders, providing regular updates on the situation and response efforts.</a:t>
            </a:r>
          </a:p>
          <a:p>
            <a:pPr lvl="1"/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Recovery: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After containing the breach and mitigating immediate risks,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TechGuard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focuses on restoring affected systems and services.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They work closely with affected customers to assess the impact of the breach and implement remediation measures, such as credit monitoring and identity theft protection.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TechGuard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conducts a thorough post-incident analysis to identify lessons learned and improve its cybersecurity posture, including enhancing employee training, updating security policies, and implementing additional security measures to prevent future breaches.</a:t>
            </a:r>
          </a:p>
          <a:p>
            <a:pPr marL="742950" lvl="1" indent="-285750">
              <a:buFont typeface="+mj-lt"/>
              <a:buAutoNum type="arabicPeriod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Outcome: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Despite the initial impact of the cyberattack,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Söhne"/>
              </a:rPr>
              <a:t>TechGuard's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swift and coordinated response efforts enable them to contain the breach, minimize the impact on customers, and maintain trust and confidence in their cybersecurity capabilities. </a:t>
            </a:r>
          </a:p>
        </p:txBody>
      </p:sp>
    </p:spTree>
    <p:extLst>
      <p:ext uri="{BB962C8B-B14F-4D97-AF65-F5344CB8AC3E}">
        <p14:creationId xmlns:p14="http://schemas.microsoft.com/office/powerpoint/2010/main" val="1403140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690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Segoe UI Black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O Tiamiyu (25127557)</cp:lastModifiedBy>
  <cp:revision>10</cp:revision>
  <dcterms:created xsi:type="dcterms:W3CDTF">2024-04-23T04:58:48Z</dcterms:created>
  <dcterms:modified xsi:type="dcterms:W3CDTF">2026-04-15T19:58:55Z</dcterms:modified>
</cp:coreProperties>
</file>