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64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6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7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57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7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90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6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0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9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5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50A8C-0ED3-4697-866F-D388443C62D0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A9F30-11AD-4F8F-9260-05EBD60FB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4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17925" y="1924492"/>
            <a:ext cx="714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Globalization and Social Justice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9002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9377" y="294100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D0D0D"/>
                </a:solidFill>
                <a:latin typeface="Söhne"/>
              </a:rPr>
              <a:t>Globalization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47002" y="1447180"/>
            <a:ext cx="896859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</a:rPr>
              <a:t>Globalization refers to the interconnectedness of economies, cultures, and societies around the world. </a:t>
            </a:r>
            <a:endParaRPr lang="en-US" dirty="0" smtClean="0">
              <a:solidFill>
                <a:srgbClr val="1F1F1F"/>
              </a:solidFill>
              <a:latin typeface="Google Sans"/>
            </a:endParaRPr>
          </a:p>
          <a:p>
            <a:endParaRPr lang="en-US" dirty="0">
              <a:solidFill>
                <a:srgbClr val="1F1F1F"/>
              </a:solidFill>
              <a:latin typeface="Google Sans"/>
            </a:endParaRPr>
          </a:p>
          <a:p>
            <a:endParaRPr lang="en-US" dirty="0" smtClean="0">
              <a:solidFill>
                <a:srgbClr val="1F1F1F"/>
              </a:solidFill>
              <a:latin typeface="Google Sans"/>
            </a:endParaRPr>
          </a:p>
          <a:p>
            <a:r>
              <a:rPr lang="en-US" dirty="0" smtClean="0">
                <a:solidFill>
                  <a:srgbClr val="1F1F1F"/>
                </a:solidFill>
                <a:latin typeface="Google Sans"/>
              </a:rPr>
              <a:t>While 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it offers numerous benefits like increased trade and cultural exchange, it also raises concerns about social justice. </a:t>
            </a:r>
            <a:endParaRPr lang="en-US" dirty="0" smtClean="0">
              <a:solidFill>
                <a:srgbClr val="1F1F1F"/>
              </a:solidFill>
              <a:latin typeface="Google Sans"/>
            </a:endParaRPr>
          </a:p>
          <a:p>
            <a:endParaRPr lang="en-US" dirty="0">
              <a:solidFill>
                <a:srgbClr val="1F1F1F"/>
              </a:solidFill>
              <a:latin typeface="Google Sans"/>
            </a:endParaRPr>
          </a:p>
          <a:p>
            <a:endParaRPr lang="en-US" dirty="0" smtClean="0">
              <a:solidFill>
                <a:srgbClr val="1F1F1F"/>
              </a:solidFill>
              <a:latin typeface="Google Sans"/>
            </a:endParaRPr>
          </a:p>
          <a:p>
            <a:r>
              <a:rPr lang="en-US" dirty="0" smtClean="0">
                <a:solidFill>
                  <a:srgbClr val="1F1F1F"/>
                </a:solidFill>
                <a:latin typeface="Google Sans"/>
              </a:rPr>
              <a:t>We'll 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explore how globalization impacts individuals and communities, examining both its potential and pitfalls in achieving social justice.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862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75125" y="238567"/>
            <a:ext cx="714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Dimensions of Globalization</a:t>
            </a:r>
            <a:endParaRPr 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876300" y="1279089"/>
            <a:ext cx="1042034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Economic globalization: the integration of markets and economies through trade, investment, and financial </a:t>
            </a:r>
            <a:r>
              <a:rPr lang="en-US" sz="2800" dirty="0" smtClean="0"/>
              <a:t>flows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Cultural globalization: the spread of ideas, values, and cultural practices across </a:t>
            </a:r>
            <a:r>
              <a:rPr lang="en-US" sz="2800" dirty="0" smtClean="0"/>
              <a:t>borders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Political globalization: the emergence of global governance structures and institutions</a:t>
            </a:r>
          </a:p>
        </p:txBody>
      </p:sp>
    </p:spTree>
    <p:extLst>
      <p:ext uri="{BB962C8B-B14F-4D97-AF65-F5344CB8AC3E}">
        <p14:creationId xmlns:p14="http://schemas.microsoft.com/office/powerpoint/2010/main" val="9134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2" y="2055781"/>
            <a:ext cx="2610214" cy="25911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4772" y="380365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1F1F"/>
                </a:solidFill>
                <a:latin typeface="Google Sans"/>
              </a:rPr>
              <a:t>The Rise of Globalization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735237" y="1473535"/>
            <a:ext cx="804844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Globalization has accelerated in recent decades due to</a:t>
            </a:r>
            <a:r>
              <a:rPr lang="en-US" sz="2800" dirty="0" smtClean="0">
                <a:solidFill>
                  <a:srgbClr val="1F1F1F"/>
                </a:solidFill>
                <a:latin typeface="Google Sans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F1F1F"/>
              </a:solidFill>
              <a:latin typeface="Google San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Technological advancements in communication and transportation</a:t>
            </a:r>
            <a:r>
              <a:rPr lang="en-US" sz="2800" dirty="0" smtClean="0">
                <a:solidFill>
                  <a:srgbClr val="1F1F1F"/>
                </a:solidFill>
                <a:latin typeface="Google Sans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F1F1F"/>
              </a:solidFill>
              <a:latin typeface="Google San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Trade liberalization policies and agreements</a:t>
            </a:r>
            <a:r>
              <a:rPr lang="en-US" sz="2800" dirty="0" smtClean="0">
                <a:solidFill>
                  <a:srgbClr val="1F1F1F"/>
                </a:solidFill>
                <a:latin typeface="Google Sans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F1F1F"/>
              </a:solidFill>
              <a:latin typeface="Google San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F1F1F"/>
                </a:solidFill>
                <a:latin typeface="Google Sans"/>
              </a:rPr>
              <a:t>The rise of multinational corporations operating across various countries.</a:t>
            </a:r>
            <a:endParaRPr lang="en-US" sz="28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65455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75125" y="238567"/>
            <a:ext cx="714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Benefits of Globalization</a:t>
            </a:r>
            <a:endParaRPr 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723900" y="823342"/>
            <a:ext cx="1042034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Increased economic growth and </a:t>
            </a:r>
            <a:r>
              <a:rPr lang="en-US" sz="2800" dirty="0" smtClean="0"/>
              <a:t>prosperity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Access to new markets and opportunities for trade and </a:t>
            </a:r>
            <a:r>
              <a:rPr lang="en-US" sz="2800" dirty="0" smtClean="0"/>
              <a:t>investment</a:t>
            </a:r>
          </a:p>
          <a:p>
            <a:endParaRPr lang="en-US" sz="2800" dirty="0"/>
          </a:p>
          <a:p>
            <a:r>
              <a:rPr lang="en-US" sz="2800" dirty="0"/>
              <a:t>Technological innovation and </a:t>
            </a:r>
            <a:r>
              <a:rPr lang="en-US" sz="2800" dirty="0" smtClean="0"/>
              <a:t>knowledge-sharing</a:t>
            </a:r>
          </a:p>
          <a:p>
            <a:endParaRPr lang="en-US" sz="2800" dirty="0"/>
          </a:p>
          <a:p>
            <a:r>
              <a:rPr lang="en-US" sz="2800" dirty="0"/>
              <a:t>Cultural exchange and diversity</a:t>
            </a:r>
          </a:p>
        </p:txBody>
      </p:sp>
    </p:spTree>
    <p:extLst>
      <p:ext uri="{BB962C8B-B14F-4D97-AF65-F5344CB8AC3E}">
        <p14:creationId xmlns:p14="http://schemas.microsoft.com/office/powerpoint/2010/main" val="3835905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75125" y="238567"/>
            <a:ext cx="714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Challenges of Globalization</a:t>
            </a:r>
            <a:endParaRPr 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723900" y="823342"/>
            <a:ext cx="1042034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Growing income inequality within and between </a:t>
            </a:r>
            <a:r>
              <a:rPr lang="en-US" sz="2800" dirty="0" smtClean="0"/>
              <a:t>countries</a:t>
            </a:r>
          </a:p>
          <a:p>
            <a:endParaRPr lang="en-US" sz="2800" dirty="0"/>
          </a:p>
          <a:p>
            <a:r>
              <a:rPr lang="en-US" sz="2800" dirty="0"/>
              <a:t>Exploitation of labor in developing </a:t>
            </a:r>
            <a:r>
              <a:rPr lang="en-US" sz="2800" dirty="0" smtClean="0"/>
              <a:t>countries</a:t>
            </a:r>
          </a:p>
          <a:p>
            <a:endParaRPr lang="en-US" sz="2800" dirty="0"/>
          </a:p>
          <a:p>
            <a:r>
              <a:rPr lang="en-US" sz="2800" dirty="0"/>
              <a:t>Environmental degradation and depletion of natural </a:t>
            </a:r>
            <a:r>
              <a:rPr lang="en-US" sz="2800" dirty="0" smtClean="0"/>
              <a:t>resources</a:t>
            </a:r>
          </a:p>
          <a:p>
            <a:endParaRPr lang="en-US" sz="2800" dirty="0"/>
          </a:p>
          <a:p>
            <a:r>
              <a:rPr lang="en-US" sz="2800" dirty="0"/>
              <a:t>Loss of cultural identity and homogenization of culture</a:t>
            </a:r>
          </a:p>
        </p:txBody>
      </p:sp>
    </p:spTree>
    <p:extLst>
      <p:ext uri="{BB962C8B-B14F-4D97-AF65-F5344CB8AC3E}">
        <p14:creationId xmlns:p14="http://schemas.microsoft.com/office/powerpoint/2010/main" val="88175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75125" y="238567"/>
            <a:ext cx="714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Understanding Social Justice</a:t>
            </a:r>
            <a:endParaRPr 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698021" y="1090761"/>
            <a:ext cx="1042034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Social justice refers to the fair and equitable distribution of resources, rights, and opportunities across a society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It encompasses economic justice (fair wages, access to resources), social justice (equal access to healthcare, education), and political justice (equal representation, participation</a:t>
            </a:r>
            <a:r>
              <a:rPr lang="en-US" sz="2800" dirty="0" smtClean="0"/>
              <a:t>).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Social justice aims to create a society where everyone has the chance to thrive, regardless of their background or circumstances.</a:t>
            </a:r>
          </a:p>
        </p:txBody>
      </p:sp>
    </p:spTree>
    <p:extLst>
      <p:ext uri="{BB962C8B-B14F-4D97-AF65-F5344CB8AC3E}">
        <p14:creationId xmlns:p14="http://schemas.microsoft.com/office/powerpoint/2010/main" val="386189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75125" y="238567"/>
            <a:ext cx="71404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Globalization and Social Justice</a:t>
            </a:r>
            <a:endParaRPr 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689394" y="1340927"/>
            <a:ext cx="1042034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Impact of globalization on social justice: exacerbation of inequality, marginalization of vulnerable groups, and erosion of social welfare </a:t>
            </a:r>
            <a:r>
              <a:rPr lang="en-US" sz="2800" dirty="0" smtClean="0"/>
              <a:t>systems, Racism, </a:t>
            </a:r>
          </a:p>
          <a:p>
            <a:endParaRPr lang="en-US" sz="2800" dirty="0"/>
          </a:p>
          <a:p>
            <a:r>
              <a:rPr lang="en-US" sz="2800" dirty="0"/>
              <a:t>Need for policies and interventions to mitigate the negative effects of globalization on social justice</a:t>
            </a:r>
          </a:p>
        </p:txBody>
      </p:sp>
    </p:spTree>
    <p:extLst>
      <p:ext uri="{BB962C8B-B14F-4D97-AF65-F5344CB8AC3E}">
        <p14:creationId xmlns:p14="http://schemas.microsoft.com/office/powerpoint/2010/main" val="45384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1025" y="238567"/>
            <a:ext cx="95345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Promoting Social Justice in a Globalized World</a:t>
            </a:r>
            <a:endParaRPr lang="en-US" sz="3200" dirty="0"/>
          </a:p>
        </p:txBody>
      </p:sp>
      <p:sp>
        <p:nvSpPr>
          <p:cNvPr id="2" name="Rectangle 1"/>
          <p:cNvSpPr/>
          <p:nvPr/>
        </p:nvSpPr>
        <p:spPr>
          <a:xfrm>
            <a:off x="752475" y="1451992"/>
            <a:ext cx="1042034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Advocacy for fair trade and labor </a:t>
            </a:r>
            <a:r>
              <a:rPr lang="en-US" sz="2800" dirty="0" smtClean="0"/>
              <a:t>standards</a:t>
            </a:r>
          </a:p>
          <a:p>
            <a:endParaRPr lang="en-US" sz="2800" dirty="0"/>
          </a:p>
          <a:p>
            <a:r>
              <a:rPr lang="en-US" sz="2800" dirty="0"/>
              <a:t>Strengthening social safety nets and welfare </a:t>
            </a:r>
            <a:r>
              <a:rPr lang="en-US" sz="2800" dirty="0" smtClean="0"/>
              <a:t>programs</a:t>
            </a:r>
          </a:p>
          <a:p>
            <a:endParaRPr lang="en-US" sz="2800" dirty="0"/>
          </a:p>
          <a:p>
            <a:r>
              <a:rPr lang="en-US" sz="2800" dirty="0"/>
              <a:t>Empowering marginalized communities and promoting </a:t>
            </a:r>
            <a:r>
              <a:rPr lang="en-US" sz="2800" dirty="0" smtClean="0"/>
              <a:t>inclusivity</a:t>
            </a:r>
          </a:p>
          <a:p>
            <a:endParaRPr lang="en-US" sz="2800" dirty="0"/>
          </a:p>
          <a:p>
            <a:r>
              <a:rPr lang="en-US" sz="2800" dirty="0"/>
              <a:t>Holding corporations and governments accountable for their actions</a:t>
            </a:r>
          </a:p>
        </p:txBody>
      </p:sp>
    </p:spTree>
    <p:extLst>
      <p:ext uri="{BB962C8B-B14F-4D97-AF65-F5344CB8AC3E}">
        <p14:creationId xmlns:p14="http://schemas.microsoft.com/office/powerpoint/2010/main" val="543907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355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Google Sans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9</cp:revision>
  <dcterms:created xsi:type="dcterms:W3CDTF">2024-03-01T21:04:21Z</dcterms:created>
  <dcterms:modified xsi:type="dcterms:W3CDTF">2024-03-03T20:26:42Z</dcterms:modified>
</cp:coreProperties>
</file>