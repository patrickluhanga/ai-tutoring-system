
<file path=[Content_Types].xml><?xml version="1.0" encoding="utf-8"?>
<Types xmlns="http://schemas.openxmlformats.org/package/2006/content-types">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 id="2147483681" r:id="rId3"/>
  </p:sldMasterIdLst>
  <p:notesMasterIdLst>
    <p:notesMasterId r:id="rId35"/>
  </p:notesMasterIdLst>
  <p:handoutMasterIdLst>
    <p:handoutMasterId r:id="rId36"/>
  </p:handoutMasterIdLst>
  <p:sldIdLst>
    <p:sldId id="321" r:id="rId4"/>
    <p:sldId id="322" r:id="rId5"/>
    <p:sldId id="382" r:id="rId6"/>
    <p:sldId id="383" r:id="rId7"/>
    <p:sldId id="384" r:id="rId8"/>
    <p:sldId id="375" r:id="rId9"/>
    <p:sldId id="361" r:id="rId10"/>
    <p:sldId id="376" r:id="rId11"/>
    <p:sldId id="358" r:id="rId12"/>
    <p:sldId id="386" r:id="rId13"/>
    <p:sldId id="381" r:id="rId14"/>
    <p:sldId id="360" r:id="rId15"/>
    <p:sldId id="362" r:id="rId16"/>
    <p:sldId id="387" r:id="rId17"/>
    <p:sldId id="388" r:id="rId18"/>
    <p:sldId id="363" r:id="rId19"/>
    <p:sldId id="389" r:id="rId20"/>
    <p:sldId id="364" r:id="rId21"/>
    <p:sldId id="365" r:id="rId22"/>
    <p:sldId id="367" r:id="rId23"/>
    <p:sldId id="368" r:id="rId24"/>
    <p:sldId id="369" r:id="rId25"/>
    <p:sldId id="370" r:id="rId26"/>
    <p:sldId id="371" r:id="rId27"/>
    <p:sldId id="372" r:id="rId28"/>
    <p:sldId id="373" r:id="rId29"/>
    <p:sldId id="377" r:id="rId30"/>
    <p:sldId id="374" r:id="rId31"/>
    <p:sldId id="378" r:id="rId32"/>
    <p:sldId id="379" r:id="rId33"/>
    <p:sldId id="38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50" autoAdjust="0"/>
    <p:restoredTop sz="83636" autoAdjust="0"/>
  </p:normalViewPr>
  <p:slideViewPr>
    <p:cSldViewPr snapToGrid="0">
      <p:cViewPr>
        <p:scale>
          <a:sx n="80" d="100"/>
          <a:sy n="80" d="100"/>
        </p:scale>
        <p:origin x="107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5" tIns="45718" rIns="91435" bIns="4571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35" tIns="45718" rIns="91435" bIns="45718" rtlCol="0"/>
          <a:lstStyle>
            <a:lvl1pPr algn="r">
              <a:defRPr sz="1200"/>
            </a:lvl1pPr>
          </a:lstStyle>
          <a:p>
            <a:r>
              <a:rPr lang="en-US" smtClean="0"/>
              <a:t>2022</a:t>
            </a:r>
            <a:endParaRPr lang="en-US"/>
          </a:p>
        </p:txBody>
      </p:sp>
      <p:sp>
        <p:nvSpPr>
          <p:cNvPr id="4" name="Footer Placeholder 3"/>
          <p:cNvSpPr>
            <a:spLocks noGrp="1"/>
          </p:cNvSpPr>
          <p:nvPr>
            <p:ph type="ftr" sz="quarter" idx="2"/>
          </p:nvPr>
        </p:nvSpPr>
        <p:spPr>
          <a:xfrm>
            <a:off x="0" y="8685214"/>
            <a:ext cx="2971800" cy="458787"/>
          </a:xfrm>
          <a:prstGeom prst="rect">
            <a:avLst/>
          </a:prstGeom>
        </p:spPr>
        <p:txBody>
          <a:bodyPr vert="horz" lIns="91435" tIns="45718" rIns="91435" bIns="45718" rtlCol="0" anchor="b"/>
          <a:lstStyle>
            <a:lvl1pPr algn="l">
              <a:defRPr sz="1200"/>
            </a:lvl1pPr>
          </a:lstStyle>
          <a:p>
            <a:r>
              <a:rPr lang="en-US" dirty="0" smtClean="0"/>
              <a:t>L Madamshetty Department of IS</a:t>
            </a:r>
            <a:endParaRPr lang="en-US" dirty="0"/>
          </a:p>
        </p:txBody>
      </p:sp>
      <p:sp>
        <p:nvSpPr>
          <p:cNvPr id="5" name="Slide Number Placeholder 4"/>
          <p:cNvSpPr>
            <a:spLocks noGrp="1"/>
          </p:cNvSpPr>
          <p:nvPr>
            <p:ph type="sldNum" sz="quarter" idx="3"/>
          </p:nvPr>
        </p:nvSpPr>
        <p:spPr>
          <a:xfrm>
            <a:off x="3884613" y="8685214"/>
            <a:ext cx="2971800" cy="458787"/>
          </a:xfrm>
          <a:prstGeom prst="rect">
            <a:avLst/>
          </a:prstGeom>
        </p:spPr>
        <p:txBody>
          <a:bodyPr vert="horz" lIns="91435" tIns="45718" rIns="91435" bIns="45718" rtlCol="0" anchor="b"/>
          <a:lstStyle>
            <a:lvl1pPr algn="r">
              <a:defRPr sz="1200"/>
            </a:lvl1pPr>
          </a:lstStyle>
          <a:p>
            <a:fld id="{74F5C566-70C2-4B3D-AB81-0810F4D8A493}" type="slidenum">
              <a:rPr lang="en-US" smtClean="0"/>
              <a:t>‹#›</a:t>
            </a:fld>
            <a:endParaRPr lang="en-US"/>
          </a:p>
        </p:txBody>
      </p:sp>
    </p:spTree>
    <p:extLst>
      <p:ext uri="{BB962C8B-B14F-4D97-AF65-F5344CB8AC3E}">
        <p14:creationId xmlns:p14="http://schemas.microsoft.com/office/powerpoint/2010/main" val="2756894320"/>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5" tIns="45718" rIns="91435" bIns="45718"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5" tIns="45718" rIns="91435" bIns="45718" rtlCol="0"/>
          <a:lstStyle>
            <a:lvl1pPr algn="r">
              <a:defRPr sz="1200"/>
            </a:lvl1pPr>
          </a:lstStyle>
          <a:p>
            <a:r>
              <a:rPr lang="en-US" smtClean="0"/>
              <a:t>2022</a:t>
            </a:r>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35" tIns="45718" rIns="91435" bIns="45718"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5" tIns="45718" rIns="91435" bIns="45718"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4"/>
            <a:ext cx="2971800" cy="458787"/>
          </a:xfrm>
          <a:prstGeom prst="rect">
            <a:avLst/>
          </a:prstGeom>
        </p:spPr>
        <p:txBody>
          <a:bodyPr vert="horz" lIns="91435" tIns="45718" rIns="91435" bIns="45718" rtlCol="0" anchor="b"/>
          <a:lstStyle>
            <a:lvl1pPr algn="l">
              <a:defRPr sz="1200"/>
            </a:lvl1pPr>
          </a:lstStyle>
          <a:p>
            <a:r>
              <a:rPr lang="en-US" dirty="0" smtClean="0"/>
              <a:t>L Madamshetty Department of IS</a:t>
            </a:r>
            <a:endParaRPr lang="en-US" dirty="0"/>
          </a:p>
        </p:txBody>
      </p:sp>
      <p:sp>
        <p:nvSpPr>
          <p:cNvPr id="7" name="Slide Number Placeholder 6"/>
          <p:cNvSpPr>
            <a:spLocks noGrp="1"/>
          </p:cNvSpPr>
          <p:nvPr>
            <p:ph type="sldNum" sz="quarter" idx="5"/>
          </p:nvPr>
        </p:nvSpPr>
        <p:spPr>
          <a:xfrm>
            <a:off x="3884613" y="8685214"/>
            <a:ext cx="2971800" cy="458787"/>
          </a:xfrm>
          <a:prstGeom prst="rect">
            <a:avLst/>
          </a:prstGeom>
        </p:spPr>
        <p:txBody>
          <a:bodyPr vert="horz" lIns="91435" tIns="45718" rIns="91435" bIns="45718" rtlCol="0" anchor="b"/>
          <a:lstStyle>
            <a:lvl1pPr algn="r">
              <a:defRPr sz="1200"/>
            </a:lvl1pPr>
          </a:lstStyle>
          <a:p>
            <a:fld id="{45F0E21D-ACCC-4E9E-8D31-A3D4217FDBC9}" type="slidenum">
              <a:rPr lang="en-US" smtClean="0"/>
              <a:t>‹#›</a:t>
            </a:fld>
            <a:endParaRPr lang="en-US"/>
          </a:p>
        </p:txBody>
      </p:sp>
    </p:spTree>
    <p:extLst>
      <p:ext uri="{BB962C8B-B14F-4D97-AF65-F5344CB8AC3E}">
        <p14:creationId xmlns:p14="http://schemas.microsoft.com/office/powerpoint/2010/main" val="3356258268"/>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0:notes"/>
          <p:cNvSpPr txBox="1">
            <a:spLocks noGrp="1"/>
          </p:cNvSpPr>
          <p:nvPr>
            <p:ph type="body" idx="1"/>
          </p:nvPr>
        </p:nvSpPr>
        <p:spPr>
          <a:xfrm>
            <a:off x="685800" y="4343400"/>
            <a:ext cx="5486400" cy="4114800"/>
          </a:xfrm>
          <a:prstGeom prst="rect">
            <a:avLst/>
          </a:prstGeom>
        </p:spPr>
        <p:txBody>
          <a:bodyPr spcFirstLastPara="1" wrap="square" lIns="91420" tIns="91420" rIns="91420" bIns="91420" anchor="t" anchorCtr="0">
            <a:noAutofit/>
          </a:bodyPr>
          <a:lstStyle/>
          <a:p>
            <a:endParaRPr/>
          </a:p>
        </p:txBody>
      </p:sp>
      <p:sp>
        <p:nvSpPr>
          <p:cNvPr id="2" name="Date Placeholder 1"/>
          <p:cNvSpPr>
            <a:spLocks noGrp="1"/>
          </p:cNvSpPr>
          <p:nvPr>
            <p:ph type="dt" idx="10"/>
          </p:nvPr>
        </p:nvSpPr>
        <p:spPr/>
        <p:txBody>
          <a:bodyPr/>
          <a:lstStyle/>
          <a:p>
            <a:r>
              <a:rPr lang="en-US" smtClean="0"/>
              <a:t>2022</a:t>
            </a:r>
            <a:endParaRPr lang="en-US"/>
          </a:p>
        </p:txBody>
      </p:sp>
      <p:sp>
        <p:nvSpPr>
          <p:cNvPr id="3" name="Footer Placeholder 2"/>
          <p:cNvSpPr>
            <a:spLocks noGrp="1"/>
          </p:cNvSpPr>
          <p:nvPr>
            <p:ph type="ftr" sz="quarter" idx="11"/>
          </p:nvPr>
        </p:nvSpPr>
        <p:spPr/>
        <p:txBody>
          <a:bodyPr/>
          <a:lstStyle/>
          <a:p>
            <a:r>
              <a:rPr lang="en-US" dirty="0" smtClean="0"/>
              <a:t>L Madamshetty Department of IS</a:t>
            </a:r>
            <a:endParaRPr lang="en-US" dirty="0"/>
          </a:p>
        </p:txBody>
      </p:sp>
    </p:spTree>
    <p:extLst>
      <p:ext uri="{BB962C8B-B14F-4D97-AF65-F5344CB8AC3E}">
        <p14:creationId xmlns:p14="http://schemas.microsoft.com/office/powerpoint/2010/main" val="1779760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0" tIns="91420" rIns="91420" bIns="91420" anchor="t" anchorCtr="0">
            <a:noAutofit/>
          </a:bodyPr>
          <a:lstStyle/>
          <a:p>
            <a:r>
              <a:rPr lang="en-US" dirty="0"/>
              <a:t>In this chapter we</a:t>
            </a:r>
          </a:p>
          <a:p>
            <a:r>
              <a:rPr lang="en-US" dirty="0"/>
              <a:t>describe the difference between morality and ethics, discuss a variety of ethical theories,</a:t>
            </a:r>
          </a:p>
          <a:p>
            <a:r>
              <a:rPr lang="en-US" dirty="0"/>
              <a:t>evaluate their pros and cons, and show how to use the more viable ethical theories to</a:t>
            </a:r>
          </a:p>
          <a:p>
            <a:r>
              <a:rPr lang="en-US" dirty="0"/>
              <a:t>solve moral problems.</a:t>
            </a:r>
            <a:endParaRPr lang="en-US" dirty="0" smtClean="0"/>
          </a:p>
          <a:p>
            <a:endParaRPr dirty="0"/>
          </a:p>
        </p:txBody>
      </p:sp>
      <p:sp>
        <p:nvSpPr>
          <p:cNvPr id="2" name="Date Placeholder 1"/>
          <p:cNvSpPr>
            <a:spLocks noGrp="1"/>
          </p:cNvSpPr>
          <p:nvPr>
            <p:ph type="dt" idx="10"/>
          </p:nvPr>
        </p:nvSpPr>
        <p:spPr/>
        <p:txBody>
          <a:bodyPr/>
          <a:lstStyle/>
          <a:p>
            <a:r>
              <a:rPr lang="en-US" smtClean="0"/>
              <a:t>2022</a:t>
            </a:r>
            <a:endParaRPr lang="en-US"/>
          </a:p>
        </p:txBody>
      </p:sp>
      <p:sp>
        <p:nvSpPr>
          <p:cNvPr id="3" name="Footer Placeholder 2"/>
          <p:cNvSpPr>
            <a:spLocks noGrp="1"/>
          </p:cNvSpPr>
          <p:nvPr>
            <p:ph type="ftr" sz="quarter" idx="11"/>
          </p:nvPr>
        </p:nvSpPr>
        <p:spPr/>
        <p:txBody>
          <a:bodyPr/>
          <a:lstStyle/>
          <a:p>
            <a:r>
              <a:rPr lang="en-US" dirty="0" smtClean="0"/>
              <a:t>L Madamshetty Department of IS</a:t>
            </a:r>
            <a:endParaRPr lang="en-US" dirty="0"/>
          </a:p>
        </p:txBody>
      </p:sp>
    </p:spTree>
    <p:extLst>
      <p:ext uri="{BB962C8B-B14F-4D97-AF65-F5344CB8AC3E}">
        <p14:creationId xmlns:p14="http://schemas.microsoft.com/office/powerpoint/2010/main" val="1792001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Shape 114"/>
          <p:cNvSpPr txBox="1">
            <a:spLocks noGrp="1"/>
          </p:cNvSpPr>
          <p:nvPr>
            <p:ph type="body" idx="1"/>
          </p:nvPr>
        </p:nvSpPr>
        <p:spPr>
          <a:xfrm>
            <a:off x="685801" y="4343400"/>
            <a:ext cx="5486399" cy="4114800"/>
          </a:xfrm>
          <a:prstGeom prst="rect">
            <a:avLst/>
          </a:prstGeom>
        </p:spPr>
        <p:txBody>
          <a:bodyPr lIns="91420" tIns="91420" rIns="91420" bIns="91420" anchor="t" anchorCtr="0">
            <a:noAutofit/>
          </a:bodyPr>
          <a:lstStyle/>
          <a:p>
            <a:endParaRPr/>
          </a:p>
        </p:txBody>
      </p:sp>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7522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Shape 114"/>
          <p:cNvSpPr txBox="1">
            <a:spLocks noGrp="1"/>
          </p:cNvSpPr>
          <p:nvPr>
            <p:ph type="body" idx="1"/>
          </p:nvPr>
        </p:nvSpPr>
        <p:spPr>
          <a:xfrm>
            <a:off x="685801" y="4343400"/>
            <a:ext cx="5486399" cy="4114800"/>
          </a:xfrm>
          <a:prstGeom prst="rect">
            <a:avLst/>
          </a:prstGeom>
        </p:spPr>
        <p:txBody>
          <a:bodyPr lIns="91420" tIns="91420" rIns="91420" bIns="91420" anchor="t" anchorCtr="0">
            <a:noAutofit/>
          </a:bodyPr>
          <a:lstStyle/>
          <a:p>
            <a:endParaRPr/>
          </a:p>
        </p:txBody>
      </p:sp>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8329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L Madamshetty Department of IS</a:t>
            </a:r>
            <a:endParaRPr lang="en-US" dirty="0"/>
          </a:p>
        </p:txBody>
      </p:sp>
      <p:sp>
        <p:nvSpPr>
          <p:cNvPr id="6" name="Slide Number Placeholder 5"/>
          <p:cNvSpPr>
            <a:spLocks noGrp="1"/>
          </p:cNvSpPr>
          <p:nvPr>
            <p:ph type="sldNum" sz="quarter" idx="12"/>
          </p:nvPr>
        </p:nvSpPr>
        <p:spPr/>
        <p:txBody>
          <a:bodyPr/>
          <a:lstStyle/>
          <a:p>
            <a:fld id="{45F0E21D-ACCC-4E9E-8D31-A3D4217FDBC9}" type="slidenum">
              <a:rPr lang="en-US" smtClean="0"/>
              <a:t>9</a:t>
            </a:fld>
            <a:endParaRPr lang="en-US"/>
          </a:p>
        </p:txBody>
      </p:sp>
    </p:spTree>
    <p:extLst>
      <p:ext uri="{BB962C8B-B14F-4D97-AF65-F5344CB8AC3E}">
        <p14:creationId xmlns:p14="http://schemas.microsoft.com/office/powerpoint/2010/main" val="3535108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In the past two millennia, philosophers have proposed many ethical theories. In this chapter we review some of them. How do we decide if a particular theory is useful? A</a:t>
            </a:r>
          </a:p>
          <a:p>
            <a:r>
              <a:rPr lang="en-US" sz="1200" b="0" i="0" u="none" strike="noStrike" kern="1200" baseline="0" dirty="0" smtClean="0">
                <a:solidFill>
                  <a:schemeClr val="tx1"/>
                </a:solidFill>
                <a:latin typeface="+mn-lt"/>
                <a:ea typeface="+mn-ea"/>
                <a:cs typeface="+mn-cs"/>
              </a:rPr>
              <a:t>useful theory allows its proponents to examine moral problems, reach conclusions, and defend those conclusions in front of a skeptical, yet open-minded audience (</a:t>
            </a:r>
            <a:endParaRPr lang="en-US" dirty="0" smtClean="0"/>
          </a:p>
          <a:p>
            <a:endParaRPr lang="en-US" dirty="0"/>
          </a:p>
        </p:txBody>
      </p:sp>
      <p:sp>
        <p:nvSpPr>
          <p:cNvPr id="4" name="Date Placeholder 3"/>
          <p:cNvSpPr>
            <a:spLocks noGrp="1"/>
          </p:cNvSpPr>
          <p:nvPr>
            <p:ph type="dt"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L Madamshetty Department of IS</a:t>
            </a:r>
            <a:endParaRPr lang="en-US" dirty="0"/>
          </a:p>
        </p:txBody>
      </p:sp>
      <p:sp>
        <p:nvSpPr>
          <p:cNvPr id="6" name="Slide Number Placeholder 5"/>
          <p:cNvSpPr>
            <a:spLocks noGrp="1"/>
          </p:cNvSpPr>
          <p:nvPr>
            <p:ph type="sldNum" sz="quarter" idx="12"/>
          </p:nvPr>
        </p:nvSpPr>
        <p:spPr/>
        <p:txBody>
          <a:bodyPr/>
          <a:lstStyle/>
          <a:p>
            <a:fld id="{45F0E21D-ACCC-4E9E-8D31-A3D4217FDBC9}" type="slidenum">
              <a:rPr lang="en-US" smtClean="0"/>
              <a:t>10</a:t>
            </a:fld>
            <a:endParaRPr lang="en-US"/>
          </a:p>
        </p:txBody>
      </p:sp>
    </p:spTree>
    <p:extLst>
      <p:ext uri="{BB962C8B-B14F-4D97-AF65-F5344CB8AC3E}">
        <p14:creationId xmlns:p14="http://schemas.microsoft.com/office/powerpoint/2010/main" val="3927746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In the following sections we consider nine ethical theories—nine frameworks for moral decision making. We present the motivation or insight underlying each theory,</a:t>
            </a:r>
          </a:p>
          <a:p>
            <a:r>
              <a:rPr lang="en-US" sz="1200" b="0" i="0" u="none" strike="noStrike" kern="1200" baseline="0" dirty="0" smtClean="0">
                <a:solidFill>
                  <a:schemeClr val="tx1"/>
                </a:solidFill>
                <a:latin typeface="+mn-lt"/>
                <a:ea typeface="+mn-ea"/>
                <a:cs typeface="+mn-cs"/>
              </a:rPr>
              <a:t>explain how it can be used to determine whether an action is right or wrong, and give the “case for” and the “case against” the theory. The workable theories will be those</a:t>
            </a:r>
          </a:p>
          <a:p>
            <a:r>
              <a:rPr lang="en-US" sz="1200" b="0" i="0" u="none" strike="noStrike" kern="1200" baseline="0" dirty="0" smtClean="0">
                <a:solidFill>
                  <a:schemeClr val="tx1"/>
                </a:solidFill>
                <a:latin typeface="+mn-lt"/>
                <a:ea typeface="+mn-ea"/>
                <a:cs typeface="+mn-cs"/>
              </a:rPr>
              <a:t>that make it possible for a person to present a persuasive, logical argument to a diverse audience of skeptical, yet open-minded people.</a:t>
            </a:r>
            <a:endParaRPr lang="en-US" dirty="0"/>
          </a:p>
        </p:txBody>
      </p:sp>
      <p:sp>
        <p:nvSpPr>
          <p:cNvPr id="4" name="Date Placeholder 3"/>
          <p:cNvSpPr>
            <a:spLocks noGrp="1"/>
          </p:cNvSpPr>
          <p:nvPr>
            <p:ph type="dt"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L Madamshetty Department of IS</a:t>
            </a:r>
            <a:endParaRPr lang="en-US" dirty="0"/>
          </a:p>
        </p:txBody>
      </p:sp>
      <p:sp>
        <p:nvSpPr>
          <p:cNvPr id="6" name="Slide Number Placeholder 5"/>
          <p:cNvSpPr>
            <a:spLocks noGrp="1"/>
          </p:cNvSpPr>
          <p:nvPr>
            <p:ph type="sldNum" sz="quarter" idx="12"/>
          </p:nvPr>
        </p:nvSpPr>
        <p:spPr/>
        <p:txBody>
          <a:bodyPr/>
          <a:lstStyle/>
          <a:p>
            <a:fld id="{45F0E21D-ACCC-4E9E-8D31-A3D4217FDBC9}" type="slidenum">
              <a:rPr lang="en-US" smtClean="0"/>
              <a:t>11</a:t>
            </a:fld>
            <a:endParaRPr lang="en-US"/>
          </a:p>
        </p:txBody>
      </p:sp>
    </p:spTree>
    <p:extLst>
      <p:ext uri="{BB962C8B-B14F-4D97-AF65-F5344CB8AC3E}">
        <p14:creationId xmlns:p14="http://schemas.microsoft.com/office/powerpoint/2010/main" val="29545924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In sharp contrast to the divine command theory, which promotes a concern for others</a:t>
            </a:r>
          </a:p>
          <a:p>
            <a:r>
              <a:rPr lang="en-US" sz="1200" b="0" i="0" u="none" strike="noStrike" kern="1200" baseline="0" dirty="0" smtClean="0">
                <a:solidFill>
                  <a:schemeClr val="tx1"/>
                </a:solidFill>
                <a:latin typeface="+mn-lt"/>
                <a:ea typeface="+mn-ea"/>
                <a:cs typeface="+mn-cs"/>
              </a:rPr>
              <a:t>with scriptural injunctions such as “Love your neighbor as </a:t>
            </a:r>
            <a:r>
              <a:rPr lang="en-US" sz="1200" b="0" i="0" u="none" strike="noStrike" kern="1200" baseline="0" dirty="0" err="1" smtClean="0">
                <a:solidFill>
                  <a:schemeClr val="tx1"/>
                </a:solidFill>
                <a:latin typeface="+mn-lt"/>
                <a:ea typeface="+mn-ea"/>
                <a:cs typeface="+mn-cs"/>
              </a:rPr>
              <a:t>yourself“Love</a:t>
            </a:r>
            <a:r>
              <a:rPr lang="en-US" sz="1200" b="0" i="0" u="none" strike="noStrike" kern="1200" baseline="0" dirty="0" smtClean="0">
                <a:solidFill>
                  <a:schemeClr val="tx1"/>
                </a:solidFill>
                <a:latin typeface="+mn-lt"/>
                <a:ea typeface="+mn-ea"/>
                <a:cs typeface="+mn-cs"/>
              </a:rPr>
              <a:t> your neighbor as yourself,”</a:t>
            </a:r>
            <a:endParaRPr lang="en-US" dirty="0"/>
          </a:p>
        </p:txBody>
      </p:sp>
      <p:sp>
        <p:nvSpPr>
          <p:cNvPr id="4" name="Date Placeholder 3"/>
          <p:cNvSpPr>
            <a:spLocks noGrp="1"/>
          </p:cNvSpPr>
          <p:nvPr>
            <p:ph type="dt"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L Madamshetty Department of IS</a:t>
            </a:r>
            <a:endParaRPr lang="en-US" dirty="0"/>
          </a:p>
        </p:txBody>
      </p:sp>
      <p:sp>
        <p:nvSpPr>
          <p:cNvPr id="6" name="Slide Number Placeholder 5"/>
          <p:cNvSpPr>
            <a:spLocks noGrp="1"/>
          </p:cNvSpPr>
          <p:nvPr>
            <p:ph type="sldNum" sz="quarter" idx="12"/>
          </p:nvPr>
        </p:nvSpPr>
        <p:spPr/>
        <p:txBody>
          <a:bodyPr/>
          <a:lstStyle/>
          <a:p>
            <a:fld id="{45F0E21D-ACCC-4E9E-8D31-A3D4217FDBC9}" type="slidenum">
              <a:rPr lang="en-US" smtClean="0"/>
              <a:t>13</a:t>
            </a:fld>
            <a:endParaRPr lang="en-US"/>
          </a:p>
        </p:txBody>
      </p:sp>
    </p:spTree>
    <p:extLst>
      <p:ext uri="{BB962C8B-B14F-4D97-AF65-F5344CB8AC3E}">
        <p14:creationId xmlns:p14="http://schemas.microsoft.com/office/powerpoint/2010/main" val="3367431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606f1c2d_30:notes"/>
          <p:cNvSpPr txBox="1">
            <a:spLocks noGrp="1"/>
          </p:cNvSpPr>
          <p:nvPr>
            <p:ph type="body" idx="1"/>
          </p:nvPr>
        </p:nvSpPr>
        <p:spPr>
          <a:xfrm>
            <a:off x="685800" y="4343400"/>
            <a:ext cx="5486400" cy="4114800"/>
          </a:xfrm>
          <a:prstGeom prst="rect">
            <a:avLst/>
          </a:prstGeom>
        </p:spPr>
        <p:txBody>
          <a:bodyPr spcFirstLastPara="1" wrap="square" lIns="91420" tIns="91420" rIns="91420" bIns="91420" anchor="t" anchorCtr="0">
            <a:noAutofit/>
          </a:bodyPr>
          <a:lstStyle/>
          <a:p>
            <a:endParaRPr/>
          </a:p>
        </p:txBody>
      </p:sp>
      <p:sp>
        <p:nvSpPr>
          <p:cNvPr id="2" name="Date Placeholder 1"/>
          <p:cNvSpPr>
            <a:spLocks noGrp="1"/>
          </p:cNvSpPr>
          <p:nvPr>
            <p:ph type="dt" idx="10"/>
          </p:nvPr>
        </p:nvSpPr>
        <p:spPr/>
        <p:txBody>
          <a:bodyPr/>
          <a:lstStyle/>
          <a:p>
            <a:r>
              <a:rPr lang="en-US" smtClean="0"/>
              <a:t>2022</a:t>
            </a:r>
            <a:endParaRPr lang="en-US"/>
          </a:p>
        </p:txBody>
      </p:sp>
      <p:sp>
        <p:nvSpPr>
          <p:cNvPr id="3" name="Footer Placeholder 2"/>
          <p:cNvSpPr>
            <a:spLocks noGrp="1"/>
          </p:cNvSpPr>
          <p:nvPr>
            <p:ph type="ftr" sz="quarter" idx="11"/>
          </p:nvPr>
        </p:nvSpPr>
        <p:spPr/>
        <p:txBody>
          <a:bodyPr/>
          <a:lstStyle/>
          <a:p>
            <a:r>
              <a:rPr lang="en-US" dirty="0" smtClean="0"/>
              <a:t>L Madamshetty Department of IS</a:t>
            </a:r>
            <a:endParaRPr lang="en-US" dirty="0"/>
          </a:p>
        </p:txBody>
      </p:sp>
    </p:spTree>
    <p:extLst>
      <p:ext uri="{BB962C8B-B14F-4D97-AF65-F5344CB8AC3E}">
        <p14:creationId xmlns:p14="http://schemas.microsoft.com/office/powerpoint/2010/main" val="3659570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a:p>
        </p:txBody>
      </p:sp>
      <p:sp>
        <p:nvSpPr>
          <p:cNvPr id="4" name="Date Placeholder 3"/>
          <p:cNvSpPr>
            <a:spLocks noGrp="1"/>
          </p:cNvSpPr>
          <p:nvPr>
            <p:ph type="dt" sz="half" idx="10"/>
          </p:nvPr>
        </p:nvSpPr>
        <p:spPr/>
        <p:txBody>
          <a:bodyPr/>
          <a:lstStyle/>
          <a:p>
            <a:r>
              <a:rPr lang="en-US" smtClean="0"/>
              <a:t>2022</a:t>
            </a:r>
            <a:endParaRPr lang="en-ZA"/>
          </a:p>
        </p:txBody>
      </p:sp>
      <p:sp>
        <p:nvSpPr>
          <p:cNvPr id="5" name="Footer Placeholder 4"/>
          <p:cNvSpPr>
            <a:spLocks noGrp="1"/>
          </p:cNvSpPr>
          <p:nvPr>
            <p:ph type="ftr" sz="quarter" idx="11"/>
          </p:nvPr>
        </p:nvSpPr>
        <p:spPr/>
        <p:txBody>
          <a:bodyPr/>
          <a:lstStyle/>
          <a:p>
            <a:r>
              <a:rPr lang="en-US" dirty="0" smtClean="0"/>
              <a:t>Revised: L Madamshetty Department Of IS</a:t>
            </a:r>
            <a:endParaRPr lang="en-ZA" dirty="0"/>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407811961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r>
              <a:rPr lang="en-US" smtClean="0"/>
              <a:t>2022</a:t>
            </a:r>
            <a:endParaRPr lang="en-ZA"/>
          </a:p>
        </p:txBody>
      </p:sp>
      <p:sp>
        <p:nvSpPr>
          <p:cNvPr id="5" name="Footer Placeholder 4"/>
          <p:cNvSpPr>
            <a:spLocks noGrp="1"/>
          </p:cNvSpPr>
          <p:nvPr>
            <p:ph type="ftr" sz="quarter" idx="11"/>
          </p:nvPr>
        </p:nvSpPr>
        <p:spPr/>
        <p:txBody>
          <a:bodyPr/>
          <a:lstStyle/>
          <a:p>
            <a:r>
              <a:rPr lang="en-US" dirty="0" smtClean="0"/>
              <a:t>Revised: L Madamshetty Department Of IS</a:t>
            </a:r>
            <a:endParaRPr lang="en-ZA" dirty="0"/>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pic>
        <p:nvPicPr>
          <p:cNvPr id="8" name="Picture 7"/>
          <p:cNvPicPr>
            <a:picLocks noChangeAspect="1"/>
          </p:cNvPicPr>
          <p:nvPr userDrawn="1"/>
        </p:nvPicPr>
        <p:blipFill>
          <a:blip r:embed="rId2"/>
          <a:stretch>
            <a:fillRect/>
          </a:stretch>
        </p:blipFill>
        <p:spPr>
          <a:xfrm>
            <a:off x="8345510" y="365125"/>
            <a:ext cx="3008290" cy="1325564"/>
          </a:xfrm>
          <a:prstGeom prst="rect">
            <a:avLst/>
          </a:prstGeom>
        </p:spPr>
      </p:pic>
    </p:spTree>
    <p:extLst>
      <p:ext uri="{BB962C8B-B14F-4D97-AF65-F5344CB8AC3E}">
        <p14:creationId xmlns:p14="http://schemas.microsoft.com/office/powerpoint/2010/main" val="393001929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r>
              <a:rPr lang="en-US" smtClean="0"/>
              <a:t>2022</a:t>
            </a:r>
            <a:endParaRPr lang="en-ZA"/>
          </a:p>
        </p:txBody>
      </p:sp>
      <p:sp>
        <p:nvSpPr>
          <p:cNvPr id="5" name="Footer Placeholder 4"/>
          <p:cNvSpPr>
            <a:spLocks noGrp="1"/>
          </p:cNvSpPr>
          <p:nvPr>
            <p:ph type="ftr" sz="quarter" idx="11"/>
          </p:nvPr>
        </p:nvSpPr>
        <p:spPr/>
        <p:txBody>
          <a:bodyPr/>
          <a:lstStyle/>
          <a:p>
            <a:r>
              <a:rPr lang="en-US" dirty="0" smtClean="0"/>
              <a:t>Revised: L Madamshetty Department Of IS</a:t>
            </a:r>
            <a:endParaRPr lang="en-ZA" dirty="0"/>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4008519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Date Placeholder 4"/>
          <p:cNvSpPr>
            <a:spLocks noGrp="1"/>
          </p:cNvSpPr>
          <p:nvPr>
            <p:ph type="dt" sz="half" idx="10"/>
          </p:nvPr>
        </p:nvSpPr>
        <p:spPr/>
        <p:txBody>
          <a:bodyPr/>
          <a:lstStyle/>
          <a:p>
            <a:r>
              <a:rPr lang="en-US" smtClean="0"/>
              <a:t>2022</a:t>
            </a:r>
            <a:endParaRPr lang="en-ZA"/>
          </a:p>
        </p:txBody>
      </p:sp>
      <p:sp>
        <p:nvSpPr>
          <p:cNvPr id="6" name="Footer Placeholder 5"/>
          <p:cNvSpPr>
            <a:spLocks noGrp="1"/>
          </p:cNvSpPr>
          <p:nvPr>
            <p:ph type="ftr" sz="quarter" idx="11"/>
          </p:nvPr>
        </p:nvSpPr>
        <p:spPr/>
        <p:txBody>
          <a:bodyPr/>
          <a:lstStyle/>
          <a:p>
            <a:r>
              <a:rPr lang="en-US" dirty="0" smtClean="0"/>
              <a:t>Revised: L Madamshetty Department Of IS</a:t>
            </a:r>
            <a:endParaRPr lang="en-ZA" dirty="0"/>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100043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7" name="Date Placeholder 6"/>
          <p:cNvSpPr>
            <a:spLocks noGrp="1"/>
          </p:cNvSpPr>
          <p:nvPr>
            <p:ph type="dt" sz="half" idx="10"/>
          </p:nvPr>
        </p:nvSpPr>
        <p:spPr/>
        <p:txBody>
          <a:bodyPr/>
          <a:lstStyle/>
          <a:p>
            <a:r>
              <a:rPr lang="en-US" smtClean="0"/>
              <a:t>2022</a:t>
            </a:r>
            <a:endParaRPr lang="en-ZA"/>
          </a:p>
        </p:txBody>
      </p:sp>
      <p:sp>
        <p:nvSpPr>
          <p:cNvPr id="8" name="Footer Placeholder 7"/>
          <p:cNvSpPr>
            <a:spLocks noGrp="1"/>
          </p:cNvSpPr>
          <p:nvPr>
            <p:ph type="ftr" sz="quarter" idx="11"/>
          </p:nvPr>
        </p:nvSpPr>
        <p:spPr/>
        <p:txBody>
          <a:bodyPr/>
          <a:lstStyle/>
          <a:p>
            <a:r>
              <a:rPr lang="en-US" dirty="0" smtClean="0"/>
              <a:t>Revised: L Madamshetty Department Of IS</a:t>
            </a:r>
            <a:endParaRPr lang="en-ZA" dirty="0"/>
          </a:p>
        </p:txBody>
      </p:sp>
      <p:sp>
        <p:nvSpPr>
          <p:cNvPr id="9" name="Slide Number Placeholder 8"/>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98392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Date Placeholder 2"/>
          <p:cNvSpPr>
            <a:spLocks noGrp="1"/>
          </p:cNvSpPr>
          <p:nvPr>
            <p:ph type="dt" sz="half" idx="10"/>
          </p:nvPr>
        </p:nvSpPr>
        <p:spPr/>
        <p:txBody>
          <a:bodyPr/>
          <a:lstStyle/>
          <a:p>
            <a:r>
              <a:rPr lang="en-US" smtClean="0"/>
              <a:t>2022</a:t>
            </a:r>
            <a:endParaRPr lang="en-ZA"/>
          </a:p>
        </p:txBody>
      </p:sp>
      <p:sp>
        <p:nvSpPr>
          <p:cNvPr id="4" name="Footer Placeholder 3"/>
          <p:cNvSpPr>
            <a:spLocks noGrp="1"/>
          </p:cNvSpPr>
          <p:nvPr>
            <p:ph type="ftr" sz="quarter" idx="11"/>
          </p:nvPr>
        </p:nvSpPr>
        <p:spPr/>
        <p:txBody>
          <a:bodyPr/>
          <a:lstStyle/>
          <a:p>
            <a:r>
              <a:rPr lang="en-US" dirty="0" smtClean="0"/>
              <a:t>Revised: L Madamshetty Department Of IS</a:t>
            </a:r>
            <a:endParaRPr lang="en-ZA" dirty="0"/>
          </a:p>
        </p:txBody>
      </p:sp>
      <p:sp>
        <p:nvSpPr>
          <p:cNvPr id="5" name="Slide Number Placeholder 4"/>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781322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2022</a:t>
            </a:r>
            <a:endParaRPr lang="en-ZA"/>
          </a:p>
        </p:txBody>
      </p:sp>
      <p:sp>
        <p:nvSpPr>
          <p:cNvPr id="3" name="Footer Placeholder 2"/>
          <p:cNvSpPr>
            <a:spLocks noGrp="1"/>
          </p:cNvSpPr>
          <p:nvPr>
            <p:ph type="ftr" sz="quarter" idx="11"/>
          </p:nvPr>
        </p:nvSpPr>
        <p:spPr/>
        <p:txBody>
          <a:bodyPr/>
          <a:lstStyle/>
          <a:p>
            <a:r>
              <a:rPr lang="en-US" dirty="0" smtClean="0"/>
              <a:t>Revised: L Madamshetty Department Of IS</a:t>
            </a:r>
            <a:endParaRPr lang="en-ZA" dirty="0"/>
          </a:p>
        </p:txBody>
      </p:sp>
      <p:sp>
        <p:nvSpPr>
          <p:cNvPr id="4" name="Slide Number Placeholder 3"/>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591549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r>
              <a:rPr lang="en-US" smtClean="0"/>
              <a:t>2022</a:t>
            </a:r>
            <a:endParaRPr lang="en-ZA"/>
          </a:p>
        </p:txBody>
      </p:sp>
      <p:sp>
        <p:nvSpPr>
          <p:cNvPr id="6" name="Footer Placeholder 5"/>
          <p:cNvSpPr>
            <a:spLocks noGrp="1"/>
          </p:cNvSpPr>
          <p:nvPr>
            <p:ph type="ftr" sz="quarter" idx="11"/>
          </p:nvPr>
        </p:nvSpPr>
        <p:spPr/>
        <p:txBody>
          <a:bodyPr/>
          <a:lstStyle/>
          <a:p>
            <a:r>
              <a:rPr lang="en-US" dirty="0" smtClean="0"/>
              <a:t>Revised: L Madamshetty Department Of IS</a:t>
            </a:r>
            <a:endParaRPr lang="en-ZA" dirty="0"/>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9675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r>
              <a:rPr lang="en-US" smtClean="0"/>
              <a:t>2022</a:t>
            </a:r>
            <a:endParaRPr lang="en-ZA"/>
          </a:p>
        </p:txBody>
      </p:sp>
      <p:sp>
        <p:nvSpPr>
          <p:cNvPr id="6" name="Footer Placeholder 5"/>
          <p:cNvSpPr>
            <a:spLocks noGrp="1"/>
          </p:cNvSpPr>
          <p:nvPr>
            <p:ph type="ftr" sz="quarter" idx="11"/>
          </p:nvPr>
        </p:nvSpPr>
        <p:spPr/>
        <p:txBody>
          <a:bodyPr/>
          <a:lstStyle/>
          <a:p>
            <a:r>
              <a:rPr lang="en-US" dirty="0" smtClean="0"/>
              <a:t>Revised: L Madamshetty Department Of IS</a:t>
            </a:r>
            <a:endParaRPr lang="en-ZA" dirty="0"/>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930075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r>
              <a:rPr lang="en-US" smtClean="0"/>
              <a:t>2022</a:t>
            </a:r>
            <a:endParaRPr lang="en-ZA"/>
          </a:p>
        </p:txBody>
      </p:sp>
      <p:sp>
        <p:nvSpPr>
          <p:cNvPr id="5" name="Footer Placeholder 4"/>
          <p:cNvSpPr>
            <a:spLocks noGrp="1"/>
          </p:cNvSpPr>
          <p:nvPr>
            <p:ph type="ftr" sz="quarter" idx="11"/>
          </p:nvPr>
        </p:nvSpPr>
        <p:spPr/>
        <p:txBody>
          <a:bodyPr/>
          <a:lstStyle/>
          <a:p>
            <a:r>
              <a:rPr lang="en-US" dirty="0" smtClean="0"/>
              <a:t>Revised: L Madamshetty Department Of IS</a:t>
            </a:r>
            <a:endParaRPr lang="en-ZA" dirty="0"/>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125543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r>
              <a:rPr lang="en-US" smtClean="0"/>
              <a:t>2022</a:t>
            </a:r>
            <a:endParaRPr lang="en-ZA"/>
          </a:p>
        </p:txBody>
      </p:sp>
      <p:sp>
        <p:nvSpPr>
          <p:cNvPr id="5" name="Footer Placeholder 4"/>
          <p:cNvSpPr>
            <a:spLocks noGrp="1"/>
          </p:cNvSpPr>
          <p:nvPr>
            <p:ph type="ftr" sz="quarter" idx="11"/>
          </p:nvPr>
        </p:nvSpPr>
        <p:spPr/>
        <p:txBody>
          <a:bodyPr/>
          <a:lstStyle/>
          <a:p>
            <a:r>
              <a:rPr lang="en-US" dirty="0" smtClean="0"/>
              <a:t>Revised: L Madamshetty Department Of IS</a:t>
            </a:r>
            <a:endParaRPr lang="en-ZA" dirty="0"/>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693813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userDrawn="1">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5" name="Picture 4"/>
          <p:cNvPicPr>
            <a:picLocks noChangeAspect="1"/>
          </p:cNvPicPr>
          <p:nvPr userDrawn="1"/>
        </p:nvPicPr>
        <p:blipFill>
          <a:blip r:embed="rId2"/>
          <a:stretch>
            <a:fillRect/>
          </a:stretch>
        </p:blipFill>
        <p:spPr>
          <a:xfrm>
            <a:off x="-100" y="0"/>
            <a:ext cx="4035902" cy="1341236"/>
          </a:xfrm>
          <a:prstGeom prst="rect">
            <a:avLst/>
          </a:prstGeom>
        </p:spPr>
      </p:pic>
      <p:sp>
        <p:nvSpPr>
          <p:cNvPr id="6" name="Date Placeholder 5"/>
          <p:cNvSpPr>
            <a:spLocks noGrp="1"/>
          </p:cNvSpPr>
          <p:nvPr>
            <p:ph type="dt" sz="half" idx="10"/>
          </p:nvPr>
        </p:nvSpPr>
        <p:spPr/>
        <p:txBody>
          <a:bodyPr/>
          <a:lstStyle/>
          <a:p>
            <a:r>
              <a:rPr lang="en-US" smtClean="0"/>
              <a:t>2022</a:t>
            </a:r>
            <a:endParaRPr lang="en-ZA"/>
          </a:p>
        </p:txBody>
      </p:sp>
      <p:sp>
        <p:nvSpPr>
          <p:cNvPr id="7" name="Footer Placeholder 6"/>
          <p:cNvSpPr>
            <a:spLocks noGrp="1"/>
          </p:cNvSpPr>
          <p:nvPr>
            <p:ph type="ftr" sz="quarter" idx="11"/>
          </p:nvPr>
        </p:nvSpPr>
        <p:spPr/>
        <p:txBody>
          <a:bodyPr/>
          <a:lstStyle/>
          <a:p>
            <a:r>
              <a:rPr lang="en-US" dirty="0" smtClean="0"/>
              <a:t>Revised: L Madamshetty Department Of IS</a:t>
            </a:r>
            <a:endParaRPr lang="en-ZA" dirty="0"/>
          </a:p>
        </p:txBody>
      </p:sp>
      <p:sp>
        <p:nvSpPr>
          <p:cNvPr id="8" name="Slide Number Placeholder 7"/>
          <p:cNvSpPr>
            <a:spLocks noGrp="1"/>
          </p:cNvSpPr>
          <p:nvPr>
            <p:ph type="sldNum" sz="quarter" idx="12"/>
          </p:nvPr>
        </p:nvSpPr>
        <p:spPr/>
        <p:txBody>
          <a:bodyPr/>
          <a:lstStyle/>
          <a:p>
            <a:fld id="{EF03D7A9-CDA1-4732-8CA0-2A470E848275}" type="slidenum">
              <a:rPr lang="en-ZA" smtClean="0"/>
              <a:t>‹#›</a:t>
            </a:fld>
            <a:endParaRPr lang="en-ZA"/>
          </a:p>
        </p:txBody>
      </p:sp>
      <p:pic>
        <p:nvPicPr>
          <p:cNvPr id="12" name="Picture 11"/>
          <p:cNvPicPr>
            <a:picLocks noChangeAspect="1"/>
          </p:cNvPicPr>
          <p:nvPr userDrawn="1"/>
        </p:nvPicPr>
        <p:blipFill>
          <a:blip r:embed="rId3"/>
          <a:stretch>
            <a:fillRect/>
          </a:stretch>
        </p:blipFill>
        <p:spPr>
          <a:xfrm>
            <a:off x="8610600" y="128789"/>
            <a:ext cx="3182388" cy="1883827"/>
          </a:xfrm>
          <a:prstGeom prst="rect">
            <a:avLst/>
          </a:prstGeom>
        </p:spPr>
      </p:pic>
    </p:spTree>
    <p:extLst>
      <p:ext uri="{BB962C8B-B14F-4D97-AF65-F5344CB8AC3E}">
        <p14:creationId xmlns:p14="http://schemas.microsoft.com/office/powerpoint/2010/main" val="19756236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dirty="0"/>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1"/>
          <p:cNvPicPr>
            <a:picLocks noChangeAspect="1"/>
          </p:cNvPicPr>
          <p:nvPr userDrawn="1"/>
        </p:nvPicPr>
        <p:blipFill>
          <a:blip r:embed="rId2"/>
          <a:stretch>
            <a:fillRect/>
          </a:stretch>
        </p:blipFill>
        <p:spPr>
          <a:xfrm>
            <a:off x="8806350" y="104495"/>
            <a:ext cx="3182388" cy="1883827"/>
          </a:xfrm>
          <a:prstGeom prst="rect">
            <a:avLst/>
          </a:prstGeom>
        </p:spPr>
      </p:pic>
    </p:spTree>
    <p:extLst>
      <p:ext uri="{BB962C8B-B14F-4D97-AF65-F5344CB8AC3E}">
        <p14:creationId xmlns:p14="http://schemas.microsoft.com/office/powerpoint/2010/main" val="124497088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panose="02020603050405020304" pitchFamily="18" charset="0"/>
                <a:ea typeface="Times New Roman" panose="02020603050405020304" pitchFamily="18" charset="0"/>
                <a:cs typeface="Times New Roman" panose="02020603050405020304" pitchFamily="18" charset="0"/>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Shape 26"/>
          <p:cNvSpPr txBox="1">
            <a:spLocks noGrp="1"/>
          </p:cNvSpPr>
          <p:nvPr>
            <p:ph type="body" idx="1"/>
          </p:nvPr>
        </p:nvSpPr>
        <p:spPr>
          <a:xfrm>
            <a:off x="609600" y="1600201"/>
            <a:ext cx="109728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304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230400" algn="l" rtl="0">
              <a:spcBef>
                <a:spcPts val="600"/>
              </a:spcBef>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2286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lang="en-US" dirty="0" smtClean="0"/>
          </a:p>
          <a:p>
            <a:pPr lvl="3"/>
            <a:endParaRPr lang="en-US" dirty="0" smtClean="0"/>
          </a:p>
          <a:p>
            <a:pPr lvl="4"/>
            <a:endParaRPr lang="en-US" dirty="0" smtClean="0"/>
          </a:p>
          <a:p>
            <a:pPr lvl="5"/>
            <a:endParaRPr lang="en-US" dirty="0" smtClean="0"/>
          </a:p>
          <a:p>
            <a:pPr lvl="6"/>
            <a:endParaRPr lang="en-US" dirty="0" smtClean="0"/>
          </a:p>
          <a:p>
            <a:pPr lvl="7"/>
            <a:endParaRPr lang="en-US" dirty="0" smtClean="0"/>
          </a:p>
          <a:p>
            <a:pPr lvl="8"/>
            <a:endParaRPr lang="en-US" dirty="0" smtClean="0"/>
          </a:p>
          <a:p>
            <a:pPr lvl="8"/>
            <a:endParaRPr lang="en-US" dirty="0" smtClean="0"/>
          </a:p>
          <a:p>
            <a:pPr lvl="1"/>
            <a:endParaRPr lang="en-US" dirty="0" smtClean="0"/>
          </a:p>
          <a:p>
            <a:pPr lvl="2"/>
            <a:endParaRPr lang="en-US" dirty="0" smtClean="0"/>
          </a:p>
          <a:p>
            <a:pPr lvl="3"/>
            <a:endParaRPr lang="en-US" dirty="0" smtClean="0"/>
          </a:p>
          <a:p>
            <a:pPr lvl="4"/>
            <a:endParaRPr lang="en-US" dirty="0" smtClean="0"/>
          </a:p>
          <a:p>
            <a:pPr lvl="2"/>
            <a:endParaRPr lang="en-US" dirty="0" smtClean="0"/>
          </a:p>
          <a:p>
            <a:pPr lvl="1"/>
            <a:endParaRPr lang="en-US" dirty="0" smtClean="0"/>
          </a:p>
          <a:p>
            <a:pPr lvl="2"/>
            <a:endParaRPr lang="en-US" dirty="0" smtClean="0"/>
          </a:p>
          <a:p>
            <a:pPr lvl="3"/>
            <a:endParaRPr dirty="0"/>
          </a:p>
        </p:txBody>
      </p:sp>
      <p:sp>
        <p:nvSpPr>
          <p:cNvPr id="27" name="Shape 27"/>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a:solidFill>
                <a:schemeClr val="lt1"/>
              </a:solidFill>
              <a:latin typeface="Arial"/>
              <a:ea typeface="Arial"/>
              <a:cs typeface="Arial"/>
              <a:sym typeface="Arial"/>
            </a:endParaRPr>
          </a:p>
        </p:txBody>
      </p:sp>
      <p:sp>
        <p:nvSpPr>
          <p:cNvPr id="8" name="Shape 16"/>
          <p:cNvSpPr txBox="1"/>
          <p:nvPr userDrawn="1"/>
        </p:nvSpPr>
        <p:spPr>
          <a:xfrm>
            <a:off x="2133601" y="6429344"/>
            <a:ext cx="95503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a:ea typeface="Verdana" panose="020B0604030504040204" pitchFamily="34" charset="0"/>
                <a:cs typeface="Verdana" panose="020B0604030504040204" pitchFamily="34" charset="0"/>
              </a:rPr>
              <a:t>Copyright © 2017, 2015, 2013</a:t>
            </a:r>
            <a:r>
              <a:rPr lang="en-US" altLang="en-US" sz="1200" b="0" baseline="0" dirty="0" smtClean="0">
                <a:latin typeface="Verdana"/>
                <a:ea typeface="Verdana" panose="020B0604030504040204" pitchFamily="34" charset="0"/>
                <a:cs typeface="Verdana" panose="020B0604030504040204" pitchFamily="34" charset="0"/>
              </a:rPr>
              <a:t> </a:t>
            </a:r>
            <a:r>
              <a:rPr lang="en-US" altLang="en-US" sz="1200" b="0" dirty="0" smtClean="0">
                <a:latin typeface="Verdana"/>
                <a:ea typeface="Verdana" panose="020B0604030504040204" pitchFamily="34" charset="0"/>
                <a:cs typeface="Verdana" panose="020B0604030504040204" pitchFamily="34" charset="0"/>
              </a:rPr>
              <a:t>Pearson Education, Inc. All Rights Reserved</a:t>
            </a:r>
            <a:endParaRPr lang="en-US" altLang="en-US" sz="1200" b="0" dirty="0">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055867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dirty="0"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16342062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7966166" cy="1325563"/>
          </a:xfrm>
        </p:spPr>
        <p:txBody>
          <a:bodyPr/>
          <a:lstStyle/>
          <a:p>
            <a:r>
              <a:rPr lang="en-US" smtClean="0"/>
              <a:t>Click to edit Master title style</a:t>
            </a:r>
            <a:endParaRPr lang="en-US"/>
          </a:p>
        </p:txBody>
      </p:sp>
      <p:sp>
        <p:nvSpPr>
          <p:cNvPr id="3" name="Content Placeholder 2"/>
          <p:cNvSpPr>
            <a:spLocks noGrp="1"/>
          </p:cNvSpPr>
          <p:nvPr>
            <p:ph idx="1"/>
          </p:nvPr>
        </p:nvSpPr>
        <p:spPr>
          <a:xfrm>
            <a:off x="838200" y="2011679"/>
            <a:ext cx="10515600" cy="4344671"/>
          </a:xfrm>
          <a:solidFill>
            <a:schemeClr val="bg1"/>
          </a:solidFill>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dirty="0"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31406570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dirty="0"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4077741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2022</a:t>
            </a:r>
            <a:endParaRPr lang="en-US"/>
          </a:p>
        </p:txBody>
      </p:sp>
      <p:sp>
        <p:nvSpPr>
          <p:cNvPr id="6" name="Footer Placeholder 5"/>
          <p:cNvSpPr>
            <a:spLocks noGrp="1"/>
          </p:cNvSpPr>
          <p:nvPr>
            <p:ph type="ftr" sz="quarter" idx="11"/>
          </p:nvPr>
        </p:nvSpPr>
        <p:spPr/>
        <p:txBody>
          <a:bodyPr/>
          <a:lstStyle/>
          <a:p>
            <a:r>
              <a:rPr lang="en-US" dirty="0" smtClean="0"/>
              <a:t>Revised: L Madamshetty Department Of IS</a:t>
            </a:r>
            <a:endParaRPr lang="en-US" dirty="0"/>
          </a:p>
        </p:txBody>
      </p:sp>
      <p:sp>
        <p:nvSpPr>
          <p:cNvPr id="7" name="Slide Number Placeholder 6"/>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108864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2022</a:t>
            </a:r>
            <a:endParaRPr lang="en-US"/>
          </a:p>
        </p:txBody>
      </p:sp>
      <p:sp>
        <p:nvSpPr>
          <p:cNvPr id="8" name="Footer Placeholder 7"/>
          <p:cNvSpPr>
            <a:spLocks noGrp="1"/>
          </p:cNvSpPr>
          <p:nvPr>
            <p:ph type="ftr" sz="quarter" idx="11"/>
          </p:nvPr>
        </p:nvSpPr>
        <p:spPr/>
        <p:txBody>
          <a:bodyPr/>
          <a:lstStyle/>
          <a:p>
            <a:r>
              <a:rPr lang="en-US" dirty="0" smtClean="0"/>
              <a:t>Revised: L Madamshetty Department Of IS</a:t>
            </a:r>
            <a:endParaRPr lang="en-US" dirty="0"/>
          </a:p>
        </p:txBody>
      </p:sp>
      <p:sp>
        <p:nvSpPr>
          <p:cNvPr id="9" name="Slide Number Placeholder 8"/>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36631671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2022</a:t>
            </a:r>
            <a:endParaRPr lang="en-US"/>
          </a:p>
        </p:txBody>
      </p:sp>
      <p:sp>
        <p:nvSpPr>
          <p:cNvPr id="4" name="Footer Placeholder 3"/>
          <p:cNvSpPr>
            <a:spLocks noGrp="1"/>
          </p:cNvSpPr>
          <p:nvPr>
            <p:ph type="ftr" sz="quarter" idx="11"/>
          </p:nvPr>
        </p:nvSpPr>
        <p:spPr/>
        <p:txBody>
          <a:bodyPr/>
          <a:lstStyle/>
          <a:p>
            <a:r>
              <a:rPr lang="en-US" dirty="0" smtClean="0"/>
              <a:t>Revised: L Madamshetty Department Of IS</a:t>
            </a:r>
            <a:endParaRPr lang="en-US" dirty="0"/>
          </a:p>
        </p:txBody>
      </p:sp>
      <p:sp>
        <p:nvSpPr>
          <p:cNvPr id="5" name="Slide Number Placeholder 4"/>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721371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2022</a:t>
            </a:r>
            <a:endParaRPr lang="en-US"/>
          </a:p>
        </p:txBody>
      </p:sp>
      <p:sp>
        <p:nvSpPr>
          <p:cNvPr id="3" name="Footer Placeholder 2"/>
          <p:cNvSpPr>
            <a:spLocks noGrp="1"/>
          </p:cNvSpPr>
          <p:nvPr>
            <p:ph type="ftr" sz="quarter" idx="11"/>
          </p:nvPr>
        </p:nvSpPr>
        <p:spPr/>
        <p:txBody>
          <a:bodyPr/>
          <a:lstStyle/>
          <a:p>
            <a:r>
              <a:rPr lang="en-US" dirty="0" smtClean="0"/>
              <a:t>Revised: L Madamshetty Department Of IS</a:t>
            </a:r>
            <a:endParaRPr lang="en-US" dirty="0"/>
          </a:p>
        </p:txBody>
      </p:sp>
      <p:sp>
        <p:nvSpPr>
          <p:cNvPr id="4" name="Slide Number Placeholder 3"/>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23337885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r>
              <a:rPr lang="en-US" smtClean="0"/>
              <a:t>2022</a:t>
            </a:r>
            <a:endParaRPr lang="en-US"/>
          </a:p>
        </p:txBody>
      </p:sp>
      <p:sp>
        <p:nvSpPr>
          <p:cNvPr id="6" name="Footer Placeholder 5"/>
          <p:cNvSpPr>
            <a:spLocks noGrp="1"/>
          </p:cNvSpPr>
          <p:nvPr>
            <p:ph type="ftr" sz="quarter" idx="11"/>
          </p:nvPr>
        </p:nvSpPr>
        <p:spPr/>
        <p:txBody>
          <a:bodyPr/>
          <a:lstStyle/>
          <a:p>
            <a:r>
              <a:rPr lang="en-US" dirty="0" smtClean="0"/>
              <a:t>Revised: L Madamshetty Department Of IS</a:t>
            </a:r>
            <a:endParaRPr lang="en-US" dirty="0"/>
          </a:p>
        </p:txBody>
      </p:sp>
      <p:sp>
        <p:nvSpPr>
          <p:cNvPr id="7" name="Slide Number Placeholder 6"/>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21717539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r>
              <a:rPr lang="en-US" smtClean="0"/>
              <a:t>2022</a:t>
            </a:r>
            <a:endParaRPr lang="en-US"/>
          </a:p>
        </p:txBody>
      </p:sp>
      <p:sp>
        <p:nvSpPr>
          <p:cNvPr id="6" name="Footer Placeholder 5"/>
          <p:cNvSpPr>
            <a:spLocks noGrp="1"/>
          </p:cNvSpPr>
          <p:nvPr>
            <p:ph type="ftr" sz="quarter" idx="11"/>
          </p:nvPr>
        </p:nvSpPr>
        <p:spPr/>
        <p:txBody>
          <a:bodyPr/>
          <a:lstStyle/>
          <a:p>
            <a:r>
              <a:rPr lang="en-US" dirty="0" smtClean="0"/>
              <a:t>Revised: L Madamshetty Department Of IS</a:t>
            </a:r>
            <a:endParaRPr lang="en-US" dirty="0"/>
          </a:p>
        </p:txBody>
      </p:sp>
      <p:sp>
        <p:nvSpPr>
          <p:cNvPr id="7" name="Slide Number Placeholder 6"/>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39265402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dirty="0"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18621321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dirty="0"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2915994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2022</a:t>
            </a:r>
            <a:endParaRPr lang="en-US"/>
          </a:p>
        </p:txBody>
      </p:sp>
      <p:sp>
        <p:nvSpPr>
          <p:cNvPr id="4" name="Footer Placeholder 3"/>
          <p:cNvSpPr>
            <a:spLocks noGrp="1"/>
          </p:cNvSpPr>
          <p:nvPr>
            <p:ph type="ftr" sz="quarter" idx="11"/>
          </p:nvPr>
        </p:nvSpPr>
        <p:spPr/>
        <p:txBody>
          <a:bodyPr/>
          <a:lstStyle/>
          <a:p>
            <a:r>
              <a:rPr lang="en-US" dirty="0" smtClean="0"/>
              <a:t>Revised: L Madamshetty Department Of IS</a:t>
            </a:r>
            <a:endParaRPr lang="en-US" dirty="0"/>
          </a:p>
        </p:txBody>
      </p:sp>
      <p:sp>
        <p:nvSpPr>
          <p:cNvPr id="5" name="Slide Number Placeholder 4"/>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802115089"/>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609600" y="228601"/>
            <a:ext cx="109728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609600" y="5368160"/>
            <a:ext cx="109728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dk1"/>
                </a:solidFill>
                <a:latin typeface="Arial"/>
                <a:ea typeface="Arial"/>
                <a:cs typeface="Arial"/>
                <a:sym typeface="Arial"/>
              </a:rPr>
              <a:pPr>
                <a:buSzPct val="25000"/>
              </a:pPr>
              <a:t>‹#›</a:t>
            </a:fld>
            <a:endParaRPr lang="en-US" sz="900">
              <a:solidFill>
                <a:schemeClr val="dk1"/>
              </a:solidFill>
              <a:latin typeface="Arial"/>
              <a:ea typeface="Arial"/>
              <a:cs typeface="Arial"/>
              <a:sym typeface="Arial"/>
            </a:endParaRPr>
          </a:p>
        </p:txBody>
      </p:sp>
      <p:sp>
        <p:nvSpPr>
          <p:cNvPr id="8" name="Shape 16"/>
          <p:cNvSpPr txBox="1"/>
          <p:nvPr userDrawn="1"/>
        </p:nvSpPr>
        <p:spPr>
          <a:xfrm>
            <a:off x="2133601" y="6429344"/>
            <a:ext cx="95503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a:ea typeface="Verdana" panose="020B0604030504040204" pitchFamily="34" charset="0"/>
                <a:cs typeface="Verdana" panose="020B0604030504040204" pitchFamily="34" charset="0"/>
              </a:rPr>
              <a:t>Copyright © 2017, 2015, 2013</a:t>
            </a:r>
            <a:r>
              <a:rPr lang="en-US" altLang="en-US" sz="1200" b="0" baseline="0" dirty="0" smtClean="0">
                <a:latin typeface="Verdana"/>
                <a:ea typeface="Verdana" panose="020B0604030504040204" pitchFamily="34" charset="0"/>
                <a:cs typeface="Verdana" panose="020B0604030504040204" pitchFamily="34" charset="0"/>
              </a:rPr>
              <a:t> </a:t>
            </a:r>
            <a:r>
              <a:rPr lang="en-US" altLang="en-US" sz="1200" b="0" dirty="0" smtClean="0">
                <a:latin typeface="Verdana"/>
                <a:ea typeface="Verdana" panose="020B0604030504040204" pitchFamily="34" charset="0"/>
                <a:cs typeface="Verdana" panose="020B0604030504040204" pitchFamily="34" charset="0"/>
              </a:rPr>
              <a:t>Pearson Education, Inc. All Rights Reserved</a:t>
            </a:r>
            <a:endParaRPr lang="en-US" altLang="en-US" sz="1200" b="0" dirty="0">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8073389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dirty="0"/>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1"/>
          <p:cNvPicPr>
            <a:picLocks noChangeAspect="1"/>
          </p:cNvPicPr>
          <p:nvPr userDrawn="1"/>
        </p:nvPicPr>
        <p:blipFill>
          <a:blip r:embed="rId2"/>
          <a:stretch>
            <a:fillRect/>
          </a:stretch>
        </p:blipFill>
        <p:spPr>
          <a:xfrm>
            <a:off x="8806350" y="104495"/>
            <a:ext cx="3182388" cy="1883827"/>
          </a:xfrm>
          <a:prstGeom prst="rect">
            <a:avLst/>
          </a:prstGeom>
        </p:spPr>
      </p:pic>
    </p:spTree>
    <p:extLst>
      <p:ext uri="{BB962C8B-B14F-4D97-AF65-F5344CB8AC3E}">
        <p14:creationId xmlns:p14="http://schemas.microsoft.com/office/powerpoint/2010/main" val="3917299009"/>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panose="02020603050405020304" pitchFamily="18" charset="0"/>
                <a:ea typeface="Times New Roman" panose="02020603050405020304" pitchFamily="18" charset="0"/>
                <a:cs typeface="Times New Roman" panose="02020603050405020304" pitchFamily="18" charset="0"/>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Shape 26"/>
          <p:cNvSpPr txBox="1">
            <a:spLocks noGrp="1"/>
          </p:cNvSpPr>
          <p:nvPr>
            <p:ph type="body" idx="1"/>
          </p:nvPr>
        </p:nvSpPr>
        <p:spPr>
          <a:xfrm>
            <a:off x="609600" y="1600201"/>
            <a:ext cx="109728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304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230400" algn="l" rtl="0">
              <a:spcBef>
                <a:spcPts val="600"/>
              </a:spcBef>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2286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lang="en-US" dirty="0" smtClean="0"/>
          </a:p>
          <a:p>
            <a:pPr lvl="3"/>
            <a:endParaRPr lang="en-US" dirty="0" smtClean="0"/>
          </a:p>
          <a:p>
            <a:pPr lvl="4"/>
            <a:endParaRPr lang="en-US" dirty="0" smtClean="0"/>
          </a:p>
          <a:p>
            <a:pPr lvl="5"/>
            <a:endParaRPr lang="en-US" dirty="0" smtClean="0"/>
          </a:p>
          <a:p>
            <a:pPr lvl="6"/>
            <a:endParaRPr lang="en-US" dirty="0" smtClean="0"/>
          </a:p>
          <a:p>
            <a:pPr lvl="7"/>
            <a:endParaRPr lang="en-US" dirty="0" smtClean="0"/>
          </a:p>
          <a:p>
            <a:pPr lvl="8"/>
            <a:endParaRPr lang="en-US" dirty="0" smtClean="0"/>
          </a:p>
          <a:p>
            <a:pPr lvl="8"/>
            <a:endParaRPr lang="en-US" dirty="0" smtClean="0"/>
          </a:p>
          <a:p>
            <a:pPr lvl="1"/>
            <a:endParaRPr lang="en-US" dirty="0" smtClean="0"/>
          </a:p>
          <a:p>
            <a:pPr lvl="2"/>
            <a:endParaRPr lang="en-US" dirty="0" smtClean="0"/>
          </a:p>
          <a:p>
            <a:pPr lvl="3"/>
            <a:endParaRPr lang="en-US" dirty="0" smtClean="0"/>
          </a:p>
          <a:p>
            <a:pPr lvl="4"/>
            <a:endParaRPr lang="en-US" dirty="0" smtClean="0"/>
          </a:p>
          <a:p>
            <a:pPr lvl="2"/>
            <a:endParaRPr lang="en-US" dirty="0" smtClean="0"/>
          </a:p>
          <a:p>
            <a:pPr lvl="1"/>
            <a:endParaRPr lang="en-US" dirty="0" smtClean="0"/>
          </a:p>
          <a:p>
            <a:pPr lvl="2"/>
            <a:endParaRPr lang="en-US" dirty="0" smtClean="0"/>
          </a:p>
          <a:p>
            <a:pPr lvl="3"/>
            <a:endParaRPr dirty="0"/>
          </a:p>
        </p:txBody>
      </p:sp>
      <p:sp>
        <p:nvSpPr>
          <p:cNvPr id="27" name="Shape 27"/>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a:solidFill>
                <a:schemeClr val="lt1"/>
              </a:solidFill>
              <a:latin typeface="Arial"/>
              <a:ea typeface="Arial"/>
              <a:cs typeface="Arial"/>
              <a:sym typeface="Arial"/>
            </a:endParaRPr>
          </a:p>
        </p:txBody>
      </p:sp>
      <p:sp>
        <p:nvSpPr>
          <p:cNvPr id="8" name="Shape 16"/>
          <p:cNvSpPr txBox="1"/>
          <p:nvPr userDrawn="1"/>
        </p:nvSpPr>
        <p:spPr>
          <a:xfrm>
            <a:off x="2133601" y="6429344"/>
            <a:ext cx="95503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a:ea typeface="Verdana" panose="020B0604030504040204" pitchFamily="34" charset="0"/>
                <a:cs typeface="Verdana" panose="020B0604030504040204" pitchFamily="34" charset="0"/>
              </a:rPr>
              <a:t>Copyright © 2017, 2015, 2013</a:t>
            </a:r>
            <a:r>
              <a:rPr lang="en-US" altLang="en-US" sz="1200" b="0" baseline="0" dirty="0" smtClean="0">
                <a:latin typeface="Verdana"/>
                <a:ea typeface="Verdana" panose="020B0604030504040204" pitchFamily="34" charset="0"/>
                <a:cs typeface="Verdana" panose="020B0604030504040204" pitchFamily="34" charset="0"/>
              </a:rPr>
              <a:t> </a:t>
            </a:r>
            <a:r>
              <a:rPr lang="en-US" altLang="en-US" sz="1200" b="0" dirty="0" smtClean="0">
                <a:latin typeface="Verdana"/>
                <a:ea typeface="Verdana" panose="020B0604030504040204" pitchFamily="34" charset="0"/>
                <a:cs typeface="Verdana" panose="020B0604030504040204" pitchFamily="34" charset="0"/>
              </a:rPr>
              <a:t>Pearson Education, Inc. All Rights Reserved</a:t>
            </a:r>
            <a:endParaRPr lang="en-US" altLang="en-US" sz="1200" b="0" dirty="0">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5445665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dirty="0">
              <a:solidFill>
                <a:schemeClr val="lt1"/>
              </a:solidFill>
              <a:latin typeface="Arial"/>
              <a:ea typeface="Arial"/>
              <a:cs typeface="Arial"/>
              <a:sym typeface="Arial"/>
            </a:endParaRPr>
          </a:p>
        </p:txBody>
      </p:sp>
      <p:sp>
        <p:nvSpPr>
          <p:cNvPr id="4" name="Content Placeholder 3">
            <a:extLst>
              <a:ext uri="{FF2B5EF4-FFF2-40B4-BE49-F238E27FC236}">
                <a16:creationId xmlns="" xmlns:a16="http://schemas.microsoft.com/office/drawing/2014/main" id="{211BB07C-705F-4113-A2C5-779D6EA64D97}"/>
              </a:ext>
            </a:extLst>
          </p:cNvPr>
          <p:cNvSpPr>
            <a:spLocks noGrp="1"/>
          </p:cNvSpPr>
          <p:nvPr>
            <p:ph sz="quarter" idx="13"/>
          </p:nvPr>
        </p:nvSpPr>
        <p:spPr>
          <a:xfrm>
            <a:off x="609600" y="1556327"/>
            <a:ext cx="10972800" cy="44342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Tree>
    <p:extLst>
      <p:ext uri="{BB962C8B-B14F-4D97-AF65-F5344CB8AC3E}">
        <p14:creationId xmlns:p14="http://schemas.microsoft.com/office/powerpoint/2010/main" val="2505962261"/>
      </p:ext>
    </p:extLst>
  </p:cSld>
  <p:clrMapOvr>
    <a:masterClrMapping/>
  </p:clrMapOvr>
  <p:extLst mod="1">
    <p:ext uri="{DCECCB84-F9BA-43D5-87BE-67443E8EF086}">
      <p15:sldGuideLst xmlns:p15="http://schemas.microsoft.com/office/powerpoint/2012/main">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lIns="0" tIns="0" rIns="0" bIns="0"/>
          <a:lstStyle>
            <a:lvl1pPr>
              <a:defRPr sz="3600">
                <a:solidFill>
                  <a:schemeClr val="tx2"/>
                </a:solidFill>
                <a:latin typeface="+mj-lt"/>
              </a:defRPr>
            </a:lvl1pPr>
          </a:lstStyle>
          <a:p>
            <a:r>
              <a:rPr lang="en-US" dirty="0"/>
              <a:t>Click to edit Master title style</a:t>
            </a:r>
          </a:p>
        </p:txBody>
      </p:sp>
      <p:sp>
        <p:nvSpPr>
          <p:cNvPr id="3" name="Content Placeholder 2"/>
          <p:cNvSpPr>
            <a:spLocks noGrp="1"/>
          </p:cNvSpPr>
          <p:nvPr>
            <p:ph idx="1"/>
          </p:nvPr>
        </p:nvSpPr>
        <p:spPr>
          <a:xfrm>
            <a:off x="609600" y="1557471"/>
            <a:ext cx="10972800" cy="4525963"/>
          </a:xfrm>
        </p:spPr>
        <p:txBody>
          <a:bodyPr lIns="0" tIns="0" rIns="0"/>
          <a:lstStyle>
            <a:lvl1pPr marL="255600" indent="-255600">
              <a:buClr>
                <a:srgbClr val="007FA3"/>
              </a:buClr>
              <a:buSzPct val="100000"/>
              <a:buFont typeface="Arial" panose="020B0604020202020204" pitchFamily="34" charset="0"/>
              <a:buChar char="•"/>
              <a:defRPr sz="2400">
                <a:latin typeface="+mn-lt"/>
              </a:defRPr>
            </a:lvl1pPr>
            <a:lvl2pPr marL="741600" indent="-284400">
              <a:buClr>
                <a:srgbClr val="007FA3"/>
              </a:buClr>
              <a:defRPr sz="2400">
                <a:latin typeface="+mn-lt"/>
              </a:defRPr>
            </a:lvl2pPr>
            <a:lvl3pPr indent="-230400">
              <a:buClr>
                <a:srgbClr val="007FA3"/>
              </a:buClr>
              <a:defRPr sz="2400">
                <a:latin typeface="+mn-lt"/>
              </a:defRPr>
            </a:lvl3pPr>
            <a:lvl4pPr indent="-230400">
              <a:buClr>
                <a:srgbClr val="007FA3"/>
              </a:buClr>
              <a:defRPr sz="2400">
                <a:latin typeface="+mn-lt"/>
              </a:defRPr>
            </a:lvl4pPr>
            <a:lvl5pPr indent="-230400">
              <a:buClr>
                <a:srgbClr val="007FA3"/>
              </a:buClr>
              <a:defRPr sz="2400">
                <a:latin typeface="+mn-lt"/>
              </a:defRPr>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a:spLocks noGrp="1"/>
          </p:cNvSpPr>
          <p:nvPr>
            <p:ph type="ftr" sz="quarter" idx="11"/>
          </p:nvPr>
        </p:nvSpPr>
        <p:spPr>
          <a:xfrm>
            <a:off x="125292" y="6172201"/>
            <a:ext cx="11460480" cy="235463"/>
          </a:xfrm>
        </p:spPr>
        <p:txBody>
          <a:bodyPr/>
          <a:lstStyle/>
          <a:p>
            <a:endParaRPr lang="en-US" kern="0" dirty="0">
              <a:solidFill>
                <a:srgbClr val="000000"/>
              </a:solidFill>
            </a:endParaRPr>
          </a:p>
        </p:txBody>
      </p:sp>
      <p:sp>
        <p:nvSpPr>
          <p:cNvPr id="4" name="Date Placeholder 3"/>
          <p:cNvSpPr>
            <a:spLocks noGrp="1"/>
          </p:cNvSpPr>
          <p:nvPr>
            <p:ph type="dt" sz="half" idx="10"/>
          </p:nvPr>
        </p:nvSpPr>
        <p:spPr/>
        <p:txBody>
          <a:bodyPr/>
          <a:lstStyle/>
          <a:p>
            <a:fld id="{A9DF6EFB-3F44-496C-A842-1E0B3D3B975A}" type="datetimeFigureOut">
              <a:rPr lang="en-US" kern="0" smtClean="0">
                <a:solidFill>
                  <a:srgbClr val="FFFFFF"/>
                </a:solidFill>
              </a:rPr>
              <a:pPr/>
              <a:t>2/26/2024</a:t>
            </a:fld>
            <a:endParaRPr lang="en-US" kern="0" dirty="0">
              <a:solidFill>
                <a:srgbClr val="FFFFFF"/>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z="1400" kern="0" smtClean="0">
                <a:solidFill>
                  <a:srgbClr val="000000"/>
                </a:solidFill>
                <a:cs typeface="Arial"/>
                <a:sym typeface="Arial"/>
              </a:rPr>
              <a:pPr/>
              <a:t>‹#›</a:t>
            </a:fld>
            <a:endParaRPr lang="en-US" sz="1400" kern="0" dirty="0">
              <a:solidFill>
                <a:srgbClr val="000000"/>
              </a:solidFill>
              <a:cs typeface="Arial"/>
              <a:sym typeface="Arial"/>
            </a:endParaRPr>
          </a:p>
        </p:txBody>
      </p:sp>
    </p:spTree>
    <p:extLst>
      <p:ext uri="{BB962C8B-B14F-4D97-AF65-F5344CB8AC3E}">
        <p14:creationId xmlns:p14="http://schemas.microsoft.com/office/powerpoint/2010/main" val="26945859"/>
      </p:ext>
    </p:extLst>
  </p:cSld>
  <p:clrMapOvr>
    <a:masterClrMapping/>
  </p:clrMapOvr>
  <p:extLst mod="1">
    <p:ext uri="{DCECCB84-F9BA-43D5-87BE-67443E8EF086}">
      <p15:sldGuideLst xmlns:p15="http://schemas.microsoft.com/office/powerpoint/2012/main">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
        <p:nvSpPr>
          <p:cNvPr id="4" name="Content Placeholder 3">
            <a:extLst>
              <a:ext uri="{FF2B5EF4-FFF2-40B4-BE49-F238E27FC236}">
                <a16:creationId xmlns="" xmlns:a16="http://schemas.microsoft.com/office/drawing/2014/main" id="{211BB07C-705F-4113-A2C5-779D6EA64D97}"/>
              </a:ext>
            </a:extLst>
          </p:cNvPr>
          <p:cNvSpPr>
            <a:spLocks noGrp="1"/>
          </p:cNvSpPr>
          <p:nvPr>
            <p:ph sz="quarter" idx="13"/>
          </p:nvPr>
        </p:nvSpPr>
        <p:spPr>
          <a:xfrm>
            <a:off x="609600" y="1556327"/>
            <a:ext cx="10972800" cy="44342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Tree>
    <p:extLst>
      <p:ext uri="{BB962C8B-B14F-4D97-AF65-F5344CB8AC3E}">
        <p14:creationId xmlns:p14="http://schemas.microsoft.com/office/powerpoint/2010/main" val="1124191033"/>
      </p:ext>
    </p:extLst>
  </p:cSld>
  <p:clrMapOvr>
    <a:masterClrMapping/>
  </p:clrMapOvr>
  <p:extLst mod="1">
    <p:ext uri="{DCECCB84-F9BA-43D5-87BE-67443E8EF086}">
      <p15:sldGuideLst xmlns:p15="http://schemas.microsoft.com/office/powerpoint/2012/main">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
        <p:nvSpPr>
          <p:cNvPr id="4" name="Content Placeholder 3">
            <a:extLst>
              <a:ext uri="{FF2B5EF4-FFF2-40B4-BE49-F238E27FC236}">
                <a16:creationId xmlns="" xmlns:a16="http://schemas.microsoft.com/office/drawing/2014/main" id="{211BB07C-705F-4113-A2C5-779D6EA64D97}"/>
              </a:ext>
            </a:extLst>
          </p:cNvPr>
          <p:cNvSpPr>
            <a:spLocks noGrp="1"/>
          </p:cNvSpPr>
          <p:nvPr>
            <p:ph sz="quarter" idx="13"/>
          </p:nvPr>
        </p:nvSpPr>
        <p:spPr>
          <a:xfrm>
            <a:off x="609600" y="1556327"/>
            <a:ext cx="109728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609600" y="3632201"/>
            <a:ext cx="10972800" cy="17938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36981498"/>
      </p:ext>
    </p:extLst>
  </p:cSld>
  <p:clrMapOvr>
    <a:masterClrMapping/>
  </p:clrMapOvr>
  <p:extLst mod="1">
    <p:ext uri="{DCECCB84-F9BA-43D5-87BE-67443E8EF086}">
      <p15:sldGuideLst xmlns:p15="http://schemas.microsoft.com/office/powerpoint/2012/main">
        <p15:guide id="2" pos="28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
        <p:nvSpPr>
          <p:cNvPr id="4" name="Content Placeholder 3">
            <a:extLst>
              <a:ext uri="{FF2B5EF4-FFF2-40B4-BE49-F238E27FC236}">
                <a16:creationId xmlns="" xmlns:a16="http://schemas.microsoft.com/office/drawing/2014/main" id="{211BB07C-705F-4113-A2C5-779D6EA64D97}"/>
              </a:ext>
            </a:extLst>
          </p:cNvPr>
          <p:cNvSpPr>
            <a:spLocks noGrp="1"/>
          </p:cNvSpPr>
          <p:nvPr>
            <p:ph sz="quarter" idx="13"/>
          </p:nvPr>
        </p:nvSpPr>
        <p:spPr>
          <a:xfrm>
            <a:off x="609600" y="1556328"/>
            <a:ext cx="10972800" cy="126378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609600" y="3063790"/>
            <a:ext cx="10972800" cy="11834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609600" y="4490939"/>
            <a:ext cx="10972800" cy="12605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263740998"/>
      </p:ext>
    </p:extLst>
  </p:cSld>
  <p:clrMapOvr>
    <a:masterClrMapping/>
  </p:clrMapOvr>
  <p:extLst mod="1">
    <p:ext uri="{DCECCB84-F9BA-43D5-87BE-67443E8EF086}">
      <p15:sldGuideLst xmlns:p15="http://schemas.microsoft.com/office/powerpoint/2012/main">
        <p15:guide id="2" pos="28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
        <p:nvSpPr>
          <p:cNvPr id="4" name="Content Placeholder 3">
            <a:extLst>
              <a:ext uri="{FF2B5EF4-FFF2-40B4-BE49-F238E27FC236}">
                <a16:creationId xmlns="" xmlns:a16="http://schemas.microsoft.com/office/drawing/2014/main" id="{211BB07C-705F-4113-A2C5-779D6EA64D97}"/>
              </a:ext>
            </a:extLst>
          </p:cNvPr>
          <p:cNvSpPr>
            <a:spLocks noGrp="1"/>
          </p:cNvSpPr>
          <p:nvPr>
            <p:ph sz="quarter" idx="13"/>
          </p:nvPr>
        </p:nvSpPr>
        <p:spPr>
          <a:xfrm>
            <a:off x="609600" y="1556328"/>
            <a:ext cx="10972800" cy="89505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609600" y="2760292"/>
            <a:ext cx="10972800" cy="10767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609600" y="4016773"/>
            <a:ext cx="10972800" cy="1016701"/>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609601" y="5155501"/>
            <a:ext cx="10977033" cy="9119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04213250"/>
      </p:ext>
    </p:extLst>
  </p:cSld>
  <p:clrMapOvr>
    <a:masterClrMapping/>
  </p:clrMapOvr>
  <p:extLst mod="1">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
        <p:nvSpPr>
          <p:cNvPr id="4" name="Content Placeholder 3">
            <a:extLst>
              <a:ext uri="{FF2B5EF4-FFF2-40B4-BE49-F238E27FC236}">
                <a16:creationId xmlns="" xmlns:a16="http://schemas.microsoft.com/office/drawing/2014/main" id="{211BB07C-705F-4113-A2C5-779D6EA64D97}"/>
              </a:ext>
            </a:extLst>
          </p:cNvPr>
          <p:cNvSpPr>
            <a:spLocks noGrp="1"/>
          </p:cNvSpPr>
          <p:nvPr>
            <p:ph sz="quarter" idx="13"/>
          </p:nvPr>
        </p:nvSpPr>
        <p:spPr>
          <a:xfrm>
            <a:off x="609600" y="1556328"/>
            <a:ext cx="10972800" cy="70830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609600" y="2451378"/>
            <a:ext cx="10972800" cy="735437"/>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609600" y="3486685"/>
            <a:ext cx="10972800" cy="716830"/>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609601" y="4503386"/>
            <a:ext cx="10977033" cy="71682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609600" y="5494339"/>
            <a:ext cx="10972800" cy="5556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957552051"/>
      </p:ext>
    </p:extLst>
  </p:cSld>
  <p:clrMapOvr>
    <a:masterClrMapping/>
  </p:clrMapOvr>
  <p:extLst mod="1">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Six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
        <p:nvSpPr>
          <p:cNvPr id="4" name="Content Placeholder 3">
            <a:extLst>
              <a:ext uri="{FF2B5EF4-FFF2-40B4-BE49-F238E27FC236}">
                <a16:creationId xmlns="" xmlns:a16="http://schemas.microsoft.com/office/drawing/2014/main" id="{211BB07C-705F-4113-A2C5-779D6EA64D97}"/>
              </a:ext>
            </a:extLst>
          </p:cNvPr>
          <p:cNvSpPr>
            <a:spLocks noGrp="1"/>
          </p:cNvSpPr>
          <p:nvPr>
            <p:ph sz="quarter" idx="13"/>
          </p:nvPr>
        </p:nvSpPr>
        <p:spPr>
          <a:xfrm>
            <a:off x="609600" y="1556328"/>
            <a:ext cx="10972800" cy="59517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609600" y="2273744"/>
            <a:ext cx="10972800" cy="554915"/>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609600" y="2950896"/>
            <a:ext cx="10972800" cy="535791"/>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609601" y="3639492"/>
            <a:ext cx="10977033" cy="677152"/>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609600" y="4469451"/>
            <a:ext cx="10972800" cy="598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609601" y="5221288"/>
            <a:ext cx="10977033" cy="641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989876034"/>
      </p:ext>
    </p:extLst>
  </p:cSld>
  <p:clrMapOvr>
    <a:masterClrMapping/>
  </p:clrMapOvr>
  <p:extLst mod="1">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Seven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
        <p:nvSpPr>
          <p:cNvPr id="4" name="Content Placeholder 3">
            <a:extLst>
              <a:ext uri="{FF2B5EF4-FFF2-40B4-BE49-F238E27FC236}">
                <a16:creationId xmlns="" xmlns:a16="http://schemas.microsoft.com/office/drawing/2014/main" id="{211BB07C-705F-4113-A2C5-779D6EA64D97}"/>
              </a:ext>
            </a:extLst>
          </p:cNvPr>
          <p:cNvSpPr>
            <a:spLocks noGrp="1"/>
          </p:cNvSpPr>
          <p:nvPr>
            <p:ph sz="quarter" idx="13"/>
          </p:nvPr>
        </p:nvSpPr>
        <p:spPr>
          <a:xfrm>
            <a:off x="609600" y="1556328"/>
            <a:ext cx="109728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609600" y="2116988"/>
            <a:ext cx="109728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609600" y="2734850"/>
            <a:ext cx="109728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609601" y="3365733"/>
            <a:ext cx="10977033" cy="465069"/>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609600" y="3938595"/>
            <a:ext cx="10972800" cy="443837"/>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609601" y="4569758"/>
            <a:ext cx="10977033" cy="464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9"/>
          </p:nvPr>
        </p:nvSpPr>
        <p:spPr>
          <a:xfrm>
            <a:off x="609600" y="5221289"/>
            <a:ext cx="10972800" cy="551633"/>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48907012"/>
      </p:ext>
    </p:extLst>
  </p:cSld>
  <p:clrMapOvr>
    <a:masterClrMapping/>
  </p:clrMapOvr>
  <p:extLst mod="1">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Eight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
        <p:nvSpPr>
          <p:cNvPr id="4" name="Content Placeholder 3">
            <a:extLst>
              <a:ext uri="{FF2B5EF4-FFF2-40B4-BE49-F238E27FC236}">
                <a16:creationId xmlns="" xmlns:a16="http://schemas.microsoft.com/office/drawing/2014/main" id="{211BB07C-705F-4113-A2C5-779D6EA64D97}"/>
              </a:ext>
            </a:extLst>
          </p:cNvPr>
          <p:cNvSpPr>
            <a:spLocks noGrp="1"/>
          </p:cNvSpPr>
          <p:nvPr>
            <p:ph sz="quarter" idx="13"/>
          </p:nvPr>
        </p:nvSpPr>
        <p:spPr>
          <a:xfrm>
            <a:off x="609600" y="1556328"/>
            <a:ext cx="109728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609600" y="2116988"/>
            <a:ext cx="109728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609600" y="2734850"/>
            <a:ext cx="109728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609601" y="3365732"/>
            <a:ext cx="10977033" cy="38553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609600" y="3938595"/>
            <a:ext cx="10972800" cy="3780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609601" y="4503970"/>
            <a:ext cx="10977033" cy="3842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9"/>
          </p:nvPr>
        </p:nvSpPr>
        <p:spPr>
          <a:xfrm>
            <a:off x="609600" y="5069349"/>
            <a:ext cx="10972800" cy="451321"/>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609601" y="5614988"/>
            <a:ext cx="10977033" cy="44450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64492235"/>
      </p:ext>
    </p:extLst>
  </p:cSld>
  <p:clrMapOvr>
    <a:masterClrMapping/>
  </p:clrMapOvr>
  <p:extLst mod="1">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609600" y="228601"/>
            <a:ext cx="109728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609600" y="5368160"/>
            <a:ext cx="109728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57" name="Shape 5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58" name="Shape 5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000000"/>
                </a:solidFill>
                <a:ea typeface="Arial"/>
                <a:cs typeface="Arial"/>
                <a:sym typeface="Arial"/>
              </a:rPr>
              <a:pPr algn="r">
                <a:buSzPct val="25000"/>
              </a:pPr>
              <a:t>‹#›</a:t>
            </a:fld>
            <a:endParaRPr lang="en-US" sz="900" kern="0" dirty="0">
              <a:solidFill>
                <a:srgbClr val="000000"/>
              </a:solidFill>
              <a:ea typeface="Arial"/>
              <a:cs typeface="Arial"/>
              <a:sym typeface="Arial"/>
            </a:endParaRPr>
          </a:p>
        </p:txBody>
      </p:sp>
    </p:spTree>
    <p:extLst>
      <p:ext uri="{BB962C8B-B14F-4D97-AF65-F5344CB8AC3E}">
        <p14:creationId xmlns:p14="http://schemas.microsoft.com/office/powerpoint/2010/main" val="39412002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12192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Shape 19"/>
          <p:cNvSpPr txBox="1">
            <a:spLocks noGrp="1"/>
          </p:cNvSpPr>
          <p:nvPr>
            <p:ph type="ctrTitle"/>
          </p:nvPr>
        </p:nvSpPr>
        <p:spPr>
          <a:xfrm>
            <a:off x="914400" y="762001"/>
            <a:ext cx="10363200" cy="2838451"/>
          </a:xfrm>
          <a:prstGeom prst="rect">
            <a:avLst/>
          </a:prstGeom>
          <a:noFill/>
          <a:ln>
            <a:noFill/>
          </a:ln>
        </p:spPr>
        <p:txBody>
          <a:bodyPr lIns="0" tIns="0" rIns="0" bIns="0"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899584" y="3962400"/>
            <a:ext cx="10392833" cy="1752600"/>
          </a:xfrm>
          <a:prstGeom prst="rect">
            <a:avLst/>
          </a:prstGeom>
          <a:noFill/>
          <a:ln>
            <a:noFill/>
          </a:ln>
        </p:spPr>
        <p:txBody>
          <a:bodyPr lIns="0" tIns="0" rIns="0" bIns="0"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22" name="Shape 2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23" name="Shape 2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Tree>
    <p:extLst>
      <p:ext uri="{BB962C8B-B14F-4D97-AF65-F5344CB8AC3E}">
        <p14:creationId xmlns:p14="http://schemas.microsoft.com/office/powerpoint/2010/main" val="9245915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609600" y="215371"/>
            <a:ext cx="109728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609600" y="816429"/>
            <a:ext cx="109728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Shape 40"/>
          <p:cNvSpPr txBox="1">
            <a:spLocks noGrp="1"/>
          </p:cNvSpPr>
          <p:nvPr>
            <p:ph type="body" idx="2"/>
          </p:nvPr>
        </p:nvSpPr>
        <p:spPr>
          <a:xfrm>
            <a:off x="6705600" y="1600200"/>
            <a:ext cx="48768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1"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Shape 41"/>
          <p:cNvSpPr txBox="1">
            <a:spLocks noGrp="1"/>
          </p:cNvSpPr>
          <p:nvPr>
            <p:ph type="body" idx="3"/>
          </p:nvPr>
        </p:nvSpPr>
        <p:spPr>
          <a:xfrm>
            <a:off x="6705600" y="3200401"/>
            <a:ext cx="48768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125293" y="6165337"/>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43" name="Shape 43"/>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44" name="Shape 4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Tree>
    <p:extLst>
      <p:ext uri="{BB962C8B-B14F-4D97-AF65-F5344CB8AC3E}">
        <p14:creationId xmlns:p14="http://schemas.microsoft.com/office/powerpoint/2010/main" val="4559442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609600" y="215371"/>
            <a:ext cx="109728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609600" y="816430"/>
            <a:ext cx="109728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609600" y="1600201"/>
            <a:ext cx="109728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66" name="Shape 66"/>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67" name="Shape 67"/>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Tree>
    <p:extLst>
      <p:ext uri="{BB962C8B-B14F-4D97-AF65-F5344CB8AC3E}">
        <p14:creationId xmlns:p14="http://schemas.microsoft.com/office/powerpoint/2010/main" val="8098617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914400" y="1447801"/>
            <a:ext cx="103632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899583" y="3962400"/>
            <a:ext cx="1039283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72" name="Shape 7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73" name="Shape 7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Tree>
    <p:extLst>
      <p:ext uri="{BB962C8B-B14F-4D97-AF65-F5344CB8AC3E}">
        <p14:creationId xmlns:p14="http://schemas.microsoft.com/office/powerpoint/2010/main" val="3299163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77" name="Shape 7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78" name="Shape 7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spTree>
    <p:extLst>
      <p:ext uri="{BB962C8B-B14F-4D97-AF65-F5344CB8AC3E}">
        <p14:creationId xmlns:p14="http://schemas.microsoft.com/office/powerpoint/2010/main" val="3151332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4.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5.png"/><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ZA"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2022</a:t>
            </a:r>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Revised: L Madamshetty Department Of IS</a:t>
            </a:r>
            <a:endParaRPr lang="en-ZA"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3D7A9-CDA1-4732-8CA0-2A470E848275}" type="slidenum">
              <a:rPr lang="en-ZA" smtClean="0"/>
              <a:t>‹#›</a:t>
            </a:fld>
            <a:endParaRPr lang="en-ZA"/>
          </a:p>
        </p:txBody>
      </p:sp>
    </p:spTree>
    <p:extLst>
      <p:ext uri="{BB962C8B-B14F-4D97-AF65-F5344CB8AC3E}">
        <p14:creationId xmlns:p14="http://schemas.microsoft.com/office/powerpoint/2010/main" val="4263961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78" r:id="rId14"/>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2022</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Revised: L Madamshetty Department Of IS</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C6B736-5C3F-44D2-98F1-D02D018BB5AF}" type="slidenum">
              <a:rPr lang="en-US" smtClean="0"/>
              <a:t>‹#›</a:t>
            </a:fld>
            <a:endParaRPr lang="en-US"/>
          </a:p>
        </p:txBody>
      </p:sp>
      <p:pic>
        <p:nvPicPr>
          <p:cNvPr id="7" name="Picture 6"/>
          <p:cNvPicPr>
            <a:picLocks noChangeAspect="1"/>
          </p:cNvPicPr>
          <p:nvPr userDrawn="1"/>
        </p:nvPicPr>
        <p:blipFill>
          <a:blip r:embed="rId18"/>
          <a:stretch>
            <a:fillRect/>
          </a:stretch>
        </p:blipFill>
        <p:spPr>
          <a:xfrm>
            <a:off x="8828612" y="85992"/>
            <a:ext cx="3182388" cy="1883827"/>
          </a:xfrm>
          <a:prstGeom prst="rect">
            <a:avLst/>
          </a:prstGeom>
        </p:spPr>
      </p:pic>
    </p:spTree>
    <p:extLst>
      <p:ext uri="{BB962C8B-B14F-4D97-AF65-F5344CB8AC3E}">
        <p14:creationId xmlns:p14="http://schemas.microsoft.com/office/powerpoint/2010/main" val="10697955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7" r:id="rId14"/>
    <p:sldLayoutId id="2147483679" r:id="rId15"/>
    <p:sldLayoutId id="2147483680" r:id="rId16"/>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609600" y="1600201"/>
            <a:ext cx="109728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000000"/>
              </a:solidFill>
            </a:endParaRPr>
          </a:p>
        </p:txBody>
      </p:sp>
      <p:sp>
        <p:nvSpPr>
          <p:cNvPr id="13" name="Shape 13"/>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14" name="Shape 1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pic>
        <p:nvPicPr>
          <p:cNvPr id="15" name="Shape 15" descr="Pearson Logo"/>
          <p:cNvPicPr preferRelativeResize="0"/>
          <p:nvPr/>
        </p:nvPicPr>
        <p:blipFill rotWithShape="1">
          <a:blip r:embed="rId17">
            <a:alphaModFix/>
          </a:blip>
          <a:srcRect/>
          <a:stretch/>
        </p:blipFill>
        <p:spPr>
          <a:xfrm>
            <a:off x="591963" y="6429709"/>
            <a:ext cx="1223999" cy="279914"/>
          </a:xfrm>
          <a:prstGeom prst="rect">
            <a:avLst/>
          </a:prstGeom>
          <a:noFill/>
          <a:ln>
            <a:noFill/>
          </a:ln>
        </p:spPr>
      </p:pic>
      <p:sp>
        <p:nvSpPr>
          <p:cNvPr id="16" name="Text Placeholder 5"/>
          <p:cNvSpPr txBox="1">
            <a:spLocks/>
          </p:cNvSpPr>
          <p:nvPr userDrawn="1"/>
        </p:nvSpPr>
        <p:spPr>
          <a:xfrm>
            <a:off x="3657601" y="6480371"/>
            <a:ext cx="8016305" cy="368298"/>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55588" marR="0" lvl="0" indent="-255588" algn="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Arial"/>
              </a:rPr>
              <a:t>Copyright © 2020, 2017, 2015 Pearson Education, Inc. All Rights Reserved</a:t>
            </a:r>
          </a:p>
        </p:txBody>
      </p:sp>
    </p:spTree>
    <p:extLst>
      <p:ext uri="{BB962C8B-B14F-4D97-AF65-F5344CB8AC3E}">
        <p14:creationId xmlns:p14="http://schemas.microsoft.com/office/powerpoint/2010/main" val="2480699678"/>
      </p:ext>
    </p:extLst>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UhiRLuSlIU" TargetMode="External"/><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hyperlink" Target="https://www.youtube.com/watch?v=mL7Pt-NHraU" TargetMode="Externa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hyperlink" Target="https://youtu.be/UY3aMtMkoEU" TargetMode="External"/><Relationship Id="rId2" Type="http://schemas.openxmlformats.org/officeDocument/2006/relationships/hyperlink" Target="https://youtu.be/d1R1X9sV9YQ" TargetMode="Externa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hyperlink" Target="https://youtu.be/qs9QiczZvdU" TargetMode="Externa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338" name="Google Shape;338;p12"/>
          <p:cNvSpPr txBox="1">
            <a:spLocks noGrp="1"/>
          </p:cNvSpPr>
          <p:nvPr>
            <p:ph type="ctrTitle"/>
          </p:nvPr>
        </p:nvSpPr>
        <p:spPr>
          <a:xfrm>
            <a:off x="1981427" y="3518579"/>
            <a:ext cx="8524820" cy="1726730"/>
          </a:xfrm>
          <a:prstGeom prst="rect">
            <a:avLst/>
          </a:prstGeom>
        </p:spPr>
        <p:txBody>
          <a:bodyPr spcFirstLastPara="1" vert="horz" wrap="square" lIns="0" tIns="0" rIns="0" bIns="0" rtlCol="0" anchor="ctr" anchorCtr="0">
            <a:noAutofit/>
          </a:bodyPr>
          <a:lstStyle/>
          <a:p>
            <a:pPr lvl="0" algn="ctr"/>
            <a:r>
              <a:rPr lang="en-US" sz="5400" dirty="0" smtClean="0">
                <a:latin typeface="Adobe Devanagari" panose="02040503050201020203" pitchFamily="18" charset="0"/>
                <a:cs typeface="Adobe Devanagari" panose="02040503050201020203" pitchFamily="18" charset="0"/>
              </a:rPr>
              <a:t>Ethics and Ethical Theories</a:t>
            </a:r>
            <a:endParaRPr sz="5400" dirty="0">
              <a:latin typeface="Adobe Devanagari" panose="02040503050201020203" pitchFamily="18" charset="0"/>
              <a:cs typeface="Adobe Devanagari" panose="02040503050201020203" pitchFamily="18" charset="0"/>
            </a:endParaRPr>
          </a:p>
        </p:txBody>
      </p:sp>
      <p:sp>
        <p:nvSpPr>
          <p:cNvPr id="2" name="Date Placeholder 1"/>
          <p:cNvSpPr>
            <a:spLocks noGrp="1"/>
          </p:cNvSpPr>
          <p:nvPr>
            <p:ph type="dt" sz="half" idx="10"/>
          </p:nvPr>
        </p:nvSpPr>
        <p:spPr/>
        <p:txBody>
          <a:bodyPr/>
          <a:lstStyle/>
          <a:p>
            <a:r>
              <a:rPr lang="en-US" smtClean="0"/>
              <a:t>2022</a:t>
            </a:r>
            <a:endParaRPr lang="en-ZA"/>
          </a:p>
        </p:txBody>
      </p:sp>
      <p:sp>
        <p:nvSpPr>
          <p:cNvPr id="3" name="Footer Placeholder 2"/>
          <p:cNvSpPr>
            <a:spLocks noGrp="1"/>
          </p:cNvSpPr>
          <p:nvPr>
            <p:ph type="ftr" sz="quarter" idx="11"/>
          </p:nvPr>
        </p:nvSpPr>
        <p:spPr/>
        <p:txBody>
          <a:bodyPr/>
          <a:lstStyle/>
          <a:p>
            <a:r>
              <a:rPr lang="en-US" dirty="0" smtClean="0"/>
              <a:t>Revised: L Madamshetty Department Of IS</a:t>
            </a:r>
            <a:endParaRPr lang="en-ZA" dirty="0"/>
          </a:p>
        </p:txBody>
      </p:sp>
      <p:sp>
        <p:nvSpPr>
          <p:cNvPr id="4" name="Slide Number Placeholder 3"/>
          <p:cNvSpPr>
            <a:spLocks noGrp="1"/>
          </p:cNvSpPr>
          <p:nvPr>
            <p:ph type="sldNum" sz="quarter" idx="12"/>
          </p:nvPr>
        </p:nvSpPr>
        <p:spPr/>
        <p:txBody>
          <a:bodyPr/>
          <a:lstStyle/>
          <a:p>
            <a:fld id="{EF03D7A9-CDA1-4732-8CA0-2A470E848275}" type="slidenum">
              <a:rPr lang="en-ZA" smtClean="0"/>
              <a:t>1</a:t>
            </a:fld>
            <a:endParaRPr lang="en-ZA"/>
          </a:p>
        </p:txBody>
      </p:sp>
      <p:pic>
        <p:nvPicPr>
          <p:cNvPr id="5" name="Picture 4"/>
          <p:cNvPicPr>
            <a:picLocks noChangeAspect="1"/>
          </p:cNvPicPr>
          <p:nvPr/>
        </p:nvPicPr>
        <p:blipFill>
          <a:blip r:embed="rId3"/>
          <a:stretch>
            <a:fillRect/>
          </a:stretch>
        </p:blipFill>
        <p:spPr>
          <a:xfrm>
            <a:off x="8736616" y="93599"/>
            <a:ext cx="3183497" cy="1994297"/>
          </a:xfrm>
          <a:prstGeom prst="rect">
            <a:avLst/>
          </a:prstGeom>
        </p:spPr>
      </p:pic>
    </p:spTree>
    <p:extLst>
      <p:ext uri="{BB962C8B-B14F-4D97-AF65-F5344CB8AC3E}">
        <p14:creationId xmlns:p14="http://schemas.microsoft.com/office/powerpoint/2010/main" val="759542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29343" y="155576"/>
            <a:ext cx="8392953" cy="721800"/>
          </a:xfrm>
          <a:prstGeom prst="rect">
            <a:avLst/>
          </a:prstGeom>
        </p:spPr>
        <p:txBody>
          <a:bodyPr spcFirstLastPara="1" vert="horz" wrap="square" lIns="0" tIns="0" rIns="0" bIns="0" rtlCol="0" anchor="t" anchorCtr="0">
            <a:noAutofit/>
          </a:bodyPr>
          <a:lstStyle/>
          <a:p>
            <a:pPr lvl="0"/>
            <a:r>
              <a:rPr lang="en-US" sz="4800" b="1" dirty="0"/>
              <a:t>Topics to be covered </a:t>
            </a:r>
            <a:endParaRPr sz="4800" b="1" dirty="0"/>
          </a:p>
        </p:txBody>
      </p:sp>
      <p:pic>
        <p:nvPicPr>
          <p:cNvPr id="2" name="Picture 1"/>
          <p:cNvPicPr>
            <a:picLocks noChangeAspect="1"/>
          </p:cNvPicPr>
          <p:nvPr/>
        </p:nvPicPr>
        <p:blipFill>
          <a:blip r:embed="rId3"/>
          <a:stretch>
            <a:fillRect/>
          </a:stretch>
        </p:blipFill>
        <p:spPr>
          <a:xfrm>
            <a:off x="4930072" y="2087040"/>
            <a:ext cx="4072481" cy="2840982"/>
          </a:xfrm>
          <a:prstGeom prst="rect">
            <a:avLst/>
          </a:prstGeom>
        </p:spPr>
      </p:pic>
      <p:sp>
        <p:nvSpPr>
          <p:cNvPr id="344" name="Google Shape;344;p13"/>
          <p:cNvSpPr txBox="1">
            <a:spLocks noGrp="1"/>
          </p:cNvSpPr>
          <p:nvPr>
            <p:ph type="body" idx="2"/>
          </p:nvPr>
        </p:nvSpPr>
        <p:spPr>
          <a:xfrm>
            <a:off x="329343" y="877377"/>
            <a:ext cx="8673210" cy="5260310"/>
          </a:xfrm>
          <a:prstGeom prst="rect">
            <a:avLst/>
          </a:prstGeom>
        </p:spPr>
        <p:txBody>
          <a:bodyPr spcFirstLastPara="1" vert="horz" wrap="square" lIns="0" tIns="0" rIns="0" bIns="0" rtlCol="0" anchor="t" anchorCtr="0">
            <a:noAutofit/>
          </a:bodyPr>
          <a:lstStyle/>
          <a:p>
            <a:pPr marL="0" indent="0">
              <a:buClr>
                <a:schemeClr val="dk1"/>
              </a:buClr>
              <a:buSzPts val="1100"/>
              <a:buNone/>
            </a:pPr>
            <a:r>
              <a:rPr lang="en-US" sz="2800" b="1" dirty="0" smtClean="0"/>
              <a:t>Ethics</a:t>
            </a:r>
          </a:p>
          <a:p>
            <a:pPr marL="0" indent="0">
              <a:buClr>
                <a:schemeClr val="dk1"/>
              </a:buClr>
              <a:buSzPts val="1100"/>
              <a:buNone/>
            </a:pPr>
            <a:r>
              <a:rPr lang="en-US" sz="2800" b="1" dirty="0" smtClean="0"/>
              <a:t>Ethical Theories</a:t>
            </a:r>
          </a:p>
          <a:p>
            <a:pPr marL="285750" indent="-285750">
              <a:buClr>
                <a:schemeClr val="dk1"/>
              </a:buClr>
              <a:buSzPts val="1100"/>
            </a:pPr>
            <a:r>
              <a:rPr lang="en-US" b="1" dirty="0" smtClean="0"/>
              <a:t>Subjective Relativism</a:t>
            </a:r>
          </a:p>
          <a:p>
            <a:pPr marL="285750" indent="-285750">
              <a:buClr>
                <a:schemeClr val="dk1"/>
              </a:buClr>
              <a:buSzPts val="1100"/>
            </a:pPr>
            <a:r>
              <a:rPr lang="en-US" b="1" dirty="0"/>
              <a:t>Cultural </a:t>
            </a:r>
            <a:r>
              <a:rPr lang="en-US" b="1" dirty="0" smtClean="0"/>
              <a:t>Relativism</a:t>
            </a:r>
          </a:p>
          <a:p>
            <a:pPr marL="285750" indent="-285750">
              <a:buClr>
                <a:schemeClr val="dk1"/>
              </a:buClr>
              <a:buSzPts val="1100"/>
            </a:pPr>
            <a:r>
              <a:rPr lang="en-US" b="1" dirty="0"/>
              <a:t>Divine Command </a:t>
            </a:r>
            <a:r>
              <a:rPr lang="en-US" b="1" dirty="0" smtClean="0"/>
              <a:t>Theory</a:t>
            </a:r>
          </a:p>
          <a:p>
            <a:pPr marL="285750" indent="-285750">
              <a:buClr>
                <a:schemeClr val="dk1"/>
              </a:buClr>
              <a:buSzPts val="1100"/>
            </a:pPr>
            <a:r>
              <a:rPr lang="en-US" b="1" dirty="0"/>
              <a:t>Ethical egoism</a:t>
            </a:r>
          </a:p>
          <a:p>
            <a:pPr marL="285750" indent="-285750">
              <a:buClr>
                <a:schemeClr val="dk1"/>
              </a:buClr>
              <a:buSzPts val="1100"/>
            </a:pPr>
            <a:r>
              <a:rPr lang="en-US" b="1" dirty="0" smtClean="0"/>
              <a:t>Kantianism</a:t>
            </a:r>
          </a:p>
          <a:p>
            <a:pPr marL="285750" indent="-285750">
              <a:buClr>
                <a:schemeClr val="dk1"/>
              </a:buClr>
              <a:buSzPts val="1100"/>
            </a:pPr>
            <a:r>
              <a:rPr lang="en-US" b="1" dirty="0"/>
              <a:t>Act utilitarianism</a:t>
            </a:r>
          </a:p>
          <a:p>
            <a:pPr marL="285750" indent="-285750">
              <a:buClr>
                <a:schemeClr val="dk1"/>
              </a:buClr>
              <a:buSzPts val="1100"/>
            </a:pPr>
            <a:r>
              <a:rPr lang="en-US" b="1" dirty="0" smtClean="0"/>
              <a:t>Rule </a:t>
            </a:r>
            <a:r>
              <a:rPr lang="en-US" b="1" dirty="0"/>
              <a:t>utilitarianism</a:t>
            </a:r>
          </a:p>
          <a:p>
            <a:pPr marL="285750" indent="-285750">
              <a:buClr>
                <a:schemeClr val="dk1"/>
              </a:buClr>
              <a:buSzPts val="1100"/>
            </a:pPr>
            <a:r>
              <a:rPr lang="en-US" b="1" dirty="0" smtClean="0"/>
              <a:t>Social </a:t>
            </a:r>
            <a:r>
              <a:rPr lang="en-US" b="1" dirty="0"/>
              <a:t>contract theory</a:t>
            </a:r>
          </a:p>
          <a:p>
            <a:pPr marL="285750" indent="-285750">
              <a:buClr>
                <a:schemeClr val="dk1"/>
              </a:buClr>
              <a:buSzPts val="1100"/>
            </a:pPr>
            <a:r>
              <a:rPr lang="en-US" b="1" dirty="0" smtClean="0"/>
              <a:t>Virtue </a:t>
            </a:r>
            <a:r>
              <a:rPr lang="en-US" b="1" dirty="0"/>
              <a:t>ethics</a:t>
            </a:r>
          </a:p>
          <a:p>
            <a:pPr marL="285750" indent="-285750">
              <a:buClr>
                <a:schemeClr val="dk1"/>
              </a:buClr>
              <a:buSzPts val="1100"/>
            </a:pPr>
            <a:r>
              <a:rPr lang="en-US" b="1" dirty="0" smtClean="0"/>
              <a:t>Comparing </a:t>
            </a:r>
            <a:r>
              <a:rPr lang="en-US" b="1" dirty="0"/>
              <a:t>workable ethical theories</a:t>
            </a:r>
          </a:p>
          <a:p>
            <a:pPr marL="285750" indent="-285750">
              <a:buClr>
                <a:schemeClr val="dk1"/>
              </a:buClr>
              <a:buSzPts val="1100"/>
            </a:pPr>
            <a:r>
              <a:rPr lang="en-US" b="1" dirty="0" smtClean="0"/>
              <a:t>Morality </a:t>
            </a:r>
            <a:r>
              <a:rPr lang="en-US" b="1" dirty="0"/>
              <a:t>of breaking the law</a:t>
            </a:r>
          </a:p>
          <a:p>
            <a:pPr marL="285750" indent="-285750">
              <a:buClr>
                <a:schemeClr val="dk1"/>
              </a:buClr>
              <a:buSzPts val="1100"/>
            </a:pPr>
            <a:endParaRPr lang="en-US" sz="2000" b="1" dirty="0"/>
          </a:p>
          <a:p>
            <a:pPr marL="285750" indent="-285750">
              <a:buClr>
                <a:schemeClr val="dk1"/>
              </a:buClr>
              <a:buSzPts val="1100"/>
            </a:pPr>
            <a:endParaRPr sz="2000" b="1" dirty="0"/>
          </a:p>
        </p:txBody>
      </p:sp>
      <p:sp>
        <p:nvSpPr>
          <p:cNvPr id="347" name="Google Shape;347;p13"/>
          <p:cNvSpPr txBox="1">
            <a:spLocks noGrp="1"/>
          </p:cNvSpPr>
          <p:nvPr>
            <p:ph type="sldNum" idx="12"/>
          </p:nvPr>
        </p:nvSpPr>
        <p:spPr>
          <a:xfrm>
            <a:off x="11532033" y="6182333"/>
            <a:ext cx="609200" cy="624800"/>
          </a:xfrm>
          <a:prstGeom prst="rect">
            <a:avLst/>
          </a:prstGeom>
        </p:spPr>
        <p:txBody>
          <a:bodyPr spcFirstLastPara="1" vert="horz" wrap="square" lIns="0" tIns="0" rIns="0" bIns="0" rtlCol="0" anchor="b" anchorCtr="0">
            <a:noAutofit/>
          </a:bodyPr>
          <a:lstStyle/>
          <a:p>
            <a:fld id="{00000000-1234-1234-1234-123412341234}" type="slidenum">
              <a:rPr lang="en"/>
              <a:pPr/>
              <a:t>2</a:t>
            </a:fld>
            <a:endParaRPr/>
          </a:p>
        </p:txBody>
      </p:sp>
    </p:spTree>
    <p:extLst>
      <p:ext uri="{BB962C8B-B14F-4D97-AF65-F5344CB8AC3E}">
        <p14:creationId xmlns:p14="http://schemas.microsoft.com/office/powerpoint/2010/main" val="30914023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22931" y="1570349"/>
            <a:ext cx="8415338" cy="3908762"/>
          </a:xfrm>
        </p:spPr>
        <p:txBody>
          <a:bodyPr>
            <a:normAutofit fontScale="92500"/>
          </a:bodyPr>
          <a:lstStyle/>
          <a:p>
            <a:pPr>
              <a:lnSpc>
                <a:spcPct val="100000"/>
              </a:lnSpc>
            </a:pPr>
            <a:r>
              <a:rPr lang="en-US" b="1" dirty="0">
                <a:solidFill>
                  <a:schemeClr val="tx2">
                    <a:lumMod val="75000"/>
                    <a:lumOff val="25000"/>
                  </a:schemeClr>
                </a:solidFill>
              </a:rPr>
              <a:t>Ethics:</a:t>
            </a:r>
            <a:r>
              <a:rPr lang="en-US" dirty="0">
                <a:solidFill>
                  <a:schemeClr val="tx2">
                    <a:lumMod val="75000"/>
                    <a:lumOff val="25000"/>
                  </a:schemeClr>
                </a:solidFill>
              </a:rPr>
              <a:t> A</a:t>
            </a:r>
            <a:r>
              <a:rPr lang="en-US" dirty="0"/>
              <a:t> code of behavior defined by the group to which an individual belongs</a:t>
            </a:r>
          </a:p>
          <a:p>
            <a:pPr>
              <a:lnSpc>
                <a:spcPct val="100000"/>
              </a:lnSpc>
            </a:pPr>
            <a:r>
              <a:rPr lang="en-US" b="1" dirty="0"/>
              <a:t>Morals: </a:t>
            </a:r>
            <a:r>
              <a:rPr lang="en-US" dirty="0"/>
              <a:t>Personal principles upon which an individual bases his or her decisions about what is right and what is wrong </a:t>
            </a:r>
          </a:p>
          <a:p>
            <a:pPr>
              <a:lnSpc>
                <a:spcPct val="100000"/>
              </a:lnSpc>
            </a:pPr>
            <a:r>
              <a:rPr lang="en-US" b="1" dirty="0"/>
              <a:t>Virtue:</a:t>
            </a:r>
            <a:r>
              <a:rPr lang="en-US" dirty="0"/>
              <a:t> A habit that inclines people to do what is </a:t>
            </a:r>
            <a:r>
              <a:rPr lang="en-US" dirty="0" smtClean="0"/>
              <a:t>acceptable( Generosity, loyalty)</a:t>
            </a:r>
            <a:endParaRPr lang="en-US" dirty="0"/>
          </a:p>
          <a:p>
            <a:pPr>
              <a:lnSpc>
                <a:spcPct val="100000"/>
              </a:lnSpc>
            </a:pPr>
            <a:r>
              <a:rPr lang="en-US" b="1" dirty="0"/>
              <a:t>Vice</a:t>
            </a:r>
            <a:r>
              <a:rPr lang="en-US" dirty="0"/>
              <a:t>: A habit of unacceptable </a:t>
            </a:r>
            <a:r>
              <a:rPr lang="en-US" dirty="0" smtClean="0"/>
              <a:t>behavior(Greed, Envy, anger)</a:t>
            </a:r>
            <a:endParaRPr lang="en-US" dirty="0"/>
          </a:p>
        </p:txBody>
      </p:sp>
      <p:sp>
        <p:nvSpPr>
          <p:cNvPr id="2" name="Title 1"/>
          <p:cNvSpPr>
            <a:spLocks noGrp="1"/>
          </p:cNvSpPr>
          <p:nvPr>
            <p:ph type="title"/>
          </p:nvPr>
        </p:nvSpPr>
        <p:spPr>
          <a:xfrm>
            <a:off x="2286000" y="290458"/>
            <a:ext cx="8026400" cy="527837"/>
          </a:xfrm>
        </p:spPr>
        <p:txBody>
          <a:bodyPr>
            <a:normAutofit fontScale="90000"/>
          </a:bodyPr>
          <a:lstStyle/>
          <a:p>
            <a:r>
              <a:rPr lang="en-US" sz="4000" dirty="0"/>
              <a:t>What is Ethics?</a:t>
            </a:r>
          </a:p>
        </p:txBody>
      </p:sp>
      <p:sp>
        <p:nvSpPr>
          <p:cNvPr id="3" name="Footer Placeholder 2"/>
          <p:cNvSpPr>
            <a:spLocks noGrp="1"/>
          </p:cNvSpPr>
          <p:nvPr>
            <p:ph type="ftr" sz="quarter" idx="10"/>
          </p:nvPr>
        </p:nvSpPr>
        <p:spPr>
          <a:xfrm>
            <a:off x="1263869" y="6340586"/>
            <a:ext cx="9614338" cy="359760"/>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873241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7568"/>
            <a:ext cx="10515600" cy="767041"/>
          </a:xfrm>
        </p:spPr>
        <p:txBody>
          <a:bodyPr/>
          <a:lstStyle/>
          <a:p>
            <a:r>
              <a:rPr lang="en-US" sz="3200" dirty="0"/>
              <a:t>The Relationship Between Ethics and Morals</a:t>
            </a:r>
          </a:p>
        </p:txBody>
      </p:sp>
      <p:sp>
        <p:nvSpPr>
          <p:cNvPr id="3" name="Footer Placeholder 2"/>
          <p:cNvSpPr>
            <a:spLocks noGrp="1"/>
          </p:cNvSpPr>
          <p:nvPr>
            <p:ph type="ftr" sz="quarter" idx="10"/>
          </p:nvPr>
        </p:nvSpPr>
        <p:spPr>
          <a:xfrm>
            <a:off x="838200" y="6356350"/>
            <a:ext cx="11033234" cy="375526"/>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Content Placeholder 8" descr="Figure 1-1: This circular graphic illustrates that at a person's core are their personal beliefs, which are part of their morals. The group code of ethics has an impact on a person's morals and core personal beliefs. Ethics, morals, and core personal beliefs are defined by many factors, including: life experiences, culture, virtues, vices, religion, gender, age, beliefs, education, and traditions.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8331" y="1132166"/>
            <a:ext cx="6159500" cy="5016627"/>
          </a:xfrm>
          <a:prstGeom prst="rect">
            <a:avLst/>
          </a:prstGeom>
        </p:spPr>
      </p:pic>
    </p:spTree>
    <p:extLst>
      <p:ext uri="{BB962C8B-B14F-4D97-AF65-F5344CB8AC3E}">
        <p14:creationId xmlns:p14="http://schemas.microsoft.com/office/powerpoint/2010/main" val="29960428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descr="Morals are personal principles an individual uses to determine what is right and what is wrong. Moral acts conform to what an individual believes to be the right thing to do. Ethics are a code of behavior that is defined by the group to which an individual belongs. Law is a system of rules, enforced by a set of institutions, that tells us what we can and cannot do. Legal acts are acts that conform to the law.&#10;&#10;&#10;&#10; &#10;"/>
          <p:cNvGraphicFramePr>
            <a:graphicFrameLocks noGrp="1"/>
          </p:cNvGraphicFramePr>
          <p:nvPr>
            <p:ph idx="1"/>
            <p:extLst>
              <p:ext uri="{D42A27DB-BD31-4B8C-83A1-F6EECF244321}">
                <p14:modId xmlns:p14="http://schemas.microsoft.com/office/powerpoint/2010/main" val="105449677"/>
              </p:ext>
            </p:extLst>
          </p:nvPr>
        </p:nvGraphicFramePr>
        <p:xfrm>
          <a:off x="0" y="842392"/>
          <a:ext cx="8415339" cy="4902493"/>
        </p:xfrm>
        <a:graphic>
          <a:graphicData uri="http://schemas.openxmlformats.org/drawingml/2006/table">
            <a:tbl>
              <a:tblPr firstRow="1" bandRow="1">
                <a:tableStyleId>{5C22544A-7EE6-4342-B048-85BDC9FD1C3A}</a:tableStyleId>
              </a:tblPr>
              <a:tblGrid>
                <a:gridCol w="2897852">
                  <a:extLst>
                    <a:ext uri="{9D8B030D-6E8A-4147-A177-3AD203B41FA5}">
                      <a16:colId xmlns="" xmlns:a16="http://schemas.microsoft.com/office/drawing/2014/main" val="2711336738"/>
                    </a:ext>
                  </a:extLst>
                </a:gridCol>
                <a:gridCol w="2712374">
                  <a:extLst>
                    <a:ext uri="{9D8B030D-6E8A-4147-A177-3AD203B41FA5}">
                      <a16:colId xmlns="" xmlns:a16="http://schemas.microsoft.com/office/drawing/2014/main" val="3420904493"/>
                    </a:ext>
                  </a:extLst>
                </a:gridCol>
                <a:gridCol w="2805113">
                  <a:extLst>
                    <a:ext uri="{9D8B030D-6E8A-4147-A177-3AD203B41FA5}">
                      <a16:colId xmlns="" xmlns:a16="http://schemas.microsoft.com/office/drawing/2014/main" val="1739281648"/>
                    </a:ext>
                  </a:extLst>
                </a:gridCol>
              </a:tblGrid>
              <a:tr h="787693">
                <a:tc>
                  <a:txBody>
                    <a:bodyPr/>
                    <a:lstStyle/>
                    <a:p>
                      <a:pPr algn="ctr"/>
                      <a:r>
                        <a:rPr lang="en-US" sz="3600" dirty="0"/>
                        <a:t>Morals</a:t>
                      </a:r>
                    </a:p>
                  </a:txBody>
                  <a:tcPr/>
                </a:tc>
                <a:tc>
                  <a:txBody>
                    <a:bodyPr/>
                    <a:lstStyle/>
                    <a:p>
                      <a:pPr algn="ctr"/>
                      <a:r>
                        <a:rPr lang="en-US" sz="3600" dirty="0"/>
                        <a:t>Ethics</a:t>
                      </a:r>
                    </a:p>
                  </a:txBody>
                  <a:tcPr/>
                </a:tc>
                <a:tc>
                  <a:txBody>
                    <a:bodyPr/>
                    <a:lstStyle/>
                    <a:p>
                      <a:pPr algn="ctr"/>
                      <a:r>
                        <a:rPr lang="en-US" sz="3600" dirty="0"/>
                        <a:t>Law</a:t>
                      </a:r>
                    </a:p>
                  </a:txBody>
                  <a:tcPr/>
                </a:tc>
                <a:extLst>
                  <a:ext uri="{0D108BD9-81ED-4DB2-BD59-A6C34878D82A}">
                    <a16:rowId xmlns="" xmlns:a16="http://schemas.microsoft.com/office/drawing/2014/main" val="842316945"/>
                  </a:ext>
                </a:extLst>
              </a:tr>
              <a:tr h="3860507">
                <a:tc>
                  <a:txBody>
                    <a:bodyPr/>
                    <a:lstStyle/>
                    <a:p>
                      <a:pPr marL="285750" indent="-285750">
                        <a:buFont typeface="Arial" panose="020B0604020202020204" pitchFamily="34" charset="0"/>
                        <a:buChar char="•"/>
                      </a:pPr>
                      <a:r>
                        <a:rPr lang="en-US" sz="2400" dirty="0"/>
                        <a:t>Personal principles an individual</a:t>
                      </a:r>
                      <a:r>
                        <a:rPr lang="en-US" sz="2400" baseline="0" dirty="0"/>
                        <a:t> uses to determine </a:t>
                      </a:r>
                      <a:r>
                        <a:rPr lang="en-US" sz="2400" dirty="0"/>
                        <a:t>what is right and what is wrong</a:t>
                      </a:r>
                    </a:p>
                    <a:p>
                      <a:pPr marL="285750" indent="-285750">
                        <a:buFont typeface="Arial" panose="020B0604020202020204" pitchFamily="34" charset="0"/>
                        <a:buChar char="•"/>
                      </a:pPr>
                      <a:r>
                        <a:rPr lang="en-US" sz="2400" dirty="0"/>
                        <a:t>Moral acts conform to what an individual believes to be the right thing to do</a:t>
                      </a:r>
                    </a:p>
                    <a:p>
                      <a:pPr marL="285750" indent="-285750">
                        <a:buFont typeface="Arial" panose="020B0604020202020204" pitchFamily="34" charset="0"/>
                        <a:buChar char="•"/>
                      </a:pPr>
                      <a:endParaRPr lang="en-US" sz="2400" dirty="0"/>
                    </a:p>
                  </a:txBody>
                  <a:tcPr/>
                </a:tc>
                <a:tc>
                  <a:txBody>
                    <a:bodyPr/>
                    <a:lstStyle/>
                    <a:p>
                      <a:pPr marL="285750" indent="-285750">
                        <a:buFont typeface="Arial" panose="020B0604020202020204" pitchFamily="34" charset="0"/>
                        <a:buChar char="•"/>
                      </a:pPr>
                      <a:r>
                        <a:rPr lang="en-US" sz="2400" dirty="0"/>
                        <a:t>Code of behavior that is defined by the group to which an individual belongs</a:t>
                      </a:r>
                    </a:p>
                  </a:txBody>
                  <a:tcPr/>
                </a:tc>
                <a:tc>
                  <a:txBody>
                    <a:bodyPr/>
                    <a:lstStyle/>
                    <a:p>
                      <a:pPr marL="285750" indent="-285750">
                        <a:buFont typeface="Arial" panose="020B0604020202020204" pitchFamily="34" charset="0"/>
                        <a:buChar char="•"/>
                      </a:pPr>
                      <a:r>
                        <a:rPr lang="en-US" sz="2400" dirty="0"/>
                        <a:t>System of rules, enforced by a set of institutions, that tells us what we can and cannot do</a:t>
                      </a:r>
                    </a:p>
                    <a:p>
                      <a:pPr marL="285750" indent="-285750">
                        <a:buFont typeface="Arial" panose="020B0604020202020204" pitchFamily="34" charset="0"/>
                        <a:buChar char="•"/>
                      </a:pPr>
                      <a:r>
                        <a:rPr lang="en-US" sz="2400" dirty="0"/>
                        <a:t>Legal acts are acts that conform to the law</a:t>
                      </a:r>
                    </a:p>
                    <a:p>
                      <a:endParaRPr lang="en-US" sz="2400" dirty="0"/>
                    </a:p>
                  </a:txBody>
                  <a:tcPr/>
                </a:tc>
                <a:extLst>
                  <a:ext uri="{0D108BD9-81ED-4DB2-BD59-A6C34878D82A}">
                    <a16:rowId xmlns="" xmlns:a16="http://schemas.microsoft.com/office/drawing/2014/main" val="75994208"/>
                  </a:ext>
                </a:extLst>
              </a:tr>
            </a:tbl>
          </a:graphicData>
        </a:graphic>
      </p:graphicFrame>
      <p:sp>
        <p:nvSpPr>
          <p:cNvPr id="4" name="Title 3"/>
          <p:cNvSpPr>
            <a:spLocks noGrp="1"/>
          </p:cNvSpPr>
          <p:nvPr>
            <p:ph type="title"/>
          </p:nvPr>
        </p:nvSpPr>
        <p:spPr>
          <a:xfrm>
            <a:off x="186558" y="219694"/>
            <a:ext cx="7950200" cy="448649"/>
          </a:xfrm>
        </p:spPr>
        <p:txBody>
          <a:bodyPr>
            <a:normAutofit fontScale="90000"/>
          </a:bodyPr>
          <a:lstStyle/>
          <a:p>
            <a:r>
              <a:rPr lang="en-US" sz="3400" dirty="0"/>
              <a:t>Difference Between Morals, Ethics, and Laws</a:t>
            </a:r>
          </a:p>
        </p:txBody>
      </p:sp>
      <p:sp>
        <p:nvSpPr>
          <p:cNvPr id="3" name="Footer Placeholder 2"/>
          <p:cNvSpPr>
            <a:spLocks noGrp="1"/>
          </p:cNvSpPr>
          <p:nvPr>
            <p:ph type="ftr" sz="quarter" idx="10"/>
          </p:nvPr>
        </p:nvSpPr>
        <p:spPr>
          <a:xfrm>
            <a:off x="0" y="6545536"/>
            <a:ext cx="10733690" cy="312464"/>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78416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Title 1"/>
          <p:cNvSpPr txBox="1">
            <a:spLocks noGrp="1"/>
          </p:cNvSpPr>
          <p:nvPr>
            <p:ph type="title"/>
          </p:nvPr>
        </p:nvSpPr>
        <p:spPr>
          <a:prstGeom prst="rect">
            <a:avLst/>
          </a:prstGeom>
          <a:noFill/>
          <a:ln>
            <a:noFill/>
          </a:ln>
        </p:spPr>
        <p:txBody>
          <a:bodyPr vert="horz" lIns="0" tIns="0" rIns="0" bIns="0" rtlCol="0" anchor="b" anchorCtr="0">
            <a:noAutofit/>
          </a:bodyPr>
          <a:lstStyle/>
          <a:p>
            <a:pPr lvl="0">
              <a:buSzPct val="25000"/>
            </a:pPr>
            <a:r>
              <a:rPr lang="en-US" altLang="en-US" dirty="0"/>
              <a:t>The Ethical Point of View</a:t>
            </a:r>
            <a:endParaRPr lang="en-US" sz="2000" b="0" dirty="0"/>
          </a:p>
        </p:txBody>
      </p:sp>
      <p:sp>
        <p:nvSpPr>
          <p:cNvPr id="118" name="Content Placeholder 2"/>
          <p:cNvSpPr txBox="1">
            <a:spLocks noGrp="1"/>
          </p:cNvSpPr>
          <p:nvPr>
            <p:ph type="body" idx="1"/>
          </p:nvPr>
        </p:nvSpPr>
        <p:spPr>
          <a:prstGeom prst="rect">
            <a:avLst/>
          </a:prstGeom>
          <a:noFill/>
          <a:ln>
            <a:noFill/>
          </a:ln>
        </p:spPr>
        <p:txBody>
          <a:bodyPr vert="horz" lIns="0" tIns="0" rIns="0" bIns="0" rtlCol="0" anchor="t" anchorCtr="0">
            <a:noAutofit/>
          </a:bodyPr>
          <a:lstStyle/>
          <a:p>
            <a:pPr eaLnBrk="1" hangingPunct="1"/>
            <a:r>
              <a:rPr lang="en-US" altLang="en-US" dirty="0" smtClean="0"/>
              <a:t>Everyone </a:t>
            </a:r>
            <a:r>
              <a:rPr lang="en-US" altLang="en-US" dirty="0"/>
              <a:t>shares “core values”, desiring:</a:t>
            </a:r>
          </a:p>
          <a:p>
            <a:pPr lvl="1" eaLnBrk="1" hangingPunct="1"/>
            <a:r>
              <a:rPr lang="en-US" altLang="en-US" dirty="0"/>
              <a:t>Life</a:t>
            </a:r>
          </a:p>
          <a:p>
            <a:pPr lvl="1" eaLnBrk="1" hangingPunct="1"/>
            <a:r>
              <a:rPr lang="en-US" altLang="en-US" dirty="0"/>
              <a:t>Happiness</a:t>
            </a:r>
          </a:p>
          <a:p>
            <a:pPr lvl="1" eaLnBrk="1" hangingPunct="1"/>
            <a:r>
              <a:rPr lang="en-US" altLang="en-US" dirty="0"/>
              <a:t>Ability to accomplish goals</a:t>
            </a:r>
          </a:p>
          <a:p>
            <a:pPr eaLnBrk="1" hangingPunct="1"/>
            <a:r>
              <a:rPr lang="en-US" altLang="en-US" dirty="0"/>
              <a:t>Two ways to view world</a:t>
            </a:r>
          </a:p>
          <a:p>
            <a:pPr lvl="1" eaLnBrk="1" hangingPunct="1"/>
            <a:r>
              <a:rPr lang="en-US" altLang="en-US" b="1" dirty="0">
                <a:solidFill>
                  <a:srgbClr val="FF0000"/>
                </a:solidFill>
              </a:rPr>
              <a:t>Selfish point of view: </a:t>
            </a:r>
            <a:r>
              <a:rPr lang="en-US" altLang="en-US" dirty="0"/>
              <a:t>consider only your own self and your core values</a:t>
            </a:r>
          </a:p>
          <a:p>
            <a:pPr lvl="1" eaLnBrk="1" hangingPunct="1"/>
            <a:r>
              <a:rPr lang="en-US" altLang="en-US" b="1" dirty="0">
                <a:solidFill>
                  <a:srgbClr val="FF0000"/>
                </a:solidFill>
              </a:rPr>
              <a:t>Ethical point of view: </a:t>
            </a:r>
            <a:r>
              <a:rPr lang="en-US" altLang="en-US" dirty="0"/>
              <a:t>respect other people and their core values</a:t>
            </a:r>
          </a:p>
        </p:txBody>
      </p:sp>
    </p:spTree>
    <p:extLst>
      <p:ext uri="{BB962C8B-B14F-4D97-AF65-F5344CB8AC3E}">
        <p14:creationId xmlns:p14="http://schemas.microsoft.com/office/powerpoint/2010/main" val="28929357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411" y="267790"/>
            <a:ext cx="8229600" cy="1172817"/>
          </a:xfrm>
        </p:spPr>
        <p:txBody>
          <a:bodyPr>
            <a:normAutofit fontScale="90000"/>
          </a:bodyPr>
          <a:lstStyle/>
          <a:p>
            <a:r>
              <a:rPr lang="en-US" altLang="en-US" dirty="0" smtClean="0"/>
              <a:t>Analogy: Difference </a:t>
            </a:r>
            <a:r>
              <a:rPr lang="en-US" altLang="en-US" dirty="0"/>
              <a:t>between Morality and Ethics</a:t>
            </a:r>
            <a:endParaRPr lang="en-US" dirty="0"/>
          </a:p>
        </p:txBody>
      </p:sp>
      <p:pic>
        <p:nvPicPr>
          <p:cNvPr id="4" name="Picture 2" descr="Cars travel along a grid of streets, between houses. Above the houses, people fly hot air balloons labeled ethical theory 1, ethical theory 2, and ethical theory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7679" y="1907177"/>
            <a:ext cx="8102321" cy="4274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35132" y="2474617"/>
            <a:ext cx="2526825" cy="3139321"/>
          </a:xfrm>
          <a:prstGeom prst="rect">
            <a:avLst/>
          </a:prstGeom>
          <a:noFill/>
        </p:spPr>
        <p:txBody>
          <a:bodyPr wrap="square" rtlCol="0">
            <a:spAutoFit/>
          </a:bodyPr>
          <a:lstStyle/>
          <a:p>
            <a:pPr algn="ctr"/>
            <a:r>
              <a:rPr lang="en-US" b="1" dirty="0">
                <a:solidFill>
                  <a:srgbClr val="FF0000"/>
                </a:solidFill>
              </a:rPr>
              <a:t>An analogy explaining the difference between ethics and morality.  Imagine </a:t>
            </a:r>
            <a:r>
              <a:rPr lang="en-US" b="1" dirty="0">
                <a:solidFill>
                  <a:schemeClr val="accent5">
                    <a:lumMod val="60000"/>
                    <a:lumOff val="40000"/>
                  </a:schemeClr>
                </a:solidFill>
              </a:rPr>
              <a:t>society</a:t>
            </a:r>
            <a:r>
              <a:rPr lang="en-US" b="1" dirty="0">
                <a:solidFill>
                  <a:srgbClr val="FF0000"/>
                </a:solidFill>
              </a:rPr>
              <a:t> as a town.  </a:t>
            </a:r>
            <a:endParaRPr lang="en-US" b="1" dirty="0" smtClean="0">
              <a:solidFill>
                <a:srgbClr val="FF0000"/>
              </a:solidFill>
            </a:endParaRPr>
          </a:p>
          <a:p>
            <a:pPr algn="ctr"/>
            <a:r>
              <a:rPr lang="en-US" b="1" dirty="0" smtClean="0">
                <a:solidFill>
                  <a:schemeClr val="accent5">
                    <a:lumMod val="60000"/>
                    <a:lumOff val="40000"/>
                  </a:schemeClr>
                </a:solidFill>
              </a:rPr>
              <a:t>Morality</a:t>
            </a:r>
            <a:r>
              <a:rPr lang="en-US" b="1" dirty="0" smtClean="0">
                <a:solidFill>
                  <a:srgbClr val="FF0000"/>
                </a:solidFill>
              </a:rPr>
              <a:t> </a:t>
            </a:r>
            <a:r>
              <a:rPr lang="en-US" b="1" dirty="0">
                <a:solidFill>
                  <a:srgbClr val="FF0000"/>
                </a:solidFill>
              </a:rPr>
              <a:t>is the road network within the town.  People doing ethics are in the balloons floating above the town.</a:t>
            </a:r>
            <a:endParaRPr lang="en-ZA" b="1" dirty="0">
              <a:solidFill>
                <a:srgbClr val="FF0000"/>
              </a:solidFill>
            </a:endParaRPr>
          </a:p>
        </p:txBody>
      </p:sp>
    </p:spTree>
    <p:extLst>
      <p:ext uri="{BB962C8B-B14F-4D97-AF65-F5344CB8AC3E}">
        <p14:creationId xmlns:p14="http://schemas.microsoft.com/office/powerpoint/2010/main" val="32006723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Title 1"/>
          <p:cNvSpPr txBox="1">
            <a:spLocks noGrp="1"/>
          </p:cNvSpPr>
          <p:nvPr>
            <p:ph type="title"/>
          </p:nvPr>
        </p:nvSpPr>
        <p:spPr>
          <a:xfrm>
            <a:off x="1981200" y="254893"/>
            <a:ext cx="8229600" cy="518830"/>
          </a:xfrm>
          <a:prstGeom prst="rect">
            <a:avLst/>
          </a:prstGeom>
          <a:noFill/>
          <a:ln>
            <a:noFill/>
          </a:ln>
        </p:spPr>
        <p:txBody>
          <a:bodyPr vert="horz" lIns="0" tIns="0" rIns="0" bIns="0" rtlCol="0" anchor="b" anchorCtr="0">
            <a:noAutofit/>
          </a:bodyPr>
          <a:lstStyle/>
          <a:p>
            <a:pPr lvl="0">
              <a:buSzPct val="25000"/>
            </a:pPr>
            <a:r>
              <a:rPr lang="en-US" altLang="en-US" dirty="0"/>
              <a:t>Why Study Ethics?</a:t>
            </a:r>
            <a:endParaRPr lang="en-US" sz="2000" b="0" dirty="0"/>
          </a:p>
        </p:txBody>
      </p:sp>
      <p:sp>
        <p:nvSpPr>
          <p:cNvPr id="118" name="Content Placeholder 2"/>
          <p:cNvSpPr txBox="1">
            <a:spLocks noGrp="1"/>
          </p:cNvSpPr>
          <p:nvPr>
            <p:ph type="body" idx="1"/>
          </p:nvPr>
        </p:nvSpPr>
        <p:spPr>
          <a:xfrm>
            <a:off x="249592" y="1066252"/>
            <a:ext cx="8229600" cy="4525963"/>
          </a:xfrm>
          <a:prstGeom prst="rect">
            <a:avLst/>
          </a:prstGeom>
          <a:noFill/>
          <a:ln>
            <a:noFill/>
          </a:ln>
        </p:spPr>
        <p:txBody>
          <a:bodyPr vert="horz" lIns="0" tIns="0" rIns="0" bIns="0" rtlCol="0" anchor="t" anchorCtr="0">
            <a:noAutofit/>
          </a:bodyPr>
          <a:lstStyle/>
          <a:p>
            <a:pPr eaLnBrk="1" hangingPunct="1"/>
            <a:r>
              <a:rPr lang="en-US" altLang="en-US" b="1" dirty="0">
                <a:solidFill>
                  <a:srgbClr val="FF0000"/>
                </a:solidFill>
              </a:rPr>
              <a:t>Ethics</a:t>
            </a:r>
            <a:r>
              <a:rPr lang="en-US" altLang="en-US" dirty="0"/>
              <a:t>: a way to decide the best thing to do</a:t>
            </a:r>
          </a:p>
          <a:p>
            <a:pPr eaLnBrk="1" hangingPunct="1"/>
            <a:r>
              <a:rPr lang="en-US" altLang="en-US" dirty="0"/>
              <a:t>New problems accompany new technologies</a:t>
            </a:r>
          </a:p>
          <a:p>
            <a:pPr eaLnBrk="1" hangingPunct="1"/>
            <a:r>
              <a:rPr lang="en-US" altLang="en-US" dirty="0"/>
              <a:t>“Common wisdom” may not exist </a:t>
            </a:r>
            <a:r>
              <a:rPr lang="en-US" altLang="en-US" dirty="0" smtClean="0"/>
              <a:t>for </a:t>
            </a:r>
            <a:r>
              <a:rPr lang="en-US" altLang="en-US" dirty="0"/>
              <a:t>situations brought about by new technologies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504" y="3047214"/>
            <a:ext cx="4069583" cy="2837530"/>
          </a:xfrm>
          <a:prstGeom prst="rect">
            <a:avLst/>
          </a:prstGeom>
        </p:spPr>
      </p:pic>
    </p:spTree>
    <p:extLst>
      <p:ext uri="{BB962C8B-B14F-4D97-AF65-F5344CB8AC3E}">
        <p14:creationId xmlns:p14="http://schemas.microsoft.com/office/powerpoint/2010/main" val="18643388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of Ethics</a:t>
            </a:r>
            <a:endParaRPr lang="en-US" dirty="0"/>
          </a:p>
        </p:txBody>
      </p:sp>
      <p:sp>
        <p:nvSpPr>
          <p:cNvPr id="3" name="Content Placeholder 2"/>
          <p:cNvSpPr>
            <a:spLocks noGrp="1"/>
          </p:cNvSpPr>
          <p:nvPr>
            <p:ph idx="1"/>
          </p:nvPr>
        </p:nvSpPr>
        <p:spPr/>
        <p:txBody>
          <a:bodyPr>
            <a:normAutofit lnSpcReduction="10000"/>
          </a:bodyPr>
          <a:lstStyle/>
          <a:p>
            <a:r>
              <a:rPr lang="en-US" dirty="0" smtClean="0"/>
              <a:t>In general </a:t>
            </a:r>
            <a:r>
              <a:rPr lang="en-US" b="1" dirty="0" smtClean="0"/>
              <a:t>Ethics </a:t>
            </a:r>
            <a:r>
              <a:rPr lang="en-US" dirty="0"/>
              <a:t>is the philosophical study of morality, a rational examination </a:t>
            </a:r>
            <a:r>
              <a:rPr lang="en-US" dirty="0" smtClean="0"/>
              <a:t>into people’s </a:t>
            </a:r>
            <a:r>
              <a:rPr lang="en-US" dirty="0"/>
              <a:t>moral beliefs and </a:t>
            </a:r>
            <a:r>
              <a:rPr lang="en-US" dirty="0" smtClean="0"/>
              <a:t>behavior.</a:t>
            </a:r>
          </a:p>
          <a:p>
            <a:endParaRPr lang="en-US" dirty="0"/>
          </a:p>
          <a:p>
            <a:r>
              <a:rPr lang="en-US" dirty="0"/>
              <a:t>Ethics is a set of moral principles that govern the behavior of an individual or group of people. Computer ethics is the application of moral principles to the use of computers and the Internet</a:t>
            </a:r>
            <a:r>
              <a:rPr lang="en-US" dirty="0" smtClean="0"/>
              <a:t>.</a:t>
            </a:r>
          </a:p>
          <a:p>
            <a:r>
              <a:rPr lang="en-US" dirty="0" smtClean="0"/>
              <a:t>Examples </a:t>
            </a:r>
            <a:r>
              <a:rPr lang="en-US" dirty="0"/>
              <a:t>include intellectual property rights, privacy policies, and online etiquette, or "</a:t>
            </a:r>
            <a:r>
              <a:rPr lang="en-US" dirty="0" smtClean="0"/>
              <a:t>netiquette“</a:t>
            </a:r>
          </a:p>
          <a:p>
            <a:endParaRPr lang="en-US" dirty="0"/>
          </a:p>
          <a:p>
            <a:r>
              <a:rPr lang="en-US" dirty="0">
                <a:solidFill>
                  <a:schemeClr val="accent1">
                    <a:lumMod val="75000"/>
                  </a:schemeClr>
                </a:solidFill>
              </a:rPr>
              <a:t>https://</a:t>
            </a:r>
            <a:r>
              <a:rPr lang="en-US" dirty="0" smtClean="0">
                <a:solidFill>
                  <a:schemeClr val="accent1">
                    <a:lumMod val="75000"/>
                  </a:schemeClr>
                </a:solidFill>
              </a:rPr>
              <a:t>youtube/u399XmkjeXo </a:t>
            </a:r>
            <a:endParaRPr lang="en-US" dirty="0">
              <a:solidFill>
                <a:schemeClr val="accent1">
                  <a:lumMod val="75000"/>
                </a:schemeClr>
              </a:solidFill>
            </a:endParaRPr>
          </a:p>
          <a:p>
            <a:endParaRPr lang="en-US" dirty="0"/>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9</a:t>
            </a:fld>
            <a:endParaRPr lang="en-US"/>
          </a:p>
        </p:txBody>
      </p:sp>
    </p:spTree>
    <p:extLst>
      <p:ext uri="{BB962C8B-B14F-4D97-AF65-F5344CB8AC3E}">
        <p14:creationId xmlns:p14="http://schemas.microsoft.com/office/powerpoint/2010/main" val="25536031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n image of a group of people sitting around a table focusses their attention on a woman giving a presentation at the head of the tabl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7958" y="1825180"/>
            <a:ext cx="7059607" cy="4053012"/>
          </a:xfrm>
          <a:prstGeom prst="rect">
            <a:avLst/>
          </a:prstGeom>
        </p:spPr>
      </p:pic>
      <p:sp>
        <p:nvSpPr>
          <p:cNvPr id="2" name="Title 1"/>
          <p:cNvSpPr>
            <a:spLocks noGrp="1"/>
          </p:cNvSpPr>
          <p:nvPr>
            <p:ph type="title"/>
          </p:nvPr>
        </p:nvSpPr>
        <p:spPr/>
        <p:txBody>
          <a:bodyPr/>
          <a:lstStyle/>
          <a:p>
            <a:r>
              <a:rPr lang="en-US" altLang="en-US" sz="3400" dirty="0"/>
              <a:t>A Good Ethical Theory Enables You to Make Persuasive, Logical Arguments</a:t>
            </a:r>
            <a:endParaRPr lang="en-IN" sz="3400" dirty="0"/>
          </a:p>
        </p:txBody>
      </p:sp>
    </p:spTree>
    <p:extLst>
      <p:ext uri="{BB962C8B-B14F-4D97-AF65-F5344CB8AC3E}">
        <p14:creationId xmlns:p14="http://schemas.microsoft.com/office/powerpoint/2010/main" val="32492711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Ethical Theories</a:t>
            </a:r>
            <a:br>
              <a:rPr lang="en-US" b="1" dirty="0"/>
            </a:br>
            <a:endParaRPr lang="en-US" dirty="0"/>
          </a:p>
        </p:txBody>
      </p:sp>
      <p:sp>
        <p:nvSpPr>
          <p:cNvPr id="3" name="Content Placeholder 2"/>
          <p:cNvSpPr>
            <a:spLocks noGrp="1"/>
          </p:cNvSpPr>
          <p:nvPr>
            <p:ph idx="1"/>
          </p:nvPr>
        </p:nvSpPr>
        <p:spPr/>
        <p:txBody>
          <a:bodyPr>
            <a:normAutofit lnSpcReduction="10000"/>
          </a:bodyPr>
          <a:lstStyle/>
          <a:p>
            <a:pPr marL="285750" indent="-285750">
              <a:buClr>
                <a:schemeClr val="dk1"/>
              </a:buClr>
              <a:buSzPts val="1100"/>
            </a:pPr>
            <a:r>
              <a:rPr lang="en-US" b="1" dirty="0" smtClean="0"/>
              <a:t>Subjective </a:t>
            </a:r>
            <a:r>
              <a:rPr lang="en-US" b="1" dirty="0"/>
              <a:t>Relativism</a:t>
            </a:r>
          </a:p>
          <a:p>
            <a:pPr marL="285750" indent="-285750">
              <a:buClr>
                <a:schemeClr val="dk1"/>
              </a:buClr>
              <a:buSzPts val="1100"/>
            </a:pPr>
            <a:r>
              <a:rPr lang="en-US" b="1" dirty="0"/>
              <a:t>Cultural Relativism</a:t>
            </a:r>
          </a:p>
          <a:p>
            <a:pPr marL="285750" indent="-285750">
              <a:buClr>
                <a:schemeClr val="dk1"/>
              </a:buClr>
              <a:buSzPts val="1100"/>
            </a:pPr>
            <a:r>
              <a:rPr lang="en-US" b="1" dirty="0"/>
              <a:t>Divine Command Theory</a:t>
            </a:r>
          </a:p>
          <a:p>
            <a:pPr marL="285750" indent="-285750">
              <a:buClr>
                <a:schemeClr val="dk1"/>
              </a:buClr>
              <a:buSzPts val="1100"/>
            </a:pPr>
            <a:r>
              <a:rPr lang="en-US" b="1" dirty="0"/>
              <a:t>Ethical egoism</a:t>
            </a:r>
          </a:p>
          <a:p>
            <a:pPr marL="285750" indent="-285750">
              <a:buClr>
                <a:schemeClr val="dk1"/>
              </a:buClr>
              <a:buSzPts val="1100"/>
            </a:pPr>
            <a:r>
              <a:rPr lang="en-US" b="1" dirty="0"/>
              <a:t>Kantianism</a:t>
            </a:r>
          </a:p>
          <a:p>
            <a:pPr marL="285750" indent="-285750">
              <a:buClr>
                <a:schemeClr val="dk1"/>
              </a:buClr>
              <a:buSzPts val="1100"/>
            </a:pPr>
            <a:r>
              <a:rPr lang="en-US" b="1" dirty="0"/>
              <a:t>Act utilitarianism</a:t>
            </a:r>
          </a:p>
          <a:p>
            <a:pPr marL="285750" indent="-285750">
              <a:buClr>
                <a:schemeClr val="dk1"/>
              </a:buClr>
              <a:buSzPts val="1100"/>
            </a:pPr>
            <a:r>
              <a:rPr lang="en-US" b="1" dirty="0"/>
              <a:t>Rule utilitarianism</a:t>
            </a:r>
          </a:p>
          <a:p>
            <a:pPr marL="285750" indent="-285750">
              <a:buClr>
                <a:schemeClr val="dk1"/>
              </a:buClr>
              <a:buSzPts val="1100"/>
            </a:pPr>
            <a:r>
              <a:rPr lang="en-US" b="1" dirty="0"/>
              <a:t>Social contract theory</a:t>
            </a:r>
          </a:p>
          <a:p>
            <a:pPr marL="285750" indent="-285750">
              <a:buClr>
                <a:schemeClr val="dk1"/>
              </a:buClr>
              <a:buSzPts val="1100"/>
            </a:pPr>
            <a:r>
              <a:rPr lang="en-US" b="1" dirty="0"/>
              <a:t>Virtue ethics</a:t>
            </a:r>
          </a:p>
          <a:p>
            <a:endParaRPr lang="en-US" dirty="0"/>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11</a:t>
            </a:fld>
            <a:endParaRPr lang="en-US"/>
          </a:p>
        </p:txBody>
      </p:sp>
    </p:spTree>
    <p:extLst>
      <p:ext uri="{BB962C8B-B14F-4D97-AF65-F5344CB8AC3E}">
        <p14:creationId xmlns:p14="http://schemas.microsoft.com/office/powerpoint/2010/main" val="9239094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1628" y="195942"/>
            <a:ext cx="8240486" cy="6160408"/>
          </a:xfrm>
        </p:spPr>
        <p:txBody>
          <a:bodyPr>
            <a:normAutofit fontScale="92500" lnSpcReduction="20000"/>
          </a:bodyPr>
          <a:lstStyle/>
          <a:p>
            <a:pPr marL="0" indent="0">
              <a:buNone/>
            </a:pPr>
            <a:r>
              <a:rPr lang="en-US" b="1" u="sng" dirty="0"/>
              <a:t>Subjective Relativism</a:t>
            </a:r>
            <a:endParaRPr lang="en-US" b="1" u="sng" dirty="0" smtClean="0"/>
          </a:p>
          <a:p>
            <a:r>
              <a:rPr lang="en-US" dirty="0" smtClean="0"/>
              <a:t>Each </a:t>
            </a:r>
            <a:r>
              <a:rPr lang="en-US" dirty="0"/>
              <a:t>person decides right and wrong for himself or herself </a:t>
            </a:r>
          </a:p>
          <a:p>
            <a:pPr marL="0" indent="0">
              <a:buNone/>
            </a:pPr>
            <a:r>
              <a:rPr lang="en-US" dirty="0"/>
              <a:t>“What’s right for you may not be right for me</a:t>
            </a:r>
            <a:r>
              <a:rPr lang="en-US" dirty="0" smtClean="0"/>
              <a:t>”</a:t>
            </a:r>
          </a:p>
          <a:p>
            <a:pPr marL="0" indent="0">
              <a:buNone/>
            </a:pPr>
            <a:r>
              <a:rPr lang="en-US" altLang="en-US" b="1" dirty="0">
                <a:solidFill>
                  <a:srgbClr val="FF0000"/>
                </a:solidFill>
                <a:sym typeface="Symbol" panose="05050102010706020507" pitchFamily="18" charset="2"/>
              </a:rPr>
              <a:t>Conclusion: Not a workable ethical theory</a:t>
            </a:r>
          </a:p>
          <a:p>
            <a:pPr marL="0" indent="0">
              <a:buNone/>
            </a:pPr>
            <a:r>
              <a:rPr lang="en-US" b="1" u="sng" dirty="0" smtClean="0"/>
              <a:t>Cultural Relativism</a:t>
            </a:r>
          </a:p>
          <a:p>
            <a:r>
              <a:rPr lang="en-US" altLang="en-US" dirty="0"/>
              <a:t>What is “right” and “wrong” depends upon a society’s actual moral guidelines</a:t>
            </a:r>
          </a:p>
          <a:p>
            <a:r>
              <a:rPr lang="en-US" altLang="en-US" dirty="0"/>
              <a:t>These guidelines vary from place to place and from time to </a:t>
            </a:r>
            <a:r>
              <a:rPr lang="en-US" altLang="en-US" dirty="0" smtClean="0"/>
              <a:t>time</a:t>
            </a:r>
          </a:p>
          <a:p>
            <a:pPr marL="0" indent="0">
              <a:buNone/>
            </a:pPr>
            <a:r>
              <a:rPr lang="en-US" altLang="en-US" b="1" dirty="0">
                <a:solidFill>
                  <a:srgbClr val="FF0000"/>
                </a:solidFill>
              </a:rPr>
              <a:t>Conclusion: Not a workable ethical theory</a:t>
            </a:r>
          </a:p>
          <a:p>
            <a:pPr marL="0" indent="0">
              <a:buNone/>
            </a:pPr>
            <a:r>
              <a:rPr lang="en-US" b="1" u="sng" dirty="0" smtClean="0"/>
              <a:t>Divine </a:t>
            </a:r>
            <a:r>
              <a:rPr lang="en-US" b="1" u="sng" dirty="0"/>
              <a:t>Command </a:t>
            </a:r>
            <a:r>
              <a:rPr lang="en-US" b="1" u="sng" dirty="0" smtClean="0"/>
              <a:t>Theory</a:t>
            </a:r>
          </a:p>
          <a:p>
            <a:r>
              <a:rPr lang="en-US" altLang="en-US" dirty="0"/>
              <a:t>Good actions are those aligned with God’s will</a:t>
            </a:r>
          </a:p>
          <a:p>
            <a:r>
              <a:rPr lang="en-US" altLang="en-US" dirty="0"/>
              <a:t>Bad actions are those contrary to God’s </a:t>
            </a:r>
            <a:r>
              <a:rPr lang="en-US" altLang="en-US" dirty="0" smtClean="0"/>
              <a:t>will</a:t>
            </a:r>
          </a:p>
          <a:p>
            <a:r>
              <a:rPr lang="en-US" altLang="en-US" b="1" dirty="0">
                <a:solidFill>
                  <a:srgbClr val="FF0000"/>
                </a:solidFill>
              </a:rPr>
              <a:t>Conclusion: Not a workable ethical theory for our purposes</a:t>
            </a:r>
          </a:p>
          <a:p>
            <a:endParaRPr lang="en-US" altLang="en-US" dirty="0"/>
          </a:p>
          <a:p>
            <a:pPr marL="0" indent="0">
              <a:buNone/>
            </a:pPr>
            <a:endParaRPr lang="en-US" altLang="en-US" b="1" u="sng" dirty="0" smtClean="0"/>
          </a:p>
          <a:p>
            <a:endParaRPr lang="en-US" altLang="en-US" dirty="0"/>
          </a:p>
          <a:p>
            <a:pPr marL="0" indent="0">
              <a:buNone/>
            </a:pPr>
            <a:endParaRPr lang="en-US" b="1" u="sng" dirty="0"/>
          </a:p>
          <a:p>
            <a:endParaRPr lang="en-US" dirty="0"/>
          </a:p>
          <a:p>
            <a:endParaRPr lang="en-US" dirty="0"/>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12</a:t>
            </a:fld>
            <a:endParaRPr lang="en-US"/>
          </a:p>
        </p:txBody>
      </p:sp>
      <p:sp>
        <p:nvSpPr>
          <p:cNvPr id="2" name="Rectangle 1"/>
          <p:cNvSpPr/>
          <p:nvPr/>
        </p:nvSpPr>
        <p:spPr>
          <a:xfrm>
            <a:off x="8930790" y="3276146"/>
            <a:ext cx="3003707" cy="1569660"/>
          </a:xfrm>
          <a:prstGeom prst="rect">
            <a:avLst/>
          </a:prstGeom>
        </p:spPr>
        <p:txBody>
          <a:bodyPr wrap="square">
            <a:spAutoFit/>
          </a:bodyPr>
          <a:lstStyle/>
          <a:p>
            <a:r>
              <a:rPr lang="en-US" sz="1200" dirty="0">
                <a:latin typeface="Minion-Regular"/>
              </a:rPr>
              <a:t>The principal sources for these brief introductions to ethical theories are </a:t>
            </a:r>
            <a:r>
              <a:rPr lang="en-US" sz="1200" i="1" dirty="0">
                <a:latin typeface="Minion-Italic"/>
              </a:rPr>
              <a:t>Ethical</a:t>
            </a:r>
          </a:p>
          <a:p>
            <a:r>
              <a:rPr lang="en-US" sz="1200" i="1" dirty="0">
                <a:latin typeface="Minion-Italic"/>
              </a:rPr>
              <a:t>Insights: A Brief Introduction </a:t>
            </a:r>
            <a:r>
              <a:rPr lang="en-US" sz="1200" dirty="0">
                <a:latin typeface="Minion-Regular"/>
              </a:rPr>
              <a:t>by Douglas </a:t>
            </a:r>
            <a:r>
              <a:rPr lang="en-US" sz="1200" dirty="0" err="1">
                <a:latin typeface="Minion-Regular"/>
              </a:rPr>
              <a:t>Birsch</a:t>
            </a:r>
            <a:r>
              <a:rPr lang="en-US" sz="1200" dirty="0">
                <a:latin typeface="Minion-Regular"/>
              </a:rPr>
              <a:t> [4], </a:t>
            </a:r>
            <a:r>
              <a:rPr lang="en-US" sz="1200" i="1" dirty="0">
                <a:latin typeface="Minion-Italic"/>
              </a:rPr>
              <a:t>The Elements </a:t>
            </a:r>
            <a:r>
              <a:rPr lang="en-US" sz="1200" i="1" dirty="0" err="1">
                <a:latin typeface="Minion-Italic"/>
              </a:rPr>
              <a:t>ofMoral</a:t>
            </a:r>
            <a:r>
              <a:rPr lang="en-US" sz="1200" i="1" dirty="0">
                <a:latin typeface="Minion-Italic"/>
              </a:rPr>
              <a:t> Philosophy </a:t>
            </a:r>
            <a:r>
              <a:rPr lang="en-US" sz="1200" dirty="0">
                <a:latin typeface="Minion-Regular"/>
              </a:rPr>
              <a:t>by</a:t>
            </a:r>
          </a:p>
          <a:p>
            <a:r>
              <a:rPr lang="en-US" sz="1200" dirty="0">
                <a:latin typeface="Minion-Regular"/>
              </a:rPr>
              <a:t>James </a:t>
            </a:r>
            <a:r>
              <a:rPr lang="en-US" sz="1200" dirty="0" err="1">
                <a:latin typeface="Minion-Regular"/>
              </a:rPr>
              <a:t>Rachels</a:t>
            </a:r>
            <a:r>
              <a:rPr lang="en-US" sz="1200" dirty="0">
                <a:latin typeface="Minion-Regular"/>
              </a:rPr>
              <a:t> [5], and </a:t>
            </a:r>
            <a:r>
              <a:rPr lang="en-US" sz="1200" i="1" dirty="0">
                <a:latin typeface="Minion-Italic"/>
              </a:rPr>
              <a:t>On Virtue Ethics </a:t>
            </a:r>
            <a:r>
              <a:rPr lang="en-US" sz="1200" dirty="0">
                <a:latin typeface="Minion-Regular"/>
              </a:rPr>
              <a:t>by Rosalind </a:t>
            </a:r>
            <a:r>
              <a:rPr lang="en-US" sz="1200" dirty="0" err="1">
                <a:latin typeface="Minion-Regular"/>
              </a:rPr>
              <a:t>Hursthouse</a:t>
            </a:r>
            <a:r>
              <a:rPr lang="en-US" sz="1200" dirty="0">
                <a:latin typeface="Minion-Regular"/>
              </a:rPr>
              <a:t> [6].</a:t>
            </a:r>
            <a:endParaRPr lang="en-US" sz="1200" dirty="0"/>
          </a:p>
        </p:txBody>
      </p:sp>
    </p:spTree>
    <p:extLst>
      <p:ext uri="{BB962C8B-B14F-4D97-AF65-F5344CB8AC3E}">
        <p14:creationId xmlns:p14="http://schemas.microsoft.com/office/powerpoint/2010/main" val="23515730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8194" y="130629"/>
            <a:ext cx="8490857" cy="6225721"/>
          </a:xfrm>
        </p:spPr>
        <p:txBody>
          <a:bodyPr>
            <a:normAutofit fontScale="85000" lnSpcReduction="20000"/>
          </a:bodyPr>
          <a:lstStyle/>
          <a:p>
            <a:pPr marL="0" indent="0">
              <a:buNone/>
            </a:pPr>
            <a:r>
              <a:rPr lang="en-US" b="1" u="sng" dirty="0"/>
              <a:t>Ethical </a:t>
            </a:r>
            <a:r>
              <a:rPr lang="en-US" b="1" u="sng" dirty="0" smtClean="0"/>
              <a:t>Egoism:</a:t>
            </a:r>
          </a:p>
          <a:p>
            <a:r>
              <a:rPr lang="en-US" altLang="en-US" dirty="0"/>
              <a:t>Each person should focus exclusively on his or her self-interest</a:t>
            </a:r>
          </a:p>
          <a:p>
            <a:r>
              <a:rPr lang="en-US" altLang="en-US" dirty="0"/>
              <a:t>Morally right action: that action that provides self with maximum long-term </a:t>
            </a:r>
            <a:r>
              <a:rPr lang="en-US" altLang="en-US" dirty="0" smtClean="0"/>
              <a:t>benefit</a:t>
            </a:r>
          </a:p>
          <a:p>
            <a:pPr marL="0" indent="0">
              <a:buNone/>
            </a:pPr>
            <a:r>
              <a:rPr lang="en-US" altLang="en-US" b="1" dirty="0">
                <a:solidFill>
                  <a:srgbClr val="FF0000"/>
                </a:solidFill>
              </a:rPr>
              <a:t>Conclusion: Not a workable ethical theory</a:t>
            </a:r>
          </a:p>
          <a:p>
            <a:pPr marL="0" indent="0">
              <a:buNone/>
            </a:pPr>
            <a:r>
              <a:rPr lang="en-US" b="1" u="sng" dirty="0" smtClean="0"/>
              <a:t>Kantianism: (</a:t>
            </a:r>
            <a:r>
              <a:rPr lang="en-US" altLang="en-US" dirty="0"/>
              <a:t>Immanuel </a:t>
            </a:r>
            <a:r>
              <a:rPr lang="en-US" altLang="en-US" dirty="0" smtClean="0"/>
              <a:t>Kant)</a:t>
            </a:r>
            <a:endParaRPr lang="en-US" b="1" u="sng" dirty="0" smtClean="0"/>
          </a:p>
          <a:p>
            <a:r>
              <a:rPr lang="en-US" dirty="0"/>
              <a:t>Kant believed that people’s actions ought to be guided by moral laws, and that these moral laws were universal.</a:t>
            </a:r>
          </a:p>
          <a:p>
            <a:r>
              <a:rPr lang="en-US" dirty="0"/>
              <a:t>Our focus should be on what we ought to do. Our sense of “ought to” is called </a:t>
            </a:r>
            <a:r>
              <a:rPr lang="en-US" b="1" dirty="0"/>
              <a:t>dutifulness.</a:t>
            </a:r>
          </a:p>
          <a:p>
            <a:r>
              <a:rPr lang="en-US" dirty="0"/>
              <a:t>For Kant, an </a:t>
            </a:r>
            <a:r>
              <a:rPr lang="en-US" b="1" dirty="0"/>
              <a:t>imperative </a:t>
            </a:r>
            <a:r>
              <a:rPr lang="en-US" dirty="0"/>
              <a:t>is a way in which reason commands the will.</a:t>
            </a:r>
          </a:p>
          <a:p>
            <a:r>
              <a:rPr lang="en-US" dirty="0"/>
              <a:t>There are two kinds of imperatives: hypothetical and categorical, however, only a </a:t>
            </a:r>
            <a:r>
              <a:rPr lang="en-US" b="1" dirty="0"/>
              <a:t>categorical imperative </a:t>
            </a:r>
            <a:r>
              <a:rPr lang="en-US" dirty="0"/>
              <a:t>can be a moral </a:t>
            </a:r>
            <a:r>
              <a:rPr lang="en-ZA" dirty="0"/>
              <a:t>imperative</a:t>
            </a:r>
            <a:r>
              <a:rPr lang="en-ZA" dirty="0" smtClean="0"/>
              <a:t>.</a:t>
            </a:r>
          </a:p>
          <a:p>
            <a:r>
              <a:rPr lang="en-US" altLang="en-US" b="1" dirty="0">
                <a:solidFill>
                  <a:srgbClr val="C00000"/>
                </a:solidFill>
              </a:rPr>
              <a:t>Conclusion: Despite weaknesses, a workable ethical theory</a:t>
            </a:r>
          </a:p>
          <a:p>
            <a:r>
              <a:rPr lang="en-ZA"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3"/>
              </a:rPr>
              <a:t>https://youtu.be/-UhiRLuSlIU</a:t>
            </a:r>
            <a:r>
              <a:rPr lang="en-ZA" dirty="0">
                <a:latin typeface="Calibri" panose="020F0502020204030204" pitchFamily="34" charset="0"/>
                <a:ea typeface="Calibri" panose="020F0502020204030204" pitchFamily="34" charset="0"/>
                <a:cs typeface="Times New Roman" panose="02020603050405020304" pitchFamily="18" charset="0"/>
              </a:rPr>
              <a:t> </a:t>
            </a:r>
            <a:endParaRPr lang="en-ZA" dirty="0"/>
          </a:p>
          <a:p>
            <a:endParaRPr lang="en-ZA" dirty="0"/>
          </a:p>
          <a:p>
            <a:pPr marL="0" indent="0">
              <a:buNone/>
            </a:pPr>
            <a:endParaRPr lang="en-US" b="1" u="sng" dirty="0" smtClean="0"/>
          </a:p>
          <a:p>
            <a:pPr marL="0" indent="0">
              <a:buNone/>
            </a:pPr>
            <a:endParaRPr lang="en-US" altLang="en-US" b="1" u="sng" dirty="0"/>
          </a:p>
          <a:p>
            <a:pPr marL="0" indent="0">
              <a:buNone/>
            </a:pPr>
            <a:endParaRPr lang="en-US" dirty="0"/>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13</a:t>
            </a:fld>
            <a:endParaRPr lang="en-US"/>
          </a:p>
        </p:txBody>
      </p:sp>
    </p:spTree>
    <p:extLst>
      <p:ext uri="{BB962C8B-B14F-4D97-AF65-F5344CB8AC3E}">
        <p14:creationId xmlns:p14="http://schemas.microsoft.com/office/powerpoint/2010/main" val="239207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E02665-E81B-4A80-8D40-5E139BF97B3C}"/>
              </a:ext>
            </a:extLst>
          </p:cNvPr>
          <p:cNvSpPr>
            <a:spLocks noGrp="1"/>
          </p:cNvSpPr>
          <p:nvPr>
            <p:ph type="title"/>
          </p:nvPr>
        </p:nvSpPr>
        <p:spPr>
          <a:xfrm>
            <a:off x="268014" y="365125"/>
            <a:ext cx="8536352" cy="1325563"/>
          </a:xfrm>
        </p:spPr>
        <p:txBody>
          <a:bodyPr/>
          <a:lstStyle/>
          <a:p>
            <a:pPr algn="ctr"/>
            <a:r>
              <a:rPr lang="en-ZA" dirty="0"/>
              <a:t>Categorical Imperative </a:t>
            </a:r>
            <a:r>
              <a:rPr lang="en-ZA" dirty="0" smtClean="0"/>
              <a:t> </a:t>
            </a:r>
            <a:br>
              <a:rPr lang="en-ZA" dirty="0" smtClean="0"/>
            </a:br>
            <a:r>
              <a:rPr lang="en-ZA" dirty="0" smtClean="0"/>
              <a:t>(First Formulation</a:t>
            </a:r>
            <a:r>
              <a:rPr lang="en-ZA" dirty="0"/>
              <a:t>)</a:t>
            </a:r>
          </a:p>
        </p:txBody>
      </p:sp>
      <p:sp>
        <p:nvSpPr>
          <p:cNvPr id="3" name="Content Placeholder 2">
            <a:extLst>
              <a:ext uri="{FF2B5EF4-FFF2-40B4-BE49-F238E27FC236}">
                <a16:creationId xmlns="" xmlns:a16="http://schemas.microsoft.com/office/drawing/2014/main" id="{D840057A-4361-4442-B19A-1118EE613CA8}"/>
              </a:ext>
            </a:extLst>
          </p:cNvPr>
          <p:cNvSpPr>
            <a:spLocks noGrp="1"/>
          </p:cNvSpPr>
          <p:nvPr>
            <p:ph idx="1"/>
          </p:nvPr>
        </p:nvSpPr>
        <p:spPr/>
        <p:txBody>
          <a:bodyPr/>
          <a:lstStyle/>
          <a:p>
            <a:r>
              <a:rPr lang="en-US" dirty="0"/>
              <a:t>you should act only on moral rules that you can imagine everyone else following without deriving a logical contradiction.</a:t>
            </a:r>
          </a:p>
          <a:p>
            <a:r>
              <a:rPr lang="en-US" altLang="en-US" dirty="0"/>
              <a:t>When evaluating a proposed action, reverse roles</a:t>
            </a:r>
          </a:p>
          <a:p>
            <a:r>
              <a:rPr lang="en-US" altLang="en-US" dirty="0"/>
              <a:t>What would you think if that person did the same thing to you?</a:t>
            </a:r>
          </a:p>
          <a:p>
            <a:r>
              <a:rPr lang="en-US" altLang="en-US" dirty="0"/>
              <a:t>If you have a negative reaction</a:t>
            </a:r>
            <a:r>
              <a:rPr lang="en-US" altLang="en-US" dirty="0">
                <a:sym typeface="Symbol" panose="05050102010706020507" pitchFamily="18" charset="2"/>
              </a:rPr>
              <a:t> </a:t>
            </a:r>
            <a:r>
              <a:rPr lang="en-US" altLang="en-US" dirty="0"/>
              <a:t>evidence that your will to do that action violates the Categorical Imperative</a:t>
            </a:r>
          </a:p>
          <a:p>
            <a:endParaRPr lang="en-ZA" dirty="0"/>
          </a:p>
        </p:txBody>
      </p:sp>
    </p:spTree>
    <p:extLst>
      <p:ext uri="{BB962C8B-B14F-4D97-AF65-F5344CB8AC3E}">
        <p14:creationId xmlns:p14="http://schemas.microsoft.com/office/powerpoint/2010/main" val="1461671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E52D37-FF67-4D7B-96D7-9CF5D4592005}"/>
              </a:ext>
            </a:extLst>
          </p:cNvPr>
          <p:cNvSpPr>
            <a:spLocks noGrp="1"/>
          </p:cNvSpPr>
          <p:nvPr>
            <p:ph type="title"/>
          </p:nvPr>
        </p:nvSpPr>
        <p:spPr/>
        <p:txBody>
          <a:bodyPr/>
          <a:lstStyle/>
          <a:p>
            <a:pPr algn="ctr"/>
            <a:r>
              <a:rPr lang="en-ZA" dirty="0"/>
              <a:t>Categorical Imperative </a:t>
            </a:r>
            <a:r>
              <a:rPr lang="en-ZA" dirty="0" smtClean="0"/>
              <a:t/>
            </a:r>
            <a:br>
              <a:rPr lang="en-ZA" dirty="0" smtClean="0"/>
            </a:br>
            <a:r>
              <a:rPr lang="en-ZA" dirty="0" smtClean="0"/>
              <a:t>(</a:t>
            </a:r>
            <a:r>
              <a:rPr lang="en-ZA" dirty="0"/>
              <a:t>Second Formulation)</a:t>
            </a:r>
          </a:p>
        </p:txBody>
      </p:sp>
      <p:sp>
        <p:nvSpPr>
          <p:cNvPr id="3" name="Content Placeholder 2">
            <a:extLst>
              <a:ext uri="{FF2B5EF4-FFF2-40B4-BE49-F238E27FC236}">
                <a16:creationId xmlns="" xmlns:a16="http://schemas.microsoft.com/office/drawing/2014/main" id="{F2866B37-3DE3-444F-A66F-1CB57DAD636C}"/>
              </a:ext>
            </a:extLst>
          </p:cNvPr>
          <p:cNvSpPr>
            <a:spLocks noGrp="1"/>
          </p:cNvSpPr>
          <p:nvPr>
            <p:ph idx="1"/>
          </p:nvPr>
        </p:nvSpPr>
        <p:spPr/>
        <p:txBody>
          <a:bodyPr/>
          <a:lstStyle/>
          <a:p>
            <a:r>
              <a:rPr lang="en-US" altLang="en-US" dirty="0"/>
              <a:t>Act so that you treat both yourself and other people as ends in themselves and never only as a means to an end.</a:t>
            </a:r>
          </a:p>
          <a:p>
            <a:r>
              <a:rPr lang="en-US" dirty="0"/>
              <a:t>every interaction with other people must give them the dignity and respect they deserve as autonomous, rational beings.</a:t>
            </a:r>
          </a:p>
          <a:p>
            <a:r>
              <a:rPr lang="en-US" dirty="0"/>
              <a:t>Kantian analysis of the moral problem focuses on the </a:t>
            </a:r>
            <a:r>
              <a:rPr lang="en-ZA" dirty="0"/>
              <a:t>will behind the action</a:t>
            </a:r>
          </a:p>
          <a:p>
            <a:r>
              <a:rPr lang="en-US" dirty="0"/>
              <a:t>The analysis ignores extenuating circumstances that non-Kantians may cite to justify an action</a:t>
            </a:r>
            <a:endParaRPr lang="en-US" altLang="en-US" dirty="0"/>
          </a:p>
          <a:p>
            <a:endParaRPr lang="en-ZA" dirty="0"/>
          </a:p>
        </p:txBody>
      </p:sp>
    </p:spTree>
    <p:extLst>
      <p:ext uri="{BB962C8B-B14F-4D97-AF65-F5344CB8AC3E}">
        <p14:creationId xmlns:p14="http://schemas.microsoft.com/office/powerpoint/2010/main" val="1782239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293069" y="274557"/>
            <a:ext cx="8317531" cy="6081793"/>
          </a:xfrm>
          <a:prstGeom prst="rect">
            <a:avLst/>
          </a:prstGeom>
        </p:spPr>
      </p:pic>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16</a:t>
            </a:fld>
            <a:endParaRPr lang="en-US"/>
          </a:p>
        </p:txBody>
      </p:sp>
    </p:spTree>
    <p:extLst>
      <p:ext uri="{BB962C8B-B14F-4D97-AF65-F5344CB8AC3E}">
        <p14:creationId xmlns:p14="http://schemas.microsoft.com/office/powerpoint/2010/main" val="8046292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120" y="945932"/>
            <a:ext cx="7958959" cy="4228005"/>
          </a:xfrm>
        </p:spPr>
        <p:txBody>
          <a:bodyPr/>
          <a:lstStyle/>
          <a:p>
            <a:r>
              <a:rPr lang="en-US" altLang="en-US" sz="4400" dirty="0"/>
              <a:t>Act </a:t>
            </a:r>
            <a:r>
              <a:rPr lang="en-US" altLang="en-US" sz="4400" dirty="0" err="1"/>
              <a:t>Utilitarianism:</a:t>
            </a:r>
            <a:r>
              <a:rPr lang="en-US" dirty="0" err="1"/>
              <a:t>The</a:t>
            </a:r>
            <a:r>
              <a:rPr lang="en-US" sz="4400" dirty="0"/>
              <a:t> </a:t>
            </a:r>
            <a:r>
              <a:rPr lang="en-US" dirty="0"/>
              <a:t>English philosophers Jeremy Bentham (1748–1832) and John Stuart Mill (1806–1873) proposed a theory that is in sharp contrast to </a:t>
            </a:r>
            <a:r>
              <a:rPr lang="en-US" sz="3200" b="1" dirty="0"/>
              <a:t>Kantianism.</a:t>
            </a:r>
            <a:endParaRPr lang="en-US" b="1" dirty="0"/>
          </a:p>
          <a:p>
            <a:endParaRPr lang="en-US" b="1" dirty="0" smtClean="0"/>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17</a:t>
            </a:fld>
            <a:endParaRPr lang="en-US"/>
          </a:p>
        </p:txBody>
      </p:sp>
    </p:spTree>
    <p:extLst>
      <p:ext uri="{BB962C8B-B14F-4D97-AF65-F5344CB8AC3E}">
        <p14:creationId xmlns:p14="http://schemas.microsoft.com/office/powerpoint/2010/main" val="1553712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8804366" cy="1325563"/>
          </a:xfrm>
        </p:spPr>
        <p:txBody>
          <a:bodyPr>
            <a:normAutofit/>
          </a:bodyPr>
          <a:lstStyle/>
          <a:p>
            <a:r>
              <a:rPr lang="en-US" altLang="en-US" b="1" dirty="0"/>
              <a:t>Act </a:t>
            </a:r>
            <a:r>
              <a:rPr lang="en-US" altLang="en-US" b="1" dirty="0" smtClean="0"/>
              <a:t>Utilitarianism:</a:t>
            </a:r>
            <a:endParaRPr lang="en-US" sz="4000" b="1" dirty="0"/>
          </a:p>
        </p:txBody>
      </p:sp>
      <p:sp>
        <p:nvSpPr>
          <p:cNvPr id="3" name="Content Placeholder 2"/>
          <p:cNvSpPr>
            <a:spLocks noGrp="1"/>
          </p:cNvSpPr>
          <p:nvPr>
            <p:ph idx="1"/>
          </p:nvPr>
        </p:nvSpPr>
        <p:spPr/>
        <p:txBody>
          <a:bodyPr>
            <a:normAutofit lnSpcReduction="10000"/>
          </a:bodyPr>
          <a:lstStyle/>
          <a:p>
            <a:pPr marL="0" indent="0">
              <a:buNone/>
            </a:pPr>
            <a:r>
              <a:rPr lang="en-US" altLang="en-US" b="1" u="sng" dirty="0"/>
              <a:t>Principle of </a:t>
            </a:r>
            <a:r>
              <a:rPr lang="en-US" altLang="en-US" b="1" u="sng" dirty="0" smtClean="0"/>
              <a:t>Utility</a:t>
            </a:r>
          </a:p>
          <a:p>
            <a:r>
              <a:rPr lang="en-US" altLang="en-US" b="1" dirty="0">
                <a:solidFill>
                  <a:srgbClr val="FF0000"/>
                </a:solidFill>
              </a:rPr>
              <a:t>An action is good if its </a:t>
            </a:r>
            <a:r>
              <a:rPr lang="en-US" altLang="en-US" b="1" u="sng" dirty="0">
                <a:solidFill>
                  <a:srgbClr val="FF0000"/>
                </a:solidFill>
              </a:rPr>
              <a:t>benefits exceeds </a:t>
            </a:r>
            <a:r>
              <a:rPr lang="en-US" altLang="en-US" b="1" dirty="0">
                <a:solidFill>
                  <a:srgbClr val="FF0000"/>
                </a:solidFill>
              </a:rPr>
              <a:t>its harms</a:t>
            </a:r>
          </a:p>
          <a:p>
            <a:r>
              <a:rPr lang="en-US" altLang="en-US" dirty="0"/>
              <a:t>An action is bad if its harms exceed its benefits</a:t>
            </a:r>
          </a:p>
          <a:p>
            <a:r>
              <a:rPr lang="en-US" altLang="en-US" dirty="0"/>
              <a:t>Utility: tendency of an object to produce happiness or prevent unhappiness for an individual or a community</a:t>
            </a:r>
          </a:p>
          <a:p>
            <a:r>
              <a:rPr lang="en-US" altLang="en-US" dirty="0"/>
              <a:t>Happiness = advantage = benefit = good = pleasure</a:t>
            </a:r>
          </a:p>
          <a:p>
            <a:r>
              <a:rPr lang="en-US" altLang="en-US" dirty="0"/>
              <a:t>Unhappiness = disadvantage = cost = evil = </a:t>
            </a:r>
            <a:r>
              <a:rPr lang="en-US" altLang="en-US" dirty="0" smtClean="0"/>
              <a:t>pain</a:t>
            </a:r>
          </a:p>
          <a:p>
            <a:pPr marL="0" indent="0">
              <a:buNone/>
            </a:pPr>
            <a:r>
              <a:rPr lang="en-US" altLang="en-US" b="1" dirty="0">
                <a:solidFill>
                  <a:srgbClr val="FF0000"/>
                </a:solidFill>
              </a:rPr>
              <a:t>Conclusion: Overall, a workable ethical theory</a:t>
            </a:r>
          </a:p>
          <a:p>
            <a:pPr marL="0" indent="0">
              <a:buNone/>
            </a:pPr>
            <a:r>
              <a:rPr lang="en-ZA" u="sng" dirty="0">
                <a:hlinkClick r:id="rId2"/>
              </a:rPr>
              <a:t>https://www.youtube.com/watch?v=mL7Pt-NHraU</a:t>
            </a:r>
            <a:endParaRPr lang="en-ZA" dirty="0"/>
          </a:p>
          <a:p>
            <a:pPr marL="0" indent="0">
              <a:buNone/>
            </a:pPr>
            <a:endParaRPr lang="en-US" altLang="en-US" dirty="0"/>
          </a:p>
          <a:p>
            <a:pPr marL="0" indent="0">
              <a:buNone/>
            </a:pPr>
            <a:endParaRPr lang="en-US" dirty="0"/>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18</a:t>
            </a:fld>
            <a:endParaRPr lang="en-US"/>
          </a:p>
        </p:txBody>
      </p:sp>
    </p:spTree>
    <p:extLst>
      <p:ext uri="{BB962C8B-B14F-4D97-AF65-F5344CB8AC3E}">
        <p14:creationId xmlns:p14="http://schemas.microsoft.com/office/powerpoint/2010/main" val="3925291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altLang="en-US" dirty="0"/>
              <a:t>Principle of </a:t>
            </a:r>
            <a:r>
              <a:rPr lang="en-US" altLang="en-US" dirty="0" smtClean="0"/>
              <a:t>Utility</a:t>
            </a:r>
            <a:endParaRPr lang="en-US" sz="2000" dirty="0"/>
          </a:p>
        </p:txBody>
      </p:sp>
      <p:pic>
        <p:nvPicPr>
          <p:cNvPr id="4" name="Picture 2" descr="On a set of scales, benefits are stacked on one scale, and harms are stacked on the other. Benefits outweigh harms, so, a gauge in the middle of the scales points to, goo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228" y="1295400"/>
            <a:ext cx="73152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16583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3"/>
          <p:cNvSpPr txBox="1">
            <a:spLocks noGrp="1"/>
          </p:cNvSpPr>
          <p:nvPr>
            <p:ph type="title"/>
          </p:nvPr>
        </p:nvSpPr>
        <p:spPr>
          <a:xfrm>
            <a:off x="329343" y="155576"/>
            <a:ext cx="8392953" cy="721800"/>
          </a:xfrm>
          <a:prstGeom prst="rect">
            <a:avLst/>
          </a:prstGeom>
        </p:spPr>
        <p:txBody>
          <a:bodyPr spcFirstLastPara="1" vert="horz" wrap="square" lIns="0" tIns="0" rIns="0" bIns="0" rtlCol="0" anchor="t" anchorCtr="0">
            <a:noAutofit/>
          </a:bodyPr>
          <a:lstStyle/>
          <a:p>
            <a:pPr lvl="0"/>
            <a:r>
              <a:rPr lang="en-US" sz="4800" b="1" dirty="0"/>
              <a:t>Topics to be covered </a:t>
            </a:r>
            <a:endParaRPr sz="4800" b="1" dirty="0"/>
          </a:p>
        </p:txBody>
      </p:sp>
      <p:pic>
        <p:nvPicPr>
          <p:cNvPr id="2" name="Picture 1"/>
          <p:cNvPicPr>
            <a:picLocks noChangeAspect="1"/>
          </p:cNvPicPr>
          <p:nvPr/>
        </p:nvPicPr>
        <p:blipFill>
          <a:blip r:embed="rId3"/>
          <a:stretch>
            <a:fillRect/>
          </a:stretch>
        </p:blipFill>
        <p:spPr>
          <a:xfrm>
            <a:off x="4930072" y="2087040"/>
            <a:ext cx="4072481" cy="2840982"/>
          </a:xfrm>
          <a:prstGeom prst="rect">
            <a:avLst/>
          </a:prstGeom>
        </p:spPr>
      </p:pic>
      <p:sp>
        <p:nvSpPr>
          <p:cNvPr id="344" name="Google Shape;344;p13"/>
          <p:cNvSpPr txBox="1">
            <a:spLocks noGrp="1"/>
          </p:cNvSpPr>
          <p:nvPr>
            <p:ph type="body" idx="2"/>
          </p:nvPr>
        </p:nvSpPr>
        <p:spPr>
          <a:xfrm>
            <a:off x="329343" y="877377"/>
            <a:ext cx="8673210" cy="5260310"/>
          </a:xfrm>
          <a:prstGeom prst="rect">
            <a:avLst/>
          </a:prstGeom>
        </p:spPr>
        <p:txBody>
          <a:bodyPr spcFirstLastPara="1" vert="horz" wrap="square" lIns="0" tIns="0" rIns="0" bIns="0" rtlCol="0" anchor="t" anchorCtr="0">
            <a:noAutofit/>
          </a:bodyPr>
          <a:lstStyle/>
          <a:p>
            <a:pPr marL="0" indent="0">
              <a:buClr>
                <a:schemeClr val="dk1"/>
              </a:buClr>
              <a:buSzPts val="1100"/>
              <a:buNone/>
            </a:pPr>
            <a:r>
              <a:rPr lang="en-US" sz="2800" b="1" dirty="0" smtClean="0"/>
              <a:t>Ethics</a:t>
            </a:r>
          </a:p>
          <a:p>
            <a:pPr marL="0" indent="0">
              <a:buClr>
                <a:schemeClr val="dk1"/>
              </a:buClr>
              <a:buSzPts val="1100"/>
              <a:buNone/>
            </a:pPr>
            <a:r>
              <a:rPr lang="en-US" sz="2800" b="1" dirty="0" smtClean="0"/>
              <a:t>Ethical Theories</a:t>
            </a:r>
          </a:p>
          <a:p>
            <a:pPr marL="285750" indent="-285750">
              <a:buClr>
                <a:schemeClr val="dk1"/>
              </a:buClr>
              <a:buSzPts val="1100"/>
            </a:pPr>
            <a:r>
              <a:rPr lang="en-US" b="1" dirty="0" smtClean="0">
                <a:solidFill>
                  <a:srgbClr val="FF0000"/>
                </a:solidFill>
              </a:rPr>
              <a:t>Subjective Relativism</a:t>
            </a:r>
          </a:p>
          <a:p>
            <a:pPr marL="285750" indent="-285750">
              <a:buClr>
                <a:schemeClr val="dk1"/>
              </a:buClr>
              <a:buSzPts val="1100"/>
            </a:pPr>
            <a:r>
              <a:rPr lang="en-US" b="1" dirty="0">
                <a:solidFill>
                  <a:srgbClr val="FF0000"/>
                </a:solidFill>
              </a:rPr>
              <a:t>Cultural </a:t>
            </a:r>
            <a:r>
              <a:rPr lang="en-US" b="1" dirty="0" smtClean="0">
                <a:solidFill>
                  <a:srgbClr val="FF0000"/>
                </a:solidFill>
              </a:rPr>
              <a:t>Relativism</a:t>
            </a:r>
          </a:p>
          <a:p>
            <a:pPr marL="285750" indent="-285750">
              <a:buClr>
                <a:schemeClr val="dk1"/>
              </a:buClr>
              <a:buSzPts val="1100"/>
            </a:pPr>
            <a:r>
              <a:rPr lang="en-US" b="1" dirty="0">
                <a:solidFill>
                  <a:srgbClr val="FF0000"/>
                </a:solidFill>
              </a:rPr>
              <a:t>Divine Command </a:t>
            </a:r>
            <a:r>
              <a:rPr lang="en-US" b="1" dirty="0" smtClean="0">
                <a:solidFill>
                  <a:srgbClr val="FF0000"/>
                </a:solidFill>
              </a:rPr>
              <a:t>Theory</a:t>
            </a:r>
          </a:p>
          <a:p>
            <a:pPr marL="285750" indent="-285750">
              <a:buClr>
                <a:schemeClr val="dk1"/>
              </a:buClr>
              <a:buSzPts val="1100"/>
            </a:pPr>
            <a:r>
              <a:rPr lang="en-US" b="1" dirty="0">
                <a:solidFill>
                  <a:srgbClr val="FF0000"/>
                </a:solidFill>
              </a:rPr>
              <a:t>Ethical egoism</a:t>
            </a:r>
          </a:p>
          <a:p>
            <a:pPr marL="285750" indent="-285750">
              <a:buClr>
                <a:schemeClr val="dk1"/>
              </a:buClr>
              <a:buSzPts val="1100"/>
            </a:pPr>
            <a:r>
              <a:rPr lang="en-US" b="1" dirty="0" smtClean="0">
                <a:solidFill>
                  <a:srgbClr val="FF0000"/>
                </a:solidFill>
              </a:rPr>
              <a:t>Kantianism</a:t>
            </a:r>
          </a:p>
          <a:p>
            <a:pPr marL="285750" indent="-285750">
              <a:buClr>
                <a:schemeClr val="dk1"/>
              </a:buClr>
              <a:buSzPts val="1100"/>
            </a:pPr>
            <a:r>
              <a:rPr lang="en-US" b="1" dirty="0">
                <a:solidFill>
                  <a:srgbClr val="FF0000"/>
                </a:solidFill>
              </a:rPr>
              <a:t>Act utilitarianism</a:t>
            </a:r>
          </a:p>
          <a:p>
            <a:pPr marL="285750" indent="-285750">
              <a:buClr>
                <a:schemeClr val="dk1"/>
              </a:buClr>
              <a:buSzPts val="1100"/>
            </a:pPr>
            <a:r>
              <a:rPr lang="en-US" b="1" dirty="0" smtClean="0"/>
              <a:t>Rule </a:t>
            </a:r>
            <a:r>
              <a:rPr lang="en-US" b="1" dirty="0"/>
              <a:t>utilitarianism</a:t>
            </a:r>
          </a:p>
          <a:p>
            <a:pPr marL="285750" indent="-285750">
              <a:buClr>
                <a:schemeClr val="dk1"/>
              </a:buClr>
              <a:buSzPts val="1100"/>
            </a:pPr>
            <a:r>
              <a:rPr lang="en-US" b="1" dirty="0" smtClean="0"/>
              <a:t>Social </a:t>
            </a:r>
            <a:r>
              <a:rPr lang="en-US" b="1" dirty="0"/>
              <a:t>contract theory</a:t>
            </a:r>
          </a:p>
          <a:p>
            <a:pPr marL="285750" indent="-285750">
              <a:buClr>
                <a:schemeClr val="dk1"/>
              </a:buClr>
              <a:buSzPts val="1100"/>
            </a:pPr>
            <a:r>
              <a:rPr lang="en-US" b="1" dirty="0" smtClean="0"/>
              <a:t>Virtue </a:t>
            </a:r>
            <a:r>
              <a:rPr lang="en-US" b="1" dirty="0"/>
              <a:t>ethics</a:t>
            </a:r>
          </a:p>
          <a:p>
            <a:pPr marL="285750" indent="-285750">
              <a:buClr>
                <a:schemeClr val="dk1"/>
              </a:buClr>
              <a:buSzPts val="1100"/>
            </a:pPr>
            <a:r>
              <a:rPr lang="en-US" b="1" dirty="0" smtClean="0"/>
              <a:t>Comparing </a:t>
            </a:r>
            <a:r>
              <a:rPr lang="en-US" b="1" dirty="0"/>
              <a:t>workable ethical theories</a:t>
            </a:r>
          </a:p>
          <a:p>
            <a:pPr marL="285750" indent="-285750">
              <a:buClr>
                <a:schemeClr val="dk1"/>
              </a:buClr>
              <a:buSzPts val="1100"/>
            </a:pPr>
            <a:r>
              <a:rPr lang="en-US" b="1" dirty="0" smtClean="0"/>
              <a:t>Morality </a:t>
            </a:r>
            <a:r>
              <a:rPr lang="en-US" b="1" dirty="0"/>
              <a:t>of breaking the law</a:t>
            </a:r>
          </a:p>
          <a:p>
            <a:pPr marL="285750" indent="-285750">
              <a:buClr>
                <a:schemeClr val="dk1"/>
              </a:buClr>
              <a:buSzPts val="1100"/>
            </a:pPr>
            <a:endParaRPr lang="en-US" sz="2000" b="1" dirty="0"/>
          </a:p>
          <a:p>
            <a:pPr marL="285750" indent="-285750">
              <a:buClr>
                <a:schemeClr val="dk1"/>
              </a:buClr>
              <a:buSzPts val="1100"/>
            </a:pPr>
            <a:endParaRPr sz="2000" b="1" dirty="0"/>
          </a:p>
        </p:txBody>
      </p:sp>
      <p:sp>
        <p:nvSpPr>
          <p:cNvPr id="347" name="Google Shape;347;p13"/>
          <p:cNvSpPr txBox="1">
            <a:spLocks noGrp="1"/>
          </p:cNvSpPr>
          <p:nvPr>
            <p:ph type="sldNum" idx="12"/>
          </p:nvPr>
        </p:nvSpPr>
        <p:spPr>
          <a:xfrm>
            <a:off x="11532033" y="6182333"/>
            <a:ext cx="609200" cy="624800"/>
          </a:xfrm>
          <a:prstGeom prst="rect">
            <a:avLst/>
          </a:prstGeom>
        </p:spPr>
        <p:txBody>
          <a:bodyPr spcFirstLastPara="1" vert="horz" wrap="square" lIns="0" tIns="0" rIns="0" bIns="0" rtlCol="0" anchor="b" anchorCtr="0">
            <a:noAutofit/>
          </a:bodyPr>
          <a:lstStyle/>
          <a:p>
            <a:fld id="{00000000-1234-1234-1234-123412341234}" type="slidenum">
              <a:rPr lang="en"/>
              <a:pPr/>
              <a:t>20</a:t>
            </a:fld>
            <a:endParaRPr/>
          </a:p>
        </p:txBody>
      </p:sp>
    </p:spTree>
    <p:extLst>
      <p:ext uri="{BB962C8B-B14F-4D97-AF65-F5344CB8AC3E}">
        <p14:creationId xmlns:p14="http://schemas.microsoft.com/office/powerpoint/2010/main" val="26547563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1628" y="195942"/>
            <a:ext cx="8240486" cy="6160408"/>
          </a:xfrm>
        </p:spPr>
        <p:txBody>
          <a:bodyPr>
            <a:normAutofit fontScale="92500" lnSpcReduction="10000"/>
          </a:bodyPr>
          <a:lstStyle/>
          <a:p>
            <a:pPr marL="0" indent="0">
              <a:buNone/>
            </a:pPr>
            <a:r>
              <a:rPr lang="en-US" b="1" u="sng" dirty="0"/>
              <a:t>Rule utilitarianism </a:t>
            </a:r>
            <a:endParaRPr lang="en-US" b="1" u="sng" dirty="0" smtClean="0"/>
          </a:p>
          <a:p>
            <a:pPr marL="0" indent="0">
              <a:buNone/>
            </a:pPr>
            <a:r>
              <a:rPr lang="en-US" dirty="0" smtClean="0"/>
              <a:t>Is </a:t>
            </a:r>
            <a:r>
              <a:rPr lang="en-US" dirty="0"/>
              <a:t>the ethical theory that holds that we ought to adopt those moral rules that, </a:t>
            </a:r>
            <a:r>
              <a:rPr lang="en-US" dirty="0" err="1" smtClean="0"/>
              <a:t>o</a:t>
            </a:r>
            <a:r>
              <a:rPr lang="en-US" u="sng" dirty="0" err="1" smtClean="0">
                <a:solidFill>
                  <a:srgbClr val="0070C0"/>
                </a:solidFill>
              </a:rPr>
              <a:t>if</a:t>
            </a:r>
            <a:r>
              <a:rPr lang="en-US" u="sng" dirty="0" smtClean="0">
                <a:solidFill>
                  <a:srgbClr val="0070C0"/>
                </a:solidFill>
              </a:rPr>
              <a:t> </a:t>
            </a:r>
            <a:r>
              <a:rPr lang="en-US" u="sng" dirty="0">
                <a:solidFill>
                  <a:srgbClr val="0070C0"/>
                </a:solidFill>
              </a:rPr>
              <a:t>followed by everyone, lead to the greatest increase in total happiness </a:t>
            </a:r>
            <a:r>
              <a:rPr lang="en-US" dirty="0" err="1" smtClean="0"/>
              <a:t>ver</a:t>
            </a:r>
            <a:r>
              <a:rPr lang="en-US" dirty="0" smtClean="0"/>
              <a:t> </a:t>
            </a:r>
            <a:r>
              <a:rPr lang="en-US" dirty="0"/>
              <a:t>all affected parties</a:t>
            </a:r>
            <a:r>
              <a:rPr lang="en-US" dirty="0" smtClean="0"/>
              <a:t>.</a:t>
            </a:r>
          </a:p>
          <a:p>
            <a:pPr marL="0" indent="0">
              <a:buNone/>
            </a:pPr>
            <a:r>
              <a:rPr lang="en-US" altLang="en-US" dirty="0">
                <a:solidFill>
                  <a:srgbClr val="FF0000"/>
                </a:solidFill>
              </a:rPr>
              <a:t>Conclusion: Despite weaknesses, both act utilitarianism and rule utilitarianism are workable ethical theories</a:t>
            </a:r>
          </a:p>
          <a:p>
            <a:pPr marL="0" indent="0">
              <a:buNone/>
            </a:pPr>
            <a:r>
              <a:rPr lang="en-ZA" u="sng" dirty="0" smtClean="0">
                <a:hlinkClick r:id="rId2"/>
              </a:rPr>
              <a:t>https</a:t>
            </a:r>
            <a:r>
              <a:rPr lang="en-ZA" u="sng" dirty="0">
                <a:hlinkClick r:id="rId2"/>
              </a:rPr>
              <a:t>://</a:t>
            </a:r>
            <a:r>
              <a:rPr lang="en-ZA" u="sng" dirty="0" smtClean="0">
                <a:hlinkClick r:id="rId2"/>
              </a:rPr>
              <a:t>youtu.be/d1R1X9sV9YQ</a:t>
            </a:r>
            <a:endParaRPr lang="en-ZA" u="sng" dirty="0" smtClean="0"/>
          </a:p>
          <a:p>
            <a:pPr marL="0" indent="0">
              <a:buNone/>
            </a:pPr>
            <a:r>
              <a:rPr lang="en-ZA" b="1" u="sng" dirty="0"/>
              <a:t>Social Contract Theory</a:t>
            </a:r>
          </a:p>
          <a:p>
            <a:pPr marL="0" indent="0">
              <a:buNone/>
            </a:pPr>
            <a:r>
              <a:rPr lang="en-US" dirty="0"/>
              <a:t>Social contract theory says that people live together in society in accordance with an </a:t>
            </a:r>
            <a:r>
              <a:rPr lang="en-US" u="sng" dirty="0"/>
              <a:t>agreement that establishes </a:t>
            </a:r>
            <a:r>
              <a:rPr lang="en-US" dirty="0"/>
              <a:t>moral and political rules of behavior. </a:t>
            </a:r>
          </a:p>
          <a:p>
            <a:pPr marL="0" indent="0">
              <a:buNone/>
            </a:pPr>
            <a:r>
              <a:rPr lang="en-US" dirty="0"/>
              <a:t>Hobbes, Locke, and many other philosophers of the seventeenth and eighteenth centuries held that all morally significant beings have certain rights, such as the right to life, liberty, and property</a:t>
            </a:r>
            <a:r>
              <a:rPr lang="en-US" dirty="0" smtClean="0"/>
              <a:t>.</a:t>
            </a:r>
          </a:p>
          <a:p>
            <a:pPr marL="0" indent="0">
              <a:buNone/>
            </a:pPr>
            <a:r>
              <a:rPr lang="en-ZA"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3"/>
              </a:rPr>
              <a:t>https://youtu.be/UY3aMtMkoEU</a:t>
            </a:r>
            <a:endParaRPr lang="en-ZA" dirty="0"/>
          </a:p>
          <a:p>
            <a:pPr marL="0" indent="0">
              <a:buNone/>
            </a:pPr>
            <a:endParaRPr lang="en-US" dirty="0"/>
          </a:p>
          <a:p>
            <a:pPr marL="0" indent="0">
              <a:buNone/>
            </a:pPr>
            <a:endParaRPr lang="en-US" dirty="0"/>
          </a:p>
          <a:p>
            <a:endParaRPr lang="en-US" altLang="en-US" dirty="0"/>
          </a:p>
          <a:p>
            <a:pPr marL="0" indent="0">
              <a:buNone/>
            </a:pPr>
            <a:endParaRPr lang="en-US" altLang="en-US" b="1" u="sng" dirty="0" smtClean="0"/>
          </a:p>
          <a:p>
            <a:endParaRPr lang="en-US" altLang="en-US" dirty="0"/>
          </a:p>
          <a:p>
            <a:pPr marL="0" indent="0">
              <a:buNone/>
            </a:pPr>
            <a:endParaRPr lang="en-US" b="1" u="sng" dirty="0"/>
          </a:p>
          <a:p>
            <a:endParaRPr lang="en-US" dirty="0"/>
          </a:p>
          <a:p>
            <a:endParaRPr lang="en-US" dirty="0"/>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21</a:t>
            </a:fld>
            <a:endParaRPr lang="en-US"/>
          </a:p>
        </p:txBody>
      </p:sp>
    </p:spTree>
    <p:extLst>
      <p:ext uri="{BB962C8B-B14F-4D97-AF65-F5344CB8AC3E}">
        <p14:creationId xmlns:p14="http://schemas.microsoft.com/office/powerpoint/2010/main" val="4178495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5124"/>
            <a:ext cx="7966166" cy="1325563"/>
          </a:xfrm>
        </p:spPr>
        <p:txBody>
          <a:bodyPr/>
          <a:lstStyle/>
          <a:p>
            <a:r>
              <a:rPr lang="en-US" b="1" dirty="0"/>
              <a:t>Rights and Duties</a:t>
            </a:r>
          </a:p>
        </p:txBody>
      </p:sp>
      <p:pic>
        <p:nvPicPr>
          <p:cNvPr id="7" name="Content Placeholder 6"/>
          <p:cNvPicPr>
            <a:picLocks noGrp="1" noChangeAspect="1"/>
          </p:cNvPicPr>
          <p:nvPr>
            <p:ph idx="1"/>
          </p:nvPr>
        </p:nvPicPr>
        <p:blipFill>
          <a:blip r:embed="rId2"/>
          <a:stretch>
            <a:fillRect/>
          </a:stretch>
        </p:blipFill>
        <p:spPr>
          <a:xfrm>
            <a:off x="926144" y="2220687"/>
            <a:ext cx="10339712" cy="3179428"/>
          </a:xfrm>
          <a:prstGeom prst="rect">
            <a:avLst/>
          </a:prstGeom>
        </p:spPr>
      </p:pic>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22</a:t>
            </a:fld>
            <a:endParaRPr lang="en-US"/>
          </a:p>
        </p:txBody>
      </p:sp>
    </p:spTree>
    <p:extLst>
      <p:ext uri="{BB962C8B-B14F-4D97-AF65-F5344CB8AC3E}">
        <p14:creationId xmlns:p14="http://schemas.microsoft.com/office/powerpoint/2010/main" val="3088445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Virtue Ethics</a:t>
            </a:r>
          </a:p>
        </p:txBody>
      </p:sp>
      <p:sp>
        <p:nvSpPr>
          <p:cNvPr id="3" name="Content Placeholder 2"/>
          <p:cNvSpPr>
            <a:spLocks noGrp="1"/>
          </p:cNvSpPr>
          <p:nvPr>
            <p:ph idx="1"/>
          </p:nvPr>
        </p:nvSpPr>
        <p:spPr/>
        <p:txBody>
          <a:bodyPr>
            <a:normAutofit lnSpcReduction="10000"/>
          </a:bodyPr>
          <a:lstStyle/>
          <a:p>
            <a:r>
              <a:rPr lang="en-US" dirty="0"/>
              <a:t>Virtue ethics is </a:t>
            </a:r>
            <a:r>
              <a:rPr lang="en-US" b="1" dirty="0"/>
              <a:t>person rather than action based</a:t>
            </a:r>
            <a:r>
              <a:rPr lang="en-US" dirty="0"/>
              <a:t>: it looks at the virtue or moral character of the person carrying out an action, rather than at ethical duties and rules, or the consequences of particular actions. ... A good person is someone </a:t>
            </a:r>
            <a:r>
              <a:rPr lang="en-US" u="sng" dirty="0"/>
              <a:t>who lives virtuously </a:t>
            </a:r>
            <a:r>
              <a:rPr lang="en-US" dirty="0"/>
              <a:t>- who possesses and lives the virtues</a:t>
            </a:r>
            <a:r>
              <a:rPr lang="en-US" dirty="0" smtClean="0"/>
              <a:t>.(Google)</a:t>
            </a:r>
          </a:p>
          <a:p>
            <a:r>
              <a:rPr lang="en-US" dirty="0"/>
              <a:t>A good person does “the </a:t>
            </a:r>
            <a:r>
              <a:rPr lang="en-US" u="sng" dirty="0"/>
              <a:t>right thing at the right </a:t>
            </a:r>
            <a:r>
              <a:rPr lang="en-US" dirty="0"/>
              <a:t>time for the right reason</a:t>
            </a:r>
            <a:r>
              <a:rPr lang="en-US" dirty="0" smtClean="0"/>
              <a:t>”(Virtue Analysis)</a:t>
            </a:r>
            <a:endParaRPr lang="en-US" dirty="0"/>
          </a:p>
          <a:p>
            <a:r>
              <a:rPr lang="en-US" dirty="0" smtClean="0"/>
              <a:t>Two </a:t>
            </a:r>
            <a:r>
              <a:rPr lang="en-US" dirty="0"/>
              <a:t>types of virtues:</a:t>
            </a:r>
          </a:p>
          <a:p>
            <a:pPr lvl="1"/>
            <a:r>
              <a:rPr lang="en-US" altLang="en-US" dirty="0"/>
              <a:t>intellectual virtues: virtues associated with </a:t>
            </a:r>
            <a:r>
              <a:rPr lang="en-US" altLang="en-US" u="sng" dirty="0"/>
              <a:t>reasoning and truth</a:t>
            </a:r>
          </a:p>
          <a:p>
            <a:pPr lvl="1"/>
            <a:r>
              <a:rPr lang="en-US" altLang="en-US" dirty="0"/>
              <a:t>moral virtues: virtues of character (a deep seated character trait, e.g., honesty)</a:t>
            </a:r>
            <a:endParaRPr lang="en-ZA" altLang="en-US" dirty="0"/>
          </a:p>
          <a:p>
            <a:endParaRPr lang="en-US" dirty="0"/>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23</a:t>
            </a:fld>
            <a:endParaRPr lang="en-US"/>
          </a:p>
        </p:txBody>
      </p:sp>
    </p:spTree>
    <p:extLst>
      <p:ext uri="{BB962C8B-B14F-4D97-AF65-F5344CB8AC3E}">
        <p14:creationId xmlns:p14="http://schemas.microsoft.com/office/powerpoint/2010/main" val="7737264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609280" y="248431"/>
            <a:ext cx="8001319" cy="6000990"/>
          </a:xfrm>
          <a:prstGeom prst="rect">
            <a:avLst/>
          </a:prstGeom>
        </p:spPr>
      </p:pic>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24</a:t>
            </a:fld>
            <a:endParaRPr lang="en-US"/>
          </a:p>
        </p:txBody>
      </p:sp>
    </p:spTree>
    <p:extLst>
      <p:ext uri="{BB962C8B-B14F-4D97-AF65-F5344CB8AC3E}">
        <p14:creationId xmlns:p14="http://schemas.microsoft.com/office/powerpoint/2010/main" val="140633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Vices</a:t>
            </a:r>
          </a:p>
        </p:txBody>
      </p:sp>
      <p:sp>
        <p:nvSpPr>
          <p:cNvPr id="3" name="Content Placeholder 2"/>
          <p:cNvSpPr>
            <a:spLocks noGrp="1"/>
          </p:cNvSpPr>
          <p:nvPr>
            <p:ph idx="1"/>
          </p:nvPr>
        </p:nvSpPr>
        <p:spPr/>
        <p:txBody>
          <a:bodyPr/>
          <a:lstStyle/>
          <a:p>
            <a:r>
              <a:rPr lang="en-US" dirty="0"/>
              <a:t>A vice is a character trait that </a:t>
            </a:r>
            <a:r>
              <a:rPr lang="en-US" u="sng" dirty="0"/>
              <a:t>prevents a human being from flourishing</a:t>
            </a:r>
            <a:r>
              <a:rPr lang="en-US" dirty="0"/>
              <a:t> or being truly happy. </a:t>
            </a:r>
          </a:p>
          <a:p>
            <a:pPr marL="0" indent="0">
              <a:buNone/>
            </a:pPr>
            <a:r>
              <a:rPr lang="en-US" dirty="0"/>
              <a:t>Aristotle noticed that in many cases two different vices can be associated with a virtue: one corresponding to </a:t>
            </a:r>
            <a:r>
              <a:rPr lang="en-US" u="sng" dirty="0"/>
              <a:t>an excess </a:t>
            </a:r>
            <a:r>
              <a:rPr lang="en-US" dirty="0"/>
              <a:t>and the other corresponding to a </a:t>
            </a:r>
            <a:r>
              <a:rPr lang="en-US" u="sng" dirty="0"/>
              <a:t>deficiency</a:t>
            </a:r>
            <a:r>
              <a:rPr lang="en-US" dirty="0" smtClean="0"/>
              <a:t>.</a:t>
            </a:r>
          </a:p>
          <a:p>
            <a:pPr marL="0" indent="0">
              <a:buNone/>
            </a:pPr>
            <a:r>
              <a:rPr lang="en-US" dirty="0"/>
              <a:t>Example: The virtue of friendliness is somewhere in between quarrelsomeness (being too critical of what others like or what they want to do) and obsequiousness (giving in too easily and not being critical enough of what others like or what they want to do)</a:t>
            </a:r>
          </a:p>
          <a:p>
            <a:pPr marL="0" indent="0">
              <a:buNone/>
            </a:pPr>
            <a:r>
              <a:rPr lang="en-ZA"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2"/>
              </a:rPr>
              <a:t>https://youtu.be/qs9QiczZvdU</a:t>
            </a:r>
            <a:endParaRPr lang="en-ZA" dirty="0"/>
          </a:p>
          <a:p>
            <a:pPr marL="0" indent="0">
              <a:buNone/>
            </a:pPr>
            <a:endParaRPr lang="en-US" dirty="0"/>
          </a:p>
          <a:p>
            <a:endParaRPr lang="en-US" dirty="0"/>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25</a:t>
            </a:fld>
            <a:endParaRPr lang="en-US"/>
          </a:p>
        </p:txBody>
      </p:sp>
    </p:spTree>
    <p:extLst>
      <p:ext uri="{BB962C8B-B14F-4D97-AF65-F5344CB8AC3E}">
        <p14:creationId xmlns:p14="http://schemas.microsoft.com/office/powerpoint/2010/main" val="1997647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Comparing Ethical Theories</a:t>
            </a:r>
            <a:br>
              <a:rPr lang="en-US" b="1" dirty="0"/>
            </a:br>
            <a:r>
              <a:rPr lang="en-US" b="1" dirty="0"/>
              <a:t>(Potentially Workable Theories)</a:t>
            </a:r>
          </a:p>
        </p:txBody>
      </p:sp>
      <p:pic>
        <p:nvPicPr>
          <p:cNvPr id="7" name="Content Placeholder 6"/>
          <p:cNvPicPr>
            <a:picLocks noGrp="1" noChangeAspect="1"/>
          </p:cNvPicPr>
          <p:nvPr>
            <p:ph idx="1"/>
          </p:nvPr>
        </p:nvPicPr>
        <p:blipFill>
          <a:blip r:embed="rId2"/>
          <a:stretch>
            <a:fillRect/>
          </a:stretch>
        </p:blipFill>
        <p:spPr>
          <a:xfrm>
            <a:off x="137734" y="1851025"/>
            <a:ext cx="9844466" cy="4505325"/>
          </a:xfrm>
          <a:prstGeom prst="rect">
            <a:avLst/>
          </a:prstGeom>
        </p:spPr>
      </p:pic>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26</a:t>
            </a:fld>
            <a:endParaRPr lang="en-US"/>
          </a:p>
        </p:txBody>
      </p:sp>
    </p:spTree>
    <p:extLst>
      <p:ext uri="{BB962C8B-B14F-4D97-AF65-F5344CB8AC3E}">
        <p14:creationId xmlns:p14="http://schemas.microsoft.com/office/powerpoint/2010/main" val="2373157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Workable Ethical Theories</a:t>
            </a:r>
          </a:p>
        </p:txBody>
      </p:sp>
      <p:sp>
        <p:nvSpPr>
          <p:cNvPr id="3" name="Content Placeholder 2"/>
          <p:cNvSpPr>
            <a:spLocks noGrp="1"/>
          </p:cNvSpPr>
          <p:nvPr>
            <p:ph idx="1"/>
          </p:nvPr>
        </p:nvSpPr>
        <p:spPr/>
        <p:txBody>
          <a:bodyPr/>
          <a:lstStyle/>
          <a:p>
            <a:pPr marL="0" indent="0">
              <a:buNone/>
            </a:pPr>
            <a:r>
              <a:rPr lang="en-US" dirty="0"/>
              <a:t>Workable ethical theories</a:t>
            </a:r>
          </a:p>
          <a:p>
            <a:r>
              <a:rPr lang="en-US" dirty="0"/>
              <a:t>Kantianism</a:t>
            </a:r>
          </a:p>
          <a:p>
            <a:r>
              <a:rPr lang="en-US" dirty="0"/>
              <a:t>Act and rule utilitarianism</a:t>
            </a:r>
          </a:p>
          <a:p>
            <a:r>
              <a:rPr lang="en-US" dirty="0"/>
              <a:t>Social contract theory</a:t>
            </a:r>
          </a:p>
          <a:p>
            <a:r>
              <a:rPr lang="en-US" dirty="0"/>
              <a:t>Virtue ethics</a:t>
            </a:r>
          </a:p>
          <a:p>
            <a:endParaRPr lang="en-US" dirty="0"/>
          </a:p>
        </p:txBody>
      </p:sp>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27</a:t>
            </a:fld>
            <a:endParaRPr lang="en-US"/>
          </a:p>
        </p:txBody>
      </p:sp>
    </p:spTree>
    <p:extLst>
      <p:ext uri="{BB962C8B-B14F-4D97-AF65-F5344CB8AC3E}">
        <p14:creationId xmlns:p14="http://schemas.microsoft.com/office/powerpoint/2010/main" val="2777361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546144" y="-824230"/>
            <a:ext cx="8064456" cy="6048343"/>
          </a:xfrm>
          <a:prstGeom prst="rect">
            <a:avLst/>
          </a:prstGeom>
        </p:spPr>
      </p:pic>
      <p:sp>
        <p:nvSpPr>
          <p:cNvPr id="4" name="Date Placeholder 3"/>
          <p:cNvSpPr>
            <a:spLocks noGrp="1"/>
          </p:cNvSpPr>
          <p:nvPr>
            <p:ph type="dt" sz="half" idx="10"/>
          </p:nvPr>
        </p:nvSpPr>
        <p:spPr/>
        <p:txBody>
          <a:bodyPr/>
          <a:lstStyle/>
          <a:p>
            <a:r>
              <a:rPr lang="en-US" smtClean="0"/>
              <a:t>2022</a:t>
            </a:r>
            <a:endParaRPr lang="en-US"/>
          </a:p>
        </p:txBody>
      </p:sp>
      <p:sp>
        <p:nvSpPr>
          <p:cNvPr id="5" name="Footer Placeholder 4"/>
          <p:cNvSpPr>
            <a:spLocks noGrp="1"/>
          </p:cNvSpPr>
          <p:nvPr>
            <p:ph type="ftr" sz="quarter" idx="11"/>
          </p:nvPr>
        </p:nvSpPr>
        <p:spPr/>
        <p:txBody>
          <a:bodyPr/>
          <a:lstStyle/>
          <a:p>
            <a:r>
              <a:rPr lang="en-US" smtClean="0"/>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28</a:t>
            </a:fld>
            <a:endParaRPr lang="en-US"/>
          </a:p>
        </p:txBody>
      </p:sp>
    </p:spTree>
    <p:extLst>
      <p:ext uri="{BB962C8B-B14F-4D97-AF65-F5344CB8AC3E}">
        <p14:creationId xmlns:p14="http://schemas.microsoft.com/office/powerpoint/2010/main" val="1466731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t>Insights Offered by Various Theories </a:t>
            </a:r>
            <a:r>
              <a:rPr lang="en-US" altLang="en-US" sz="2000" b="0" dirty="0"/>
              <a:t>(1 of 2)</a:t>
            </a:r>
            <a:endParaRPr lang="en-IN" sz="2000" dirty="0"/>
          </a:p>
        </p:txBody>
      </p:sp>
      <p:sp>
        <p:nvSpPr>
          <p:cNvPr id="5" name="Content Placeholder 4"/>
          <p:cNvSpPr>
            <a:spLocks noGrp="1"/>
          </p:cNvSpPr>
          <p:nvPr>
            <p:ph sz="quarter" idx="13"/>
          </p:nvPr>
        </p:nvSpPr>
        <p:spPr>
          <a:xfrm>
            <a:off x="609600" y="1556327"/>
            <a:ext cx="7750629" cy="4434275"/>
          </a:xfrm>
        </p:spPr>
        <p:txBody>
          <a:bodyPr/>
          <a:lstStyle/>
          <a:p>
            <a:pPr eaLnBrk="1" hangingPunct="1"/>
            <a:r>
              <a:rPr lang="en-US" altLang="en-US" dirty="0"/>
              <a:t>Kantianism: Every person is equally valuable, and when you interact with other people you should always respect them as rational beings. It is wrong to privilege your needs and desires over those of other people.</a:t>
            </a:r>
          </a:p>
          <a:p>
            <a:pPr eaLnBrk="1" hangingPunct="1"/>
            <a:r>
              <a:rPr lang="en-US" altLang="en-US" dirty="0"/>
              <a:t>Utilitarianism: You should consider the consequences of an action before deciding whether it’s right or wrong.</a:t>
            </a:r>
          </a:p>
        </p:txBody>
      </p:sp>
    </p:spTree>
    <p:extLst>
      <p:ext uri="{BB962C8B-B14F-4D97-AF65-F5344CB8AC3E}">
        <p14:creationId xmlns:p14="http://schemas.microsoft.com/office/powerpoint/2010/main" val="654885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Insights Offered by Various Theories </a:t>
            </a:r>
            <a:r>
              <a:rPr lang="en-US" altLang="en-US" sz="2000" b="0" dirty="0"/>
              <a:t>(2 of 2)</a:t>
            </a:r>
            <a:endParaRPr lang="en-IN" sz="2000" dirty="0"/>
          </a:p>
        </p:txBody>
      </p:sp>
      <p:sp>
        <p:nvSpPr>
          <p:cNvPr id="3" name="Content Placeholder 2"/>
          <p:cNvSpPr>
            <a:spLocks noGrp="1"/>
          </p:cNvSpPr>
          <p:nvPr>
            <p:ph sz="quarter" idx="13"/>
          </p:nvPr>
        </p:nvSpPr>
        <p:spPr>
          <a:xfrm>
            <a:off x="609600" y="1556327"/>
            <a:ext cx="7097486" cy="4434275"/>
          </a:xfrm>
        </p:spPr>
        <p:txBody>
          <a:bodyPr/>
          <a:lstStyle/>
          <a:p>
            <a:pPr eaLnBrk="1" hangingPunct="1"/>
            <a:r>
              <a:rPr lang="en-US" altLang="en-US" dirty="0"/>
              <a:t>Social contract theory: We should collectively promote human rights, such as the rights to life, liberty, and property.</a:t>
            </a:r>
          </a:p>
          <a:p>
            <a:pPr eaLnBrk="1" hangingPunct="1"/>
            <a:r>
              <a:rPr lang="en-US" altLang="en-US" dirty="0"/>
              <a:t>Virtue ethics: You can count on a good person to do the right thing at the right time in the right way.</a:t>
            </a:r>
          </a:p>
        </p:txBody>
      </p:sp>
    </p:spTree>
    <p:extLst>
      <p:ext uri="{BB962C8B-B14F-4D97-AF65-F5344CB8AC3E}">
        <p14:creationId xmlns:p14="http://schemas.microsoft.com/office/powerpoint/2010/main" val="1281798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It’s up to You</a:t>
            </a:r>
            <a:endParaRPr lang="en-IN" dirty="0"/>
          </a:p>
        </p:txBody>
      </p:sp>
      <p:sp>
        <p:nvSpPr>
          <p:cNvPr id="3" name="Content Placeholder 2"/>
          <p:cNvSpPr>
            <a:spLocks noGrp="1"/>
          </p:cNvSpPr>
          <p:nvPr>
            <p:ph sz="quarter" idx="13"/>
          </p:nvPr>
        </p:nvSpPr>
        <p:spPr>
          <a:xfrm>
            <a:off x="609600" y="1556327"/>
            <a:ext cx="7228114" cy="4434275"/>
          </a:xfrm>
        </p:spPr>
        <p:txBody>
          <a:bodyPr/>
          <a:lstStyle/>
          <a:p>
            <a:pPr eaLnBrk="1" hangingPunct="1"/>
            <a:r>
              <a:rPr lang="en-US" altLang="en-US" dirty="0"/>
              <a:t>You </a:t>
            </a:r>
            <a:r>
              <a:rPr lang="en-US" altLang="en-US" b="1" dirty="0"/>
              <a:t>can</a:t>
            </a:r>
            <a:r>
              <a:rPr lang="en-US" altLang="en-US" dirty="0"/>
              <a:t> consider duties </a:t>
            </a:r>
            <a:r>
              <a:rPr lang="en-US" altLang="en-US" b="1" dirty="0"/>
              <a:t>and</a:t>
            </a:r>
            <a:r>
              <a:rPr lang="en-US" altLang="en-US" i="1" dirty="0"/>
              <a:t> </a:t>
            </a:r>
            <a:r>
              <a:rPr lang="en-US" altLang="en-US" dirty="0"/>
              <a:t>rights </a:t>
            </a:r>
            <a:r>
              <a:rPr lang="en-US" altLang="en-US" b="1" dirty="0"/>
              <a:t>and</a:t>
            </a:r>
            <a:r>
              <a:rPr lang="en-US" altLang="en-US" i="1" dirty="0"/>
              <a:t> </a:t>
            </a:r>
            <a:r>
              <a:rPr lang="en-US" altLang="en-US" dirty="0"/>
              <a:t>consequences </a:t>
            </a:r>
            <a:r>
              <a:rPr lang="en-US" altLang="en-US" b="1" dirty="0"/>
              <a:t>and</a:t>
            </a:r>
            <a:r>
              <a:rPr lang="en-US" altLang="en-US" dirty="0"/>
              <a:t> virtues when making moral decisions</a:t>
            </a:r>
          </a:p>
          <a:p>
            <a:pPr eaLnBrk="1" hangingPunct="1"/>
            <a:r>
              <a:rPr lang="en-US" altLang="en-US" dirty="0"/>
              <a:t>Ultimately, you have to decide:</a:t>
            </a:r>
          </a:p>
          <a:p>
            <a:pPr lvl="1"/>
            <a:r>
              <a:rPr lang="en-US" altLang="en-US" dirty="0"/>
              <a:t>What kind of person do I want to be?</a:t>
            </a:r>
          </a:p>
          <a:p>
            <a:pPr lvl="1"/>
            <a:r>
              <a:rPr lang="en-US" altLang="en-US" dirty="0"/>
              <a:t>What kind of world do I want to live in?</a:t>
            </a:r>
          </a:p>
        </p:txBody>
      </p:sp>
    </p:spTree>
    <p:extLst>
      <p:ext uri="{BB962C8B-B14F-4D97-AF65-F5344CB8AC3E}">
        <p14:creationId xmlns:p14="http://schemas.microsoft.com/office/powerpoint/2010/main" val="3292030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22640</TotalTime>
  <Words>1960</Words>
  <Application>Microsoft Office PowerPoint</Application>
  <PresentationFormat>Widescreen</PresentationFormat>
  <Paragraphs>256</Paragraphs>
  <Slides>31</Slides>
  <Notes>9</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31</vt:i4>
      </vt:variant>
    </vt:vector>
  </HeadingPairs>
  <TitlesOfParts>
    <vt:vector size="44" baseType="lpstr">
      <vt:lpstr>Adobe Devanagari</vt:lpstr>
      <vt:lpstr>Arial</vt:lpstr>
      <vt:lpstr>Calibri</vt:lpstr>
      <vt:lpstr>Calibri Light</vt:lpstr>
      <vt:lpstr>Minion-Italic</vt:lpstr>
      <vt:lpstr>Minion-Regular</vt:lpstr>
      <vt:lpstr>Noto Sans Symbols</vt:lpstr>
      <vt:lpstr>Symbol</vt:lpstr>
      <vt:lpstr>Times New Roman</vt:lpstr>
      <vt:lpstr>Verdana</vt:lpstr>
      <vt:lpstr>Office Theme</vt:lpstr>
      <vt:lpstr>Custom Design</vt:lpstr>
      <vt:lpstr>508 Lecture</vt:lpstr>
      <vt:lpstr>Ethics and Ethical Theories</vt:lpstr>
      <vt:lpstr>Topics to be covered </vt:lpstr>
      <vt:lpstr>What is Ethics?</vt:lpstr>
      <vt:lpstr>The Relationship Between Ethics and Morals</vt:lpstr>
      <vt:lpstr>Difference Between Morals, Ethics, and Laws</vt:lpstr>
      <vt:lpstr>The Ethical Point of View</vt:lpstr>
      <vt:lpstr>Analogy: Difference between Morality and Ethics</vt:lpstr>
      <vt:lpstr>Why Study Ethics?</vt:lpstr>
      <vt:lpstr>Definition of Ethics</vt:lpstr>
      <vt:lpstr>A Good Ethical Theory Enables You to Make Persuasive, Logical Arguments</vt:lpstr>
      <vt:lpstr>Ethical Theories </vt:lpstr>
      <vt:lpstr>PowerPoint Presentation</vt:lpstr>
      <vt:lpstr>PowerPoint Presentation</vt:lpstr>
      <vt:lpstr>Categorical Imperative   (First Formulation)</vt:lpstr>
      <vt:lpstr>Categorical Imperative  (Second Formulation)</vt:lpstr>
      <vt:lpstr>PowerPoint Presentation</vt:lpstr>
      <vt:lpstr>PowerPoint Presentation</vt:lpstr>
      <vt:lpstr>Act Utilitarianism:</vt:lpstr>
      <vt:lpstr>Principle of Utility</vt:lpstr>
      <vt:lpstr>Topics to be covered </vt:lpstr>
      <vt:lpstr>PowerPoint Presentation</vt:lpstr>
      <vt:lpstr>Rights and Duties</vt:lpstr>
      <vt:lpstr>Virtue Ethics</vt:lpstr>
      <vt:lpstr>PowerPoint Presentation</vt:lpstr>
      <vt:lpstr>Vices</vt:lpstr>
      <vt:lpstr>Comparing Ethical Theories (Potentially Workable Theories)</vt:lpstr>
      <vt:lpstr>Workable Ethical Theories</vt:lpstr>
      <vt:lpstr>PowerPoint Presentation</vt:lpstr>
      <vt:lpstr>Insights Offered by Various Theories (1 of 2)</vt:lpstr>
      <vt:lpstr>Insights Offered by Various Theories (2 of 2)</vt:lpstr>
      <vt:lpstr>It’s up to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APPLICATIONS IN BUSINESS AND FINANCE</dc:title>
  <dc:creator>roaming3</dc:creator>
  <cp:lastModifiedBy>Microsoft account</cp:lastModifiedBy>
  <cp:revision>89</cp:revision>
  <cp:lastPrinted>2023-02-27T07:00:13Z</cp:lastPrinted>
  <dcterms:created xsi:type="dcterms:W3CDTF">2020-02-06T08:28:23Z</dcterms:created>
  <dcterms:modified xsi:type="dcterms:W3CDTF">2024-02-26T13:28:50Z</dcterms:modified>
</cp:coreProperties>
</file>